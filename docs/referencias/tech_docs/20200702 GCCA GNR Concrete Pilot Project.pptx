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comment1.xml" ContentType="application/vnd.openxmlformats-officedocument.presentationml.comments+xml"/>
  <Override PartName="/ppt/tags/tag13.xml" ContentType="application/vnd.openxmlformats-officedocument.presentationml.tags+xml"/>
  <Override PartName="/ppt/tags/tag14.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15.xml" ContentType="application/vnd.openxmlformats-officedocument.presentationml.tags+xml"/>
  <Override PartName="/ppt/tags/tag16.xml" ContentType="application/vnd.openxmlformats-officedocument.presentationml.tag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17.xml" ContentType="application/vnd.openxmlformats-officedocument.presentationml.tags+xml"/>
  <Override PartName="/ppt/tags/tag18.xml" ContentType="application/vnd.openxmlformats-officedocument.presentationml.tag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19.xml" ContentType="application/vnd.openxmlformats-officedocument.presentationml.tags+xml"/>
  <Override PartName="/ppt/tags/tag20.xml" ContentType="application/vnd.openxmlformats-officedocument.presentationml.tag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ags/tag21.xml" ContentType="application/vnd.openxmlformats-officedocument.presentationml.tags+xml"/>
  <Override PartName="/ppt/tags/tag22.xml" ContentType="application/vnd.openxmlformats-officedocument.presentationml.tags+xml"/>
  <Override PartName="/ppt/notesSlides/notesSlide5.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ags/tag23.xml" ContentType="application/vnd.openxmlformats-officedocument.presentationml.tags+xml"/>
  <Override PartName="/ppt/tags/tag24.xml" ContentType="application/vnd.openxmlformats-officedocument.presentationml.tags+xml"/>
  <Override PartName="/ppt/notesSlides/notesSlide6.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7.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ags/tag27.xml" ContentType="application/vnd.openxmlformats-officedocument.presentationml.tags+xml"/>
  <Override PartName="/ppt/tags/tag28.xml" ContentType="application/vnd.openxmlformats-officedocument.presentationml.tags+xml"/>
  <Override PartName="/ppt/notesSlides/notesSlide8.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tags/tag29.xml" ContentType="application/vnd.openxmlformats-officedocument.presentationml.tags+xml"/>
  <Override PartName="/ppt/tags/tag30.xml" ContentType="application/vnd.openxmlformats-officedocument.presentationml.tags+xml"/>
  <Override PartName="/ppt/notesSlides/notesSlide9.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tags/tag31.xml" ContentType="application/vnd.openxmlformats-officedocument.presentationml.tags+xml"/>
  <Override PartName="/ppt/tags/tag32.xml" ContentType="application/vnd.openxmlformats-officedocument.presentationml.tags+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tags/tag33.xml" ContentType="application/vnd.openxmlformats-officedocument.presentationml.tags+xml"/>
  <Override PartName="/ppt/tags/tag34.xml" ContentType="application/vnd.openxmlformats-officedocument.presentationml.tags+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tags/tag35.xml" ContentType="application/vnd.openxmlformats-officedocument.presentationml.tags+xml"/>
  <Override PartName="/ppt/tags/tag36.xml" ContentType="application/vnd.openxmlformats-officedocument.presentationml.tags+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tags/tag37.xml" ContentType="application/vnd.openxmlformats-officedocument.presentationml.tags+xml"/>
  <Override PartName="/ppt/tags/tag38.xml" ContentType="application/vnd.openxmlformats-officedocument.presentationml.tags+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tags/tag39.xml" ContentType="application/vnd.openxmlformats-officedocument.presentationml.tags+xml"/>
  <Override PartName="/ppt/tags/tag40.xml" ContentType="application/vnd.openxmlformats-officedocument.presentationml.tags+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tags/tag41.xml" ContentType="application/vnd.openxmlformats-officedocument.presentationml.tags+xml"/>
  <Override PartName="/ppt/tags/tag42.xml" ContentType="application/vnd.openxmlformats-officedocument.presentationml.tags+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tags/tag43.xml" ContentType="application/vnd.openxmlformats-officedocument.presentationml.tags+xml"/>
  <Override PartName="/ppt/tags/tag44.xml" ContentType="application/vnd.openxmlformats-officedocument.presentationml.tags+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tags/tag45.xml" ContentType="application/vnd.openxmlformats-officedocument.presentationml.tags+xml"/>
  <Override PartName="/ppt/tags/tag46.xml" ContentType="application/vnd.openxmlformats-officedocument.presentationml.tags+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tags/tag47.xml" ContentType="application/vnd.openxmlformats-officedocument.presentationml.tags+xml"/>
  <Override PartName="/ppt/tags/tag48.xml" ContentType="application/vnd.openxmlformats-officedocument.presentationml.tags+xml"/>
  <Override PartName="/ppt/notesSlides/notesSlide10.xml" ContentType="application/vnd.openxmlformats-officedocument.presentationml.notesSlid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tags/tag49.xml" ContentType="application/vnd.openxmlformats-officedocument.presentationml.tags+xml"/>
  <Override PartName="/ppt/tags/tag50.xml" ContentType="application/vnd.openxmlformats-officedocument.presentationml.tags+xml"/>
  <Override PartName="/ppt/notesSlides/notesSlide11.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tags/tag53.xml" ContentType="application/vnd.openxmlformats-officedocument.presentationml.tags+xml"/>
  <Override PartName="/ppt/tags/tag54.xml" ContentType="application/vnd.openxmlformats-officedocument.presentationml.tags+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tags/tag55.xml" ContentType="application/vnd.openxmlformats-officedocument.presentationml.tags+xml"/>
  <Override PartName="/ppt/tags/tag56.xml" ContentType="application/vnd.openxmlformats-officedocument.presentationml.tags+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tags/tag57.xml" ContentType="application/vnd.openxmlformats-officedocument.presentationml.tags+xml"/>
  <Override PartName="/ppt/tags/tag58.xml" ContentType="application/vnd.openxmlformats-officedocument.presentationml.tags+xml"/>
  <Override PartName="/ppt/notesSlides/notesSlide12.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tags/tag61.xml" ContentType="application/vnd.openxmlformats-officedocument.presentationml.tags+xml"/>
  <Override PartName="/ppt/tags/tag62.xml" ContentType="application/vnd.openxmlformats-officedocument.presentationml.tags+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tags/tag63.xml" ContentType="application/vnd.openxmlformats-officedocument.presentationml.tags+xml"/>
  <Override PartName="/ppt/tags/tag64.xml" ContentType="application/vnd.openxmlformats-officedocument.presentationml.tags+xml"/>
  <Override PartName="/ppt/notesSlides/notesSlide13.xml" ContentType="application/vnd.openxmlformats-officedocument.presentationml.notesSlid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tags/tag65.xml" ContentType="application/vnd.openxmlformats-officedocument.presentationml.tags+xml"/>
  <Override PartName="/ppt/tags/tag66.xml" ContentType="application/vnd.openxmlformats-officedocument.presentationml.tags+xml"/>
  <Override PartName="/ppt/notesSlides/notesSlide14.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notesSlides/notesSlide15.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notesSlides/notesSlide16.xml" ContentType="application/vnd.openxmlformats-officedocument.presentationml.notesSlide+xml"/>
  <Override PartName="/ppt/tags/tag71.xml" ContentType="application/vnd.openxmlformats-officedocument.presentationml.tags+xml"/>
  <Override PartName="/ppt/notesSlides/notesSlide17.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notesSlides/notesSlide18.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3" r:id="rId1"/>
  </p:sldMasterIdLst>
  <p:notesMasterIdLst>
    <p:notesMasterId r:id="rId39"/>
  </p:notesMasterIdLst>
  <p:handoutMasterIdLst>
    <p:handoutMasterId r:id="rId40"/>
  </p:handoutMasterIdLst>
  <p:sldIdLst>
    <p:sldId id="256" r:id="rId2"/>
    <p:sldId id="324" r:id="rId3"/>
    <p:sldId id="334" r:id="rId4"/>
    <p:sldId id="354" r:id="rId5"/>
    <p:sldId id="326" r:id="rId6"/>
    <p:sldId id="338" r:id="rId7"/>
    <p:sldId id="362" r:id="rId8"/>
    <p:sldId id="325" r:id="rId9"/>
    <p:sldId id="339" r:id="rId10"/>
    <p:sldId id="346" r:id="rId11"/>
    <p:sldId id="355" r:id="rId12"/>
    <p:sldId id="328" r:id="rId13"/>
    <p:sldId id="340" r:id="rId14"/>
    <p:sldId id="347" r:id="rId15"/>
    <p:sldId id="329" r:id="rId16"/>
    <p:sldId id="341" r:id="rId17"/>
    <p:sldId id="348" r:id="rId18"/>
    <p:sldId id="330" r:id="rId19"/>
    <p:sldId id="342" r:id="rId20"/>
    <p:sldId id="350" r:id="rId21"/>
    <p:sldId id="331" r:id="rId22"/>
    <p:sldId id="343" r:id="rId23"/>
    <p:sldId id="351" r:id="rId24"/>
    <p:sldId id="356" r:id="rId25"/>
    <p:sldId id="332" r:id="rId26"/>
    <p:sldId id="345" r:id="rId27"/>
    <p:sldId id="349" r:id="rId28"/>
    <p:sldId id="357" r:id="rId29"/>
    <p:sldId id="327" r:id="rId30"/>
    <p:sldId id="344" r:id="rId31"/>
    <p:sldId id="352" r:id="rId32"/>
    <p:sldId id="336" r:id="rId33"/>
    <p:sldId id="358" r:id="rId34"/>
    <p:sldId id="335" r:id="rId35"/>
    <p:sldId id="359" r:id="rId36"/>
    <p:sldId id="361" r:id="rId37"/>
    <p:sldId id="360" r:id="rId38"/>
  </p:sldIdLst>
  <p:sldSz cx="12192000" cy="6858000"/>
  <p:notesSz cx="6858000" cy="9144000"/>
  <p:custDataLst>
    <p:tags r:id="rId4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rlos Pinilla" initials="CP" lastIdx="1" clrIdx="0">
    <p:extLst>
      <p:ext uri="{19B8F6BF-5375-455C-9EA6-DF929625EA0E}">
        <p15:presenceInfo xmlns:p15="http://schemas.microsoft.com/office/powerpoint/2012/main" userId="2edb0e1861aa548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3702"/>
    <a:srgbClr val="F7E9E7"/>
    <a:srgbClr val="EED0CB"/>
    <a:srgbClr val="D04A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8AF63E-A8EA-482E-B1FA-8C071CCA55BC}" v="4" dt="2021-05-27T14:47:05.8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07" autoAdjust="0"/>
    <p:restoredTop sz="96196" autoAdjust="0"/>
  </p:normalViewPr>
  <p:slideViewPr>
    <p:cSldViewPr snapToGrid="0" snapToObjects="1" showGuides="1">
      <p:cViewPr varScale="1">
        <p:scale>
          <a:sx n="223" d="100"/>
          <a:sy n="223" d="100"/>
        </p:scale>
        <p:origin x="512"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showGuides="1">
      <p:cViewPr varScale="1">
        <p:scale>
          <a:sx n="80" d="100"/>
          <a:sy n="80" d="100"/>
        </p:scale>
        <p:origin x="3918"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tags" Target="tags/tag1.xml"/></Relationships>
</file>

<file path=ppt/charts/_rels/chart1.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oleObject" Target="file:////Fr-parfilpwv019\gss\Sustainability_Service\Strategy\Climate_Change\Engagement_work_product\20_GNR%20GCCA%20extension\2.%20Data%20roll%20out\20200603%20GCCA%20Data%20synthesis.xlsx" TargetMode="External"/><Relationship Id="rId2" Type="http://schemas.microsoft.com/office/2011/relationships/chartColorStyle" Target="colors33.xml"/><Relationship Id="rId1" Type="http://schemas.microsoft.com/office/2011/relationships/chartStyle" Target="style3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a:effectLst/>
              </a:rPr>
              <a:t>Total </a:t>
            </a:r>
            <a:r>
              <a:rPr lang="fr-FR" sz="1400" b="1" i="0" baseline="0" dirty="0" err="1">
                <a:effectLst/>
              </a:rPr>
              <a:t>energy</a:t>
            </a:r>
            <a:r>
              <a:rPr lang="fr-FR" sz="1400" b="1" i="0" baseline="0" dirty="0">
                <a:effectLst/>
              </a:rPr>
              <a:t> for production</a:t>
            </a:r>
          </a:p>
          <a:p>
            <a:pPr>
              <a:defRPr/>
            </a:pPr>
            <a:r>
              <a:rPr lang="fr-FR" sz="1100" b="0" i="0" u="none" strike="noStrike" baseline="0" dirty="0">
                <a:effectLst/>
              </a:rPr>
              <a:t>100% of GNR pilot </a:t>
            </a:r>
            <a:r>
              <a:rPr lang="fr-FR" sz="1100" b="0" i="0" u="none" strike="noStrike" baseline="0" dirty="0" err="1">
                <a:effectLst/>
              </a:rPr>
              <a:t>sample</a:t>
            </a:r>
            <a:r>
              <a:rPr lang="fr-FR" sz="1100" b="0" i="0" u="none" strike="noStrike" baseline="0" dirty="0">
                <a:effectLst/>
              </a:rPr>
              <a:t> - World (</a:t>
            </a:r>
            <a:r>
              <a:rPr lang="fr-FR" sz="1100" b="0" i="0" u="none" strike="noStrike" baseline="0" dirty="0" err="1">
                <a:effectLst/>
              </a:rPr>
              <a:t>coverage</a:t>
            </a:r>
            <a:r>
              <a:rPr lang="fr-FR" sz="1100" b="0" i="0" u="none" strike="noStrike" baseline="0" dirty="0">
                <a:effectLst/>
              </a:rPr>
              <a:t>: 75M m</a:t>
            </a:r>
            <a:r>
              <a:rPr lang="fr-FR" sz="1100" b="0" i="0" u="none" strike="noStrike" baseline="30000" dirty="0">
                <a:effectLst/>
              </a:rPr>
              <a:t>3</a:t>
            </a:r>
            <a:r>
              <a:rPr lang="fr-FR" sz="1100" b="0" i="0" u="none" strike="noStrike" baseline="0" dirty="0">
                <a:effectLst/>
              </a:rPr>
              <a:t> in 2019) </a:t>
            </a:r>
            <a:endParaRPr lang="fr-FR" sz="1100" dirty="0">
              <a:effectLst/>
            </a:endParaRPr>
          </a:p>
        </c:rich>
      </c:tx>
      <c:layout>
        <c:manualLayout>
          <c:xMode val="edge"/>
          <c:yMode val="edge"/>
          <c:x val="0.16874500347156057"/>
          <c:y val="2.248384924915451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CL"/>
              </a:p>
            </c:txPr>
            <c:showLegendKey val="0"/>
            <c:showVal val="1"/>
            <c:showCatName val="1"/>
            <c:showSerName val="0"/>
            <c:showPercent val="0"/>
            <c:showBubbleSize val="0"/>
            <c:showLeaderLines val="0"/>
            <c:extLst>
              <c:ext xmlns:c15="http://schemas.microsoft.com/office/drawing/2012/chart" uri="{CE6537A1-D6FC-4f65-9D91-7224C49458BB}">
                <c15:showLeaderLines val="0"/>
              </c:ext>
            </c:extLst>
          </c:dLbls>
          <c:xVal>
            <c:numRef>
              <c:f>'Graphics - World level'!$H$126:$H$171</c:f>
              <c:numCache>
                <c:formatCode>0.00%</c:formatCode>
                <c:ptCount val="46"/>
                <c:pt idx="0">
                  <c:v>9.1348806580365659E-3</c:v>
                </c:pt>
                <c:pt idx="1">
                  <c:v>1.4625647716349851E-2</c:v>
                </c:pt>
                <c:pt idx="2">
                  <c:v>6.1315708861609579E-2</c:v>
                </c:pt>
                <c:pt idx="3">
                  <c:v>6.5153697319461093E-2</c:v>
                </c:pt>
                <c:pt idx="4">
                  <c:v>7.1454333063328559E-2</c:v>
                </c:pt>
                <c:pt idx="5">
                  <c:v>7.3220509614459278E-2</c:v>
                </c:pt>
                <c:pt idx="6">
                  <c:v>8.015679725639191E-2</c:v>
                </c:pt>
                <c:pt idx="7">
                  <c:v>9.0648184390311276E-2</c:v>
                </c:pt>
                <c:pt idx="8">
                  <c:v>0.10632484001339369</c:v>
                </c:pt>
                <c:pt idx="9">
                  <c:v>0.12399590833063419</c:v>
                </c:pt>
                <c:pt idx="10">
                  <c:v>0.1586531233882312</c:v>
                </c:pt>
                <c:pt idx="11">
                  <c:v>0.1627822272546818</c:v>
                </c:pt>
                <c:pt idx="12">
                  <c:v>0.1971539504199859</c:v>
                </c:pt>
                <c:pt idx="13">
                  <c:v>0.21048197038746752</c:v>
                </c:pt>
                <c:pt idx="14">
                  <c:v>0.2116581319105538</c:v>
                </c:pt>
                <c:pt idx="15">
                  <c:v>0.21373728778826834</c:v>
                </c:pt>
                <c:pt idx="16">
                  <c:v>0.23961688380027177</c:v>
                </c:pt>
                <c:pt idx="17">
                  <c:v>0.25067650172567213</c:v>
                </c:pt>
                <c:pt idx="18">
                  <c:v>0.26168712257207516</c:v>
                </c:pt>
                <c:pt idx="19">
                  <c:v>0.27150862547413029</c:v>
                </c:pt>
                <c:pt idx="20">
                  <c:v>0.27685199186327125</c:v>
                </c:pt>
                <c:pt idx="21">
                  <c:v>0.31003877048802719</c:v>
                </c:pt>
                <c:pt idx="22">
                  <c:v>0.3114338726523378</c:v>
                </c:pt>
                <c:pt idx="23">
                  <c:v>0.35889932504930083</c:v>
                </c:pt>
                <c:pt idx="24">
                  <c:v>0.35909851532223963</c:v>
                </c:pt>
                <c:pt idx="25">
                  <c:v>0.4472962072164588</c:v>
                </c:pt>
                <c:pt idx="26">
                  <c:v>0.44890278320880889</c:v>
                </c:pt>
                <c:pt idx="27">
                  <c:v>0.45864746246376764</c:v>
                </c:pt>
                <c:pt idx="28">
                  <c:v>0.46659741956403034</c:v>
                </c:pt>
                <c:pt idx="29">
                  <c:v>0.47712402588615116</c:v>
                </c:pt>
                <c:pt idx="30">
                  <c:v>0.53605283267392523</c:v>
                </c:pt>
                <c:pt idx="31">
                  <c:v>0.54700371972230288</c:v>
                </c:pt>
                <c:pt idx="32">
                  <c:v>0.54984779732385669</c:v>
                </c:pt>
                <c:pt idx="33">
                  <c:v>0.5952617953548146</c:v>
                </c:pt>
                <c:pt idx="34">
                  <c:v>0.6033693268481175</c:v>
                </c:pt>
                <c:pt idx="35">
                  <c:v>0.60404788055141823</c:v>
                </c:pt>
                <c:pt idx="36">
                  <c:v>0.63179769261509544</c:v>
                </c:pt>
                <c:pt idx="37">
                  <c:v>0.67871577348864232</c:v>
                </c:pt>
                <c:pt idx="38">
                  <c:v>0.69549802144807493</c:v>
                </c:pt>
                <c:pt idx="39">
                  <c:v>0.75520584693113468</c:v>
                </c:pt>
                <c:pt idx="40">
                  <c:v>0.7765603350291993</c:v>
                </c:pt>
                <c:pt idx="41">
                  <c:v>0.91458682509423894</c:v>
                </c:pt>
                <c:pt idx="42">
                  <c:v>0.92238762109712868</c:v>
                </c:pt>
                <c:pt idx="43">
                  <c:v>0.96135167673544997</c:v>
                </c:pt>
                <c:pt idx="44">
                  <c:v>0.97078347886756633</c:v>
                </c:pt>
                <c:pt idx="45" formatCode="0%">
                  <c:v>1</c:v>
                </c:pt>
              </c:numCache>
            </c:numRef>
          </c:xVal>
          <c:yVal>
            <c:numRef>
              <c:f>'Graphics - World level'!$D$126:$D$171</c:f>
              <c:numCache>
                <c:formatCode>0.00</c:formatCode>
                <c:ptCount val="46"/>
                <c:pt idx="0">
                  <c:v>1.2337101446852372</c:v>
                </c:pt>
                <c:pt idx="1">
                  <c:v>1.4327168488762834</c:v>
                </c:pt>
                <c:pt idx="2">
                  <c:v>1.7480853315374767</c:v>
                </c:pt>
                <c:pt idx="3">
                  <c:v>1.9307958477508651</c:v>
                </c:pt>
                <c:pt idx="4">
                  <c:v>2.0048738972496936</c:v>
                </c:pt>
                <c:pt idx="5">
                  <c:v>2.3304260341815368</c:v>
                </c:pt>
                <c:pt idx="6">
                  <c:v>2.3981563703042106</c:v>
                </c:pt>
                <c:pt idx="7">
                  <c:v>2.4369240506329115</c:v>
                </c:pt>
                <c:pt idx="8">
                  <c:v>2.5159656486932938</c:v>
                </c:pt>
                <c:pt idx="9">
                  <c:v>2.5874161768607178</c:v>
                </c:pt>
                <c:pt idx="10">
                  <c:v>2.684736608438874</c:v>
                </c:pt>
                <c:pt idx="11">
                  <c:v>2.7179626525649043</c:v>
                </c:pt>
                <c:pt idx="12">
                  <c:v>2.7970952542737568</c:v>
                </c:pt>
                <c:pt idx="13">
                  <c:v>3.0328357232792977</c:v>
                </c:pt>
                <c:pt idx="14">
                  <c:v>3.0730041732155438</c:v>
                </c:pt>
                <c:pt idx="15">
                  <c:v>3.2949316923878778</c:v>
                </c:pt>
                <c:pt idx="16">
                  <c:v>3.3352378215555771</c:v>
                </c:pt>
                <c:pt idx="17">
                  <c:v>3.3486709758081203</c:v>
                </c:pt>
                <c:pt idx="18">
                  <c:v>3.7415668254884888</c:v>
                </c:pt>
                <c:pt idx="19">
                  <c:v>3.8653548842321817</c:v>
                </c:pt>
                <c:pt idx="20">
                  <c:v>3.9362024570495455</c:v>
                </c:pt>
                <c:pt idx="21">
                  <c:v>3.9913543366284925</c:v>
                </c:pt>
                <c:pt idx="22">
                  <c:v>4.067017713089621</c:v>
                </c:pt>
                <c:pt idx="23">
                  <c:v>4.1532455881614165</c:v>
                </c:pt>
                <c:pt idx="24">
                  <c:v>4.215481032068805</c:v>
                </c:pt>
                <c:pt idx="25">
                  <c:v>4.2836502454197793</c:v>
                </c:pt>
                <c:pt idx="26">
                  <c:v>4.3836099808266091</c:v>
                </c:pt>
                <c:pt idx="27">
                  <c:v>4.4379797348771346</c:v>
                </c:pt>
                <c:pt idx="28">
                  <c:v>4.4661424128294342</c:v>
                </c:pt>
                <c:pt idx="29">
                  <c:v>4.4733035430428485</c:v>
                </c:pt>
                <c:pt idx="30">
                  <c:v>4.4839999540264177</c:v>
                </c:pt>
                <c:pt idx="31">
                  <c:v>4.5595168752550013</c:v>
                </c:pt>
                <c:pt idx="32">
                  <c:v>4.7583975711464372</c:v>
                </c:pt>
                <c:pt idx="33">
                  <c:v>4.9237636534433804</c:v>
                </c:pt>
                <c:pt idx="34">
                  <c:v>5.1007869011426772</c:v>
                </c:pt>
                <c:pt idx="35">
                  <c:v>5.3416772678344264</c:v>
                </c:pt>
                <c:pt idx="36">
                  <c:v>5.5402053759288723</c:v>
                </c:pt>
                <c:pt idx="37">
                  <c:v>5.9206434958285268</c:v>
                </c:pt>
                <c:pt idx="38">
                  <c:v>7.6618745012066025</c:v>
                </c:pt>
                <c:pt idx="39">
                  <c:v>9.7675447600614262</c:v>
                </c:pt>
                <c:pt idx="40">
                  <c:v>16.077459887443986</c:v>
                </c:pt>
                <c:pt idx="41">
                  <c:v>19.852500238121252</c:v>
                </c:pt>
                <c:pt idx="42">
                  <c:v>31.34811658017367</c:v>
                </c:pt>
                <c:pt idx="43">
                  <c:v>32.162446624578735</c:v>
                </c:pt>
                <c:pt idx="44">
                  <c:v>34.45197829314715</c:v>
                </c:pt>
                <c:pt idx="45">
                  <c:v>63.953333333333326</c:v>
                </c:pt>
              </c:numCache>
            </c:numRef>
          </c:yVal>
          <c:smooth val="0"/>
          <c:extLst>
            <c:ext xmlns:c16="http://schemas.microsoft.com/office/drawing/2014/chart" uri="{C3380CC4-5D6E-409C-BE32-E72D297353CC}">
              <c16:uniqueId val="{00000000-6D88-4FBA-8A2D-183F7EE08814}"/>
            </c:ext>
          </c:extLst>
        </c:ser>
        <c:ser>
          <c:idx val="1"/>
          <c:order val="1"/>
          <c:tx>
            <c:strRef>
              <c:f>'Graphics - World level'!$G$123</c:f>
              <c:strCache>
                <c:ptCount val="1"/>
                <c:pt idx="0">
                  <c:v>Weighted average</c:v>
                </c:pt>
              </c:strCache>
            </c:strRef>
          </c:tx>
          <c:spPr>
            <a:ln w="19050" cap="rnd">
              <a:solidFill>
                <a:schemeClr val="accent2"/>
              </a:solidFill>
              <a:round/>
            </a:ln>
            <a:effectLst/>
          </c:spPr>
          <c:marker>
            <c:symbol val="none"/>
          </c:marker>
          <c:xVal>
            <c:numRef>
              <c:f>'Graphics - World level'!$F$125:$F$172</c:f>
              <c:numCache>
                <c:formatCode>_-* #,##0\ _€_-;\-* #,##0\ _€_-;_-* "-"??\ _€_-;_-@_-</c:formatCode>
                <c:ptCount val="48"/>
                <c:pt idx="0" formatCode="0">
                  <c:v>0</c:v>
                </c:pt>
                <c:pt idx="1">
                  <c:v>687855.25</c:v>
                </c:pt>
                <c:pt idx="2">
                  <c:v>1101309.25</c:v>
                </c:pt>
                <c:pt idx="3">
                  <c:v>4617064.3959999997</c:v>
                </c:pt>
                <c:pt idx="4">
                  <c:v>4906064.3959999997</c:v>
                </c:pt>
                <c:pt idx="5">
                  <c:v>5380501.3959999997</c:v>
                </c:pt>
                <c:pt idx="6">
                  <c:v>5513494.2459999993</c:v>
                </c:pt>
                <c:pt idx="7">
                  <c:v>6035795.7459999993</c:v>
                </c:pt>
                <c:pt idx="8">
                  <c:v>6825795.7459999993</c:v>
                </c:pt>
                <c:pt idx="9">
                  <c:v>8006245.7459999993</c:v>
                </c:pt>
                <c:pt idx="10">
                  <c:v>9336874.7459999993</c:v>
                </c:pt>
                <c:pt idx="11">
                  <c:v>11946558.245999999</c:v>
                </c:pt>
                <c:pt idx="12">
                  <c:v>12257479.195999999</c:v>
                </c:pt>
                <c:pt idx="13">
                  <c:v>14845665.195999999</c:v>
                </c:pt>
                <c:pt idx="14">
                  <c:v>15849263.256000005</c:v>
                </c:pt>
                <c:pt idx="15">
                  <c:v>15937828.056000005</c:v>
                </c:pt>
                <c:pt idx="16">
                  <c:v>16094388.206000006</c:v>
                </c:pt>
                <c:pt idx="17">
                  <c:v>18043118.206000008</c:v>
                </c:pt>
                <c:pt idx="18">
                  <c:v>18875905.906000007</c:v>
                </c:pt>
                <c:pt idx="19">
                  <c:v>19705004.132728856</c:v>
                </c:pt>
                <c:pt idx="20">
                  <c:v>20444561.942728855</c:v>
                </c:pt>
                <c:pt idx="21">
                  <c:v>20846916.692728855</c:v>
                </c:pt>
                <c:pt idx="22">
                  <c:v>23345876.532728855</c:v>
                </c:pt>
                <c:pt idx="23">
                  <c:v>23450927.532728855</c:v>
                </c:pt>
                <c:pt idx="24">
                  <c:v>27025069.532728855</c:v>
                </c:pt>
                <c:pt idx="25">
                  <c:v>27040068.532728855</c:v>
                </c:pt>
                <c:pt idx="26">
                  <c:v>33681342.532728851</c:v>
                </c:pt>
                <c:pt idx="27">
                  <c:v>33802317.482728854</c:v>
                </c:pt>
                <c:pt idx="28">
                  <c:v>34536090.482728854</c:v>
                </c:pt>
                <c:pt idx="29">
                  <c:v>35134721.152728856</c:v>
                </c:pt>
                <c:pt idx="30">
                  <c:v>35927373.152728856</c:v>
                </c:pt>
                <c:pt idx="31">
                  <c:v>40364704.152728856</c:v>
                </c:pt>
                <c:pt idx="32">
                  <c:v>41189304.432728857</c:v>
                </c:pt>
                <c:pt idx="33">
                  <c:v>41403463.082728855</c:v>
                </c:pt>
                <c:pt idx="34">
                  <c:v>44823130.852728859</c:v>
                </c:pt>
                <c:pt idx="35">
                  <c:v>45433626.852728859</c:v>
                </c:pt>
                <c:pt idx="36">
                  <c:v>45484721.852728859</c:v>
                </c:pt>
                <c:pt idx="37">
                  <c:v>47574278.862728857</c:v>
                </c:pt>
                <c:pt idx="38">
                  <c:v>51107203.862728857</c:v>
                </c:pt>
                <c:pt idx="39">
                  <c:v>52370904.812728859</c:v>
                </c:pt>
                <c:pt idx="40">
                  <c:v>56866895.812728859</c:v>
                </c:pt>
                <c:pt idx="41">
                  <c:v>58474885.812728859</c:v>
                </c:pt>
                <c:pt idx="42">
                  <c:v>68868261.422598854</c:v>
                </c:pt>
                <c:pt idx="43">
                  <c:v>69455660.282598853</c:v>
                </c:pt>
                <c:pt idx="44">
                  <c:v>72389648.282598853</c:v>
                </c:pt>
                <c:pt idx="45">
                  <c:v>73099861.678526446</c:v>
                </c:pt>
                <c:pt idx="46">
                  <c:v>75299861.678526446</c:v>
                </c:pt>
                <c:pt idx="47">
                  <c:v>80000000</c:v>
                </c:pt>
              </c:numCache>
            </c:numRef>
          </c:xVal>
          <c:yVal>
            <c:numRef>
              <c:f>'Graphics - World level'!$G$125:$G$172</c:f>
              <c:numCache>
                <c:formatCode>0.00</c:formatCode>
                <c:ptCount val="48"/>
                <c:pt idx="0">
                  <c:v>10.075981107364131</c:v>
                </c:pt>
                <c:pt idx="1">
                  <c:v>10.075981107364131</c:v>
                </c:pt>
                <c:pt idx="2">
                  <c:v>10.075981107364131</c:v>
                </c:pt>
                <c:pt idx="3">
                  <c:v>10.075981107364131</c:v>
                </c:pt>
                <c:pt idx="4">
                  <c:v>10.075981107364131</c:v>
                </c:pt>
                <c:pt idx="5">
                  <c:v>10.075981107364131</c:v>
                </c:pt>
                <c:pt idx="6">
                  <c:v>10.075981107364131</c:v>
                </c:pt>
                <c:pt idx="7">
                  <c:v>10.075981107364131</c:v>
                </c:pt>
                <c:pt idx="8">
                  <c:v>10.075981107364131</c:v>
                </c:pt>
                <c:pt idx="9">
                  <c:v>10.075981107364131</c:v>
                </c:pt>
                <c:pt idx="10">
                  <c:v>10.075981107364131</c:v>
                </c:pt>
                <c:pt idx="11">
                  <c:v>10.075981107364131</c:v>
                </c:pt>
                <c:pt idx="12">
                  <c:v>10.075981107364131</c:v>
                </c:pt>
                <c:pt idx="13">
                  <c:v>10.075981107364131</c:v>
                </c:pt>
                <c:pt idx="14">
                  <c:v>10.075981107364131</c:v>
                </c:pt>
                <c:pt idx="15">
                  <c:v>10.075981107364131</c:v>
                </c:pt>
                <c:pt idx="16">
                  <c:v>10.075981107364131</c:v>
                </c:pt>
                <c:pt idx="17">
                  <c:v>10.075981107364131</c:v>
                </c:pt>
                <c:pt idx="18">
                  <c:v>10.075981107364131</c:v>
                </c:pt>
                <c:pt idx="19">
                  <c:v>10.075981107364131</c:v>
                </c:pt>
                <c:pt idx="20">
                  <c:v>10.075981107364131</c:v>
                </c:pt>
                <c:pt idx="21">
                  <c:v>10.075981107364131</c:v>
                </c:pt>
                <c:pt idx="22">
                  <c:v>10.075981107364131</c:v>
                </c:pt>
                <c:pt idx="23">
                  <c:v>10.075981107364131</c:v>
                </c:pt>
                <c:pt idx="24">
                  <c:v>10.075981107364131</c:v>
                </c:pt>
                <c:pt idx="25">
                  <c:v>10.075981107364131</c:v>
                </c:pt>
                <c:pt idx="26">
                  <c:v>10.075981107364131</c:v>
                </c:pt>
                <c:pt idx="27">
                  <c:v>10.075981107364131</c:v>
                </c:pt>
                <c:pt idx="28">
                  <c:v>10.075981107364131</c:v>
                </c:pt>
                <c:pt idx="29">
                  <c:v>10.075981107364131</c:v>
                </c:pt>
                <c:pt idx="30">
                  <c:v>10.075981107364131</c:v>
                </c:pt>
                <c:pt idx="31">
                  <c:v>10.075981107364131</c:v>
                </c:pt>
                <c:pt idx="32">
                  <c:v>10.075981107364131</c:v>
                </c:pt>
                <c:pt idx="33">
                  <c:v>10.075981107364131</c:v>
                </c:pt>
                <c:pt idx="34">
                  <c:v>10.075981107364131</c:v>
                </c:pt>
                <c:pt idx="35">
                  <c:v>10.075981107364131</c:v>
                </c:pt>
                <c:pt idx="36">
                  <c:v>10.075981107364131</c:v>
                </c:pt>
                <c:pt idx="37">
                  <c:v>10.075981107364131</c:v>
                </c:pt>
                <c:pt idx="38">
                  <c:v>10.075981107364131</c:v>
                </c:pt>
                <c:pt idx="39">
                  <c:v>10.075981107364131</c:v>
                </c:pt>
                <c:pt idx="40">
                  <c:v>10.075981107364131</c:v>
                </c:pt>
                <c:pt idx="41">
                  <c:v>10.075981107364131</c:v>
                </c:pt>
                <c:pt idx="42">
                  <c:v>10.075981107364131</c:v>
                </c:pt>
                <c:pt idx="43">
                  <c:v>10.075981107364131</c:v>
                </c:pt>
                <c:pt idx="44">
                  <c:v>10.075981107364131</c:v>
                </c:pt>
                <c:pt idx="45">
                  <c:v>10.075981107364131</c:v>
                </c:pt>
                <c:pt idx="46">
                  <c:v>10.075981107364131</c:v>
                </c:pt>
                <c:pt idx="47">
                  <c:v>10.075981107364131</c:v>
                </c:pt>
              </c:numCache>
            </c:numRef>
          </c:yVal>
          <c:smooth val="0"/>
          <c:extLst>
            <c:ext xmlns:c16="http://schemas.microsoft.com/office/drawing/2014/chart" uri="{C3380CC4-5D6E-409C-BE32-E72D297353CC}">
              <c16:uniqueId val="{00000001-6D88-4FBA-8A2D-183F7EE08814}"/>
            </c:ext>
          </c:extLst>
        </c:ser>
        <c:dLbls>
          <c:showLegendKey val="0"/>
          <c:showVal val="0"/>
          <c:showCatName val="0"/>
          <c:showSerName val="0"/>
          <c:showPercent val="0"/>
          <c:showBubbleSize val="0"/>
        </c:dLbls>
        <c:axId val="235769712"/>
        <c:axId val="25667520"/>
      </c:scatterChart>
      <c:valAx>
        <c:axId val="235769712"/>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25667520"/>
        <c:crosses val="autoZero"/>
        <c:crossBetween val="midCat"/>
      </c:valAx>
      <c:valAx>
        <c:axId val="25667520"/>
        <c:scaling>
          <c:orientation val="minMax"/>
          <c:max val="7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kWh/m3 electricity energy for production</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23576971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a:effectLst/>
              </a:rPr>
              <a:t>Total </a:t>
            </a:r>
            <a:r>
              <a:rPr lang="fr-FR" sz="1400" b="1" i="0" baseline="0" dirty="0" err="1">
                <a:effectLst/>
              </a:rPr>
              <a:t>energy</a:t>
            </a:r>
            <a:r>
              <a:rPr lang="fr-FR" sz="1400" b="1" i="0" baseline="0" dirty="0">
                <a:effectLst/>
              </a:rPr>
              <a:t> for production</a:t>
            </a:r>
            <a:endParaRPr lang="fr-FR" sz="1400" dirty="0">
              <a:effectLst/>
            </a:endParaRPr>
          </a:p>
          <a:p>
            <a:pPr>
              <a:defRPr/>
            </a:pPr>
            <a:r>
              <a:rPr lang="fr-FR" sz="1200" b="0" i="0" baseline="0" dirty="0">
                <a:effectLst/>
              </a:rPr>
              <a:t>100% of GNR pilot </a:t>
            </a:r>
            <a:r>
              <a:rPr lang="fr-FR" sz="1200" b="0" i="0" baseline="0" dirty="0" err="1">
                <a:effectLst/>
              </a:rPr>
              <a:t>sample</a:t>
            </a:r>
            <a:r>
              <a:rPr lang="fr-FR" sz="1200" b="0" i="0" baseline="0" dirty="0">
                <a:effectLst/>
              </a:rPr>
              <a:t> - Europe (</a:t>
            </a:r>
            <a:r>
              <a:rPr lang="fr-FR" sz="1200" b="0" i="0" baseline="0" dirty="0" err="1">
                <a:effectLst/>
              </a:rPr>
              <a:t>coverage</a:t>
            </a:r>
            <a:r>
              <a:rPr lang="fr-FR" sz="1200" b="0" i="0" baseline="0" dirty="0">
                <a:effectLst/>
              </a:rPr>
              <a:t>: 38M </a:t>
            </a:r>
            <a:r>
              <a:rPr lang="fr-FR" sz="1200" b="0" i="0" u="none" strike="noStrike" baseline="0" dirty="0">
                <a:effectLst/>
              </a:rPr>
              <a:t>m</a:t>
            </a:r>
            <a:r>
              <a:rPr lang="fr-FR" sz="1200" b="0" i="0" u="none" strike="noStrike" baseline="30000" dirty="0">
                <a:effectLst/>
              </a:rPr>
              <a:t>3 </a:t>
            </a:r>
            <a:r>
              <a:rPr lang="fr-FR" sz="1200" b="0" i="0" baseline="0" dirty="0">
                <a:effectLst/>
              </a:rPr>
              <a:t>in 2019) </a:t>
            </a:r>
            <a:endParaRPr lang="fr-FR" sz="12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Europe'!$H$84:$H$110</c:f>
              <c:numCache>
                <c:formatCode>0.00%</c:formatCode>
                <c:ptCount val="27"/>
                <c:pt idx="0">
                  <c:v>9.2145413221783087E-2</c:v>
                </c:pt>
                <c:pt idx="1">
                  <c:v>9.5631060148229377E-2</c:v>
                </c:pt>
                <c:pt idx="2">
                  <c:v>0.1163363918400652</c:v>
                </c:pt>
                <c:pt idx="3">
                  <c:v>0.14727513715098617</c:v>
                </c:pt>
                <c:pt idx="4">
                  <c:v>0.18214996601652517</c:v>
                </c:pt>
                <c:pt idx="5">
                  <c:v>0.25054789320413401</c:v>
                </c:pt>
                <c:pt idx="6">
                  <c:v>0.25869690763412218</c:v>
                </c:pt>
                <c:pt idx="7">
                  <c:v>0.32653140081154719</c:v>
                </c:pt>
                <c:pt idx="8">
                  <c:v>0.33063472971720997</c:v>
                </c:pt>
                <c:pt idx="9">
                  <c:v>0.3817095411448444</c:v>
                </c:pt>
                <c:pt idx="10">
                  <c:v>0.40109281932375285</c:v>
                </c:pt>
                <c:pt idx="11">
                  <c:v>0.41163824787632969</c:v>
                </c:pt>
                <c:pt idx="12">
                  <c:v>0.41439155901501201</c:v>
                </c:pt>
                <c:pt idx="13">
                  <c:v>0.50806724967795058</c:v>
                </c:pt>
                <c:pt idx="14">
                  <c:v>0.50846036267800854</c:v>
                </c:pt>
                <c:pt idx="15">
                  <c:v>0.68252337663543283</c:v>
                </c:pt>
                <c:pt idx="16">
                  <c:v>0.68569404304828507</c:v>
                </c:pt>
                <c:pt idx="17">
                  <c:v>0.70492570551855527</c:v>
                </c:pt>
                <c:pt idx="18">
                  <c:v>0.72061538473786657</c:v>
                </c:pt>
                <c:pt idx="19">
                  <c:v>0.74139022344191341</c:v>
                </c:pt>
                <c:pt idx="20">
                  <c:v>0.76300240358188898</c:v>
                </c:pt>
                <c:pt idx="21">
                  <c:v>0.85262943580180095</c:v>
                </c:pt>
                <c:pt idx="22">
                  <c:v>0.86863009678476177</c:v>
                </c:pt>
                <c:pt idx="23">
                  <c:v>0.86996925997817232</c:v>
                </c:pt>
                <c:pt idx="24">
                  <c:v>0.92473504603013523</c:v>
                </c:pt>
                <c:pt idx="25">
                  <c:v>0.9578557388517025</c:v>
                </c:pt>
                <c:pt idx="26" formatCode="0%">
                  <c:v>1</c:v>
                </c:pt>
              </c:numCache>
            </c:numRef>
          </c:xVal>
          <c:yVal>
            <c:numRef>
              <c:f>'Graphics - Europe'!$D$84:$D$110</c:f>
              <c:numCache>
                <c:formatCode>0.00</c:formatCode>
                <c:ptCount val="27"/>
                <c:pt idx="0">
                  <c:v>1.7480853315374767</c:v>
                </c:pt>
                <c:pt idx="1">
                  <c:v>2.3304260341815368</c:v>
                </c:pt>
                <c:pt idx="2">
                  <c:v>2.4369240506329115</c:v>
                </c:pt>
                <c:pt idx="3">
                  <c:v>2.5159656486932938</c:v>
                </c:pt>
                <c:pt idx="4">
                  <c:v>2.5874161768607178</c:v>
                </c:pt>
                <c:pt idx="5">
                  <c:v>2.684736608438874</c:v>
                </c:pt>
                <c:pt idx="6">
                  <c:v>2.7179626525649043</c:v>
                </c:pt>
                <c:pt idx="7">
                  <c:v>2.7970952542737568</c:v>
                </c:pt>
                <c:pt idx="8">
                  <c:v>3.2949316923878778</c:v>
                </c:pt>
                <c:pt idx="9">
                  <c:v>3.3352378215555771</c:v>
                </c:pt>
                <c:pt idx="10">
                  <c:v>3.8653548842321817</c:v>
                </c:pt>
                <c:pt idx="11">
                  <c:v>3.9362024570495455</c:v>
                </c:pt>
                <c:pt idx="12">
                  <c:v>4.067017713089621</c:v>
                </c:pt>
                <c:pt idx="13">
                  <c:v>4.1532455881614165</c:v>
                </c:pt>
                <c:pt idx="14">
                  <c:v>4.215481032068805</c:v>
                </c:pt>
                <c:pt idx="15">
                  <c:v>4.2836502454197793</c:v>
                </c:pt>
                <c:pt idx="16">
                  <c:v>4.3836099808266091</c:v>
                </c:pt>
                <c:pt idx="17">
                  <c:v>4.4379797348771346</c:v>
                </c:pt>
                <c:pt idx="18">
                  <c:v>4.4661424128294342</c:v>
                </c:pt>
                <c:pt idx="19">
                  <c:v>4.4733035430428485</c:v>
                </c:pt>
                <c:pt idx="20">
                  <c:v>4.5595168752550013</c:v>
                </c:pt>
                <c:pt idx="21">
                  <c:v>4.9237636534433804</c:v>
                </c:pt>
                <c:pt idx="22">
                  <c:v>5.1007869011426772</c:v>
                </c:pt>
                <c:pt idx="23">
                  <c:v>5.3416772678344264</c:v>
                </c:pt>
                <c:pt idx="24">
                  <c:v>5.5402053759288723</c:v>
                </c:pt>
                <c:pt idx="25">
                  <c:v>7.6618745012066025</c:v>
                </c:pt>
                <c:pt idx="26">
                  <c:v>16.077459887443986</c:v>
                </c:pt>
              </c:numCache>
            </c:numRef>
          </c:yVal>
          <c:smooth val="0"/>
          <c:extLst>
            <c:ext xmlns:c16="http://schemas.microsoft.com/office/drawing/2014/chart" uri="{C3380CC4-5D6E-409C-BE32-E72D297353CC}">
              <c16:uniqueId val="{00000000-1C38-4011-91AE-24B5751583FA}"/>
            </c:ext>
          </c:extLst>
        </c:ser>
        <c:ser>
          <c:idx val="1"/>
          <c:order val="1"/>
          <c:tx>
            <c:strRef>
              <c:f>'Graphics - Europe'!$G$81</c:f>
              <c:strCache>
                <c:ptCount val="1"/>
                <c:pt idx="0">
                  <c:v>Weighted average</c:v>
                </c:pt>
              </c:strCache>
            </c:strRef>
          </c:tx>
          <c:spPr>
            <a:ln w="19050" cap="rnd">
              <a:solidFill>
                <a:schemeClr val="accent2"/>
              </a:solidFill>
              <a:round/>
            </a:ln>
            <a:effectLst/>
          </c:spPr>
          <c:marker>
            <c:symbol val="none"/>
          </c:marker>
          <c:xVal>
            <c:numRef>
              <c:f>'Graphics - Europe'!$F$83:$F$111</c:f>
              <c:numCache>
                <c:formatCode>_-* #,##0\ _€_-;\-* #,##0\ _€_-;_-* "-"??\ _€_-;_-@_-</c:formatCode>
                <c:ptCount val="29"/>
                <c:pt idx="0" formatCode="0">
                  <c:v>0</c:v>
                </c:pt>
                <c:pt idx="1">
                  <c:v>3515755.1460000002</c:v>
                </c:pt>
                <c:pt idx="2">
                  <c:v>3648747.9960000003</c:v>
                </c:pt>
                <c:pt idx="3">
                  <c:v>4438747.9960000003</c:v>
                </c:pt>
                <c:pt idx="4">
                  <c:v>5619197.9960000003</c:v>
                </c:pt>
                <c:pt idx="5">
                  <c:v>6949826.9960000003</c:v>
                </c:pt>
                <c:pt idx="6">
                  <c:v>9559510.4959999993</c:v>
                </c:pt>
                <c:pt idx="7">
                  <c:v>9870431.4459999986</c:v>
                </c:pt>
                <c:pt idx="8">
                  <c:v>12458617.445999999</c:v>
                </c:pt>
                <c:pt idx="9">
                  <c:v>12615177.595999999</c:v>
                </c:pt>
                <c:pt idx="10">
                  <c:v>14563907.595999999</c:v>
                </c:pt>
                <c:pt idx="11">
                  <c:v>15303465.405999999</c:v>
                </c:pt>
                <c:pt idx="12">
                  <c:v>15705820.155999999</c:v>
                </c:pt>
                <c:pt idx="13">
                  <c:v>15810871.155999999</c:v>
                </c:pt>
                <c:pt idx="14">
                  <c:v>19385013.155999999</c:v>
                </c:pt>
                <c:pt idx="15">
                  <c:v>19400012.155999999</c:v>
                </c:pt>
                <c:pt idx="16">
                  <c:v>26041286.155999999</c:v>
                </c:pt>
                <c:pt idx="17">
                  <c:v>26162261.105999999</c:v>
                </c:pt>
                <c:pt idx="18">
                  <c:v>26896034.105999999</c:v>
                </c:pt>
                <c:pt idx="19">
                  <c:v>27494664.776000001</c:v>
                </c:pt>
                <c:pt idx="20">
                  <c:v>28287316.776000001</c:v>
                </c:pt>
                <c:pt idx="21">
                  <c:v>29111917.056000002</c:v>
                </c:pt>
                <c:pt idx="22">
                  <c:v>32531584.826000001</c:v>
                </c:pt>
                <c:pt idx="23">
                  <c:v>33142080.826000001</c:v>
                </c:pt>
                <c:pt idx="24">
                  <c:v>33193175.826000001</c:v>
                </c:pt>
                <c:pt idx="25">
                  <c:v>35282732.836000003</c:v>
                </c:pt>
                <c:pt idx="26">
                  <c:v>36546433.786000006</c:v>
                </c:pt>
                <c:pt idx="27">
                  <c:v>38154423.786000006</c:v>
                </c:pt>
                <c:pt idx="28">
                  <c:v>40000000</c:v>
                </c:pt>
              </c:numCache>
            </c:numRef>
          </c:xVal>
          <c:yVal>
            <c:numRef>
              <c:f>'Graphics - Europe'!$G$83:$G$111</c:f>
              <c:numCache>
                <c:formatCode>0.00</c:formatCode>
                <c:ptCount val="29"/>
                <c:pt idx="0">
                  <c:v>4.3567096890459585</c:v>
                </c:pt>
                <c:pt idx="1">
                  <c:v>4.3567096890459585</c:v>
                </c:pt>
                <c:pt idx="2">
                  <c:v>4.3567096890459585</c:v>
                </c:pt>
                <c:pt idx="3">
                  <c:v>4.3567096890459585</c:v>
                </c:pt>
                <c:pt idx="4">
                  <c:v>4.3567096890459585</c:v>
                </c:pt>
                <c:pt idx="5">
                  <c:v>4.3567096890459585</c:v>
                </c:pt>
                <c:pt idx="6">
                  <c:v>4.3567096890459585</c:v>
                </c:pt>
                <c:pt idx="7">
                  <c:v>4.3567096890459585</c:v>
                </c:pt>
                <c:pt idx="8">
                  <c:v>4.3567096890459585</c:v>
                </c:pt>
                <c:pt idx="9">
                  <c:v>4.3567096890459585</c:v>
                </c:pt>
                <c:pt idx="10">
                  <c:v>4.3567096890459585</c:v>
                </c:pt>
                <c:pt idx="11">
                  <c:v>4.3567096890459585</c:v>
                </c:pt>
                <c:pt idx="12">
                  <c:v>4.3567096890459585</c:v>
                </c:pt>
                <c:pt idx="13">
                  <c:v>4.3567096890459585</c:v>
                </c:pt>
                <c:pt idx="14">
                  <c:v>4.3567096890459585</c:v>
                </c:pt>
                <c:pt idx="15">
                  <c:v>4.3567096890459585</c:v>
                </c:pt>
                <c:pt idx="16">
                  <c:v>4.3567096890459585</c:v>
                </c:pt>
                <c:pt idx="17">
                  <c:v>4.3567096890459585</c:v>
                </c:pt>
                <c:pt idx="18">
                  <c:v>4.3567096890459585</c:v>
                </c:pt>
                <c:pt idx="19">
                  <c:v>4.3567096890459585</c:v>
                </c:pt>
                <c:pt idx="20">
                  <c:v>4.3567096890459585</c:v>
                </c:pt>
                <c:pt idx="21">
                  <c:v>4.3567096890459585</c:v>
                </c:pt>
                <c:pt idx="22">
                  <c:v>4.3567096890459585</c:v>
                </c:pt>
                <c:pt idx="23">
                  <c:v>4.3567096890459585</c:v>
                </c:pt>
                <c:pt idx="24">
                  <c:v>4.3567096890459585</c:v>
                </c:pt>
                <c:pt idx="25">
                  <c:v>4.3567096890459585</c:v>
                </c:pt>
                <c:pt idx="26">
                  <c:v>4.3567096890459585</c:v>
                </c:pt>
                <c:pt idx="27">
                  <c:v>4.3567096890459585</c:v>
                </c:pt>
                <c:pt idx="28">
                  <c:v>4.3567096890459585</c:v>
                </c:pt>
              </c:numCache>
            </c:numRef>
          </c:yVal>
          <c:smooth val="0"/>
          <c:extLst>
            <c:ext xmlns:c16="http://schemas.microsoft.com/office/drawing/2014/chart" uri="{C3380CC4-5D6E-409C-BE32-E72D297353CC}">
              <c16:uniqueId val="{00000001-1C38-4011-91AE-24B5751583FA}"/>
            </c:ext>
          </c:extLst>
        </c:ser>
        <c:dLbls>
          <c:showLegendKey val="0"/>
          <c:showVal val="0"/>
          <c:showCatName val="0"/>
          <c:showSerName val="0"/>
          <c:showPercent val="0"/>
          <c:showBubbleSize val="0"/>
        </c:dLbls>
        <c:axId val="1071610128"/>
        <c:axId val="1250223344"/>
      </c:scatterChart>
      <c:valAx>
        <c:axId val="1071610128"/>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250223344"/>
        <c:crosses val="autoZero"/>
        <c:crossBetween val="midCat"/>
      </c:valAx>
      <c:valAx>
        <c:axId val="125022334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kWh/m3 electricity energy for production</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07161012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a:effectLst/>
              </a:rPr>
              <a:t>Total </a:t>
            </a:r>
            <a:r>
              <a:rPr lang="fr-FR" sz="1400" b="1" i="0" baseline="0" dirty="0" err="1">
                <a:effectLst/>
              </a:rPr>
              <a:t>energy</a:t>
            </a:r>
            <a:r>
              <a:rPr lang="fr-FR" sz="1400" b="1" i="0" baseline="0" dirty="0">
                <a:effectLst/>
              </a:rPr>
              <a:t> for production</a:t>
            </a:r>
            <a:endParaRPr lang="fr-FR" sz="1400" dirty="0">
              <a:effectLst/>
            </a:endParaRPr>
          </a:p>
          <a:p>
            <a:pPr>
              <a:defRPr/>
            </a:pPr>
            <a:r>
              <a:rPr lang="fr-FR" sz="1100" b="0" i="0" u="none" strike="noStrike" baseline="0" dirty="0">
                <a:effectLst/>
              </a:rPr>
              <a:t>97% of GNR pilot participants – </a:t>
            </a:r>
            <a:br>
              <a:rPr lang="fr-FR" sz="1100" b="0" i="0" u="none" strike="noStrike" baseline="0" dirty="0">
                <a:effectLst/>
              </a:rPr>
            </a:br>
            <a:r>
              <a:rPr lang="fr-FR" sz="1100" b="0" i="0" u="none" strike="noStrike" baseline="0" dirty="0">
                <a:effectLst/>
              </a:rPr>
              <a:t>North America (</a:t>
            </a:r>
            <a:r>
              <a:rPr lang="fr-FR" sz="1100" b="0" i="0" u="none" strike="noStrike" baseline="0" dirty="0" err="1">
                <a:effectLst/>
              </a:rPr>
              <a:t>coverage</a:t>
            </a:r>
            <a:r>
              <a:rPr lang="fr-FR" sz="1100" b="0" i="0" u="none" strike="noStrike" baseline="0" dirty="0">
                <a:effectLst/>
              </a:rPr>
              <a:t>: 25M m</a:t>
            </a:r>
            <a:r>
              <a:rPr lang="fr-FR" sz="1100" b="0" i="0" u="none" strike="noStrike" baseline="30000" dirty="0">
                <a:effectLst/>
              </a:rPr>
              <a:t>3</a:t>
            </a:r>
            <a:r>
              <a:rPr lang="fr-FR" sz="1100" b="0" i="0" u="none" strike="noStrike" baseline="0" dirty="0">
                <a:effectLst/>
              </a:rPr>
              <a:t> in 2019) </a:t>
            </a:r>
            <a:endParaRPr lang="fr-FR" sz="9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North America'!$H$52:$H$60</c:f>
              <c:numCache>
                <c:formatCode>0.00%</c:formatCode>
                <c:ptCount val="9"/>
                <c:pt idx="0">
                  <c:v>2.7148379952255469E-2</c:v>
                </c:pt>
                <c:pt idx="1">
                  <c:v>5.9871360080670691E-2</c:v>
                </c:pt>
                <c:pt idx="2">
                  <c:v>0.15850070284100806</c:v>
                </c:pt>
                <c:pt idx="3">
                  <c:v>0.33594918772197829</c:v>
                </c:pt>
                <c:pt idx="4">
                  <c:v>0.74615658243657224</c:v>
                </c:pt>
                <c:pt idx="5">
                  <c:v>0.76934013367762433</c:v>
                </c:pt>
                <c:pt idx="6">
                  <c:v>0.88513923675833517</c:v>
                </c:pt>
                <c:pt idx="7">
                  <c:v>0.91317005155523345</c:v>
                </c:pt>
                <c:pt idx="8" formatCode="0%">
                  <c:v>1</c:v>
                </c:pt>
              </c:numCache>
            </c:numRef>
          </c:xVal>
          <c:yVal>
            <c:numRef>
              <c:f>'Graphics - North America'!$D$52:$D$60</c:f>
              <c:numCache>
                <c:formatCode>0.00</c:formatCode>
                <c:ptCount val="9"/>
                <c:pt idx="0">
                  <c:v>1.2337101446852372</c:v>
                </c:pt>
                <c:pt idx="1">
                  <c:v>3.7415668254884888</c:v>
                </c:pt>
                <c:pt idx="2">
                  <c:v>3.9913543366284925</c:v>
                </c:pt>
                <c:pt idx="3">
                  <c:v>9.7675447600614262</c:v>
                </c:pt>
                <c:pt idx="4">
                  <c:v>19.852500238121252</c:v>
                </c:pt>
                <c:pt idx="5">
                  <c:v>31.34811658017367</c:v>
                </c:pt>
                <c:pt idx="6">
                  <c:v>32.162446624578735</c:v>
                </c:pt>
                <c:pt idx="7">
                  <c:v>34.45197829314715</c:v>
                </c:pt>
                <c:pt idx="8">
                  <c:v>63.953333333333326</c:v>
                </c:pt>
              </c:numCache>
            </c:numRef>
          </c:yVal>
          <c:smooth val="0"/>
          <c:extLst>
            <c:ext xmlns:c16="http://schemas.microsoft.com/office/drawing/2014/chart" uri="{C3380CC4-5D6E-409C-BE32-E72D297353CC}">
              <c16:uniqueId val="{00000000-EA0F-47CE-A843-BB963CFE141D}"/>
            </c:ext>
          </c:extLst>
        </c:ser>
        <c:ser>
          <c:idx val="1"/>
          <c:order val="1"/>
          <c:tx>
            <c:strRef>
              <c:f>'Graphics - North America'!$G$49</c:f>
              <c:strCache>
                <c:ptCount val="1"/>
                <c:pt idx="0">
                  <c:v>Weighted average</c:v>
                </c:pt>
              </c:strCache>
            </c:strRef>
          </c:tx>
          <c:spPr>
            <a:ln w="19050" cap="rnd">
              <a:solidFill>
                <a:schemeClr val="accent2"/>
              </a:solidFill>
              <a:round/>
            </a:ln>
            <a:effectLst/>
          </c:spPr>
          <c:marker>
            <c:symbol val="none"/>
          </c:marker>
          <c:xVal>
            <c:numRef>
              <c:f>'Graphics - North America'!$F$51:$F$61</c:f>
              <c:numCache>
                <c:formatCode>_-* #,##0\ _€_-;\-* #,##0\ _€_-;_-* "-"??\ _€_-;_-@_-</c:formatCode>
                <c:ptCount val="11"/>
                <c:pt idx="0" formatCode="0">
                  <c:v>0</c:v>
                </c:pt>
                <c:pt idx="1">
                  <c:v>687855.25</c:v>
                </c:pt>
                <c:pt idx="2">
                  <c:v>1516953.4767288505</c:v>
                </c:pt>
                <c:pt idx="3">
                  <c:v>4015913.3167288508</c:v>
                </c:pt>
                <c:pt idx="4">
                  <c:v>8511904.3167288508</c:v>
                </c:pt>
                <c:pt idx="5">
                  <c:v>18905279.926598851</c:v>
                </c:pt>
                <c:pt idx="6">
                  <c:v>19492678.78659885</c:v>
                </c:pt>
                <c:pt idx="7">
                  <c:v>22426666.78659885</c:v>
                </c:pt>
                <c:pt idx="8">
                  <c:v>23136880.182526451</c:v>
                </c:pt>
                <c:pt idx="9">
                  <c:v>25336880.182526451</c:v>
                </c:pt>
                <c:pt idx="10">
                  <c:v>30000000</c:v>
                </c:pt>
              </c:numCache>
            </c:numRef>
          </c:xVal>
          <c:yVal>
            <c:numRef>
              <c:f>'Graphics - North America'!$G$51:$G$61</c:f>
              <c:numCache>
                <c:formatCode>0.00</c:formatCode>
                <c:ptCount val="11"/>
                <c:pt idx="0">
                  <c:v>21.38497241025059</c:v>
                </c:pt>
                <c:pt idx="1">
                  <c:v>21.38497241025059</c:v>
                </c:pt>
                <c:pt idx="2">
                  <c:v>21.38497241025059</c:v>
                </c:pt>
                <c:pt idx="3">
                  <c:v>21.38497241025059</c:v>
                </c:pt>
                <c:pt idx="4">
                  <c:v>21.38497241025059</c:v>
                </c:pt>
                <c:pt idx="5">
                  <c:v>21.38497241025059</c:v>
                </c:pt>
                <c:pt idx="6">
                  <c:v>21.38497241025059</c:v>
                </c:pt>
                <c:pt idx="7">
                  <c:v>21.38497241025059</c:v>
                </c:pt>
                <c:pt idx="8">
                  <c:v>21.38497241025059</c:v>
                </c:pt>
                <c:pt idx="9">
                  <c:v>21.38497241025059</c:v>
                </c:pt>
                <c:pt idx="10">
                  <c:v>21.38497241025059</c:v>
                </c:pt>
              </c:numCache>
            </c:numRef>
          </c:yVal>
          <c:smooth val="0"/>
          <c:extLst>
            <c:ext xmlns:c16="http://schemas.microsoft.com/office/drawing/2014/chart" uri="{C3380CC4-5D6E-409C-BE32-E72D297353CC}">
              <c16:uniqueId val="{00000001-EA0F-47CE-A843-BB963CFE141D}"/>
            </c:ext>
          </c:extLst>
        </c:ser>
        <c:dLbls>
          <c:showLegendKey val="0"/>
          <c:showVal val="0"/>
          <c:showCatName val="0"/>
          <c:showSerName val="0"/>
          <c:showPercent val="0"/>
          <c:showBubbleSize val="0"/>
        </c:dLbls>
        <c:axId val="1167177263"/>
        <c:axId val="1206237215"/>
      </c:scatterChart>
      <c:valAx>
        <c:axId val="1167177263"/>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206237215"/>
        <c:crosses val="autoZero"/>
        <c:crossBetween val="midCat"/>
      </c:valAx>
      <c:valAx>
        <c:axId val="120623721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kWh/m3 electricity energy for production</a:t>
                </a:r>
                <a:endParaRPr lang="fr-FR" sz="1100">
                  <a:effectLst/>
                </a:endParaRPr>
              </a:p>
            </c:rich>
          </c:tx>
          <c:layout>
            <c:manualLayout>
              <c:xMode val="edge"/>
              <c:yMode val="edge"/>
              <c:x val="3.0555555555555555E-2"/>
              <c:y val="0.20630777634335729"/>
            </c:manualLayout>
          </c:layout>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167177263"/>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a:effectLst/>
              </a:rPr>
              <a:t>Total non-</a:t>
            </a:r>
            <a:r>
              <a:rPr lang="fr-FR" sz="1400" b="1" i="0" baseline="0" dirty="0" err="1">
                <a:effectLst/>
              </a:rPr>
              <a:t>electricity</a:t>
            </a:r>
            <a:r>
              <a:rPr lang="fr-FR" sz="1400" b="1" i="0" baseline="0" dirty="0">
                <a:effectLst/>
              </a:rPr>
              <a:t> </a:t>
            </a:r>
            <a:r>
              <a:rPr lang="fr-FR" sz="1400" b="1" i="0" baseline="0" dirty="0" err="1">
                <a:effectLst/>
              </a:rPr>
              <a:t>energy</a:t>
            </a:r>
            <a:r>
              <a:rPr lang="fr-FR" sz="1400" b="1" i="0" baseline="0" dirty="0">
                <a:effectLst/>
              </a:rPr>
              <a:t> for production</a:t>
            </a:r>
            <a:br>
              <a:rPr lang="fr-FR" sz="1800" b="1" i="0" baseline="0" dirty="0">
                <a:effectLst/>
              </a:rPr>
            </a:br>
            <a:r>
              <a:rPr lang="fr-FR" sz="1100" b="0" i="0" u="none" strike="noStrike" baseline="0" dirty="0">
                <a:effectLst/>
              </a:rPr>
              <a:t>76% of GNR pilot </a:t>
            </a:r>
            <a:r>
              <a:rPr lang="fr-FR" sz="1100" b="0" i="0" u="none" strike="noStrike" baseline="0" dirty="0" err="1">
                <a:effectLst/>
              </a:rPr>
              <a:t>sample</a:t>
            </a:r>
            <a:r>
              <a:rPr lang="fr-FR" sz="1100" b="0" i="0" u="none" strike="noStrike" baseline="0" dirty="0">
                <a:effectLst/>
              </a:rPr>
              <a:t> - World (</a:t>
            </a:r>
            <a:r>
              <a:rPr lang="fr-FR" sz="1100" b="0" i="0" u="none" strike="noStrike" baseline="0" dirty="0" err="1">
                <a:effectLst/>
              </a:rPr>
              <a:t>coverage</a:t>
            </a:r>
            <a:r>
              <a:rPr lang="fr-FR" sz="1100" b="0" i="0" u="none" strike="noStrike" baseline="0" dirty="0">
                <a:effectLst/>
              </a:rPr>
              <a:t>: 57M m</a:t>
            </a:r>
            <a:r>
              <a:rPr lang="fr-FR" sz="1100" b="0" i="0" u="none" strike="noStrike" baseline="30000" dirty="0">
                <a:effectLst/>
              </a:rPr>
              <a:t>3</a:t>
            </a:r>
            <a:r>
              <a:rPr lang="fr-FR" sz="1100" b="0" i="0" u="none" strike="noStrike" baseline="0" dirty="0">
                <a:effectLst/>
              </a:rPr>
              <a:t> in 2019) </a:t>
            </a:r>
            <a:endParaRPr lang="fr-FR" dirty="0">
              <a:effectLst/>
            </a:endParaRPr>
          </a:p>
        </c:rich>
      </c:tx>
      <c:layout>
        <c:manualLayout>
          <c:xMode val="edge"/>
          <c:yMode val="edge"/>
          <c:x val="0.13867890442890443"/>
          <c:y val="2.5856111111111111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World level'!$H$65:$H$93</c:f>
              <c:numCache>
                <c:formatCode>0.00%</c:formatCode>
                <c:ptCount val="29"/>
                <c:pt idx="0">
                  <c:v>5.4554226914203937E-3</c:v>
                </c:pt>
                <c:pt idx="1">
                  <c:v>1.2709891499194612E-2</c:v>
                </c:pt>
                <c:pt idx="2">
                  <c:v>2.103436875120808E-2</c:v>
                </c:pt>
                <c:pt idx="3">
                  <c:v>9.8891831320852067E-2</c:v>
                </c:pt>
                <c:pt idx="4">
                  <c:v>0.11350393422262114</c:v>
                </c:pt>
                <c:pt idx="5">
                  <c:v>0.12557305063070701</c:v>
                </c:pt>
                <c:pt idx="6">
                  <c:v>0.24210092332484448</c:v>
                </c:pt>
                <c:pt idx="7">
                  <c:v>0.24443441745474043</c:v>
                </c:pt>
                <c:pt idx="8">
                  <c:v>0.24718142371109653</c:v>
                </c:pt>
                <c:pt idx="9">
                  <c:v>0.26789361346893437</c:v>
                </c:pt>
                <c:pt idx="10">
                  <c:v>0.27296441091060075</c:v>
                </c:pt>
                <c:pt idx="11">
                  <c:v>0.31875394868000928</c:v>
                </c:pt>
                <c:pt idx="12">
                  <c:v>0.32791825701903538</c:v>
                </c:pt>
                <c:pt idx="13">
                  <c:v>0.37333059939743279</c:v>
                </c:pt>
                <c:pt idx="14">
                  <c:v>0.38039032063252737</c:v>
                </c:pt>
                <c:pt idx="15">
                  <c:v>0.3933666107740928</c:v>
                </c:pt>
                <c:pt idx="16">
                  <c:v>0.40783505710703888</c:v>
                </c:pt>
                <c:pt idx="17">
                  <c:v>0.45168183621949265</c:v>
                </c:pt>
                <c:pt idx="18">
                  <c:v>0.45352506231653245</c:v>
                </c:pt>
                <c:pt idx="19">
                  <c:v>0.51352659373336673</c:v>
                </c:pt>
                <c:pt idx="20">
                  <c:v>0.53569950565133018</c:v>
                </c:pt>
                <c:pt idx="21">
                  <c:v>0.71806179787557589</c:v>
                </c:pt>
                <c:pt idx="22">
                  <c:v>0.74627560956493633</c:v>
                </c:pt>
                <c:pt idx="23">
                  <c:v>0.82516232119315525</c:v>
                </c:pt>
                <c:pt idx="24">
                  <c:v>0.88715106531633636</c:v>
                </c:pt>
                <c:pt idx="25">
                  <c:v>0.93863085370484844</c:v>
                </c:pt>
                <c:pt idx="26">
                  <c:v>0.94893736109767113</c:v>
                </c:pt>
                <c:pt idx="27">
                  <c:v>0.96139877380046324</c:v>
                </c:pt>
                <c:pt idx="28" formatCode="0%">
                  <c:v>1</c:v>
                </c:pt>
              </c:numCache>
            </c:numRef>
          </c:xVal>
          <c:yVal>
            <c:numRef>
              <c:f>'Graphics - World level'!$D$65:$D$93</c:f>
              <c:numCache>
                <c:formatCode>0</c:formatCode>
                <c:ptCount val="29"/>
                <c:pt idx="0">
                  <c:v>0</c:v>
                </c:pt>
                <c:pt idx="1">
                  <c:v>0</c:v>
                </c:pt>
                <c:pt idx="2">
                  <c:v>0</c:v>
                </c:pt>
                <c:pt idx="3">
                  <c:v>0</c:v>
                </c:pt>
                <c:pt idx="4">
                  <c:v>0</c:v>
                </c:pt>
                <c:pt idx="5">
                  <c:v>0</c:v>
                </c:pt>
                <c:pt idx="6">
                  <c:v>0</c:v>
                </c:pt>
                <c:pt idx="7">
                  <c:v>0</c:v>
                </c:pt>
                <c:pt idx="8">
                  <c:v>0</c:v>
                </c:pt>
                <c:pt idx="9">
                  <c:v>0</c:v>
                </c:pt>
                <c:pt idx="10">
                  <c:v>0</c:v>
                </c:pt>
                <c:pt idx="11" formatCode="0.00">
                  <c:v>2.7438036068358485E-2</c:v>
                </c:pt>
                <c:pt idx="12" formatCode="0.00">
                  <c:v>5.8731453001762385E-2</c:v>
                </c:pt>
                <c:pt idx="13" formatCode="0.00">
                  <c:v>0.6807277374964551</c:v>
                </c:pt>
                <c:pt idx="14" formatCode="0.00">
                  <c:v>2.444470507680101</c:v>
                </c:pt>
                <c:pt idx="15" formatCode="0.00">
                  <c:v>3.3892437441773478</c:v>
                </c:pt>
                <c:pt idx="16" formatCode="0.00">
                  <c:v>3.5476569083871761</c:v>
                </c:pt>
                <c:pt idx="17" formatCode="0.00">
                  <c:v>4.2063689586944299</c:v>
                </c:pt>
                <c:pt idx="18" formatCode="0.00">
                  <c:v>4.3103730568961742</c:v>
                </c:pt>
                <c:pt idx="19" formatCode="0.00">
                  <c:v>5.2515058040272722</c:v>
                </c:pt>
                <c:pt idx="20" formatCode="0.00">
                  <c:v>11.470202115017804</c:v>
                </c:pt>
                <c:pt idx="21" formatCode="0.00">
                  <c:v>14.335196264220663</c:v>
                </c:pt>
                <c:pt idx="22" formatCode="0.00">
                  <c:v>14.608706878445764</c:v>
                </c:pt>
                <c:pt idx="23" formatCode="0.00">
                  <c:v>15.855344817193808</c:v>
                </c:pt>
                <c:pt idx="24" formatCode="0.00">
                  <c:v>16.270457686194867</c:v>
                </c:pt>
                <c:pt idx="25" formatCode="0.00">
                  <c:v>26.388620691448139</c:v>
                </c:pt>
                <c:pt idx="26" formatCode="0.00">
                  <c:v>77.852951076547868</c:v>
                </c:pt>
                <c:pt idx="27" formatCode="0.00">
                  <c:v>101.53085623768047</c:v>
                </c:pt>
                <c:pt idx="28">
                  <c:v>210</c:v>
                </c:pt>
              </c:numCache>
            </c:numRef>
          </c:yVal>
          <c:smooth val="0"/>
          <c:extLst>
            <c:ext xmlns:c16="http://schemas.microsoft.com/office/drawing/2014/chart" uri="{C3380CC4-5D6E-409C-BE32-E72D297353CC}">
              <c16:uniqueId val="{00000000-F968-449D-BB2F-02B36CAAD0C7}"/>
            </c:ext>
          </c:extLst>
        </c:ser>
        <c:ser>
          <c:idx val="1"/>
          <c:order val="1"/>
          <c:tx>
            <c:strRef>
              <c:f>'Graphics - World level'!$G$62</c:f>
              <c:strCache>
                <c:ptCount val="1"/>
                <c:pt idx="0">
                  <c:v>Weighted average</c:v>
                </c:pt>
              </c:strCache>
            </c:strRef>
          </c:tx>
          <c:spPr>
            <a:ln w="19050" cap="rnd">
              <a:solidFill>
                <a:schemeClr val="accent2"/>
              </a:solidFill>
              <a:round/>
            </a:ln>
            <a:effectLst/>
          </c:spPr>
          <c:marker>
            <c:symbol val="none"/>
          </c:marker>
          <c:xVal>
            <c:numRef>
              <c:f>'Graphics - World level'!$F$64:$F$95</c:f>
              <c:numCache>
                <c:formatCode>_-* #,##0\ _€_-;\-* #,##0\ _€_-;_-* "-"??\ _€_-;_-@_-</c:formatCode>
                <c:ptCount val="32"/>
                <c:pt idx="0" formatCode="0">
                  <c:v>0</c:v>
                </c:pt>
                <c:pt idx="1">
                  <c:v>310920.95</c:v>
                </c:pt>
                <c:pt idx="2">
                  <c:v>724374.95</c:v>
                </c:pt>
                <c:pt idx="3">
                  <c:v>1198811.95</c:v>
                </c:pt>
                <c:pt idx="4">
                  <c:v>5636142.9500000002</c:v>
                </c:pt>
                <c:pt idx="5">
                  <c:v>6468930.6500000004</c:v>
                </c:pt>
                <c:pt idx="6">
                  <c:v>7156785.9000000004</c:v>
                </c:pt>
                <c:pt idx="7">
                  <c:v>13798059.9</c:v>
                </c:pt>
                <c:pt idx="8">
                  <c:v>13931052.75</c:v>
                </c:pt>
                <c:pt idx="9">
                  <c:v>14087612.9</c:v>
                </c:pt>
                <c:pt idx="10">
                  <c:v>15268062.9</c:v>
                </c:pt>
                <c:pt idx="11">
                  <c:v>15557062.9</c:v>
                </c:pt>
                <c:pt idx="12">
                  <c:v>18166746.399999999</c:v>
                </c:pt>
                <c:pt idx="13">
                  <c:v>18689047.899999999</c:v>
                </c:pt>
                <c:pt idx="14">
                  <c:v>21277233.899999999</c:v>
                </c:pt>
                <c:pt idx="15">
                  <c:v>21679588.649999999</c:v>
                </c:pt>
                <c:pt idx="16">
                  <c:v>22419146.459999997</c:v>
                </c:pt>
                <c:pt idx="17">
                  <c:v>23243746.739999998</c:v>
                </c:pt>
                <c:pt idx="18">
                  <c:v>25742706.579999998</c:v>
                </c:pt>
                <c:pt idx="19">
                  <c:v>25847757.579999998</c:v>
                </c:pt>
                <c:pt idx="20">
                  <c:v>29267425.349999998</c:v>
                </c:pt>
                <c:pt idx="21">
                  <c:v>30531126.299999997</c:v>
                </c:pt>
                <c:pt idx="22">
                  <c:v>40924501.909869999</c:v>
                </c:pt>
                <c:pt idx="23">
                  <c:v>42532491.909869999</c:v>
                </c:pt>
                <c:pt idx="24">
                  <c:v>47028482.909869999</c:v>
                </c:pt>
                <c:pt idx="25">
                  <c:v>50561407.909869999</c:v>
                </c:pt>
                <c:pt idx="26">
                  <c:v>53495395.909869999</c:v>
                </c:pt>
                <c:pt idx="27">
                  <c:v>54082794.769869998</c:v>
                </c:pt>
                <c:pt idx="28">
                  <c:v>54793008.165797599</c:v>
                </c:pt>
                <c:pt idx="29">
                  <c:v>56993008.165797599</c:v>
                </c:pt>
                <c:pt idx="30">
                  <c:v>60000000</c:v>
                </c:pt>
              </c:numCache>
            </c:numRef>
          </c:xVal>
          <c:yVal>
            <c:numRef>
              <c:f>'Graphics - World level'!$G$64:$G$94</c:f>
              <c:numCache>
                <c:formatCode>0.00</c:formatCode>
                <c:ptCount val="31"/>
                <c:pt idx="0">
                  <c:v>29.125759580768189</c:v>
                </c:pt>
                <c:pt idx="1">
                  <c:v>29.125759580768189</c:v>
                </c:pt>
                <c:pt idx="2">
                  <c:v>29.125759580768189</c:v>
                </c:pt>
                <c:pt idx="3">
                  <c:v>29.125759580768189</c:v>
                </c:pt>
                <c:pt idx="4">
                  <c:v>29.125759580768189</c:v>
                </c:pt>
                <c:pt idx="5">
                  <c:v>29.125759580768189</c:v>
                </c:pt>
                <c:pt idx="6">
                  <c:v>29.125759580768189</c:v>
                </c:pt>
                <c:pt idx="7">
                  <c:v>29.125759580768189</c:v>
                </c:pt>
                <c:pt idx="8">
                  <c:v>29.125759580768189</c:v>
                </c:pt>
                <c:pt idx="9">
                  <c:v>29.125759580768189</c:v>
                </c:pt>
                <c:pt idx="10">
                  <c:v>29.125759580768189</c:v>
                </c:pt>
                <c:pt idx="11">
                  <c:v>29.125759580768189</c:v>
                </c:pt>
                <c:pt idx="12">
                  <c:v>29.125759580768189</c:v>
                </c:pt>
                <c:pt idx="13">
                  <c:v>29.125759580768189</c:v>
                </c:pt>
                <c:pt idx="14">
                  <c:v>29.125759580768189</c:v>
                </c:pt>
                <c:pt idx="15">
                  <c:v>29.125759580768189</c:v>
                </c:pt>
                <c:pt idx="16">
                  <c:v>29.125759580768189</c:v>
                </c:pt>
                <c:pt idx="17">
                  <c:v>29.125759580768189</c:v>
                </c:pt>
                <c:pt idx="18">
                  <c:v>29.125759580768189</c:v>
                </c:pt>
                <c:pt idx="19">
                  <c:v>29.125759580768189</c:v>
                </c:pt>
                <c:pt idx="20">
                  <c:v>29.125759580768189</c:v>
                </c:pt>
                <c:pt idx="21">
                  <c:v>29.125759580768189</c:v>
                </c:pt>
                <c:pt idx="22">
                  <c:v>29.125759580768189</c:v>
                </c:pt>
                <c:pt idx="23">
                  <c:v>29.125759580768189</c:v>
                </c:pt>
                <c:pt idx="24">
                  <c:v>29.125759580768189</c:v>
                </c:pt>
                <c:pt idx="25">
                  <c:v>29.125759580768189</c:v>
                </c:pt>
                <c:pt idx="26">
                  <c:v>29.125759580768189</c:v>
                </c:pt>
                <c:pt idx="27">
                  <c:v>29.125759580768189</c:v>
                </c:pt>
                <c:pt idx="28">
                  <c:v>29.125759580768189</c:v>
                </c:pt>
                <c:pt idx="29">
                  <c:v>29.125759580768189</c:v>
                </c:pt>
                <c:pt idx="30">
                  <c:v>29.125759580768189</c:v>
                </c:pt>
              </c:numCache>
            </c:numRef>
          </c:yVal>
          <c:smooth val="0"/>
          <c:extLst>
            <c:ext xmlns:c16="http://schemas.microsoft.com/office/drawing/2014/chart" uri="{C3380CC4-5D6E-409C-BE32-E72D297353CC}">
              <c16:uniqueId val="{00000001-F968-449D-BB2F-02B36CAAD0C7}"/>
            </c:ext>
          </c:extLst>
        </c:ser>
        <c:dLbls>
          <c:showLegendKey val="0"/>
          <c:showVal val="0"/>
          <c:showCatName val="0"/>
          <c:showSerName val="0"/>
          <c:showPercent val="0"/>
          <c:showBubbleSize val="0"/>
        </c:dLbls>
        <c:axId val="1809294943"/>
        <c:axId val="1975599439"/>
      </c:scatterChart>
      <c:valAx>
        <c:axId val="1809294943"/>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975599439"/>
        <c:crosses val="autoZero"/>
        <c:crossBetween val="midCat"/>
      </c:valAx>
      <c:valAx>
        <c:axId val="1975599439"/>
        <c:scaling>
          <c:orientation val="minMax"/>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MJ/m3 non-electricity energy for production</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809294943"/>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a:effectLst/>
              </a:rPr>
              <a:t>Total </a:t>
            </a:r>
            <a:r>
              <a:rPr lang="fr-FR" sz="1400" b="1" i="0" baseline="0" dirty="0" err="1">
                <a:effectLst/>
              </a:rPr>
              <a:t>electricity</a:t>
            </a:r>
            <a:r>
              <a:rPr lang="fr-FR" sz="1400" b="1" i="0" baseline="0" dirty="0">
                <a:effectLst/>
              </a:rPr>
              <a:t> </a:t>
            </a:r>
            <a:r>
              <a:rPr lang="fr-FR" sz="1400" b="1" i="0" baseline="0" dirty="0" err="1">
                <a:effectLst/>
              </a:rPr>
              <a:t>energy</a:t>
            </a:r>
            <a:r>
              <a:rPr lang="fr-FR" sz="1400" b="1" i="0" baseline="0" dirty="0">
                <a:effectLst/>
              </a:rPr>
              <a:t> for production</a:t>
            </a:r>
            <a:br>
              <a:rPr lang="fr-FR" sz="1400" b="1" i="0" baseline="0" dirty="0">
                <a:effectLst/>
              </a:rPr>
            </a:br>
            <a:r>
              <a:rPr lang="fr-FR" sz="1100" b="0" i="0" u="none" strike="noStrike" baseline="0" dirty="0">
                <a:effectLst/>
              </a:rPr>
              <a:t>79% of GNR pilot </a:t>
            </a:r>
            <a:r>
              <a:rPr lang="fr-FR" sz="1100" b="0" i="0" u="none" strike="noStrike" baseline="0" dirty="0" err="1">
                <a:effectLst/>
              </a:rPr>
              <a:t>sample</a:t>
            </a:r>
            <a:r>
              <a:rPr lang="fr-FR" sz="1100" b="0" i="0" u="none" strike="noStrike" baseline="0" dirty="0">
                <a:effectLst/>
              </a:rPr>
              <a:t> </a:t>
            </a:r>
            <a:r>
              <a:rPr lang="fr-FR" sz="1100" b="0" i="0" baseline="0" dirty="0">
                <a:effectLst/>
              </a:rPr>
              <a:t>- World (</a:t>
            </a:r>
            <a:r>
              <a:rPr lang="fr-FR" sz="1100" b="0" i="0" baseline="0" dirty="0" err="1">
                <a:effectLst/>
              </a:rPr>
              <a:t>coverage</a:t>
            </a:r>
            <a:r>
              <a:rPr lang="fr-FR" sz="1100" b="0" i="0" baseline="0" dirty="0">
                <a:effectLst/>
              </a:rPr>
              <a:t>: 59M m</a:t>
            </a:r>
            <a:r>
              <a:rPr lang="fr-FR" sz="1100" b="0" i="0" baseline="30000" dirty="0">
                <a:effectLst/>
              </a:rPr>
              <a:t>3</a:t>
            </a:r>
            <a:r>
              <a:rPr lang="fr-FR" sz="1100" b="0" i="0" baseline="0" dirty="0">
                <a:effectLst/>
              </a:rPr>
              <a:t> in 2019) </a:t>
            </a:r>
            <a:endParaRPr lang="fr-FR" sz="1400" b="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World level'!$H$8:$H$40</c:f>
              <c:numCache>
                <c:formatCode>0.00%</c:formatCode>
                <c:ptCount val="33"/>
                <c:pt idx="0">
                  <c:v>1.1633240970551987E-2</c:v>
                </c:pt>
                <c:pt idx="1">
                  <c:v>7.1383265202957541E-2</c:v>
                </c:pt>
                <c:pt idx="2">
                  <c:v>7.8375739291421068E-2</c:v>
                </c:pt>
                <c:pt idx="3">
                  <c:v>8.3263405178233038E-2</c:v>
                </c:pt>
                <c:pt idx="4">
                  <c:v>9.1287244418168725E-2</c:v>
                </c:pt>
                <c:pt idx="5">
                  <c:v>9.3536464543202982E-2</c:v>
                </c:pt>
                <c:pt idx="6">
                  <c:v>0.10236980441926086</c:v>
                </c:pt>
                <c:pt idx="7">
                  <c:v>0.12233397464793629</c:v>
                </c:pt>
                <c:pt idx="8">
                  <c:v>0.1661062529210309</c:v>
                </c:pt>
                <c:pt idx="9">
                  <c:v>0.21024210419551562</c:v>
                </c:pt>
                <c:pt idx="10">
                  <c:v>0.21550050461354389</c:v>
                </c:pt>
                <c:pt idx="11">
                  <c:v>0.25776375984704253</c:v>
                </c:pt>
                <c:pt idx="12">
                  <c:v>0.25954041794072935</c:v>
                </c:pt>
                <c:pt idx="13">
                  <c:v>0.27204807011810783</c:v>
                </c:pt>
                <c:pt idx="14">
                  <c:v>0.28902126043621407</c:v>
                </c:pt>
                <c:pt idx="15">
                  <c:v>0.29051909833148165</c:v>
                </c:pt>
                <c:pt idx="16">
                  <c:v>0.29732385814453272</c:v>
                </c:pt>
                <c:pt idx="17">
                  <c:v>0.29997165642961632</c:v>
                </c:pt>
                <c:pt idx="18">
                  <c:v>0.31405604408444887</c:v>
                </c:pt>
                <c:pt idx="19">
                  <c:v>0.37189062368188619</c:v>
                </c:pt>
                <c:pt idx="20">
                  <c:v>0.38583654291652841</c:v>
                </c:pt>
                <c:pt idx="21">
                  <c:v>0.39985853294974261</c:v>
                </c:pt>
                <c:pt idx="22">
                  <c:v>0.51217800829497206</c:v>
                </c:pt>
                <c:pt idx="23">
                  <c:v>0.53355014678786794</c:v>
                </c:pt>
                <c:pt idx="24">
                  <c:v>0.6085957916224467</c:v>
                </c:pt>
                <c:pt idx="25">
                  <c:v>0.61221771524864288</c:v>
                </c:pt>
                <c:pt idx="26">
                  <c:v>0.6882554378718736</c:v>
                </c:pt>
                <c:pt idx="27">
                  <c:v>0.71545030939206322</c:v>
                </c:pt>
                <c:pt idx="28">
                  <c:v>0.89122659803284254</c:v>
                </c:pt>
                <c:pt idx="29">
                  <c:v>0.92843374319196481</c:v>
                </c:pt>
                <c:pt idx="30">
                  <c:v>0.97805434201520258</c:v>
                </c:pt>
                <c:pt idx="31">
                  <c:v>0.99006571152258049</c:v>
                </c:pt>
                <c:pt idx="32" formatCode="0%">
                  <c:v>1</c:v>
                </c:pt>
              </c:numCache>
            </c:numRef>
          </c:xVal>
          <c:yVal>
            <c:numRef>
              <c:f>'Graphics - World level'!$D$8:$D$40</c:f>
              <c:numCache>
                <c:formatCode>0.00</c:formatCode>
                <c:ptCount val="33"/>
                <c:pt idx="0">
                  <c:v>1.2337101446852372</c:v>
                </c:pt>
                <c:pt idx="1">
                  <c:v>1.4010719163299532</c:v>
                </c:pt>
                <c:pt idx="2">
                  <c:v>1.4327168488762834</c:v>
                </c:pt>
                <c:pt idx="3">
                  <c:v>1.9307958477508651</c:v>
                </c:pt>
                <c:pt idx="4" formatCode="0">
                  <c:v>2.0048738972496936</c:v>
                </c:pt>
                <c:pt idx="5">
                  <c:v>2.3304260341815368</c:v>
                </c:pt>
                <c:pt idx="6">
                  <c:v>2.381842077803721</c:v>
                </c:pt>
                <c:pt idx="7">
                  <c:v>2.5159656486932938</c:v>
                </c:pt>
                <c:pt idx="8">
                  <c:v>2.608004216080297</c:v>
                </c:pt>
                <c:pt idx="9">
                  <c:v>2.677114931753219</c:v>
                </c:pt>
                <c:pt idx="10">
                  <c:v>2.7179626525649043</c:v>
                </c:pt>
                <c:pt idx="11">
                  <c:v>2.8229185147689284</c:v>
                </c:pt>
                <c:pt idx="12">
                  <c:v>2.869691863951795</c:v>
                </c:pt>
                <c:pt idx="13">
                  <c:v>2.9238982886273628</c:v>
                </c:pt>
                <c:pt idx="14">
                  <c:v>3.0328357232792977</c:v>
                </c:pt>
                <c:pt idx="15">
                  <c:v>3.0730041732155438</c:v>
                </c:pt>
                <c:pt idx="16">
                  <c:v>3.2571828715828506</c:v>
                </c:pt>
                <c:pt idx="17">
                  <c:v>3.2949316923878778</c:v>
                </c:pt>
                <c:pt idx="18">
                  <c:v>3.3486709758081203</c:v>
                </c:pt>
                <c:pt idx="19">
                  <c:v>3.4650120412135821</c:v>
                </c:pt>
                <c:pt idx="20">
                  <c:v>3.5740566229252306</c:v>
                </c:pt>
                <c:pt idx="21">
                  <c:v>3.7415668254884888</c:v>
                </c:pt>
                <c:pt idx="22">
                  <c:v>4.2836502454197793</c:v>
                </c:pt>
                <c:pt idx="23">
                  <c:v>4.4757072470349906</c:v>
                </c:pt>
                <c:pt idx="24">
                  <c:v>4.4839999540264177</c:v>
                </c:pt>
                <c:pt idx="25">
                  <c:v>4.7583975711464372</c:v>
                </c:pt>
                <c:pt idx="26">
                  <c:v>5.3632823108409244</c:v>
                </c:pt>
                <c:pt idx="27">
                  <c:v>5.4728846107994142</c:v>
                </c:pt>
                <c:pt idx="28">
                  <c:v>5.5173039739005869</c:v>
                </c:pt>
                <c:pt idx="29">
                  <c:v>5.62</c:v>
                </c:pt>
                <c:pt idx="30">
                  <c:v>5.7738259331305972</c:v>
                </c:pt>
                <c:pt idx="31">
                  <c:v>6.2489626715692426</c:v>
                </c:pt>
                <c:pt idx="32">
                  <c:v>8.1600243487023434</c:v>
                </c:pt>
              </c:numCache>
            </c:numRef>
          </c:yVal>
          <c:smooth val="0"/>
          <c:extLst>
            <c:ext xmlns:c16="http://schemas.microsoft.com/office/drawing/2014/chart" uri="{C3380CC4-5D6E-409C-BE32-E72D297353CC}">
              <c16:uniqueId val="{00000000-9699-4B1D-B32A-E2CA4BAC7AF9}"/>
            </c:ext>
          </c:extLst>
        </c:ser>
        <c:ser>
          <c:idx val="1"/>
          <c:order val="1"/>
          <c:tx>
            <c:v>Average</c:v>
          </c:tx>
          <c:spPr>
            <a:ln w="19050" cap="rnd">
              <a:solidFill>
                <a:schemeClr val="accent2"/>
              </a:solidFill>
              <a:round/>
            </a:ln>
            <a:effectLst/>
          </c:spPr>
          <c:marker>
            <c:symbol val="none"/>
          </c:marker>
          <c:xVal>
            <c:numRef>
              <c:f>'Graphics - World level'!$F$7:$F$41</c:f>
              <c:numCache>
                <c:formatCode>_-* #,##0\ _€_-;\-* #,##0\ _€_-;_-* "-"??\ _€_-;_-@_-</c:formatCode>
                <c:ptCount val="35"/>
                <c:pt idx="0" formatCode="0">
                  <c:v>0</c:v>
                </c:pt>
                <c:pt idx="1">
                  <c:v>687855.25</c:v>
                </c:pt>
                <c:pt idx="2">
                  <c:v>4220780.25</c:v>
                </c:pt>
                <c:pt idx="3">
                  <c:v>4634234.25</c:v>
                </c:pt>
                <c:pt idx="4">
                  <c:v>4923234.25</c:v>
                </c:pt>
                <c:pt idx="5">
                  <c:v>5397671.25</c:v>
                </c:pt>
                <c:pt idx="6">
                  <c:v>5530664.0999999996</c:v>
                </c:pt>
                <c:pt idx="7">
                  <c:v>6052965.5999999996</c:v>
                </c:pt>
                <c:pt idx="8">
                  <c:v>7233415.5999999996</c:v>
                </c:pt>
                <c:pt idx="9">
                  <c:v>9821601.5999999996</c:v>
                </c:pt>
                <c:pt idx="10">
                  <c:v>12431285.1</c:v>
                </c:pt>
                <c:pt idx="11">
                  <c:v>12742206.049999999</c:v>
                </c:pt>
                <c:pt idx="12">
                  <c:v>15241165.889999999</c:v>
                </c:pt>
                <c:pt idx="13">
                  <c:v>15346216.889999999</c:v>
                </c:pt>
                <c:pt idx="14">
                  <c:v>16085774.699999999</c:v>
                </c:pt>
                <c:pt idx="15">
                  <c:v>17089372.760000005</c:v>
                </c:pt>
                <c:pt idx="16">
                  <c:v>17177937.560000006</c:v>
                </c:pt>
                <c:pt idx="17">
                  <c:v>17580292.310000006</c:v>
                </c:pt>
                <c:pt idx="18">
                  <c:v>17736852.460000005</c:v>
                </c:pt>
                <c:pt idx="19">
                  <c:v>18569640.160000004</c:v>
                </c:pt>
                <c:pt idx="20">
                  <c:v>21989307.930000003</c:v>
                </c:pt>
                <c:pt idx="21">
                  <c:v>22813908.210000005</c:v>
                </c:pt>
                <c:pt idx="22">
                  <c:v>23643006.436728854</c:v>
                </c:pt>
                <c:pt idx="23">
                  <c:v>30284280.436728854</c:v>
                </c:pt>
                <c:pt idx="24">
                  <c:v>31547981.386728853</c:v>
                </c:pt>
                <c:pt idx="25">
                  <c:v>35985312.386728853</c:v>
                </c:pt>
                <c:pt idx="26">
                  <c:v>36199471.036728851</c:v>
                </c:pt>
                <c:pt idx="27">
                  <c:v>40695462.036728851</c:v>
                </c:pt>
                <c:pt idx="28">
                  <c:v>42303452.036728851</c:v>
                </c:pt>
                <c:pt idx="29">
                  <c:v>52696827.646598853</c:v>
                </c:pt>
                <c:pt idx="30">
                  <c:v>54896827.646598853</c:v>
                </c:pt>
                <c:pt idx="31">
                  <c:v>57830815.646598853</c:v>
                </c:pt>
                <c:pt idx="32">
                  <c:v>58541029.042526454</c:v>
                </c:pt>
                <c:pt idx="33">
                  <c:v>59128427.902526453</c:v>
                </c:pt>
                <c:pt idx="34">
                  <c:v>60000000</c:v>
                </c:pt>
              </c:numCache>
            </c:numRef>
          </c:xVal>
          <c:yVal>
            <c:numRef>
              <c:f>'Graphics - World level'!$G$7:$G$41</c:f>
              <c:numCache>
                <c:formatCode>0.00</c:formatCode>
                <c:ptCount val="35"/>
                <c:pt idx="0">
                  <c:v>4.046199524043093</c:v>
                </c:pt>
                <c:pt idx="1">
                  <c:v>4.046199524043093</c:v>
                </c:pt>
                <c:pt idx="2">
                  <c:v>4.046199524043093</c:v>
                </c:pt>
                <c:pt idx="3">
                  <c:v>4.046199524043093</c:v>
                </c:pt>
                <c:pt idx="4">
                  <c:v>4.046199524043093</c:v>
                </c:pt>
                <c:pt idx="5">
                  <c:v>4.046199524043093</c:v>
                </c:pt>
                <c:pt idx="6">
                  <c:v>4.046199524043093</c:v>
                </c:pt>
                <c:pt idx="7">
                  <c:v>4.046199524043093</c:v>
                </c:pt>
                <c:pt idx="8">
                  <c:v>4.046199524043093</c:v>
                </c:pt>
                <c:pt idx="9">
                  <c:v>4.046199524043093</c:v>
                </c:pt>
                <c:pt idx="10">
                  <c:v>4.046199524043093</c:v>
                </c:pt>
                <c:pt idx="11">
                  <c:v>4.046199524043093</c:v>
                </c:pt>
                <c:pt idx="12">
                  <c:v>4.046199524043093</c:v>
                </c:pt>
                <c:pt idx="13">
                  <c:v>4.046199524043093</c:v>
                </c:pt>
                <c:pt idx="14">
                  <c:v>4.046199524043093</c:v>
                </c:pt>
                <c:pt idx="15">
                  <c:v>4.046199524043093</c:v>
                </c:pt>
                <c:pt idx="16">
                  <c:v>4.046199524043093</c:v>
                </c:pt>
                <c:pt idx="17">
                  <c:v>4.046199524043093</c:v>
                </c:pt>
                <c:pt idx="18">
                  <c:v>4.046199524043093</c:v>
                </c:pt>
                <c:pt idx="19">
                  <c:v>4.046199524043093</c:v>
                </c:pt>
                <c:pt idx="20">
                  <c:v>4.046199524043093</c:v>
                </c:pt>
                <c:pt idx="21">
                  <c:v>4.046199524043093</c:v>
                </c:pt>
                <c:pt idx="22">
                  <c:v>4.046199524043093</c:v>
                </c:pt>
                <c:pt idx="23">
                  <c:v>4.046199524043093</c:v>
                </c:pt>
                <c:pt idx="24">
                  <c:v>4.046199524043093</c:v>
                </c:pt>
                <c:pt idx="25">
                  <c:v>4.046199524043093</c:v>
                </c:pt>
                <c:pt idx="26">
                  <c:v>4.046199524043093</c:v>
                </c:pt>
                <c:pt idx="27">
                  <c:v>4.046199524043093</c:v>
                </c:pt>
                <c:pt idx="28">
                  <c:v>4.046199524043093</c:v>
                </c:pt>
                <c:pt idx="29">
                  <c:v>4.046199524043093</c:v>
                </c:pt>
                <c:pt idx="30">
                  <c:v>4.046199524043093</c:v>
                </c:pt>
                <c:pt idx="31">
                  <c:v>4.046199524043093</c:v>
                </c:pt>
                <c:pt idx="32">
                  <c:v>4.046199524043093</c:v>
                </c:pt>
                <c:pt idx="33">
                  <c:v>4.046199524043093</c:v>
                </c:pt>
                <c:pt idx="34">
                  <c:v>4.046199524043093</c:v>
                </c:pt>
              </c:numCache>
            </c:numRef>
          </c:yVal>
          <c:smooth val="0"/>
          <c:extLst>
            <c:ext xmlns:c16="http://schemas.microsoft.com/office/drawing/2014/chart" uri="{C3380CC4-5D6E-409C-BE32-E72D297353CC}">
              <c16:uniqueId val="{00000001-9699-4B1D-B32A-E2CA4BAC7AF9}"/>
            </c:ext>
          </c:extLst>
        </c:ser>
        <c:dLbls>
          <c:showLegendKey val="0"/>
          <c:showVal val="0"/>
          <c:showCatName val="0"/>
          <c:showSerName val="0"/>
          <c:showPercent val="0"/>
          <c:showBubbleSize val="0"/>
        </c:dLbls>
        <c:axId val="428359744"/>
        <c:axId val="278325920"/>
      </c:scatterChart>
      <c:valAx>
        <c:axId val="428359744"/>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278325920"/>
        <c:crosses val="autoZero"/>
        <c:crossBetween val="midCat"/>
      </c:valAx>
      <c:valAx>
        <c:axId val="2783259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kWh/m3 electricity energy for production</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42835974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fr-FR" sz="1400" b="1" i="0" baseline="0" dirty="0">
                <a:effectLst/>
              </a:rPr>
              <a:t>Total </a:t>
            </a:r>
            <a:r>
              <a:rPr lang="fr-FR" sz="1400" b="1" i="0" baseline="0" dirty="0" err="1">
                <a:effectLst/>
              </a:rPr>
              <a:t>electricity</a:t>
            </a:r>
            <a:r>
              <a:rPr lang="fr-FR" sz="1400" b="1" i="0" baseline="0" dirty="0">
                <a:effectLst/>
              </a:rPr>
              <a:t> </a:t>
            </a:r>
            <a:r>
              <a:rPr lang="fr-FR" sz="1400" b="1" i="0" baseline="0" dirty="0" err="1">
                <a:effectLst/>
              </a:rPr>
              <a:t>energy</a:t>
            </a:r>
            <a:r>
              <a:rPr lang="fr-FR" sz="1400" b="1" i="0" baseline="0" dirty="0">
                <a:effectLst/>
              </a:rPr>
              <a:t> for production</a:t>
            </a:r>
            <a:br>
              <a:rPr lang="fr-FR" sz="1200" b="1" i="0" baseline="0" dirty="0">
                <a:effectLst/>
              </a:rPr>
            </a:br>
            <a:r>
              <a:rPr lang="fr-FR" sz="1100" b="0" i="0" baseline="0" dirty="0">
                <a:effectLst/>
              </a:rPr>
              <a:t>58% of GNR pilot </a:t>
            </a:r>
            <a:r>
              <a:rPr lang="fr-FR" sz="1100" b="0" i="0" baseline="0" dirty="0" err="1">
                <a:effectLst/>
              </a:rPr>
              <a:t>sample</a:t>
            </a:r>
            <a:r>
              <a:rPr lang="fr-FR" sz="1100" b="0" i="0" baseline="0" dirty="0">
                <a:effectLst/>
              </a:rPr>
              <a:t> - Europe (</a:t>
            </a:r>
            <a:r>
              <a:rPr lang="fr-FR" sz="1100" b="0" i="0" baseline="0" dirty="0" err="1">
                <a:effectLst/>
              </a:rPr>
              <a:t>coverage</a:t>
            </a:r>
            <a:r>
              <a:rPr lang="fr-FR" sz="1100" b="0" i="0" baseline="0" dirty="0">
                <a:effectLst/>
              </a:rPr>
              <a:t>: 22M m</a:t>
            </a:r>
            <a:r>
              <a:rPr lang="fr-FR" sz="1100" b="0" i="0" baseline="30000" dirty="0">
                <a:effectLst/>
              </a:rPr>
              <a:t>3 </a:t>
            </a:r>
            <a:r>
              <a:rPr lang="fr-FR" sz="1100" b="0" i="0" baseline="0" dirty="0">
                <a:effectLst/>
              </a:rPr>
              <a:t>in 2019) </a:t>
            </a:r>
            <a:endParaRPr lang="fr-FR" dirty="0">
              <a:effectLst/>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Europe'!$H$8:$H$21</c:f>
              <c:numCache>
                <c:formatCode>0.00%</c:formatCode>
                <c:ptCount val="14"/>
                <c:pt idx="0">
                  <c:v>6.0498071435915648E-3</c:v>
                </c:pt>
                <c:pt idx="1">
                  <c:v>5.9748143878631546E-2</c:v>
                </c:pt>
                <c:pt idx="2">
                  <c:v>0.17748399322499622</c:v>
                </c:pt>
                <c:pt idx="3">
                  <c:v>0.29619775776807528</c:v>
                </c:pt>
                <c:pt idx="4">
                  <c:v>0.31034146387259354</c:v>
                </c:pt>
                <c:pt idx="5">
                  <c:v>0.31512020416007092</c:v>
                </c:pt>
                <c:pt idx="6">
                  <c:v>0.3487624798315595</c:v>
                </c:pt>
                <c:pt idx="7">
                  <c:v>0.36706548364573444</c:v>
                </c:pt>
                <c:pt idx="8">
                  <c:v>0.37418736060281726</c:v>
                </c:pt>
                <c:pt idx="9">
                  <c:v>0.52974708057013764</c:v>
                </c:pt>
                <c:pt idx="10">
                  <c:v>0.56725791415669213</c:v>
                </c:pt>
                <c:pt idx="11">
                  <c:v>0.8693675906374122</c:v>
                </c:pt>
                <c:pt idx="12">
                  <c:v>0.92685298954925921</c:v>
                </c:pt>
                <c:pt idx="13" formatCode="0%">
                  <c:v>1</c:v>
                </c:pt>
              </c:numCache>
            </c:numRef>
          </c:xVal>
          <c:yVal>
            <c:numRef>
              <c:f>'Graphics - Europe'!$D$8:$D$21</c:f>
              <c:numCache>
                <c:formatCode>0.00</c:formatCode>
                <c:ptCount val="14"/>
                <c:pt idx="0">
                  <c:v>2.3304260341815368</c:v>
                </c:pt>
                <c:pt idx="1">
                  <c:v>2.5159656486932938</c:v>
                </c:pt>
                <c:pt idx="2">
                  <c:v>2.608004216080297</c:v>
                </c:pt>
                <c:pt idx="3">
                  <c:v>2.677114931753219</c:v>
                </c:pt>
                <c:pt idx="4">
                  <c:v>2.7179626525649043</c:v>
                </c:pt>
                <c:pt idx="5">
                  <c:v>2.869691863951795</c:v>
                </c:pt>
                <c:pt idx="6">
                  <c:v>2.9238982886273628</c:v>
                </c:pt>
                <c:pt idx="7">
                  <c:v>3.2571828715828506</c:v>
                </c:pt>
                <c:pt idx="8">
                  <c:v>3.2949316923878778</c:v>
                </c:pt>
                <c:pt idx="9">
                  <c:v>3.4650120412135821</c:v>
                </c:pt>
                <c:pt idx="10">
                  <c:v>3.5740566229252306</c:v>
                </c:pt>
                <c:pt idx="11">
                  <c:v>4.2836502454197793</c:v>
                </c:pt>
                <c:pt idx="12">
                  <c:v>4.4757072470349906</c:v>
                </c:pt>
                <c:pt idx="13">
                  <c:v>5.4728846107994142</c:v>
                </c:pt>
              </c:numCache>
            </c:numRef>
          </c:yVal>
          <c:smooth val="0"/>
          <c:extLst>
            <c:ext xmlns:c16="http://schemas.microsoft.com/office/drawing/2014/chart" uri="{C3380CC4-5D6E-409C-BE32-E72D297353CC}">
              <c16:uniqueId val="{00000000-19A7-4DC5-8ABD-D018741F8F91}"/>
            </c:ext>
          </c:extLst>
        </c:ser>
        <c:ser>
          <c:idx val="1"/>
          <c:order val="1"/>
          <c:tx>
            <c:strRef>
              <c:f>'Graphics - Europe'!$G$5</c:f>
              <c:strCache>
                <c:ptCount val="1"/>
                <c:pt idx="0">
                  <c:v>Weighted average</c:v>
                </c:pt>
              </c:strCache>
            </c:strRef>
          </c:tx>
          <c:spPr>
            <a:ln w="19050" cap="rnd">
              <a:solidFill>
                <a:schemeClr val="accent2"/>
              </a:solidFill>
              <a:round/>
            </a:ln>
            <a:effectLst/>
          </c:spPr>
          <c:marker>
            <c:symbol val="none"/>
          </c:marker>
          <c:xVal>
            <c:numRef>
              <c:f>'Graphics - Europe'!$F$7:$F$22</c:f>
              <c:numCache>
                <c:formatCode>_-* #,##0\ _€_-;\-* #,##0\ _€_-;_-* "-"??\ _€_-;_-@_-</c:formatCode>
                <c:ptCount val="16"/>
                <c:pt idx="0" formatCode="0">
                  <c:v>0</c:v>
                </c:pt>
                <c:pt idx="1">
                  <c:v>132992.85</c:v>
                </c:pt>
                <c:pt idx="2">
                  <c:v>1313442.8500000001</c:v>
                </c:pt>
                <c:pt idx="3">
                  <c:v>3901628.85</c:v>
                </c:pt>
                <c:pt idx="4">
                  <c:v>6511312.3499999996</c:v>
                </c:pt>
                <c:pt idx="5">
                  <c:v>6822233.2999999998</c:v>
                </c:pt>
                <c:pt idx="6">
                  <c:v>6927284.2999999998</c:v>
                </c:pt>
                <c:pt idx="7">
                  <c:v>7666842.1099999994</c:v>
                </c:pt>
                <c:pt idx="8">
                  <c:v>8069196.8599999994</c:v>
                </c:pt>
                <c:pt idx="9">
                  <c:v>8225757.0099999998</c:v>
                </c:pt>
                <c:pt idx="10">
                  <c:v>11645424.780000001</c:v>
                </c:pt>
                <c:pt idx="11">
                  <c:v>12470025.060000001</c:v>
                </c:pt>
                <c:pt idx="12">
                  <c:v>19111299.060000002</c:v>
                </c:pt>
                <c:pt idx="13">
                  <c:v>20375000.010000002</c:v>
                </c:pt>
                <c:pt idx="14">
                  <c:v>21982990.010000002</c:v>
                </c:pt>
                <c:pt idx="15">
                  <c:v>25000000</c:v>
                </c:pt>
              </c:numCache>
            </c:numRef>
          </c:xVal>
          <c:yVal>
            <c:numRef>
              <c:f>'Graphics - Europe'!$G$7:$G$22</c:f>
              <c:numCache>
                <c:formatCode>0.00</c:formatCode>
                <c:ptCount val="16"/>
                <c:pt idx="0">
                  <c:v>3.6324995799476945</c:v>
                </c:pt>
                <c:pt idx="1">
                  <c:v>3.6324995799476945</c:v>
                </c:pt>
                <c:pt idx="2">
                  <c:v>3.6324995799476945</c:v>
                </c:pt>
                <c:pt idx="3">
                  <c:v>3.6324995799476945</c:v>
                </c:pt>
                <c:pt idx="4">
                  <c:v>3.6324995799476945</c:v>
                </c:pt>
                <c:pt idx="5">
                  <c:v>3.6324995799476945</c:v>
                </c:pt>
                <c:pt idx="6">
                  <c:v>3.6324995799476945</c:v>
                </c:pt>
                <c:pt idx="7">
                  <c:v>3.6324995799476945</c:v>
                </c:pt>
                <c:pt idx="8">
                  <c:v>3.6324995799476945</c:v>
                </c:pt>
                <c:pt idx="9">
                  <c:v>3.6324995799476945</c:v>
                </c:pt>
                <c:pt idx="10">
                  <c:v>3.6324995799476945</c:v>
                </c:pt>
                <c:pt idx="11">
                  <c:v>3.6324995799476945</c:v>
                </c:pt>
                <c:pt idx="12">
                  <c:v>3.6324995799476945</c:v>
                </c:pt>
                <c:pt idx="13">
                  <c:v>3.6324995799476945</c:v>
                </c:pt>
                <c:pt idx="14">
                  <c:v>3.6324995799476945</c:v>
                </c:pt>
                <c:pt idx="15">
                  <c:v>3.6324995799476945</c:v>
                </c:pt>
              </c:numCache>
            </c:numRef>
          </c:yVal>
          <c:smooth val="0"/>
          <c:extLst>
            <c:ext xmlns:c16="http://schemas.microsoft.com/office/drawing/2014/chart" uri="{C3380CC4-5D6E-409C-BE32-E72D297353CC}">
              <c16:uniqueId val="{00000001-19A7-4DC5-8ABD-D018741F8F91}"/>
            </c:ext>
          </c:extLst>
        </c:ser>
        <c:dLbls>
          <c:showLegendKey val="0"/>
          <c:showVal val="0"/>
          <c:showCatName val="0"/>
          <c:showSerName val="0"/>
          <c:showPercent val="0"/>
          <c:showBubbleSize val="0"/>
        </c:dLbls>
        <c:axId val="977151184"/>
        <c:axId val="1063911008"/>
      </c:scatterChart>
      <c:valAx>
        <c:axId val="977151184"/>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063911008"/>
        <c:crosses val="autoZero"/>
        <c:crossBetween val="midCat"/>
      </c:valAx>
      <c:valAx>
        <c:axId val="10639110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kWh/m3 electricity energy for production</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97715118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fr-FR" sz="1400" b="1" i="0" baseline="0" dirty="0">
                <a:effectLst/>
              </a:rPr>
              <a:t>Total non-</a:t>
            </a:r>
            <a:r>
              <a:rPr lang="fr-FR" sz="1400" b="1" i="0" baseline="0" dirty="0" err="1">
                <a:effectLst/>
              </a:rPr>
              <a:t>electricity</a:t>
            </a:r>
            <a:r>
              <a:rPr lang="fr-FR" sz="1400" b="1" i="0" baseline="0" dirty="0">
                <a:effectLst/>
              </a:rPr>
              <a:t> </a:t>
            </a:r>
            <a:r>
              <a:rPr lang="fr-FR" sz="1400" b="1" i="0" baseline="0" dirty="0" err="1">
                <a:effectLst/>
              </a:rPr>
              <a:t>energy</a:t>
            </a:r>
            <a:r>
              <a:rPr lang="fr-FR" sz="1400" b="1" i="0" baseline="0" dirty="0">
                <a:effectLst/>
              </a:rPr>
              <a:t> for production</a:t>
            </a:r>
            <a:br>
              <a:rPr lang="fr-FR" sz="1200" b="1" i="0" baseline="0" dirty="0">
                <a:effectLst/>
              </a:rPr>
            </a:br>
            <a:r>
              <a:rPr lang="fr-FR" sz="1100" b="0" i="0" baseline="0" dirty="0">
                <a:effectLst/>
              </a:rPr>
              <a:t>58% of GNR pilot </a:t>
            </a:r>
            <a:r>
              <a:rPr lang="fr-FR" sz="1100" b="0" i="0" baseline="0" dirty="0" err="1">
                <a:effectLst/>
              </a:rPr>
              <a:t>sample</a:t>
            </a:r>
            <a:r>
              <a:rPr lang="fr-FR" sz="1100" b="0" i="0" baseline="0" dirty="0">
                <a:effectLst/>
              </a:rPr>
              <a:t> - Europe (</a:t>
            </a:r>
            <a:r>
              <a:rPr lang="fr-FR" sz="1100" b="0" i="0" baseline="0" dirty="0" err="1">
                <a:effectLst/>
              </a:rPr>
              <a:t>coverage</a:t>
            </a:r>
            <a:r>
              <a:rPr lang="fr-FR" sz="1100" b="0" i="0" baseline="0" dirty="0">
                <a:effectLst/>
              </a:rPr>
              <a:t>: 22M m</a:t>
            </a:r>
            <a:r>
              <a:rPr lang="fr-FR" sz="1100" b="0" i="0" baseline="30000" dirty="0">
                <a:effectLst/>
              </a:rPr>
              <a:t>3 </a:t>
            </a:r>
            <a:r>
              <a:rPr lang="fr-FR" sz="1100" b="0" i="0" baseline="0" dirty="0">
                <a:effectLst/>
              </a:rPr>
              <a:t>in 2019) </a:t>
            </a:r>
            <a:endParaRPr lang="fr-FR" sz="1200" dirty="0">
              <a:effectLst/>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Europe'!$H$46:$H$59</c:f>
              <c:numCache>
                <c:formatCode>0.00%</c:formatCode>
                <c:ptCount val="14"/>
                <c:pt idx="0">
                  <c:v>1.4143706104518219E-2</c:v>
                </c:pt>
                <c:pt idx="1">
                  <c:v>0.31625338258523827</c:v>
                </c:pt>
                <c:pt idx="2">
                  <c:v>0.32230318972882982</c:v>
                </c:pt>
                <c:pt idx="3">
                  <c:v>0.32942506668591259</c:v>
                </c:pt>
                <c:pt idx="4">
                  <c:v>0.38312340342095258</c:v>
                </c:pt>
                <c:pt idx="5">
                  <c:v>0.50183716796403166</c:v>
                </c:pt>
                <c:pt idx="6">
                  <c:v>0.61957301731039638</c:v>
                </c:pt>
                <c:pt idx="7">
                  <c:v>0.63787602112457131</c:v>
                </c:pt>
                <c:pt idx="8">
                  <c:v>0.67151829679606001</c:v>
                </c:pt>
                <c:pt idx="9">
                  <c:v>0.70902913038261439</c:v>
                </c:pt>
                <c:pt idx="10">
                  <c:v>0.71380787067009177</c:v>
                </c:pt>
                <c:pt idx="11">
                  <c:v>0.86936759063741209</c:v>
                </c:pt>
                <c:pt idx="12">
                  <c:v>0.92685298954925921</c:v>
                </c:pt>
                <c:pt idx="13" formatCode="0%">
                  <c:v>1</c:v>
                </c:pt>
              </c:numCache>
            </c:numRef>
          </c:xVal>
          <c:yVal>
            <c:numRef>
              <c:f>'Graphics - Europe'!$D$46:$D$59</c:f>
              <c:numCache>
                <c:formatCode>0</c:formatCode>
                <c:ptCount val="14"/>
                <c:pt idx="0">
                  <c:v>0</c:v>
                </c:pt>
                <c:pt idx="1">
                  <c:v>0</c:v>
                </c:pt>
                <c:pt idx="2">
                  <c:v>0</c:v>
                </c:pt>
                <c:pt idx="3">
                  <c:v>0</c:v>
                </c:pt>
                <c:pt idx="4" formatCode="General">
                  <c:v>0</c:v>
                </c:pt>
                <c:pt idx="5" formatCode="0.00">
                  <c:v>2.7438036068358485E-2</c:v>
                </c:pt>
                <c:pt idx="6" formatCode="0.00">
                  <c:v>0.6807277374964551</c:v>
                </c:pt>
                <c:pt idx="7" formatCode="0.00">
                  <c:v>2.444470507680101</c:v>
                </c:pt>
                <c:pt idx="8" formatCode="0.00">
                  <c:v>3.3892437441773478</c:v>
                </c:pt>
                <c:pt idx="9" formatCode="0.00">
                  <c:v>3.5476569083871761</c:v>
                </c:pt>
                <c:pt idx="10" formatCode="0.00">
                  <c:v>4.3103730568961742</c:v>
                </c:pt>
                <c:pt idx="11" formatCode="0.00">
                  <c:v>5.2515058040272722</c:v>
                </c:pt>
                <c:pt idx="12" formatCode="0.00">
                  <c:v>11.470202115017804</c:v>
                </c:pt>
                <c:pt idx="13" formatCode="0.00">
                  <c:v>52.591344762404752</c:v>
                </c:pt>
              </c:numCache>
            </c:numRef>
          </c:yVal>
          <c:smooth val="0"/>
          <c:extLst>
            <c:ext xmlns:c16="http://schemas.microsoft.com/office/drawing/2014/chart" uri="{C3380CC4-5D6E-409C-BE32-E72D297353CC}">
              <c16:uniqueId val="{00000000-58E8-4BCF-906F-4AEF44711574}"/>
            </c:ext>
          </c:extLst>
        </c:ser>
        <c:ser>
          <c:idx val="1"/>
          <c:order val="1"/>
          <c:tx>
            <c:strRef>
              <c:f>'Graphics - Europe'!$G$43</c:f>
              <c:strCache>
                <c:ptCount val="1"/>
                <c:pt idx="0">
                  <c:v>Weighted average</c:v>
                </c:pt>
              </c:strCache>
            </c:strRef>
          </c:tx>
          <c:spPr>
            <a:ln w="19050" cap="rnd">
              <a:solidFill>
                <a:schemeClr val="accent2"/>
              </a:solidFill>
              <a:round/>
            </a:ln>
            <a:effectLst/>
          </c:spPr>
          <c:marker>
            <c:symbol val="none"/>
          </c:marker>
          <c:xVal>
            <c:numRef>
              <c:f>'Graphics - Europe'!$F$45:$F$60</c:f>
              <c:numCache>
                <c:formatCode>_-* #,##0\ _€_-;\-* #,##0\ _€_-;_-* "-"??\ _€_-;_-@_-</c:formatCode>
                <c:ptCount val="16"/>
                <c:pt idx="0" formatCode="0">
                  <c:v>0</c:v>
                </c:pt>
                <c:pt idx="1">
                  <c:v>310920.95</c:v>
                </c:pt>
                <c:pt idx="2">
                  <c:v>6952194.9500000002</c:v>
                </c:pt>
                <c:pt idx="3">
                  <c:v>7085187.7999999998</c:v>
                </c:pt>
                <c:pt idx="4">
                  <c:v>7241747.9500000002</c:v>
                </c:pt>
                <c:pt idx="5">
                  <c:v>8422197.9499999993</c:v>
                </c:pt>
                <c:pt idx="6">
                  <c:v>11031881.449999999</c:v>
                </c:pt>
                <c:pt idx="7">
                  <c:v>13620067.449999999</c:v>
                </c:pt>
                <c:pt idx="8">
                  <c:v>14022422.199999999</c:v>
                </c:pt>
                <c:pt idx="9">
                  <c:v>14761980.01</c:v>
                </c:pt>
                <c:pt idx="10">
                  <c:v>15586580.289999999</c:v>
                </c:pt>
                <c:pt idx="11">
                  <c:v>15691631.289999999</c:v>
                </c:pt>
                <c:pt idx="12">
                  <c:v>19111299.059999999</c:v>
                </c:pt>
                <c:pt idx="13">
                  <c:v>20375000.009999998</c:v>
                </c:pt>
                <c:pt idx="14">
                  <c:v>21982990.009999998</c:v>
                </c:pt>
                <c:pt idx="15">
                  <c:v>25000000</c:v>
                </c:pt>
              </c:numCache>
            </c:numRef>
          </c:xVal>
          <c:yVal>
            <c:numRef>
              <c:f>'Graphics - Europe'!$G$45:$G$60</c:f>
              <c:numCache>
                <c:formatCode>0.00</c:formatCode>
                <c:ptCount val="16"/>
                <c:pt idx="0">
                  <c:v>5.7190316389967393</c:v>
                </c:pt>
                <c:pt idx="1">
                  <c:v>5.7190316389967393</c:v>
                </c:pt>
                <c:pt idx="2">
                  <c:v>5.7190316389967393</c:v>
                </c:pt>
                <c:pt idx="3">
                  <c:v>5.7190316389967393</c:v>
                </c:pt>
                <c:pt idx="4">
                  <c:v>5.7190316389967393</c:v>
                </c:pt>
                <c:pt idx="5">
                  <c:v>5.7190316389967393</c:v>
                </c:pt>
                <c:pt idx="6">
                  <c:v>5.7190316389967393</c:v>
                </c:pt>
                <c:pt idx="7">
                  <c:v>5.7190316389967393</c:v>
                </c:pt>
                <c:pt idx="8">
                  <c:v>5.7190316389967393</c:v>
                </c:pt>
                <c:pt idx="9">
                  <c:v>5.7190316389967393</c:v>
                </c:pt>
                <c:pt idx="10">
                  <c:v>5.7190316389967393</c:v>
                </c:pt>
                <c:pt idx="11">
                  <c:v>5.7190316389967393</c:v>
                </c:pt>
                <c:pt idx="12">
                  <c:v>5.7190316389967393</c:v>
                </c:pt>
                <c:pt idx="13">
                  <c:v>5.7190316389967393</c:v>
                </c:pt>
                <c:pt idx="14">
                  <c:v>5.7190316389967393</c:v>
                </c:pt>
                <c:pt idx="15">
                  <c:v>5.7190316389967393</c:v>
                </c:pt>
              </c:numCache>
            </c:numRef>
          </c:yVal>
          <c:smooth val="0"/>
          <c:extLst>
            <c:ext xmlns:c16="http://schemas.microsoft.com/office/drawing/2014/chart" uri="{C3380CC4-5D6E-409C-BE32-E72D297353CC}">
              <c16:uniqueId val="{00000001-58E8-4BCF-906F-4AEF44711574}"/>
            </c:ext>
          </c:extLst>
        </c:ser>
        <c:dLbls>
          <c:showLegendKey val="0"/>
          <c:showVal val="0"/>
          <c:showCatName val="0"/>
          <c:showSerName val="0"/>
          <c:showPercent val="0"/>
          <c:showBubbleSize val="0"/>
        </c:dLbls>
        <c:axId val="1031082352"/>
        <c:axId val="1323768448"/>
      </c:scatterChart>
      <c:valAx>
        <c:axId val="1031082352"/>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323768448"/>
        <c:crosses val="autoZero"/>
        <c:crossBetween val="midCat"/>
      </c:valAx>
      <c:valAx>
        <c:axId val="13237684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MJ/m3 non-electricity energy for production</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03108235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a:effectLst/>
              </a:rPr>
              <a:t>Total </a:t>
            </a:r>
            <a:r>
              <a:rPr lang="fr-FR" sz="1400" b="1" i="0" baseline="0" dirty="0" err="1">
                <a:effectLst/>
              </a:rPr>
              <a:t>electricity</a:t>
            </a:r>
            <a:r>
              <a:rPr lang="fr-FR" sz="1400" b="1" i="0" baseline="0" dirty="0">
                <a:effectLst/>
              </a:rPr>
              <a:t> </a:t>
            </a:r>
            <a:r>
              <a:rPr lang="fr-FR" sz="1400" b="1" i="0" baseline="0" dirty="0" err="1">
                <a:effectLst/>
              </a:rPr>
              <a:t>energy</a:t>
            </a:r>
            <a:r>
              <a:rPr lang="fr-FR" sz="1400" b="1" i="0" baseline="0" dirty="0">
                <a:effectLst/>
              </a:rPr>
              <a:t> for production</a:t>
            </a:r>
            <a:br>
              <a:rPr lang="fr-FR" sz="1400" b="1" i="0" baseline="0" dirty="0">
                <a:effectLst/>
              </a:rPr>
            </a:br>
            <a:r>
              <a:rPr lang="fr-FR" sz="1100" b="0" i="0" baseline="0" dirty="0">
                <a:effectLst/>
              </a:rPr>
              <a:t>100% of GNR pilot </a:t>
            </a:r>
            <a:r>
              <a:rPr lang="fr-FR" sz="1100" b="0" i="0" baseline="0" dirty="0" err="1">
                <a:effectLst/>
              </a:rPr>
              <a:t>sample</a:t>
            </a:r>
            <a:r>
              <a:rPr lang="fr-FR" sz="1100" b="0" i="0" baseline="0" dirty="0">
                <a:effectLst/>
              </a:rPr>
              <a:t> - North America </a:t>
            </a:r>
            <a:br>
              <a:rPr lang="fr-FR" sz="1100" b="0" i="0" baseline="0" dirty="0">
                <a:effectLst/>
              </a:rPr>
            </a:br>
            <a:r>
              <a:rPr lang="fr-FR" sz="1100" b="0" i="0" baseline="0" dirty="0">
                <a:effectLst/>
              </a:rPr>
              <a:t>(</a:t>
            </a:r>
            <a:r>
              <a:rPr lang="fr-FR" sz="1100" b="0" i="0" baseline="0" dirty="0" err="1">
                <a:effectLst/>
              </a:rPr>
              <a:t>coverage</a:t>
            </a:r>
            <a:r>
              <a:rPr lang="fr-FR" sz="1100" b="0" i="0" baseline="0" dirty="0">
                <a:effectLst/>
              </a:rPr>
              <a:t>: 25M m</a:t>
            </a:r>
            <a:r>
              <a:rPr lang="fr-FR" sz="1100" b="0" i="0" baseline="30000" dirty="0">
                <a:effectLst/>
              </a:rPr>
              <a:t>3</a:t>
            </a:r>
            <a:r>
              <a:rPr lang="fr-FR" sz="1100" b="0" i="0" baseline="0" dirty="0">
                <a:effectLst/>
              </a:rPr>
              <a:t> in 2019) </a:t>
            </a:r>
            <a:endParaRPr lang="fr-FR" sz="11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North America'!$H$8:$H$16</c:f>
              <c:numCache>
                <c:formatCode>0.00%</c:formatCode>
                <c:ptCount val="9"/>
                <c:pt idx="0">
                  <c:v>2.7148379952255469E-2</c:v>
                </c:pt>
                <c:pt idx="1">
                  <c:v>0.12577772271259283</c:v>
                </c:pt>
                <c:pt idx="2">
                  <c:v>0.15850070284100806</c:v>
                </c:pt>
                <c:pt idx="3">
                  <c:v>0.33594918772197829</c:v>
                </c:pt>
                <c:pt idx="4">
                  <c:v>0.74615658243657224</c:v>
                </c:pt>
                <c:pt idx="5">
                  <c:v>0.83298653088133878</c:v>
                </c:pt>
                <c:pt idx="6">
                  <c:v>0.94878563396204962</c:v>
                </c:pt>
                <c:pt idx="7">
                  <c:v>0.97681644875894791</c:v>
                </c:pt>
                <c:pt idx="8" formatCode="0.0%">
                  <c:v>1</c:v>
                </c:pt>
              </c:numCache>
            </c:numRef>
          </c:xVal>
          <c:yVal>
            <c:numRef>
              <c:f>'Graphics - North America'!$D$8:$D$16</c:f>
              <c:numCache>
                <c:formatCode>0.00</c:formatCode>
                <c:ptCount val="9"/>
                <c:pt idx="0">
                  <c:v>1.2337101446852372</c:v>
                </c:pt>
                <c:pt idx="1">
                  <c:v>2.8229185147689284</c:v>
                </c:pt>
                <c:pt idx="2">
                  <c:v>3.7415668254884888</c:v>
                </c:pt>
                <c:pt idx="3">
                  <c:v>5.3632823108409244</c:v>
                </c:pt>
                <c:pt idx="4">
                  <c:v>5.5173039739005869</c:v>
                </c:pt>
                <c:pt idx="5">
                  <c:v>5.62</c:v>
                </c:pt>
                <c:pt idx="6">
                  <c:v>5.7738259331305972</c:v>
                </c:pt>
                <c:pt idx="7">
                  <c:v>6.2489626715692426</c:v>
                </c:pt>
                <c:pt idx="8">
                  <c:v>8.1600243487023434</c:v>
                </c:pt>
              </c:numCache>
            </c:numRef>
          </c:yVal>
          <c:smooth val="0"/>
          <c:extLst>
            <c:ext xmlns:c16="http://schemas.microsoft.com/office/drawing/2014/chart" uri="{C3380CC4-5D6E-409C-BE32-E72D297353CC}">
              <c16:uniqueId val="{00000000-0923-42D5-B2D1-B50DD8126AD6}"/>
            </c:ext>
          </c:extLst>
        </c:ser>
        <c:ser>
          <c:idx val="1"/>
          <c:order val="1"/>
          <c:tx>
            <c:strRef>
              <c:f>'Graphics - North America'!$G$5</c:f>
              <c:strCache>
                <c:ptCount val="1"/>
                <c:pt idx="0">
                  <c:v>Weighted average</c:v>
                </c:pt>
              </c:strCache>
            </c:strRef>
          </c:tx>
          <c:spPr>
            <a:ln w="19050" cap="rnd">
              <a:solidFill>
                <a:schemeClr val="accent2"/>
              </a:solidFill>
              <a:round/>
            </a:ln>
            <a:effectLst/>
          </c:spPr>
          <c:marker>
            <c:symbol val="none"/>
          </c:marker>
          <c:xVal>
            <c:numRef>
              <c:f>'Graphics - North America'!$F$7:$F$16</c:f>
              <c:numCache>
                <c:formatCode>_-* #,##0\ _€_-;\-* #,##0\ _€_-;_-* "-"??\ _€_-;_-@_-</c:formatCode>
                <c:ptCount val="10"/>
                <c:pt idx="0" formatCode="0">
                  <c:v>0</c:v>
                </c:pt>
                <c:pt idx="1">
                  <c:v>687855.25</c:v>
                </c:pt>
                <c:pt idx="2">
                  <c:v>3186815.0900000003</c:v>
                </c:pt>
                <c:pt idx="3">
                  <c:v>4015913.3167288508</c:v>
                </c:pt>
                <c:pt idx="4">
                  <c:v>8511904.3167288508</c:v>
                </c:pt>
                <c:pt idx="5">
                  <c:v>18905279.926598851</c:v>
                </c:pt>
                <c:pt idx="6">
                  <c:v>21105279.926598851</c:v>
                </c:pt>
                <c:pt idx="7">
                  <c:v>24039267.926598851</c:v>
                </c:pt>
                <c:pt idx="8">
                  <c:v>24749481.322526451</c:v>
                </c:pt>
                <c:pt idx="9">
                  <c:v>25336880.182526451</c:v>
                </c:pt>
              </c:numCache>
            </c:numRef>
          </c:xVal>
          <c:yVal>
            <c:numRef>
              <c:f>'Graphics - North America'!$G$7:$G$17</c:f>
              <c:numCache>
                <c:formatCode>0.00</c:formatCode>
                <c:ptCount val="11"/>
                <c:pt idx="0">
                  <c:v>5.1764364163887819</c:v>
                </c:pt>
                <c:pt idx="1">
                  <c:v>5.1764364163887819</c:v>
                </c:pt>
                <c:pt idx="2">
                  <c:v>5.1764364163887819</c:v>
                </c:pt>
                <c:pt idx="3">
                  <c:v>5.1764364163887819</c:v>
                </c:pt>
                <c:pt idx="4">
                  <c:v>5.1764364163887819</c:v>
                </c:pt>
                <c:pt idx="5">
                  <c:v>5.1764364163887819</c:v>
                </c:pt>
                <c:pt idx="6">
                  <c:v>5.1764364163887819</c:v>
                </c:pt>
                <c:pt idx="7">
                  <c:v>5.1764364163887819</c:v>
                </c:pt>
                <c:pt idx="8">
                  <c:v>5.1764364163887819</c:v>
                </c:pt>
                <c:pt idx="9">
                  <c:v>5.1764364163887819</c:v>
                </c:pt>
                <c:pt idx="10">
                  <c:v>5.1764364163887819</c:v>
                </c:pt>
              </c:numCache>
            </c:numRef>
          </c:yVal>
          <c:smooth val="0"/>
          <c:extLst>
            <c:ext xmlns:c16="http://schemas.microsoft.com/office/drawing/2014/chart" uri="{C3380CC4-5D6E-409C-BE32-E72D297353CC}">
              <c16:uniqueId val="{00000001-0923-42D5-B2D1-B50DD8126AD6}"/>
            </c:ext>
          </c:extLst>
        </c:ser>
        <c:dLbls>
          <c:showLegendKey val="0"/>
          <c:showVal val="0"/>
          <c:showCatName val="0"/>
          <c:showSerName val="0"/>
          <c:showPercent val="0"/>
          <c:showBubbleSize val="0"/>
        </c:dLbls>
        <c:axId val="1205061183"/>
        <c:axId val="1202503087"/>
      </c:scatterChart>
      <c:valAx>
        <c:axId val="1205061183"/>
        <c:scaling>
          <c:orientation val="minMax"/>
          <c:max val="1"/>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202503087"/>
        <c:crosses val="autoZero"/>
        <c:crossBetween val="midCat"/>
        <c:majorUnit val="0.1"/>
      </c:valAx>
      <c:valAx>
        <c:axId val="120250308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kWh/m3 electricity energy for production</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205061183"/>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u="none" strike="noStrike" baseline="0" dirty="0">
                <a:effectLst/>
              </a:rPr>
              <a:t>Total non-</a:t>
            </a:r>
            <a:r>
              <a:rPr lang="fr-FR" sz="1400" b="1" i="0" u="none" strike="noStrike" baseline="0" dirty="0" err="1">
                <a:effectLst/>
              </a:rPr>
              <a:t>electricity</a:t>
            </a:r>
            <a:r>
              <a:rPr lang="fr-FR" sz="1400" b="1" i="0" u="none" strike="noStrike" baseline="0" dirty="0">
                <a:effectLst/>
              </a:rPr>
              <a:t> </a:t>
            </a:r>
            <a:r>
              <a:rPr lang="fr-FR" sz="1400" b="1" i="0" u="none" strike="noStrike" baseline="0" dirty="0" err="1">
                <a:effectLst/>
              </a:rPr>
              <a:t>energy</a:t>
            </a:r>
            <a:r>
              <a:rPr lang="fr-FR" sz="1400" b="1" i="0" u="none" strike="noStrike" baseline="0" dirty="0">
                <a:effectLst/>
              </a:rPr>
              <a:t> for production</a:t>
            </a:r>
            <a:br>
              <a:rPr lang="fr-FR" sz="1400" b="1" i="0" u="none" strike="noStrike" baseline="0" dirty="0">
                <a:effectLst/>
              </a:rPr>
            </a:br>
            <a:r>
              <a:rPr lang="fr-FR" sz="1100" b="0" i="0" u="none" strike="noStrike" baseline="0" dirty="0">
                <a:effectLst/>
              </a:rPr>
              <a:t>97% of GNR pilot </a:t>
            </a:r>
            <a:r>
              <a:rPr lang="fr-FR" sz="1100" b="0" i="0" u="none" strike="noStrike" baseline="0" dirty="0" err="1">
                <a:effectLst/>
              </a:rPr>
              <a:t>sample</a:t>
            </a:r>
            <a:r>
              <a:rPr lang="fr-FR" sz="1100" b="0" i="0" u="none" strike="noStrike" baseline="0" dirty="0">
                <a:effectLst/>
              </a:rPr>
              <a:t>  - North America </a:t>
            </a:r>
            <a:br>
              <a:rPr lang="fr-FR" sz="1100" b="0" i="0" u="none" strike="noStrike" baseline="0" dirty="0">
                <a:effectLst/>
              </a:rPr>
            </a:br>
            <a:r>
              <a:rPr lang="fr-FR" sz="1100" b="0" i="0" u="none" strike="noStrike" baseline="0" dirty="0">
                <a:effectLst/>
              </a:rPr>
              <a:t>(</a:t>
            </a:r>
            <a:r>
              <a:rPr lang="fr-FR" sz="1100" b="0" i="0" u="none" strike="noStrike" baseline="0" dirty="0" err="1">
                <a:effectLst/>
              </a:rPr>
              <a:t>coverage</a:t>
            </a:r>
            <a:r>
              <a:rPr lang="fr-FR" sz="1100" b="0" i="0" u="none" strike="noStrike" baseline="0" dirty="0">
                <a:effectLst/>
              </a:rPr>
              <a:t>: 25M m</a:t>
            </a:r>
            <a:r>
              <a:rPr lang="fr-FR" sz="1100" b="0" i="0" u="none" strike="noStrike" baseline="30000" dirty="0">
                <a:effectLst/>
              </a:rPr>
              <a:t>3</a:t>
            </a:r>
            <a:r>
              <a:rPr lang="fr-FR" sz="1100" b="0" i="0" u="none" strike="noStrike" baseline="0" dirty="0">
                <a:effectLst/>
              </a:rPr>
              <a:t> in 2019) </a:t>
            </a:r>
            <a:endParaRPr lang="fr-FR" sz="11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North America'!$H$28:$H$35</c:f>
              <c:numCache>
                <c:formatCode>0.00%</c:formatCode>
                <c:ptCount val="8"/>
                <c:pt idx="0">
                  <c:v>2.806680960523561E-2</c:v>
                </c:pt>
                <c:pt idx="1">
                  <c:v>0.13003278288291292</c:v>
                </c:pt>
                <c:pt idx="2">
                  <c:v>0.55411749314415004</c:v>
                </c:pt>
                <c:pt idx="3">
                  <c:v>0.73756906000193412</c:v>
                </c:pt>
                <c:pt idx="4">
                  <c:v>0.85728564656581663</c:v>
                </c:pt>
                <c:pt idx="5">
                  <c:v>0.88125349731050806</c:v>
                </c:pt>
                <c:pt idx="6">
                  <c:v>0.91023259452985439</c:v>
                </c:pt>
                <c:pt idx="7">
                  <c:v>1</c:v>
                </c:pt>
              </c:numCache>
            </c:numRef>
          </c:xVal>
          <c:yVal>
            <c:numRef>
              <c:f>'Graphics - North America'!$D$28:$D$35</c:f>
              <c:numCache>
                <c:formatCode>0.00</c:formatCode>
                <c:ptCount val="8"/>
                <c:pt idx="0" formatCode="0">
                  <c:v>0</c:v>
                </c:pt>
                <c:pt idx="1">
                  <c:v>4.2063689586944299</c:v>
                </c:pt>
                <c:pt idx="2">
                  <c:v>14.335196264220663</c:v>
                </c:pt>
                <c:pt idx="3">
                  <c:v>15.855344817193808</c:v>
                </c:pt>
                <c:pt idx="4">
                  <c:v>26.388620691448139</c:v>
                </c:pt>
                <c:pt idx="5">
                  <c:v>77.852951076547868</c:v>
                </c:pt>
                <c:pt idx="6">
                  <c:v>101.53085623768047</c:v>
                </c:pt>
                <c:pt idx="7" formatCode="0">
                  <c:v>210</c:v>
                </c:pt>
              </c:numCache>
            </c:numRef>
          </c:yVal>
          <c:smooth val="0"/>
          <c:extLst>
            <c:ext xmlns:c16="http://schemas.microsoft.com/office/drawing/2014/chart" uri="{C3380CC4-5D6E-409C-BE32-E72D297353CC}">
              <c16:uniqueId val="{00000000-4FA5-4723-A9F1-380134B19050}"/>
            </c:ext>
          </c:extLst>
        </c:ser>
        <c:ser>
          <c:idx val="1"/>
          <c:order val="1"/>
          <c:tx>
            <c:strRef>
              <c:f>'Graphics - North America'!$G$25</c:f>
              <c:strCache>
                <c:ptCount val="1"/>
                <c:pt idx="0">
                  <c:v>Weighted average</c:v>
                </c:pt>
              </c:strCache>
            </c:strRef>
          </c:tx>
          <c:spPr>
            <a:ln w="19050" cap="rnd">
              <a:solidFill>
                <a:schemeClr val="accent2"/>
              </a:solidFill>
              <a:round/>
            </a:ln>
            <a:effectLst/>
          </c:spPr>
          <c:marker>
            <c:symbol val="none"/>
          </c:marker>
          <c:xVal>
            <c:numRef>
              <c:f>'Graphics - North America'!$F$27:$F$36</c:f>
              <c:numCache>
                <c:formatCode>_-* #,##0\ _€_-;\-* #,##0\ _€_-;_-* "-"??\ _€_-;_-@_-</c:formatCode>
                <c:ptCount val="10"/>
                <c:pt idx="0" formatCode="0">
                  <c:v>0</c:v>
                </c:pt>
                <c:pt idx="1">
                  <c:v>687855.25</c:v>
                </c:pt>
                <c:pt idx="2">
                  <c:v>3186815.0900000003</c:v>
                </c:pt>
                <c:pt idx="3">
                  <c:v>13580190.69987</c:v>
                </c:pt>
                <c:pt idx="4">
                  <c:v>18076181.699869998</c:v>
                </c:pt>
                <c:pt idx="5">
                  <c:v>21010169.699869998</c:v>
                </c:pt>
                <c:pt idx="6">
                  <c:v>21597568.559869997</c:v>
                </c:pt>
                <c:pt idx="7">
                  <c:v>22307781.955797598</c:v>
                </c:pt>
                <c:pt idx="8">
                  <c:v>24507781.955797598</c:v>
                </c:pt>
                <c:pt idx="9">
                  <c:v>25000000</c:v>
                </c:pt>
              </c:numCache>
            </c:numRef>
          </c:xVal>
          <c:yVal>
            <c:numRef>
              <c:f>'Graphics - North America'!$G$27:$G$36</c:f>
              <c:numCache>
                <c:formatCode>0.00</c:formatCode>
                <c:ptCount val="10"/>
                <c:pt idx="0">
                  <c:v>60.327077448720516</c:v>
                </c:pt>
                <c:pt idx="1">
                  <c:v>60.327077448720516</c:v>
                </c:pt>
                <c:pt idx="2">
                  <c:v>60.327077448720516</c:v>
                </c:pt>
                <c:pt idx="3">
                  <c:v>60.327077448720516</c:v>
                </c:pt>
                <c:pt idx="4">
                  <c:v>60.327077448720516</c:v>
                </c:pt>
                <c:pt idx="5">
                  <c:v>60.327077448720516</c:v>
                </c:pt>
                <c:pt idx="6">
                  <c:v>60.327077448720516</c:v>
                </c:pt>
                <c:pt idx="7">
                  <c:v>60.327077448720516</c:v>
                </c:pt>
                <c:pt idx="8">
                  <c:v>60.327077448720516</c:v>
                </c:pt>
                <c:pt idx="9">
                  <c:v>60.327077448720516</c:v>
                </c:pt>
              </c:numCache>
            </c:numRef>
          </c:yVal>
          <c:smooth val="0"/>
          <c:extLst>
            <c:ext xmlns:c16="http://schemas.microsoft.com/office/drawing/2014/chart" uri="{C3380CC4-5D6E-409C-BE32-E72D297353CC}">
              <c16:uniqueId val="{00000001-4FA5-4723-A9F1-380134B19050}"/>
            </c:ext>
          </c:extLst>
        </c:ser>
        <c:dLbls>
          <c:showLegendKey val="0"/>
          <c:showVal val="0"/>
          <c:showCatName val="0"/>
          <c:showSerName val="0"/>
          <c:showPercent val="0"/>
          <c:showBubbleSize val="0"/>
        </c:dLbls>
        <c:axId val="1166213727"/>
        <c:axId val="1202495183"/>
      </c:scatterChart>
      <c:valAx>
        <c:axId val="1166213727"/>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202495183"/>
        <c:crosses val="autoZero"/>
        <c:crossBetween val="midCat"/>
      </c:valAx>
      <c:valAx>
        <c:axId val="12024951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MJ/m3 non-electricity energy for production</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166213727"/>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fr-FR" sz="1400" b="1" i="0" baseline="0" dirty="0" err="1">
                <a:effectLst/>
              </a:rPr>
              <a:t>Average</a:t>
            </a:r>
            <a:r>
              <a:rPr lang="fr-FR" sz="1400" b="1" i="0" baseline="0" dirty="0">
                <a:effectLst/>
              </a:rPr>
              <a:t> distribution distance </a:t>
            </a:r>
            <a:br>
              <a:rPr lang="fr-FR" sz="1800" b="1" i="0" baseline="0" dirty="0">
                <a:effectLst/>
              </a:rPr>
            </a:br>
            <a:r>
              <a:rPr lang="fr-FR" sz="1200" b="0" i="0" baseline="0" dirty="0">
                <a:effectLst/>
              </a:rPr>
              <a:t>100% of GNR pilot </a:t>
            </a:r>
            <a:r>
              <a:rPr lang="fr-FR" sz="1200" b="0" i="0" baseline="0" dirty="0" err="1">
                <a:effectLst/>
              </a:rPr>
              <a:t>sample</a:t>
            </a:r>
            <a:r>
              <a:rPr lang="fr-FR" sz="1200" b="0" i="0" baseline="0" dirty="0">
                <a:effectLst/>
              </a:rPr>
              <a:t> – World (</a:t>
            </a:r>
            <a:r>
              <a:rPr lang="fr-FR" sz="1200" b="0" i="0" baseline="0" dirty="0" err="1">
                <a:effectLst/>
              </a:rPr>
              <a:t>coverage</a:t>
            </a:r>
            <a:r>
              <a:rPr lang="fr-FR" sz="1200" b="0" i="0" baseline="0" dirty="0">
                <a:effectLst/>
              </a:rPr>
              <a:t>: 75M m</a:t>
            </a:r>
            <a:r>
              <a:rPr lang="fr-FR" sz="1200" b="0" i="0" baseline="30000" dirty="0">
                <a:effectLst/>
              </a:rPr>
              <a:t>3</a:t>
            </a:r>
            <a:r>
              <a:rPr lang="fr-FR" sz="1200" b="0" i="0" baseline="0" dirty="0">
                <a:effectLst/>
              </a:rPr>
              <a:t> in 2019) </a:t>
            </a:r>
            <a:endParaRPr lang="fr-FR" dirty="0">
              <a:effectLst/>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World level'!$H$238:$H$283</c:f>
              <c:numCache>
                <c:formatCode>0.00%</c:formatCode>
                <c:ptCount val="46"/>
                <c:pt idx="0">
                  <c:v>1.1059617925400373E-2</c:v>
                </c:pt>
                <c:pt idx="1">
                  <c:v>4.5431341090704444E-2</c:v>
                </c:pt>
                <c:pt idx="2">
                  <c:v>0.13362903298492362</c:v>
                </c:pt>
                <c:pt idx="3">
                  <c:v>0.16828624804252065</c:v>
                </c:pt>
                <c:pt idx="4">
                  <c:v>0.17639377953582347</c:v>
                </c:pt>
                <c:pt idx="5">
                  <c:v>0.18740440038222655</c:v>
                </c:pt>
                <c:pt idx="6">
                  <c:v>0.19722590328428172</c:v>
                </c:pt>
                <c:pt idx="7">
                  <c:v>0.2140081512437142</c:v>
                </c:pt>
                <c:pt idx="8">
                  <c:v>0.21935151763285513</c:v>
                </c:pt>
                <c:pt idx="9">
                  <c:v>0.2485680387652888</c:v>
                </c:pt>
                <c:pt idx="10">
                  <c:v>0.25269714263173942</c:v>
                </c:pt>
                <c:pt idx="11">
                  <c:v>0.26064709973200206</c:v>
                </c:pt>
                <c:pt idx="12">
                  <c:v>0.26844789573489181</c:v>
                </c:pt>
                <c:pt idx="13">
                  <c:v>0.26962405725797806</c:v>
                </c:pt>
                <c:pt idx="14">
                  <c:v>0.31631411840323781</c:v>
                </c:pt>
                <c:pt idx="15">
                  <c:v>0.37524292519101193</c:v>
                </c:pt>
                <c:pt idx="16">
                  <c:v>0.37592147889431266</c:v>
                </c:pt>
                <c:pt idx="17">
                  <c:v>0.37612066916725151</c:v>
                </c:pt>
                <c:pt idx="18">
                  <c:v>0.42358612156421455</c:v>
                </c:pt>
                <c:pt idx="19">
                  <c:v>0.4333308008191733</c:v>
                </c:pt>
                <c:pt idx="20">
                  <c:v>0.43472590298348385</c:v>
                </c:pt>
                <c:pt idx="21">
                  <c:v>0.44021667004179715</c:v>
                </c:pt>
                <c:pt idx="22">
                  <c:v>0.44964847217391363</c:v>
                </c:pt>
                <c:pt idx="23">
                  <c:v>0.47739828423759079</c:v>
                </c:pt>
                <c:pt idx="24">
                  <c:v>0.48653316489562737</c:v>
                </c:pt>
                <c:pt idx="25">
                  <c:v>0.49037115335347886</c:v>
                </c:pt>
                <c:pt idx="26">
                  <c:v>0.53578515138443683</c:v>
                </c:pt>
                <c:pt idx="27">
                  <c:v>0.58270323225798371</c:v>
                </c:pt>
                <c:pt idx="28">
                  <c:v>0.60858282826998711</c:v>
                </c:pt>
                <c:pt idx="29">
                  <c:v>0.62625389658722752</c:v>
                </c:pt>
                <c:pt idx="30">
                  <c:v>0.68596172207028738</c:v>
                </c:pt>
                <c:pt idx="31">
                  <c:v>0.70731621016835189</c:v>
                </c:pt>
                <c:pt idx="32">
                  <c:v>0.72299286579143429</c:v>
                </c:pt>
                <c:pt idx="33">
                  <c:v>0.73394375283981195</c:v>
                </c:pt>
                <c:pt idx="34">
                  <c:v>0.73602290871752651</c:v>
                </c:pt>
                <c:pt idx="35">
                  <c:v>0.74232354446139392</c:v>
                </c:pt>
                <c:pt idx="36">
                  <c:v>0.75565156442887549</c:v>
                </c:pt>
                <c:pt idx="37">
                  <c:v>0.79461562006719677</c:v>
                </c:pt>
                <c:pt idx="38">
                  <c:v>0.79622219605954692</c:v>
                </c:pt>
                <c:pt idx="39">
                  <c:v>0.80674880238166768</c:v>
                </c:pt>
                <c:pt idx="40">
                  <c:v>0.81724018951558708</c:v>
                </c:pt>
                <c:pt idx="41">
                  <c:v>0.85042696814034302</c:v>
                </c:pt>
                <c:pt idx="42">
                  <c:v>0.85219314469147378</c:v>
                </c:pt>
                <c:pt idx="43">
                  <c:v>0.85912943233340644</c:v>
                </c:pt>
                <c:pt idx="44">
                  <c:v>0.99715592239844608</c:v>
                </c:pt>
                <c:pt idx="45" formatCode="0%">
                  <c:v>1</c:v>
                </c:pt>
              </c:numCache>
            </c:numRef>
          </c:xVal>
          <c:yVal>
            <c:numRef>
              <c:f>'Graphics - World level'!$D$238:$D$283</c:f>
              <c:numCache>
                <c:formatCode>0</c:formatCode>
                <c:ptCount val="46"/>
                <c:pt idx="0">
                  <c:v>5.2213354895578998</c:v>
                </c:pt>
                <c:pt idx="1">
                  <c:v>6.83</c:v>
                </c:pt>
                <c:pt idx="2">
                  <c:v>6.95</c:v>
                </c:pt>
                <c:pt idx="3" formatCode="0.0">
                  <c:v>7.5</c:v>
                </c:pt>
                <c:pt idx="4" formatCode="0.00">
                  <c:v>8.3681688193331443</c:v>
                </c:pt>
                <c:pt idx="5" formatCode="0.00">
                  <c:v>8.6237151921920461</c:v>
                </c:pt>
                <c:pt idx="6" formatCode="0.0">
                  <c:v>9.2476942769563504</c:v>
                </c:pt>
                <c:pt idx="7">
                  <c:v>9.4367070695557</c:v>
                </c:pt>
                <c:pt idx="8">
                  <c:v>9.4367070695557</c:v>
                </c:pt>
                <c:pt idx="9">
                  <c:v>10</c:v>
                </c:pt>
                <c:pt idx="10">
                  <c:v>10.077535383189842</c:v>
                </c:pt>
                <c:pt idx="11" formatCode="0.00">
                  <c:v>10.853760379596679</c:v>
                </c:pt>
                <c:pt idx="12" formatCode="0.00">
                  <c:v>11.319072214351706</c:v>
                </c:pt>
                <c:pt idx="13" formatCode="0.00">
                  <c:v>11.349569467779524</c:v>
                </c:pt>
                <c:pt idx="14" formatCode="0.0">
                  <c:v>11.570522670385543</c:v>
                </c:pt>
                <c:pt idx="15">
                  <c:v>11.7</c:v>
                </c:pt>
                <c:pt idx="16">
                  <c:v>11.760673486088379</c:v>
                </c:pt>
                <c:pt idx="17">
                  <c:v>12.117532971295578</c:v>
                </c:pt>
                <c:pt idx="18">
                  <c:v>12.260777314191493</c:v>
                </c:pt>
                <c:pt idx="19">
                  <c:v>12.414979101873094</c:v>
                </c:pt>
                <c:pt idx="20">
                  <c:v>12.78210583430905</c:v>
                </c:pt>
                <c:pt idx="21">
                  <c:v>12.945199538521816</c:v>
                </c:pt>
                <c:pt idx="22">
                  <c:v>13.035690000000001</c:v>
                </c:pt>
                <c:pt idx="23">
                  <c:v>13.339124032007724</c:v>
                </c:pt>
                <c:pt idx="24">
                  <c:v>13.3969162171111</c:v>
                </c:pt>
                <c:pt idx="25">
                  <c:v>14.328719723183392</c:v>
                </c:pt>
                <c:pt idx="26">
                  <c:v>14.438032351374551</c:v>
                </c:pt>
                <c:pt idx="27">
                  <c:v>14.79</c:v>
                </c:pt>
                <c:pt idx="28">
                  <c:v>16.681723822294721</c:v>
                </c:pt>
                <c:pt idx="29">
                  <c:v>16.85454660642473</c:v>
                </c:pt>
                <c:pt idx="30">
                  <c:v>16.945</c:v>
                </c:pt>
                <c:pt idx="31">
                  <c:v>18.090600281663825</c:v>
                </c:pt>
                <c:pt idx="32">
                  <c:v>18.327430640857301</c:v>
                </c:pt>
                <c:pt idx="33" formatCode="0.0">
                  <c:v>19.60385604189965</c:v>
                </c:pt>
                <c:pt idx="34" formatCode="0.00">
                  <c:v>19.721232683777849</c:v>
                </c:pt>
                <c:pt idx="35" formatCode="0.00">
                  <c:v>19.73196799575075</c:v>
                </c:pt>
                <c:pt idx="36" formatCode="0.00">
                  <c:v>20.919013786754341</c:v>
                </c:pt>
                <c:pt idx="37" formatCode="0.000">
                  <c:v>21.373383364212806</c:v>
                </c:pt>
                <c:pt idx="38">
                  <c:v>21.38784542314335</c:v>
                </c:pt>
                <c:pt idx="39">
                  <c:v>21.530002423738789</c:v>
                </c:pt>
                <c:pt idx="40">
                  <c:v>21.6</c:v>
                </c:pt>
                <c:pt idx="41">
                  <c:v>22.978624260364249</c:v>
                </c:pt>
                <c:pt idx="42">
                  <c:v>26</c:v>
                </c:pt>
                <c:pt idx="43" formatCode="0.00">
                  <c:v>28.520389564265084</c:v>
                </c:pt>
                <c:pt idx="44" formatCode="0.00">
                  <c:v>29.302617105406089</c:v>
                </c:pt>
                <c:pt idx="45" formatCode="0.00">
                  <c:v>60.751869966699104</c:v>
                </c:pt>
              </c:numCache>
            </c:numRef>
          </c:yVal>
          <c:smooth val="0"/>
          <c:extLst>
            <c:ext xmlns:c16="http://schemas.microsoft.com/office/drawing/2014/chart" uri="{C3380CC4-5D6E-409C-BE32-E72D297353CC}">
              <c16:uniqueId val="{00000000-6F17-4EB2-9DFB-1E664BD73F1E}"/>
            </c:ext>
          </c:extLst>
        </c:ser>
        <c:ser>
          <c:idx val="1"/>
          <c:order val="1"/>
          <c:tx>
            <c:strRef>
              <c:f>'Graphics - World level'!$G$235</c:f>
              <c:strCache>
                <c:ptCount val="1"/>
                <c:pt idx="0">
                  <c:v>Weighted average</c:v>
                </c:pt>
              </c:strCache>
            </c:strRef>
          </c:tx>
          <c:spPr>
            <a:ln w="19050" cap="rnd">
              <a:solidFill>
                <a:schemeClr val="accent2"/>
              </a:solidFill>
              <a:round/>
            </a:ln>
            <a:effectLst/>
          </c:spPr>
          <c:marker>
            <c:symbol val="none"/>
          </c:marker>
          <c:xVal>
            <c:numRef>
              <c:f>'Graphics - World level'!$F$237:$F$284</c:f>
              <c:numCache>
                <c:formatCode>_-* #,##0\ _€_-;\-* #,##0\ _€_-;_-* "-"??\ _€_-;_-@_-</c:formatCode>
                <c:ptCount val="48"/>
                <c:pt idx="0" formatCode="0">
                  <c:v>0</c:v>
                </c:pt>
                <c:pt idx="1">
                  <c:v>832787.7</c:v>
                </c:pt>
                <c:pt idx="2">
                  <c:v>3420973.7</c:v>
                </c:pt>
                <c:pt idx="3">
                  <c:v>10062247.699999999</c:v>
                </c:pt>
                <c:pt idx="4">
                  <c:v>12671931.199999999</c:v>
                </c:pt>
                <c:pt idx="5">
                  <c:v>13282427.199999999</c:v>
                </c:pt>
                <c:pt idx="6">
                  <c:v>14111525.42672885</c:v>
                </c:pt>
                <c:pt idx="7">
                  <c:v>14851083.236728851</c:v>
                </c:pt>
                <c:pt idx="8">
                  <c:v>16114784.18672885</c:v>
                </c:pt>
                <c:pt idx="9">
                  <c:v>16517138.93672885</c:v>
                </c:pt>
                <c:pt idx="10">
                  <c:v>18717138.93672885</c:v>
                </c:pt>
                <c:pt idx="11">
                  <c:v>19028059.886728849</c:v>
                </c:pt>
                <c:pt idx="12">
                  <c:v>19626690.556728847</c:v>
                </c:pt>
                <c:pt idx="13">
                  <c:v>20214089.416728847</c:v>
                </c:pt>
                <c:pt idx="14">
                  <c:v>20302654.216728847</c:v>
                </c:pt>
                <c:pt idx="15">
                  <c:v>23818409.362728849</c:v>
                </c:pt>
                <c:pt idx="16">
                  <c:v>28255740.362728849</c:v>
                </c:pt>
                <c:pt idx="17">
                  <c:v>28306835.362728849</c:v>
                </c:pt>
                <c:pt idx="18">
                  <c:v>28321834.362728849</c:v>
                </c:pt>
                <c:pt idx="19">
                  <c:v>31895976.362728849</c:v>
                </c:pt>
                <c:pt idx="20">
                  <c:v>32629749.362728849</c:v>
                </c:pt>
                <c:pt idx="21">
                  <c:v>32734800.362728849</c:v>
                </c:pt>
                <c:pt idx="22">
                  <c:v>33148254.362728849</c:v>
                </c:pt>
                <c:pt idx="23">
                  <c:v>33858467.75865645</c:v>
                </c:pt>
                <c:pt idx="24">
                  <c:v>35948024.768656448</c:v>
                </c:pt>
                <c:pt idx="25">
                  <c:v>36635880.018656448</c:v>
                </c:pt>
                <c:pt idx="26">
                  <c:v>36924880.018656448</c:v>
                </c:pt>
                <c:pt idx="27">
                  <c:v>40344547.788656451</c:v>
                </c:pt>
                <c:pt idx="28">
                  <c:v>43877472.788656451</c:v>
                </c:pt>
                <c:pt idx="29">
                  <c:v>45826202.788656451</c:v>
                </c:pt>
                <c:pt idx="30">
                  <c:v>47156831.788656451</c:v>
                </c:pt>
                <c:pt idx="31">
                  <c:v>51652822.788656451</c:v>
                </c:pt>
                <c:pt idx="32">
                  <c:v>53260812.788656451</c:v>
                </c:pt>
                <c:pt idx="33">
                  <c:v>54441262.788656451</c:v>
                </c:pt>
                <c:pt idx="34">
                  <c:v>55265863.068656452</c:v>
                </c:pt>
                <c:pt idx="35">
                  <c:v>55422423.218656451</c:v>
                </c:pt>
                <c:pt idx="36">
                  <c:v>55896860.218656451</c:v>
                </c:pt>
                <c:pt idx="37">
                  <c:v>56900458.278656453</c:v>
                </c:pt>
                <c:pt idx="38">
                  <c:v>59834446.278656453</c:v>
                </c:pt>
                <c:pt idx="39">
                  <c:v>59955421.228656456</c:v>
                </c:pt>
                <c:pt idx="40">
                  <c:v>60748073.228656456</c:v>
                </c:pt>
                <c:pt idx="41">
                  <c:v>61538073.228656456</c:v>
                </c:pt>
                <c:pt idx="42">
                  <c:v>64037033.068656459</c:v>
                </c:pt>
                <c:pt idx="43">
                  <c:v>64170025.918656461</c:v>
                </c:pt>
                <c:pt idx="44">
                  <c:v>64692327.418656461</c:v>
                </c:pt>
                <c:pt idx="45">
                  <c:v>75085703.028526455</c:v>
                </c:pt>
                <c:pt idx="46">
                  <c:v>75299861.678526461</c:v>
                </c:pt>
                <c:pt idx="47">
                  <c:v>80000000</c:v>
                </c:pt>
              </c:numCache>
            </c:numRef>
          </c:xVal>
          <c:yVal>
            <c:numRef>
              <c:f>'Graphics - World level'!$G$237:$G$284</c:f>
              <c:numCache>
                <c:formatCode>0</c:formatCode>
                <c:ptCount val="48"/>
                <c:pt idx="0">
                  <c:v>15.81846419046183</c:v>
                </c:pt>
                <c:pt idx="1">
                  <c:v>15.81846419046183</c:v>
                </c:pt>
                <c:pt idx="2">
                  <c:v>15.81846419046183</c:v>
                </c:pt>
                <c:pt idx="3">
                  <c:v>15.81846419046183</c:v>
                </c:pt>
                <c:pt idx="4">
                  <c:v>15.81846419046183</c:v>
                </c:pt>
                <c:pt idx="5">
                  <c:v>15.81846419046183</c:v>
                </c:pt>
                <c:pt idx="6">
                  <c:v>15.81846419046183</c:v>
                </c:pt>
                <c:pt idx="7">
                  <c:v>15.81846419046183</c:v>
                </c:pt>
                <c:pt idx="8">
                  <c:v>15.81846419046183</c:v>
                </c:pt>
                <c:pt idx="9">
                  <c:v>15.81846419046183</c:v>
                </c:pt>
                <c:pt idx="10">
                  <c:v>15.81846419046183</c:v>
                </c:pt>
                <c:pt idx="11">
                  <c:v>15.81846419046183</c:v>
                </c:pt>
                <c:pt idx="12">
                  <c:v>15.81846419046183</c:v>
                </c:pt>
                <c:pt idx="13">
                  <c:v>15.81846419046183</c:v>
                </c:pt>
                <c:pt idx="14">
                  <c:v>15.81846419046183</c:v>
                </c:pt>
                <c:pt idx="15">
                  <c:v>15.81846419046183</c:v>
                </c:pt>
                <c:pt idx="16">
                  <c:v>15.81846419046183</c:v>
                </c:pt>
                <c:pt idx="17">
                  <c:v>15.81846419046183</c:v>
                </c:pt>
                <c:pt idx="18">
                  <c:v>15.81846419046183</c:v>
                </c:pt>
                <c:pt idx="19">
                  <c:v>15.81846419046183</c:v>
                </c:pt>
                <c:pt idx="20">
                  <c:v>15.81846419046183</c:v>
                </c:pt>
                <c:pt idx="21">
                  <c:v>15.81846419046183</c:v>
                </c:pt>
                <c:pt idx="22">
                  <c:v>15.81846419046183</c:v>
                </c:pt>
                <c:pt idx="23">
                  <c:v>15.81846419046183</c:v>
                </c:pt>
                <c:pt idx="24">
                  <c:v>15.81846419046183</c:v>
                </c:pt>
                <c:pt idx="25">
                  <c:v>15.81846419046183</c:v>
                </c:pt>
                <c:pt idx="26">
                  <c:v>15.81846419046183</c:v>
                </c:pt>
                <c:pt idx="27">
                  <c:v>15.81846419046183</c:v>
                </c:pt>
                <c:pt idx="28">
                  <c:v>15.81846419046183</c:v>
                </c:pt>
                <c:pt idx="29">
                  <c:v>15.81846419046183</c:v>
                </c:pt>
                <c:pt idx="30">
                  <c:v>15.81846419046183</c:v>
                </c:pt>
                <c:pt idx="31">
                  <c:v>15.81846419046183</c:v>
                </c:pt>
                <c:pt idx="32">
                  <c:v>15.81846419046183</c:v>
                </c:pt>
                <c:pt idx="33">
                  <c:v>15.81846419046183</c:v>
                </c:pt>
                <c:pt idx="34">
                  <c:v>15.81846419046183</c:v>
                </c:pt>
                <c:pt idx="35">
                  <c:v>15.81846419046183</c:v>
                </c:pt>
                <c:pt idx="36">
                  <c:v>15.81846419046183</c:v>
                </c:pt>
                <c:pt idx="37">
                  <c:v>15.81846419046183</c:v>
                </c:pt>
                <c:pt idx="38">
                  <c:v>15.81846419046183</c:v>
                </c:pt>
                <c:pt idx="39">
                  <c:v>15.81846419046183</c:v>
                </c:pt>
                <c:pt idx="40">
                  <c:v>15.81846419046183</c:v>
                </c:pt>
                <c:pt idx="41">
                  <c:v>15.81846419046183</c:v>
                </c:pt>
                <c:pt idx="42">
                  <c:v>15.81846419046183</c:v>
                </c:pt>
                <c:pt idx="43">
                  <c:v>15.81846419046183</c:v>
                </c:pt>
                <c:pt idx="44">
                  <c:v>15.81846419046183</c:v>
                </c:pt>
                <c:pt idx="45">
                  <c:v>15.81846419046183</c:v>
                </c:pt>
                <c:pt idx="46">
                  <c:v>15.81846419046183</c:v>
                </c:pt>
                <c:pt idx="47">
                  <c:v>15.81846419046183</c:v>
                </c:pt>
              </c:numCache>
            </c:numRef>
          </c:yVal>
          <c:smooth val="0"/>
          <c:extLst>
            <c:ext xmlns:c16="http://schemas.microsoft.com/office/drawing/2014/chart" uri="{C3380CC4-5D6E-409C-BE32-E72D297353CC}">
              <c16:uniqueId val="{00000001-6F17-4EB2-9DFB-1E664BD73F1E}"/>
            </c:ext>
          </c:extLst>
        </c:ser>
        <c:dLbls>
          <c:showLegendKey val="0"/>
          <c:showVal val="0"/>
          <c:showCatName val="0"/>
          <c:showSerName val="0"/>
          <c:showPercent val="0"/>
          <c:showBubbleSize val="0"/>
        </c:dLbls>
        <c:axId val="1972420815"/>
        <c:axId val="1971885983"/>
      </c:scatterChart>
      <c:valAx>
        <c:axId val="1972420815"/>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971885983"/>
        <c:crosses val="autoZero"/>
        <c:crossBetween val="midCat"/>
      </c:valAx>
      <c:valAx>
        <c:axId val="19718859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r>
                  <a:rPr lang="fr-FR" sz="1100" b="1"/>
                  <a:t>km average distribution distance</a:t>
                </a:r>
              </a:p>
            </c:rich>
          </c:tx>
          <c:overlay val="0"/>
          <c:spPr>
            <a:noFill/>
            <a:ln>
              <a:noFill/>
            </a:ln>
            <a:effectLst/>
          </c:spPr>
          <c:txPr>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s-CL"/>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972420815"/>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fr-FR" sz="1400" b="1" i="0" baseline="0" dirty="0" err="1">
                <a:effectLst/>
              </a:rPr>
              <a:t>Average</a:t>
            </a:r>
            <a:r>
              <a:rPr lang="fr-FR" sz="1400" b="1" i="0" baseline="0" dirty="0">
                <a:effectLst/>
              </a:rPr>
              <a:t> distribution distance </a:t>
            </a:r>
            <a:br>
              <a:rPr lang="fr-FR" sz="1400" b="1" i="0" baseline="0" dirty="0">
                <a:effectLst/>
              </a:rPr>
            </a:br>
            <a:r>
              <a:rPr lang="fr-FR" sz="1100" b="0" i="0" baseline="0" dirty="0">
                <a:effectLst/>
              </a:rPr>
              <a:t>100% of GNR pilot </a:t>
            </a:r>
            <a:r>
              <a:rPr lang="fr-FR" sz="1100" b="0" i="0" baseline="0" dirty="0" err="1">
                <a:effectLst/>
              </a:rPr>
              <a:t>sample</a:t>
            </a:r>
            <a:r>
              <a:rPr lang="fr-FR" sz="1100" b="0" i="0" baseline="0" dirty="0">
                <a:effectLst/>
              </a:rPr>
              <a:t> - Europe (</a:t>
            </a:r>
            <a:r>
              <a:rPr lang="fr-FR" sz="1100" b="0" i="0" baseline="0" dirty="0" err="1">
                <a:effectLst/>
              </a:rPr>
              <a:t>coverage</a:t>
            </a:r>
            <a:r>
              <a:rPr lang="fr-FR" sz="1100" b="0" i="0" baseline="0" dirty="0">
                <a:effectLst/>
              </a:rPr>
              <a:t>: 38M m</a:t>
            </a:r>
            <a:r>
              <a:rPr lang="fr-FR" sz="1100" b="0" i="0" baseline="30000" dirty="0">
                <a:effectLst/>
              </a:rPr>
              <a:t>3 </a:t>
            </a:r>
            <a:r>
              <a:rPr lang="fr-FR" sz="1100" b="0" i="0" baseline="0" dirty="0">
                <a:effectLst/>
              </a:rPr>
              <a:t>in 2019) </a:t>
            </a:r>
            <a:endParaRPr lang="fr-FR" sz="1200" dirty="0">
              <a:effectLst/>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Europe'!$H$159:$H$185</c:f>
              <c:numCache>
                <c:formatCode>0.00%</c:formatCode>
                <c:ptCount val="27"/>
                <c:pt idx="0">
                  <c:v>6.7834493177425015E-2</c:v>
                </c:pt>
                <c:pt idx="1">
                  <c:v>0.24189750713484928</c:v>
                </c:pt>
                <c:pt idx="2">
                  <c:v>0.31029543432245815</c:v>
                </c:pt>
                <c:pt idx="3">
                  <c:v>0.32629609530541892</c:v>
                </c:pt>
                <c:pt idx="4">
                  <c:v>0.34567937348432737</c:v>
                </c:pt>
                <c:pt idx="5">
                  <c:v>0.37880006630589447</c:v>
                </c:pt>
                <c:pt idx="6">
                  <c:v>0.38934549485847131</c:v>
                </c:pt>
                <c:pt idx="7">
                  <c:v>0.39749450928845947</c:v>
                </c:pt>
                <c:pt idx="8">
                  <c:v>0.41318418850777078</c:v>
                </c:pt>
                <c:pt idx="9">
                  <c:v>0.50532960172955388</c:v>
                </c:pt>
                <c:pt idx="10">
                  <c:v>0.50666876492296442</c:v>
                </c:pt>
                <c:pt idx="11">
                  <c:v>0.50706187792302249</c:v>
                </c:pt>
                <c:pt idx="12">
                  <c:v>0.60073756858596106</c:v>
                </c:pt>
                <c:pt idx="13">
                  <c:v>0.61996923105623114</c:v>
                </c:pt>
                <c:pt idx="14">
                  <c:v>0.62272254219491352</c:v>
                </c:pt>
                <c:pt idx="15">
                  <c:v>0.67748832824687644</c:v>
                </c:pt>
                <c:pt idx="16">
                  <c:v>0.76711536046678841</c:v>
                </c:pt>
                <c:pt idx="17">
                  <c:v>0.81819017189442289</c:v>
                </c:pt>
                <c:pt idx="18">
                  <c:v>0.85306500075996183</c:v>
                </c:pt>
                <c:pt idx="19">
                  <c:v>0.89520926190825945</c:v>
                </c:pt>
                <c:pt idx="20">
                  <c:v>0.92614800721918045</c:v>
                </c:pt>
                <c:pt idx="21">
                  <c:v>0.94776018735915601</c:v>
                </c:pt>
                <c:pt idx="22">
                  <c:v>0.95186351626481869</c:v>
                </c:pt>
                <c:pt idx="23">
                  <c:v>0.95503418267767093</c:v>
                </c:pt>
                <c:pt idx="24">
                  <c:v>0.97580902138171788</c:v>
                </c:pt>
                <c:pt idx="25">
                  <c:v>0.99651435307355363</c:v>
                </c:pt>
                <c:pt idx="26" formatCode="0%">
                  <c:v>1</c:v>
                </c:pt>
              </c:numCache>
            </c:numRef>
          </c:xVal>
          <c:yVal>
            <c:numRef>
              <c:f>'Graphics - Europe'!$D$159:$D$185</c:f>
              <c:numCache>
                <c:formatCode>0</c:formatCode>
                <c:ptCount val="27"/>
                <c:pt idx="0" formatCode="0.00">
                  <c:v>6.83</c:v>
                </c:pt>
                <c:pt idx="1">
                  <c:v>6.95</c:v>
                </c:pt>
                <c:pt idx="2" formatCode="0.0">
                  <c:v>7.5</c:v>
                </c:pt>
                <c:pt idx="3">
                  <c:v>8.3681688193331443</c:v>
                </c:pt>
                <c:pt idx="4">
                  <c:v>9.2476942769563504</c:v>
                </c:pt>
                <c:pt idx="5">
                  <c:v>9.4367070695557</c:v>
                </c:pt>
                <c:pt idx="6">
                  <c:v>9.4367070695557</c:v>
                </c:pt>
                <c:pt idx="7">
                  <c:v>10.077535383189842</c:v>
                </c:pt>
                <c:pt idx="8" formatCode="0.00">
                  <c:v>10.853760379596679</c:v>
                </c:pt>
                <c:pt idx="9" formatCode="0.0">
                  <c:v>11.570522670385543</c:v>
                </c:pt>
                <c:pt idx="10">
                  <c:v>11.760673486088379</c:v>
                </c:pt>
                <c:pt idx="11">
                  <c:v>12.117532971295578</c:v>
                </c:pt>
                <c:pt idx="12">
                  <c:v>12.260777314191493</c:v>
                </c:pt>
                <c:pt idx="13">
                  <c:v>12.414979101873094</c:v>
                </c:pt>
                <c:pt idx="14">
                  <c:v>12.78210583430905</c:v>
                </c:pt>
                <c:pt idx="15">
                  <c:v>13.339124032007724</c:v>
                </c:pt>
                <c:pt idx="16">
                  <c:v>14.438032351374551</c:v>
                </c:pt>
                <c:pt idx="17">
                  <c:v>16.681723822294721</c:v>
                </c:pt>
                <c:pt idx="18">
                  <c:v>16.85454660642473</c:v>
                </c:pt>
                <c:pt idx="19">
                  <c:v>18.090600281663825</c:v>
                </c:pt>
                <c:pt idx="20">
                  <c:v>18.327430640857301</c:v>
                </c:pt>
                <c:pt idx="21">
                  <c:v>19.60385604189965</c:v>
                </c:pt>
                <c:pt idx="22">
                  <c:v>19.721232683777849</c:v>
                </c:pt>
                <c:pt idx="23">
                  <c:v>21.38784542314335</c:v>
                </c:pt>
                <c:pt idx="24">
                  <c:v>21.530002423738789</c:v>
                </c:pt>
                <c:pt idx="25">
                  <c:v>21.6</c:v>
                </c:pt>
                <c:pt idx="26">
                  <c:v>26</c:v>
                </c:pt>
              </c:numCache>
            </c:numRef>
          </c:yVal>
          <c:smooth val="0"/>
          <c:extLst>
            <c:ext xmlns:c16="http://schemas.microsoft.com/office/drawing/2014/chart" uri="{C3380CC4-5D6E-409C-BE32-E72D297353CC}">
              <c16:uniqueId val="{00000000-9DA1-49EA-A211-BAFB23FBE102}"/>
            </c:ext>
          </c:extLst>
        </c:ser>
        <c:ser>
          <c:idx val="1"/>
          <c:order val="1"/>
          <c:tx>
            <c:strRef>
              <c:f>'Graphics - Europe'!$G$156</c:f>
              <c:strCache>
                <c:ptCount val="1"/>
                <c:pt idx="0">
                  <c:v>Weighted average</c:v>
                </c:pt>
              </c:strCache>
            </c:strRef>
          </c:tx>
          <c:spPr>
            <a:ln w="19050" cap="rnd">
              <a:solidFill>
                <a:schemeClr val="accent2"/>
              </a:solidFill>
              <a:round/>
            </a:ln>
            <a:effectLst/>
          </c:spPr>
          <c:marker>
            <c:symbol val="none"/>
          </c:marker>
          <c:xVal>
            <c:numRef>
              <c:f>'Graphics - Europe'!$F$158:$F$186</c:f>
              <c:numCache>
                <c:formatCode>_-* #,##0\ _€_-;\-* #,##0\ _€_-;_-* "-"??\ _€_-;_-@_-</c:formatCode>
                <c:ptCount val="29"/>
                <c:pt idx="0" formatCode="0">
                  <c:v>0</c:v>
                </c:pt>
                <c:pt idx="1">
                  <c:v>2588186</c:v>
                </c:pt>
                <c:pt idx="2">
                  <c:v>9229460</c:v>
                </c:pt>
                <c:pt idx="3">
                  <c:v>11839143.5</c:v>
                </c:pt>
                <c:pt idx="4">
                  <c:v>12449639.5</c:v>
                </c:pt>
                <c:pt idx="5">
                  <c:v>13189197.310000001</c:v>
                </c:pt>
                <c:pt idx="6">
                  <c:v>14452898.26</c:v>
                </c:pt>
                <c:pt idx="7">
                  <c:v>14855253.01</c:v>
                </c:pt>
                <c:pt idx="8">
                  <c:v>15166173.959999999</c:v>
                </c:pt>
                <c:pt idx="9">
                  <c:v>15764804.629999999</c:v>
                </c:pt>
                <c:pt idx="10">
                  <c:v>19280559.776000001</c:v>
                </c:pt>
                <c:pt idx="11">
                  <c:v>19331654.776000001</c:v>
                </c:pt>
                <c:pt idx="12">
                  <c:v>19346653.776000001</c:v>
                </c:pt>
                <c:pt idx="13">
                  <c:v>22920795.776000001</c:v>
                </c:pt>
                <c:pt idx="14">
                  <c:v>23654568.776000001</c:v>
                </c:pt>
                <c:pt idx="15">
                  <c:v>23759619.776000001</c:v>
                </c:pt>
                <c:pt idx="16">
                  <c:v>25849176.786000002</c:v>
                </c:pt>
                <c:pt idx="17">
                  <c:v>29268844.556000002</c:v>
                </c:pt>
                <c:pt idx="18">
                  <c:v>31217574.556000002</c:v>
                </c:pt>
                <c:pt idx="19">
                  <c:v>32548203.556000002</c:v>
                </c:pt>
                <c:pt idx="20">
                  <c:v>34156193.556000002</c:v>
                </c:pt>
                <c:pt idx="21">
                  <c:v>35336643.556000002</c:v>
                </c:pt>
                <c:pt idx="22">
                  <c:v>36161243.836000003</c:v>
                </c:pt>
                <c:pt idx="23">
                  <c:v>36317803.986000001</c:v>
                </c:pt>
                <c:pt idx="24">
                  <c:v>36438778.936000004</c:v>
                </c:pt>
                <c:pt idx="25">
                  <c:v>37231430.936000004</c:v>
                </c:pt>
                <c:pt idx="26">
                  <c:v>38021430.936000004</c:v>
                </c:pt>
                <c:pt idx="27">
                  <c:v>38154423.786000006</c:v>
                </c:pt>
                <c:pt idx="28">
                  <c:v>40000000</c:v>
                </c:pt>
              </c:numCache>
            </c:numRef>
          </c:xVal>
          <c:yVal>
            <c:numRef>
              <c:f>'Graphics - Europe'!$G$158:$G$186</c:f>
              <c:numCache>
                <c:formatCode>0</c:formatCode>
                <c:ptCount val="29"/>
                <c:pt idx="0">
                  <c:v>12.022421171215987</c:v>
                </c:pt>
                <c:pt idx="1">
                  <c:v>12.022421171215987</c:v>
                </c:pt>
                <c:pt idx="2">
                  <c:v>12.022421171215987</c:v>
                </c:pt>
                <c:pt idx="3">
                  <c:v>12.022421171215987</c:v>
                </c:pt>
                <c:pt idx="4">
                  <c:v>12.022421171215987</c:v>
                </c:pt>
                <c:pt idx="5">
                  <c:v>12.022421171215987</c:v>
                </c:pt>
                <c:pt idx="6">
                  <c:v>12.022421171215987</c:v>
                </c:pt>
                <c:pt idx="7">
                  <c:v>12.022421171215987</c:v>
                </c:pt>
                <c:pt idx="8">
                  <c:v>12.022421171215987</c:v>
                </c:pt>
                <c:pt idx="9">
                  <c:v>12.022421171215987</c:v>
                </c:pt>
                <c:pt idx="10">
                  <c:v>12.022421171215987</c:v>
                </c:pt>
                <c:pt idx="11">
                  <c:v>12.022421171215987</c:v>
                </c:pt>
                <c:pt idx="12">
                  <c:v>12.022421171215987</c:v>
                </c:pt>
                <c:pt idx="13">
                  <c:v>12.022421171215987</c:v>
                </c:pt>
                <c:pt idx="14">
                  <c:v>12.022421171215987</c:v>
                </c:pt>
                <c:pt idx="15">
                  <c:v>12.022421171215987</c:v>
                </c:pt>
                <c:pt idx="16">
                  <c:v>12.022421171215987</c:v>
                </c:pt>
                <c:pt idx="17">
                  <c:v>12.022421171215987</c:v>
                </c:pt>
                <c:pt idx="18">
                  <c:v>12.022421171215987</c:v>
                </c:pt>
                <c:pt idx="19">
                  <c:v>12.022421171215987</c:v>
                </c:pt>
                <c:pt idx="20">
                  <c:v>12.022421171215987</c:v>
                </c:pt>
                <c:pt idx="21">
                  <c:v>12.022421171215987</c:v>
                </c:pt>
                <c:pt idx="22">
                  <c:v>12.022421171215987</c:v>
                </c:pt>
                <c:pt idx="23">
                  <c:v>12.022421171215987</c:v>
                </c:pt>
                <c:pt idx="24">
                  <c:v>12.022421171215987</c:v>
                </c:pt>
                <c:pt idx="25">
                  <c:v>12.022421171215987</c:v>
                </c:pt>
                <c:pt idx="26">
                  <c:v>12.022421171215987</c:v>
                </c:pt>
                <c:pt idx="27">
                  <c:v>12.022421171215987</c:v>
                </c:pt>
                <c:pt idx="28">
                  <c:v>12.022421171215987</c:v>
                </c:pt>
              </c:numCache>
            </c:numRef>
          </c:yVal>
          <c:smooth val="0"/>
          <c:extLst>
            <c:ext xmlns:c16="http://schemas.microsoft.com/office/drawing/2014/chart" uri="{C3380CC4-5D6E-409C-BE32-E72D297353CC}">
              <c16:uniqueId val="{00000001-9DA1-49EA-A211-BAFB23FBE102}"/>
            </c:ext>
          </c:extLst>
        </c:ser>
        <c:dLbls>
          <c:showLegendKey val="0"/>
          <c:showVal val="0"/>
          <c:showCatName val="0"/>
          <c:showSerName val="0"/>
          <c:showPercent val="0"/>
          <c:showBubbleSize val="0"/>
        </c:dLbls>
        <c:axId val="605450752"/>
        <c:axId val="606962752"/>
      </c:scatterChart>
      <c:valAx>
        <c:axId val="605450752"/>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606962752"/>
        <c:crosses val="autoZero"/>
        <c:crossBetween val="midCat"/>
      </c:valAx>
      <c:valAx>
        <c:axId val="606962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km average distribution distance</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60545075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rgbClr val="000000">
                    <a:lumMod val="65000"/>
                    <a:lumOff val="35000"/>
                  </a:srgbClr>
                </a:solidFill>
                <a:latin typeface="+mn-lt"/>
                <a:ea typeface="+mn-ea"/>
                <a:cs typeface="+mn-cs"/>
              </a:defRPr>
            </a:pPr>
            <a:r>
              <a:rPr lang="fr-FR" sz="1400" b="1" i="0" baseline="0" dirty="0" err="1">
                <a:effectLst/>
              </a:rPr>
              <a:t>Average</a:t>
            </a:r>
            <a:r>
              <a:rPr lang="fr-FR" sz="1400" b="1" i="0" baseline="0" dirty="0">
                <a:effectLst/>
              </a:rPr>
              <a:t> distribution distance </a:t>
            </a:r>
            <a:br>
              <a:rPr lang="fr-FR" sz="1400" b="1" i="0" baseline="0" dirty="0">
                <a:effectLst/>
              </a:rPr>
            </a:br>
            <a:r>
              <a:rPr lang="fr-FR" sz="1100" b="0" i="0" baseline="0" dirty="0">
                <a:effectLst/>
              </a:rPr>
              <a:t>100% of GNR pilot </a:t>
            </a:r>
            <a:r>
              <a:rPr lang="fr-FR" sz="1100" b="0" i="0" baseline="0" dirty="0" err="1">
                <a:effectLst/>
              </a:rPr>
              <a:t>sample</a:t>
            </a:r>
            <a:r>
              <a:rPr lang="fr-FR" sz="1100" b="0" i="0" baseline="0" dirty="0">
                <a:effectLst/>
              </a:rPr>
              <a:t> - North America (</a:t>
            </a:r>
            <a:r>
              <a:rPr lang="fr-FR" sz="1100" b="0" i="0" baseline="0" dirty="0" err="1">
                <a:effectLst/>
              </a:rPr>
              <a:t>coverage</a:t>
            </a:r>
            <a:r>
              <a:rPr lang="fr-FR" sz="1100" b="0" i="0" baseline="0" dirty="0">
                <a:effectLst/>
              </a:rPr>
              <a:t>: 25M m</a:t>
            </a:r>
            <a:r>
              <a:rPr lang="fr-FR" sz="1100" b="0" i="0" baseline="30000" dirty="0">
                <a:effectLst/>
              </a:rPr>
              <a:t>3</a:t>
            </a:r>
            <a:r>
              <a:rPr lang="fr-FR" sz="1100" b="0" i="0" baseline="0" dirty="0">
                <a:effectLst/>
              </a:rPr>
              <a:t> in 2019) </a:t>
            </a:r>
            <a:endParaRPr lang="fr-FR" sz="1100" dirty="0">
              <a:effectLst/>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rgbClr val="000000">
                  <a:lumMod val="65000"/>
                  <a:lumOff val="35000"/>
                </a:srgb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North America'!$H$91:$H$99</c:f>
              <c:numCache>
                <c:formatCode>0.00%</c:formatCode>
                <c:ptCount val="9"/>
                <c:pt idx="0">
                  <c:v>3.2722980128415222E-2</c:v>
                </c:pt>
                <c:pt idx="1">
                  <c:v>0.11955292857318181</c:v>
                </c:pt>
                <c:pt idx="2">
                  <c:v>0.14273647981423393</c:v>
                </c:pt>
                <c:pt idx="3">
                  <c:v>0.17076729461113219</c:v>
                </c:pt>
                <c:pt idx="4">
                  <c:v>0.19791567456338766</c:v>
                </c:pt>
                <c:pt idx="5">
                  <c:v>0.37536415944435791</c:v>
                </c:pt>
                <c:pt idx="6">
                  <c:v>0.49116326252506876</c:v>
                </c:pt>
                <c:pt idx="7">
                  <c:v>0.58979260528540611</c:v>
                </c:pt>
                <c:pt idx="8" formatCode="0%">
                  <c:v>1</c:v>
                </c:pt>
              </c:numCache>
            </c:numRef>
          </c:xVal>
          <c:yVal>
            <c:numRef>
              <c:f>'Graphics - North America'!$D$91:$D$99</c:f>
              <c:numCache>
                <c:formatCode>0</c:formatCode>
                <c:ptCount val="9"/>
                <c:pt idx="0" formatCode="0.00">
                  <c:v>8.6237151921920461</c:v>
                </c:pt>
                <c:pt idx="1">
                  <c:v>10</c:v>
                </c:pt>
                <c:pt idx="2" formatCode="0.00">
                  <c:v>11.319072214351706</c:v>
                </c:pt>
                <c:pt idx="3">
                  <c:v>13.035690000000001</c:v>
                </c:pt>
                <c:pt idx="4">
                  <c:v>13.3969162171111</c:v>
                </c:pt>
                <c:pt idx="5">
                  <c:v>16.945</c:v>
                </c:pt>
                <c:pt idx="6" formatCode="0.000">
                  <c:v>21.373383364212806</c:v>
                </c:pt>
                <c:pt idx="7">
                  <c:v>22.978624260364249</c:v>
                </c:pt>
                <c:pt idx="8">
                  <c:v>29.302617105406089</c:v>
                </c:pt>
              </c:numCache>
            </c:numRef>
          </c:yVal>
          <c:smooth val="0"/>
          <c:extLst>
            <c:ext xmlns:c16="http://schemas.microsoft.com/office/drawing/2014/chart" uri="{C3380CC4-5D6E-409C-BE32-E72D297353CC}">
              <c16:uniqueId val="{00000000-B790-49E8-B4F8-DB0630084331}"/>
            </c:ext>
          </c:extLst>
        </c:ser>
        <c:ser>
          <c:idx val="1"/>
          <c:order val="1"/>
          <c:tx>
            <c:strRef>
              <c:f>'Graphics - North America'!$G$88</c:f>
              <c:strCache>
                <c:ptCount val="1"/>
                <c:pt idx="0">
                  <c:v>Weighted average</c:v>
                </c:pt>
              </c:strCache>
            </c:strRef>
          </c:tx>
          <c:spPr>
            <a:ln w="19050" cap="rnd">
              <a:solidFill>
                <a:schemeClr val="accent2"/>
              </a:solidFill>
              <a:round/>
            </a:ln>
            <a:effectLst/>
          </c:spPr>
          <c:marker>
            <c:symbol val="none"/>
          </c:marker>
          <c:xVal>
            <c:numRef>
              <c:f>'Graphics - North America'!$F$90:$F$100</c:f>
              <c:numCache>
                <c:formatCode>_-* #,##0\ _€_-;\-* #,##0\ _€_-;_-* "-"??\ _€_-;_-@_-</c:formatCode>
                <c:ptCount val="11"/>
                <c:pt idx="0" formatCode="0">
                  <c:v>0</c:v>
                </c:pt>
                <c:pt idx="1">
                  <c:v>829098.22672885039</c:v>
                </c:pt>
                <c:pt idx="2">
                  <c:v>3029098.2267288505</c:v>
                </c:pt>
                <c:pt idx="3">
                  <c:v>3616497.0867288504</c:v>
                </c:pt>
                <c:pt idx="4">
                  <c:v>4326710.4826564509</c:v>
                </c:pt>
                <c:pt idx="5">
                  <c:v>5014565.7326564509</c:v>
                </c:pt>
                <c:pt idx="6">
                  <c:v>9510556.7326564509</c:v>
                </c:pt>
                <c:pt idx="7">
                  <c:v>12444544.732656451</c:v>
                </c:pt>
                <c:pt idx="8">
                  <c:v>14943504.572656451</c:v>
                </c:pt>
                <c:pt idx="9">
                  <c:v>25336880.182526451</c:v>
                </c:pt>
                <c:pt idx="10">
                  <c:v>30000000</c:v>
                </c:pt>
              </c:numCache>
            </c:numRef>
          </c:xVal>
          <c:yVal>
            <c:numRef>
              <c:f>'Graphics - North America'!$G$90:$G$100</c:f>
              <c:numCache>
                <c:formatCode>0</c:formatCode>
                <c:ptCount val="11"/>
                <c:pt idx="0">
                  <c:v>23.161207169122395</c:v>
                </c:pt>
                <c:pt idx="1">
                  <c:v>23.161207169122395</c:v>
                </c:pt>
                <c:pt idx="2">
                  <c:v>23.161207169122395</c:v>
                </c:pt>
                <c:pt idx="3">
                  <c:v>23.161207169122395</c:v>
                </c:pt>
                <c:pt idx="4">
                  <c:v>23.161207169122395</c:v>
                </c:pt>
                <c:pt idx="5">
                  <c:v>23.161207169122395</c:v>
                </c:pt>
                <c:pt idx="6">
                  <c:v>23.161207169122395</c:v>
                </c:pt>
                <c:pt idx="7">
                  <c:v>23.161207169122395</c:v>
                </c:pt>
                <c:pt idx="8">
                  <c:v>23.161207169122395</c:v>
                </c:pt>
                <c:pt idx="9">
                  <c:v>23.161207169122395</c:v>
                </c:pt>
                <c:pt idx="10">
                  <c:v>23.161207169122395</c:v>
                </c:pt>
              </c:numCache>
            </c:numRef>
          </c:yVal>
          <c:smooth val="0"/>
          <c:extLst>
            <c:ext xmlns:c16="http://schemas.microsoft.com/office/drawing/2014/chart" uri="{C3380CC4-5D6E-409C-BE32-E72D297353CC}">
              <c16:uniqueId val="{00000001-B790-49E8-B4F8-DB0630084331}"/>
            </c:ext>
          </c:extLst>
        </c:ser>
        <c:dLbls>
          <c:showLegendKey val="0"/>
          <c:showVal val="0"/>
          <c:showCatName val="0"/>
          <c:showSerName val="0"/>
          <c:showPercent val="0"/>
          <c:showBubbleSize val="0"/>
        </c:dLbls>
        <c:axId val="1482278575"/>
        <c:axId val="1333903455"/>
      </c:scatterChart>
      <c:valAx>
        <c:axId val="1482278575"/>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333903455"/>
        <c:crosses val="autoZero"/>
        <c:crossBetween val="midCat"/>
      </c:valAx>
      <c:valAx>
        <c:axId val="133390345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km average distribution distance</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482278575"/>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200" b="0" i="0" u="none" strike="noStrike" kern="1200" spc="0" baseline="0">
                <a:solidFill>
                  <a:sysClr val="windowText" lastClr="000000">
                    <a:lumMod val="65000"/>
                    <a:lumOff val="35000"/>
                  </a:sysClr>
                </a:solidFill>
                <a:latin typeface="+mn-lt"/>
                <a:ea typeface="+mn-ea"/>
                <a:cs typeface="+mn-cs"/>
              </a:defRPr>
            </a:pPr>
            <a:r>
              <a:rPr lang="fr-FR" sz="1400" b="1" i="0" baseline="0" dirty="0" err="1">
                <a:effectLst/>
              </a:rPr>
              <a:t>Average</a:t>
            </a:r>
            <a:r>
              <a:rPr lang="fr-FR" sz="1400" b="1" i="0" baseline="0" dirty="0">
                <a:effectLst/>
              </a:rPr>
              <a:t> </a:t>
            </a:r>
            <a:r>
              <a:rPr lang="fr-FR" sz="1400" b="1" i="0" baseline="0" dirty="0" err="1">
                <a:effectLst/>
              </a:rPr>
              <a:t>concrete</a:t>
            </a:r>
            <a:r>
              <a:rPr lang="fr-FR" sz="1400" b="1" i="0" baseline="0" dirty="0">
                <a:effectLst/>
              </a:rPr>
              <a:t> volume </a:t>
            </a:r>
            <a:r>
              <a:rPr lang="fr-FR" sz="1400" b="1" i="0" baseline="0" dirty="0" err="1">
                <a:effectLst/>
              </a:rPr>
              <a:t>transported</a:t>
            </a:r>
            <a:br>
              <a:rPr lang="fr-FR" sz="1200" b="1" i="0" baseline="0" dirty="0">
                <a:effectLst/>
              </a:rPr>
            </a:br>
            <a:r>
              <a:rPr lang="fr-FR" sz="1200" b="0" i="0" baseline="0" dirty="0">
                <a:effectLst/>
              </a:rPr>
              <a:t>100% of GNR pilot </a:t>
            </a:r>
            <a:r>
              <a:rPr lang="fr-FR" sz="1200" b="0" i="0" baseline="0" dirty="0" err="1">
                <a:effectLst/>
              </a:rPr>
              <a:t>sample</a:t>
            </a:r>
            <a:r>
              <a:rPr lang="fr-FR" sz="1200" b="0" i="0" baseline="0" dirty="0">
                <a:effectLst/>
              </a:rPr>
              <a:t> - World (</a:t>
            </a:r>
            <a:r>
              <a:rPr lang="fr-FR" sz="1200" b="0" i="0" baseline="0" dirty="0" err="1">
                <a:effectLst/>
              </a:rPr>
              <a:t>coverage</a:t>
            </a:r>
            <a:r>
              <a:rPr lang="fr-FR" sz="1200" b="0" i="0" baseline="0" dirty="0">
                <a:effectLst/>
              </a:rPr>
              <a:t>: 75M m</a:t>
            </a:r>
            <a:r>
              <a:rPr lang="fr-FR" sz="1200" b="0" i="0" baseline="30000" dirty="0">
                <a:effectLst/>
              </a:rPr>
              <a:t>3</a:t>
            </a:r>
            <a:r>
              <a:rPr lang="fr-FR" sz="1200" b="0" i="0" baseline="0" dirty="0">
                <a:effectLst/>
              </a:rPr>
              <a:t> in 2019)  </a:t>
            </a:r>
            <a:endParaRPr lang="fr-FR" sz="1200" dirty="0">
              <a:effectLst/>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200" b="0" i="0" u="none" strike="noStrike" kern="1200" spc="0" baseline="0">
              <a:solidFill>
                <a:sysClr val="windowText" lastClr="000000">
                  <a:lumMod val="65000"/>
                  <a:lumOff val="35000"/>
                </a:sys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World level'!$H$296:$H$341</c:f>
              <c:numCache>
                <c:formatCode>0.00%</c:formatCode>
                <c:ptCount val="46"/>
                <c:pt idx="0">
                  <c:v>3.8379884578515129E-3</c:v>
                </c:pt>
                <c:pt idx="1">
                  <c:v>1.4364594779972335E-2</c:v>
                </c:pt>
                <c:pt idx="2">
                  <c:v>1.8493698646422946E-2</c:v>
                </c:pt>
                <c:pt idx="3">
                  <c:v>1.8692888919361751E-2</c:v>
                </c:pt>
                <c:pt idx="4">
                  <c:v>4.0047377017426306E-2</c:v>
                </c:pt>
                <c:pt idx="5">
                  <c:v>9.8976183805200388E-2</c:v>
                </c:pt>
                <c:pt idx="6">
                  <c:v>0.23700267387024015</c:v>
                </c:pt>
                <c:pt idx="7">
                  <c:v>0.23876885042137089</c:v>
                </c:pt>
                <c:pt idx="8">
                  <c:v>0.28568693129491779</c:v>
                </c:pt>
                <c:pt idx="9">
                  <c:v>0.29511873342703426</c:v>
                </c:pt>
                <c:pt idx="10">
                  <c:v>0.29796281102858807</c:v>
                </c:pt>
                <c:pt idx="11">
                  <c:v>0.31129083099606975</c:v>
                </c:pt>
                <c:pt idx="12">
                  <c:v>0.3567048290270276</c:v>
                </c:pt>
                <c:pt idx="13">
                  <c:v>0.37348707698646005</c:v>
                </c:pt>
                <c:pt idx="14">
                  <c:v>0.37556623286417457</c:v>
                </c:pt>
                <c:pt idx="15">
                  <c:v>0.40144582887617797</c:v>
                </c:pt>
                <c:pt idx="16">
                  <c:v>0.44891128127314101</c:v>
                </c:pt>
                <c:pt idx="17">
                  <c:v>0.48328300443844507</c:v>
                </c:pt>
                <c:pt idx="18">
                  <c:v>0.48445916596153132</c:v>
                </c:pt>
                <c:pt idx="19">
                  <c:v>0.50213023427877179</c:v>
                </c:pt>
                <c:pt idx="20">
                  <c:v>0.51008019137903449</c:v>
                </c:pt>
                <c:pt idx="21">
                  <c:v>0.52113980930443493</c:v>
                </c:pt>
                <c:pt idx="22">
                  <c:v>0.58084763478749468</c:v>
                </c:pt>
                <c:pt idx="23">
                  <c:v>0.59066913768954987</c:v>
                </c:pt>
                <c:pt idx="24">
                  <c:v>0.59206423985386047</c:v>
                </c:pt>
                <c:pt idx="25">
                  <c:v>0.62525101847861653</c:v>
                </c:pt>
                <c:pt idx="26">
                  <c:v>0.63499569773357523</c:v>
                </c:pt>
                <c:pt idx="27">
                  <c:v>0.64413057839161181</c:v>
                </c:pt>
                <c:pt idx="28">
                  <c:v>0.73232827028583103</c:v>
                </c:pt>
                <c:pt idx="29">
                  <c:v>0.73862890602969844</c:v>
                </c:pt>
                <c:pt idx="30">
                  <c:v>0.77759296166801972</c:v>
                </c:pt>
                <c:pt idx="31">
                  <c:v>0.78293632805716062</c:v>
                </c:pt>
                <c:pt idx="32">
                  <c:v>0.79394694890356365</c:v>
                </c:pt>
                <c:pt idx="33">
                  <c:v>0.84063701004882341</c:v>
                </c:pt>
                <c:pt idx="34">
                  <c:v>0.84843780605171315</c:v>
                </c:pt>
                <c:pt idx="35">
                  <c:v>0.84911635975501387</c:v>
                </c:pt>
                <c:pt idx="36">
                  <c:v>0.87686617181869109</c:v>
                </c:pt>
                <c:pt idx="37">
                  <c:v>0.88235693887700439</c:v>
                </c:pt>
                <c:pt idx="38">
                  <c:v>0.91157346000943806</c:v>
                </c:pt>
                <c:pt idx="39">
                  <c:v>0.92725011563252047</c:v>
                </c:pt>
                <c:pt idx="40">
                  <c:v>0.96190733069011747</c:v>
                </c:pt>
                <c:pt idx="41">
                  <c:v>0.97001486218342026</c:v>
                </c:pt>
                <c:pt idx="42">
                  <c:v>0.9716214381757704</c:v>
                </c:pt>
                <c:pt idx="43">
                  <c:v>0.97855772581770306</c:v>
                </c:pt>
                <c:pt idx="44">
                  <c:v>0.98950861286608061</c:v>
                </c:pt>
                <c:pt idx="45" formatCode="0%">
                  <c:v>1</c:v>
                </c:pt>
              </c:numCache>
            </c:numRef>
          </c:xVal>
          <c:yVal>
            <c:numRef>
              <c:f>'Graphics - World level'!$D$296:$D$341</c:f>
              <c:numCache>
                <c:formatCode>0.00</c:formatCode>
                <c:ptCount val="46"/>
                <c:pt idx="0" formatCode="0.0">
                  <c:v>4.5</c:v>
                </c:pt>
                <c:pt idx="1">
                  <c:v>4.5742414274667311</c:v>
                </c:pt>
                <c:pt idx="2" formatCode="#,##0.00">
                  <c:v>4.6412660999524151</c:v>
                </c:pt>
                <c:pt idx="3">
                  <c:v>4.9507370054305664</c:v>
                </c:pt>
                <c:pt idx="4">
                  <c:v>4.9879269377213262</c:v>
                </c:pt>
                <c:pt idx="5">
                  <c:v>5.4</c:v>
                </c:pt>
                <c:pt idx="6">
                  <c:v>5.5208010356282209</c:v>
                </c:pt>
                <c:pt idx="7">
                  <c:v>5.5746788194444443</c:v>
                </c:pt>
                <c:pt idx="8">
                  <c:v>5.66</c:v>
                </c:pt>
                <c:pt idx="9" formatCode="#,##0.00">
                  <c:v>5.9100089999999978</c:v>
                </c:pt>
                <c:pt idx="10">
                  <c:v>6.1963111926602075</c:v>
                </c:pt>
                <c:pt idx="11" formatCode="#,##0.00">
                  <c:v>6.4586721214865621</c:v>
                </c:pt>
                <c:pt idx="12" formatCode="0.000">
                  <c:v>6.4629493046170534</c:v>
                </c:pt>
                <c:pt idx="13" formatCode="0.000">
                  <c:v>6.4644509895631064</c:v>
                </c:pt>
                <c:pt idx="14">
                  <c:v>6.4836503297377055</c:v>
                </c:pt>
                <c:pt idx="15">
                  <c:v>6.5039649320682873</c:v>
                </c:pt>
                <c:pt idx="16">
                  <c:v>6.5360315972987211</c:v>
                </c:pt>
                <c:pt idx="17">
                  <c:v>6.5400000000000009</c:v>
                </c:pt>
                <c:pt idx="18">
                  <c:v>6.5595443110581177</c:v>
                </c:pt>
                <c:pt idx="19">
                  <c:v>6.5809382983026188</c:v>
                </c:pt>
                <c:pt idx="20">
                  <c:v>6.6418166864373287</c:v>
                </c:pt>
                <c:pt idx="21">
                  <c:v>6.6571359707266362</c:v>
                </c:pt>
                <c:pt idx="22">
                  <c:v>6.7</c:v>
                </c:pt>
                <c:pt idx="23">
                  <c:v>6.7010307980778503</c:v>
                </c:pt>
                <c:pt idx="24">
                  <c:v>6.7128423337236205</c:v>
                </c:pt>
                <c:pt idx="25">
                  <c:v>6.7745773544259169</c:v>
                </c:pt>
                <c:pt idx="26">
                  <c:v>6.7951702106700074</c:v>
                </c:pt>
                <c:pt idx="27">
                  <c:v>6.8427235054177453</c:v>
                </c:pt>
                <c:pt idx="28">
                  <c:v>6.9500000000000011</c:v>
                </c:pt>
                <c:pt idx="29">
                  <c:v>7.0010104818974916</c:v>
                </c:pt>
                <c:pt idx="30">
                  <c:v>7.067298731283155</c:v>
                </c:pt>
                <c:pt idx="31">
                  <c:v>7.0839405503837103</c:v>
                </c:pt>
                <c:pt idx="32">
                  <c:v>7.2094888154499968</c:v>
                </c:pt>
                <c:pt idx="33">
                  <c:v>7.3139307415641763</c:v>
                </c:pt>
                <c:pt idx="34" formatCode="#,##0.0">
                  <c:v>7.5967833832704414</c:v>
                </c:pt>
                <c:pt idx="35">
                  <c:v>7.6901309328968903</c:v>
                </c:pt>
                <c:pt idx="36">
                  <c:v>7.960174436265433</c:v>
                </c:pt>
                <c:pt idx="37" formatCode="0">
                  <c:v>8</c:v>
                </c:pt>
                <c:pt idx="38" formatCode="0">
                  <c:v>8</c:v>
                </c:pt>
                <c:pt idx="39">
                  <c:v>8.0394709644627049</c:v>
                </c:pt>
                <c:pt idx="40">
                  <c:v>8.0476691073718847</c:v>
                </c:pt>
                <c:pt idx="41">
                  <c:v>8.3853272995820376</c:v>
                </c:pt>
                <c:pt idx="42">
                  <c:v>8.3943167098445599</c:v>
                </c:pt>
                <c:pt idx="43">
                  <c:v>8.849974200725061</c:v>
                </c:pt>
                <c:pt idx="44">
                  <c:v>9.326429037588893</c:v>
                </c:pt>
                <c:pt idx="45">
                  <c:v>10.060143651658702</c:v>
                </c:pt>
              </c:numCache>
            </c:numRef>
          </c:yVal>
          <c:smooth val="0"/>
          <c:extLst>
            <c:ext xmlns:c16="http://schemas.microsoft.com/office/drawing/2014/chart" uri="{C3380CC4-5D6E-409C-BE32-E72D297353CC}">
              <c16:uniqueId val="{00000000-2741-462E-935D-48FFC5B332EC}"/>
            </c:ext>
          </c:extLst>
        </c:ser>
        <c:ser>
          <c:idx val="1"/>
          <c:order val="1"/>
          <c:tx>
            <c:strRef>
              <c:f>'Graphics - World level'!$G$293</c:f>
              <c:strCache>
                <c:ptCount val="1"/>
                <c:pt idx="0">
                  <c:v>Weighted average</c:v>
                </c:pt>
              </c:strCache>
            </c:strRef>
          </c:tx>
          <c:spPr>
            <a:ln w="19050" cap="rnd">
              <a:solidFill>
                <a:schemeClr val="accent2"/>
              </a:solidFill>
              <a:round/>
            </a:ln>
            <a:effectLst/>
          </c:spPr>
          <c:marker>
            <c:symbol val="none"/>
          </c:marker>
          <c:xVal>
            <c:numRef>
              <c:f>'Graphics - World level'!$F$295:$F$342</c:f>
              <c:numCache>
                <c:formatCode>_-* #,##0\ _€_-;\-* #,##0\ _€_-;_-* "-"??\ _€_-;_-@_-</c:formatCode>
                <c:ptCount val="48"/>
                <c:pt idx="0" formatCode="0">
                  <c:v>0</c:v>
                </c:pt>
                <c:pt idx="1">
                  <c:v>289000</c:v>
                </c:pt>
                <c:pt idx="2">
                  <c:v>1081652</c:v>
                </c:pt>
                <c:pt idx="3">
                  <c:v>1392572.95</c:v>
                </c:pt>
                <c:pt idx="4">
                  <c:v>1407571.95</c:v>
                </c:pt>
                <c:pt idx="5">
                  <c:v>3015561.95</c:v>
                </c:pt>
                <c:pt idx="6">
                  <c:v>7452892.9500000002</c:v>
                </c:pt>
                <c:pt idx="7">
                  <c:v>17846268.559870001</c:v>
                </c:pt>
                <c:pt idx="8">
                  <c:v>17979261.409870002</c:v>
                </c:pt>
                <c:pt idx="9">
                  <c:v>21512186.409870002</c:v>
                </c:pt>
                <c:pt idx="10">
                  <c:v>22222399.805797603</c:v>
                </c:pt>
                <c:pt idx="11">
                  <c:v>22436558.455797601</c:v>
                </c:pt>
                <c:pt idx="12">
                  <c:v>23440156.515797608</c:v>
                </c:pt>
                <c:pt idx="13">
                  <c:v>26859824.285797607</c:v>
                </c:pt>
                <c:pt idx="14">
                  <c:v>28123525.235797606</c:v>
                </c:pt>
                <c:pt idx="15">
                  <c:v>28280085.385797605</c:v>
                </c:pt>
                <c:pt idx="16">
                  <c:v>30228815.385797605</c:v>
                </c:pt>
                <c:pt idx="17">
                  <c:v>33802957.385797605</c:v>
                </c:pt>
                <c:pt idx="18">
                  <c:v>36391143.385797605</c:v>
                </c:pt>
                <c:pt idx="19">
                  <c:v>36479708.185797602</c:v>
                </c:pt>
                <c:pt idx="20">
                  <c:v>37810337.185797602</c:v>
                </c:pt>
                <c:pt idx="21">
                  <c:v>38408967.855797604</c:v>
                </c:pt>
                <c:pt idx="22">
                  <c:v>39241755.555797607</c:v>
                </c:pt>
                <c:pt idx="23">
                  <c:v>43737746.555797607</c:v>
                </c:pt>
                <c:pt idx="24">
                  <c:v>44477304.365797609</c:v>
                </c:pt>
                <c:pt idx="25">
                  <c:v>44582355.365797609</c:v>
                </c:pt>
                <c:pt idx="26">
                  <c:v>47081315.205797613</c:v>
                </c:pt>
                <c:pt idx="27">
                  <c:v>47815088.205797613</c:v>
                </c:pt>
                <c:pt idx="28">
                  <c:v>48502943.455797613</c:v>
                </c:pt>
                <c:pt idx="29">
                  <c:v>55144217.455797613</c:v>
                </c:pt>
                <c:pt idx="30">
                  <c:v>55618654.455797613</c:v>
                </c:pt>
                <c:pt idx="31">
                  <c:v>58552642.455797613</c:v>
                </c:pt>
                <c:pt idx="32">
                  <c:v>58954997.205797613</c:v>
                </c:pt>
                <c:pt idx="33">
                  <c:v>59784095.432526462</c:v>
                </c:pt>
                <c:pt idx="34">
                  <c:v>63299850.57852646</c:v>
                </c:pt>
                <c:pt idx="35">
                  <c:v>63887249.438526459</c:v>
                </c:pt>
                <c:pt idx="36">
                  <c:v>63938344.438526459</c:v>
                </c:pt>
                <c:pt idx="37">
                  <c:v>66027901.448526457</c:v>
                </c:pt>
                <c:pt idx="38">
                  <c:v>66441355.448526457</c:v>
                </c:pt>
                <c:pt idx="39">
                  <c:v>68641355.448526457</c:v>
                </c:pt>
                <c:pt idx="40">
                  <c:v>69821805.448526457</c:v>
                </c:pt>
                <c:pt idx="41">
                  <c:v>72431488.948526457</c:v>
                </c:pt>
                <c:pt idx="42">
                  <c:v>73041984.948526457</c:v>
                </c:pt>
                <c:pt idx="43">
                  <c:v>73162959.89852646</c:v>
                </c:pt>
                <c:pt idx="44">
                  <c:v>73685261.39852646</c:v>
                </c:pt>
                <c:pt idx="45">
                  <c:v>74509861.678526461</c:v>
                </c:pt>
                <c:pt idx="46">
                  <c:v>75299861.678526461</c:v>
                </c:pt>
                <c:pt idx="47">
                  <c:v>80000000</c:v>
                </c:pt>
              </c:numCache>
            </c:numRef>
          </c:xVal>
          <c:yVal>
            <c:numRef>
              <c:f>'Graphics - World level'!$G$295:$G$342</c:f>
              <c:numCache>
                <c:formatCode>0.00</c:formatCode>
                <c:ptCount val="48"/>
                <c:pt idx="0">
                  <c:v>6.6148815495838225</c:v>
                </c:pt>
                <c:pt idx="1">
                  <c:v>6.6148815495838225</c:v>
                </c:pt>
                <c:pt idx="2">
                  <c:v>6.6148815495838225</c:v>
                </c:pt>
                <c:pt idx="3">
                  <c:v>6.6148815495838225</c:v>
                </c:pt>
                <c:pt idx="4">
                  <c:v>6.6148815495838225</c:v>
                </c:pt>
                <c:pt idx="5">
                  <c:v>6.6148815495838225</c:v>
                </c:pt>
                <c:pt idx="6">
                  <c:v>6.6148815495838225</c:v>
                </c:pt>
                <c:pt idx="7">
                  <c:v>6.6148815495838225</c:v>
                </c:pt>
                <c:pt idx="8">
                  <c:v>6.6148815495838225</c:v>
                </c:pt>
                <c:pt idx="9">
                  <c:v>6.6148815495838225</c:v>
                </c:pt>
                <c:pt idx="10">
                  <c:v>6.6148815495838225</c:v>
                </c:pt>
                <c:pt idx="11">
                  <c:v>6.6148815495838225</c:v>
                </c:pt>
                <c:pt idx="12">
                  <c:v>6.6148815495838225</c:v>
                </c:pt>
                <c:pt idx="13">
                  <c:v>6.6148815495838225</c:v>
                </c:pt>
                <c:pt idx="14">
                  <c:v>6.6148815495838225</c:v>
                </c:pt>
                <c:pt idx="15">
                  <c:v>6.6148815495838225</c:v>
                </c:pt>
                <c:pt idx="16">
                  <c:v>6.6148815495838225</c:v>
                </c:pt>
                <c:pt idx="17">
                  <c:v>6.6148815495838225</c:v>
                </c:pt>
                <c:pt idx="18">
                  <c:v>6.6148815495838225</c:v>
                </c:pt>
                <c:pt idx="19">
                  <c:v>6.6148815495838225</c:v>
                </c:pt>
                <c:pt idx="20">
                  <c:v>6.6148815495838225</c:v>
                </c:pt>
                <c:pt idx="21">
                  <c:v>6.6148815495838225</c:v>
                </c:pt>
                <c:pt idx="22">
                  <c:v>6.6148815495838225</c:v>
                </c:pt>
                <c:pt idx="23">
                  <c:v>6.6148815495838225</c:v>
                </c:pt>
                <c:pt idx="24">
                  <c:v>6.6148815495838225</c:v>
                </c:pt>
                <c:pt idx="25">
                  <c:v>6.6148815495838225</c:v>
                </c:pt>
                <c:pt idx="26">
                  <c:v>6.6148815495838225</c:v>
                </c:pt>
                <c:pt idx="27">
                  <c:v>6.6148815495838225</c:v>
                </c:pt>
                <c:pt idx="28">
                  <c:v>6.6148815495838225</c:v>
                </c:pt>
                <c:pt idx="29">
                  <c:v>6.6148815495838225</c:v>
                </c:pt>
                <c:pt idx="30">
                  <c:v>6.6148815495838225</c:v>
                </c:pt>
                <c:pt idx="31">
                  <c:v>6.6148815495838225</c:v>
                </c:pt>
                <c:pt idx="32">
                  <c:v>6.6148815495838225</c:v>
                </c:pt>
                <c:pt idx="33">
                  <c:v>6.6148815495838225</c:v>
                </c:pt>
                <c:pt idx="34">
                  <c:v>6.6148815495838225</c:v>
                </c:pt>
                <c:pt idx="35">
                  <c:v>6.6148815495838225</c:v>
                </c:pt>
                <c:pt idx="36">
                  <c:v>6.6148815495838225</c:v>
                </c:pt>
                <c:pt idx="37">
                  <c:v>6.6148815495838225</c:v>
                </c:pt>
                <c:pt idx="38">
                  <c:v>6.6148815495838225</c:v>
                </c:pt>
                <c:pt idx="39">
                  <c:v>6.6148815495838225</c:v>
                </c:pt>
                <c:pt idx="40">
                  <c:v>6.6148815495838225</c:v>
                </c:pt>
                <c:pt idx="41">
                  <c:v>6.6148815495838225</c:v>
                </c:pt>
                <c:pt idx="42">
                  <c:v>6.6148815495838225</c:v>
                </c:pt>
                <c:pt idx="43">
                  <c:v>6.6148815495838225</c:v>
                </c:pt>
                <c:pt idx="44">
                  <c:v>6.6148815495838225</c:v>
                </c:pt>
                <c:pt idx="45">
                  <c:v>6.6148815495838225</c:v>
                </c:pt>
                <c:pt idx="46">
                  <c:v>6.6148815495838225</c:v>
                </c:pt>
                <c:pt idx="47">
                  <c:v>6.6148815495838225</c:v>
                </c:pt>
              </c:numCache>
            </c:numRef>
          </c:yVal>
          <c:smooth val="0"/>
          <c:extLst>
            <c:ext xmlns:c16="http://schemas.microsoft.com/office/drawing/2014/chart" uri="{C3380CC4-5D6E-409C-BE32-E72D297353CC}">
              <c16:uniqueId val="{00000001-2741-462E-935D-48FFC5B332EC}"/>
            </c:ext>
          </c:extLst>
        </c:ser>
        <c:dLbls>
          <c:showLegendKey val="0"/>
          <c:showVal val="0"/>
          <c:showCatName val="0"/>
          <c:showSerName val="0"/>
          <c:showPercent val="0"/>
          <c:showBubbleSize val="0"/>
        </c:dLbls>
        <c:axId val="1972413215"/>
        <c:axId val="1748867263"/>
      </c:scatterChart>
      <c:valAx>
        <c:axId val="1972413215"/>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748867263"/>
        <c:crosses val="autoZero"/>
        <c:crossBetween val="midCat"/>
      </c:valAx>
      <c:valAx>
        <c:axId val="174886726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r>
                  <a:rPr lang="fr-FR" sz="1100" b="1"/>
                  <a:t>m3/delivery average concrete volume transported</a:t>
                </a:r>
              </a:p>
            </c:rich>
          </c:tx>
          <c:overlay val="0"/>
          <c:spPr>
            <a:noFill/>
            <a:ln>
              <a:noFill/>
            </a:ln>
            <a:effectLst/>
          </c:spPr>
          <c:txPr>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972413215"/>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err="1">
                <a:effectLst/>
              </a:rPr>
              <a:t>Average</a:t>
            </a:r>
            <a:r>
              <a:rPr lang="fr-FR" sz="1400" b="1" i="0" baseline="0" dirty="0">
                <a:effectLst/>
              </a:rPr>
              <a:t> </a:t>
            </a:r>
            <a:r>
              <a:rPr lang="fr-FR" sz="1400" b="1" i="0" baseline="0" dirty="0" err="1">
                <a:effectLst/>
              </a:rPr>
              <a:t>concrete</a:t>
            </a:r>
            <a:r>
              <a:rPr lang="fr-FR" sz="1400" b="1" i="0" baseline="0" dirty="0">
                <a:effectLst/>
              </a:rPr>
              <a:t> volume </a:t>
            </a:r>
            <a:r>
              <a:rPr lang="fr-FR" sz="1400" b="1" i="0" baseline="0" dirty="0" err="1">
                <a:effectLst/>
              </a:rPr>
              <a:t>transported</a:t>
            </a:r>
            <a:br>
              <a:rPr lang="fr-FR" sz="1400" b="1" i="0" baseline="0" dirty="0">
                <a:effectLst/>
              </a:rPr>
            </a:br>
            <a:r>
              <a:rPr lang="fr-FR" sz="1100" b="0" i="0" u="none" strike="noStrike" baseline="0" dirty="0">
                <a:effectLst/>
              </a:rPr>
              <a:t>100% of GNR pilot </a:t>
            </a:r>
            <a:r>
              <a:rPr lang="fr-FR" sz="1100" b="0" i="0" u="none" strike="noStrike" baseline="0" dirty="0" err="1">
                <a:effectLst/>
              </a:rPr>
              <a:t>sample</a:t>
            </a:r>
            <a:r>
              <a:rPr lang="fr-FR" sz="1100" b="0" i="0" u="none" strike="noStrike" baseline="0" dirty="0">
                <a:effectLst/>
              </a:rPr>
              <a:t> - Europe </a:t>
            </a:r>
            <a:br>
              <a:rPr lang="fr-FR" sz="1100" b="0" i="0" u="none" strike="noStrike" baseline="0" dirty="0">
                <a:effectLst/>
              </a:rPr>
            </a:br>
            <a:r>
              <a:rPr lang="fr-FR" sz="1100" b="0" i="0" u="none" strike="noStrike" baseline="0" dirty="0">
                <a:effectLst/>
              </a:rPr>
              <a:t>(</a:t>
            </a:r>
            <a:r>
              <a:rPr lang="fr-FR" sz="1100" b="0" i="0" u="none" strike="noStrike" baseline="0" dirty="0" err="1">
                <a:effectLst/>
              </a:rPr>
              <a:t>coverage</a:t>
            </a:r>
            <a:r>
              <a:rPr lang="fr-FR" sz="1100" b="0" i="0" u="none" strike="noStrike" baseline="0" dirty="0">
                <a:effectLst/>
              </a:rPr>
              <a:t>: 38M m</a:t>
            </a:r>
            <a:r>
              <a:rPr lang="fr-FR" sz="1100" b="0" i="0" u="none" strike="noStrike" baseline="30000" dirty="0">
                <a:effectLst/>
              </a:rPr>
              <a:t>3 </a:t>
            </a:r>
            <a:r>
              <a:rPr lang="fr-FR" sz="1100" b="0" i="0" u="none" strike="noStrike" baseline="0" dirty="0">
                <a:effectLst/>
              </a:rPr>
              <a:t>in 2019) </a:t>
            </a:r>
            <a:endParaRPr lang="fr-FR" sz="14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Europe'!$H$198:$H$224</c:f>
              <c:numCache>
                <c:formatCode>0.00%</c:formatCode>
                <c:ptCount val="27"/>
                <c:pt idx="0">
                  <c:v>2.077483870404688E-2</c:v>
                </c:pt>
                <c:pt idx="1">
                  <c:v>2.8923853134035102E-2</c:v>
                </c:pt>
                <c:pt idx="2">
                  <c:v>2.9316966134093136E-2</c:v>
                </c:pt>
                <c:pt idx="3">
                  <c:v>7.1461227282390682E-2</c:v>
                </c:pt>
                <c:pt idx="4">
                  <c:v>7.4946874208836972E-2</c:v>
                </c:pt>
                <c:pt idx="5">
                  <c:v>0.16457390642874897</c:v>
                </c:pt>
                <c:pt idx="6">
                  <c:v>0.19769459925031607</c:v>
                </c:pt>
                <c:pt idx="7">
                  <c:v>0.20179792815597883</c:v>
                </c:pt>
                <c:pt idx="8">
                  <c:v>0.25287273958361323</c:v>
                </c:pt>
                <c:pt idx="9">
                  <c:v>0.34654843024655174</c:v>
                </c:pt>
                <c:pt idx="10">
                  <c:v>0.41438292342397676</c:v>
                </c:pt>
                <c:pt idx="11">
                  <c:v>0.44925775228951575</c:v>
                </c:pt>
                <c:pt idx="12">
                  <c:v>0.46494743150882706</c:v>
                </c:pt>
                <c:pt idx="13">
                  <c:v>0.48433070968773551</c:v>
                </c:pt>
                <c:pt idx="14">
                  <c:v>0.48708402082641783</c:v>
                </c:pt>
                <c:pt idx="15">
                  <c:v>0.50631568329668797</c:v>
                </c:pt>
                <c:pt idx="16">
                  <c:v>0.68037869725411226</c:v>
                </c:pt>
                <c:pt idx="17">
                  <c:v>0.69092412580668905</c:v>
                </c:pt>
                <c:pt idx="18">
                  <c:v>0.78306953902847221</c:v>
                </c:pt>
                <c:pt idx="19">
                  <c:v>0.78440870222188275</c:v>
                </c:pt>
                <c:pt idx="20">
                  <c:v>0.83917448827384566</c:v>
                </c:pt>
                <c:pt idx="21">
                  <c:v>0.87011323358476667</c:v>
                </c:pt>
                <c:pt idx="22">
                  <c:v>0.93851116077237562</c:v>
                </c:pt>
                <c:pt idx="23">
                  <c:v>0.95451182175533633</c:v>
                </c:pt>
                <c:pt idx="24">
                  <c:v>0.95768248816818857</c:v>
                </c:pt>
                <c:pt idx="25">
                  <c:v>0.97929466830816414</c:v>
                </c:pt>
                <c:pt idx="26" formatCode="0%">
                  <c:v>1</c:v>
                </c:pt>
              </c:numCache>
            </c:numRef>
          </c:xVal>
          <c:yVal>
            <c:numRef>
              <c:f>'Graphics - Europe'!$D$198:$D$224</c:f>
              <c:numCache>
                <c:formatCode>#,##0.00</c:formatCode>
                <c:ptCount val="27"/>
                <c:pt idx="0" formatCode="0.00">
                  <c:v>4.5742414274667311</c:v>
                </c:pt>
                <c:pt idx="1">
                  <c:v>4.6412660999524151</c:v>
                </c:pt>
                <c:pt idx="2" formatCode="0.00">
                  <c:v>4.9507370054305664</c:v>
                </c:pt>
                <c:pt idx="3" formatCode="0.00">
                  <c:v>4.9879269377213262</c:v>
                </c:pt>
                <c:pt idx="4" formatCode="0.00">
                  <c:v>5.5746788194444443</c:v>
                </c:pt>
                <c:pt idx="5" formatCode="0.00">
                  <c:v>6.4629493046170534</c:v>
                </c:pt>
                <c:pt idx="6" formatCode="0.00">
                  <c:v>6.4644509895631064</c:v>
                </c:pt>
                <c:pt idx="7" formatCode="0.00">
                  <c:v>6.4836503297377055</c:v>
                </c:pt>
                <c:pt idx="8" formatCode="0.00">
                  <c:v>6.5039649320682873</c:v>
                </c:pt>
                <c:pt idx="9" formatCode="0.00">
                  <c:v>6.5360315972987211</c:v>
                </c:pt>
                <c:pt idx="10" formatCode="0.00">
                  <c:v>6.5400000000000009</c:v>
                </c:pt>
                <c:pt idx="11" formatCode="0.00">
                  <c:v>6.5809382983026188</c:v>
                </c:pt>
                <c:pt idx="12" formatCode="0.00">
                  <c:v>6.6418166864373287</c:v>
                </c:pt>
                <c:pt idx="13" formatCode="0.00">
                  <c:v>6.7010307980778503</c:v>
                </c:pt>
                <c:pt idx="14" formatCode="0.00">
                  <c:v>6.7128423337236205</c:v>
                </c:pt>
                <c:pt idx="15" formatCode="0.00">
                  <c:v>6.7951702106700074</c:v>
                </c:pt>
                <c:pt idx="16" formatCode="0.00">
                  <c:v>6.9500000000000011</c:v>
                </c:pt>
                <c:pt idx="17" formatCode="0.00">
                  <c:v>7.0839405503837103</c:v>
                </c:pt>
                <c:pt idx="18" formatCode="0.00">
                  <c:v>7.3139307415641763</c:v>
                </c:pt>
                <c:pt idx="19" formatCode="0.00">
                  <c:v>7.6901309328968903</c:v>
                </c:pt>
                <c:pt idx="20" formatCode="0.00">
                  <c:v>7.960174436265433</c:v>
                </c:pt>
                <c:pt idx="21" formatCode="0.00">
                  <c:v>8.0394709644627049</c:v>
                </c:pt>
                <c:pt idx="22" formatCode="0.00">
                  <c:v>8.0476691073718847</c:v>
                </c:pt>
                <c:pt idx="23" formatCode="0.00">
                  <c:v>8.3853272995820376</c:v>
                </c:pt>
                <c:pt idx="24" formatCode="0.00">
                  <c:v>8.3943167098445599</c:v>
                </c:pt>
                <c:pt idx="25" formatCode="0.00">
                  <c:v>9.326429037588893</c:v>
                </c:pt>
                <c:pt idx="26" formatCode="0.00">
                  <c:v>10.060143651658702</c:v>
                </c:pt>
              </c:numCache>
            </c:numRef>
          </c:yVal>
          <c:smooth val="0"/>
          <c:extLst>
            <c:ext xmlns:c16="http://schemas.microsoft.com/office/drawing/2014/chart" uri="{C3380CC4-5D6E-409C-BE32-E72D297353CC}">
              <c16:uniqueId val="{00000000-9929-4E1F-BF38-68D3E4773E53}"/>
            </c:ext>
          </c:extLst>
        </c:ser>
        <c:ser>
          <c:idx val="1"/>
          <c:order val="1"/>
          <c:tx>
            <c:strRef>
              <c:f>'Graphics - Europe'!$G$195</c:f>
              <c:strCache>
                <c:ptCount val="1"/>
                <c:pt idx="0">
                  <c:v>Weighted average</c:v>
                </c:pt>
              </c:strCache>
            </c:strRef>
          </c:tx>
          <c:spPr>
            <a:ln w="19050" cap="rnd">
              <a:solidFill>
                <a:schemeClr val="accent2"/>
              </a:solidFill>
              <a:round/>
            </a:ln>
            <a:effectLst/>
          </c:spPr>
          <c:marker>
            <c:symbol val="none"/>
          </c:marker>
          <c:xVal>
            <c:numRef>
              <c:f>'Graphics - Europe'!$F$197:$F$225</c:f>
              <c:numCache>
                <c:formatCode>_-* #,##0\ _€_-;\-* #,##0\ _€_-;_-* "-"??\ _€_-;_-@_-</c:formatCode>
                <c:ptCount val="29"/>
                <c:pt idx="0" formatCode="0">
                  <c:v>0</c:v>
                </c:pt>
                <c:pt idx="1">
                  <c:v>792652</c:v>
                </c:pt>
                <c:pt idx="2">
                  <c:v>1103572.95</c:v>
                </c:pt>
                <c:pt idx="3">
                  <c:v>1118571.95</c:v>
                </c:pt>
                <c:pt idx="4">
                  <c:v>2726561.95</c:v>
                </c:pt>
                <c:pt idx="5">
                  <c:v>2859554.8000000003</c:v>
                </c:pt>
                <c:pt idx="6">
                  <c:v>6279222.5700000003</c:v>
                </c:pt>
                <c:pt idx="7">
                  <c:v>7542923.5199999996</c:v>
                </c:pt>
                <c:pt idx="8">
                  <c:v>7699483.6699999999</c:v>
                </c:pt>
                <c:pt idx="9">
                  <c:v>9648213.6699999999</c:v>
                </c:pt>
                <c:pt idx="10">
                  <c:v>13222355.67</c:v>
                </c:pt>
                <c:pt idx="11">
                  <c:v>15810541.67</c:v>
                </c:pt>
                <c:pt idx="12">
                  <c:v>17141170.670000002</c:v>
                </c:pt>
                <c:pt idx="13">
                  <c:v>17739801.340000004</c:v>
                </c:pt>
                <c:pt idx="14">
                  <c:v>18479359.150000002</c:v>
                </c:pt>
                <c:pt idx="15">
                  <c:v>18584410.150000002</c:v>
                </c:pt>
                <c:pt idx="16">
                  <c:v>19318183.150000002</c:v>
                </c:pt>
                <c:pt idx="17">
                  <c:v>25959457.150000002</c:v>
                </c:pt>
                <c:pt idx="18">
                  <c:v>26361811.900000002</c:v>
                </c:pt>
                <c:pt idx="19">
                  <c:v>29877567.046000004</c:v>
                </c:pt>
                <c:pt idx="20">
                  <c:v>29928662.046000004</c:v>
                </c:pt>
                <c:pt idx="21">
                  <c:v>32018219.056000005</c:v>
                </c:pt>
                <c:pt idx="22">
                  <c:v>33198669.056000005</c:v>
                </c:pt>
                <c:pt idx="23">
                  <c:v>35808352.556000009</c:v>
                </c:pt>
                <c:pt idx="24">
                  <c:v>36418848.556000009</c:v>
                </c:pt>
                <c:pt idx="25">
                  <c:v>36539823.506000012</c:v>
                </c:pt>
                <c:pt idx="26">
                  <c:v>37364423.786000013</c:v>
                </c:pt>
                <c:pt idx="27">
                  <c:v>38154423.786000013</c:v>
                </c:pt>
                <c:pt idx="28">
                  <c:v>40000000</c:v>
                </c:pt>
              </c:numCache>
            </c:numRef>
          </c:xVal>
          <c:yVal>
            <c:numRef>
              <c:f>'Graphics - Europe'!$G$197:$G$225</c:f>
              <c:numCache>
                <c:formatCode>0.00</c:formatCode>
                <c:ptCount val="29"/>
                <c:pt idx="0">
                  <c:v>6.9597254794028709</c:v>
                </c:pt>
                <c:pt idx="1">
                  <c:v>6.9597254794028709</c:v>
                </c:pt>
                <c:pt idx="2">
                  <c:v>6.9597254794028709</c:v>
                </c:pt>
                <c:pt idx="3">
                  <c:v>6.9597254794028709</c:v>
                </c:pt>
                <c:pt idx="4">
                  <c:v>6.9597254794028709</c:v>
                </c:pt>
                <c:pt idx="5">
                  <c:v>6.9597254794028709</c:v>
                </c:pt>
                <c:pt idx="6">
                  <c:v>6.9597254794028709</c:v>
                </c:pt>
                <c:pt idx="7">
                  <c:v>6.9597254794028709</c:v>
                </c:pt>
                <c:pt idx="8">
                  <c:v>6.9597254794028709</c:v>
                </c:pt>
                <c:pt idx="9">
                  <c:v>6.9597254794028709</c:v>
                </c:pt>
                <c:pt idx="10">
                  <c:v>6.9597254794028709</c:v>
                </c:pt>
                <c:pt idx="11">
                  <c:v>6.9597254794028709</c:v>
                </c:pt>
                <c:pt idx="12">
                  <c:v>6.9597254794028709</c:v>
                </c:pt>
                <c:pt idx="13">
                  <c:v>6.9597254794028709</c:v>
                </c:pt>
                <c:pt idx="14">
                  <c:v>6.9597254794028709</c:v>
                </c:pt>
                <c:pt idx="15">
                  <c:v>6.9597254794028709</c:v>
                </c:pt>
                <c:pt idx="16">
                  <c:v>6.9597254794028709</c:v>
                </c:pt>
                <c:pt idx="17">
                  <c:v>6.9597254794028709</c:v>
                </c:pt>
                <c:pt idx="18">
                  <c:v>6.9597254794028709</c:v>
                </c:pt>
                <c:pt idx="19">
                  <c:v>6.9597254794028709</c:v>
                </c:pt>
                <c:pt idx="20">
                  <c:v>6.9597254794028709</c:v>
                </c:pt>
                <c:pt idx="21">
                  <c:v>6.9597254794028709</c:v>
                </c:pt>
                <c:pt idx="22">
                  <c:v>6.9597254794028709</c:v>
                </c:pt>
                <c:pt idx="23">
                  <c:v>6.9597254794028709</c:v>
                </c:pt>
                <c:pt idx="24">
                  <c:v>6.9597254794028709</c:v>
                </c:pt>
                <c:pt idx="25">
                  <c:v>6.9597254794028709</c:v>
                </c:pt>
                <c:pt idx="26">
                  <c:v>6.9597254794028709</c:v>
                </c:pt>
                <c:pt idx="27">
                  <c:v>6.9597254794028709</c:v>
                </c:pt>
                <c:pt idx="28">
                  <c:v>6.9597254794028709</c:v>
                </c:pt>
              </c:numCache>
            </c:numRef>
          </c:yVal>
          <c:smooth val="0"/>
          <c:extLst>
            <c:ext xmlns:c16="http://schemas.microsoft.com/office/drawing/2014/chart" uri="{C3380CC4-5D6E-409C-BE32-E72D297353CC}">
              <c16:uniqueId val="{00000001-9929-4E1F-BF38-68D3E4773E53}"/>
            </c:ext>
          </c:extLst>
        </c:ser>
        <c:dLbls>
          <c:showLegendKey val="0"/>
          <c:showVal val="0"/>
          <c:showCatName val="0"/>
          <c:showSerName val="0"/>
          <c:showPercent val="0"/>
          <c:showBubbleSize val="0"/>
        </c:dLbls>
        <c:axId val="698688960"/>
        <c:axId val="613505616"/>
      </c:scatterChart>
      <c:valAx>
        <c:axId val="698688960"/>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613505616"/>
        <c:crosses val="autoZero"/>
        <c:crossBetween val="midCat"/>
      </c:valAx>
      <c:valAx>
        <c:axId val="61350561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m3/delivery average concrete volume transported</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69868896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u="none" strike="noStrike" baseline="0" dirty="0" err="1">
                <a:effectLst/>
              </a:rPr>
              <a:t>Average</a:t>
            </a:r>
            <a:r>
              <a:rPr lang="fr-FR" sz="1400" b="1" i="0" u="none" strike="noStrike" baseline="0" dirty="0">
                <a:effectLst/>
              </a:rPr>
              <a:t> </a:t>
            </a:r>
            <a:r>
              <a:rPr lang="fr-FR" sz="1400" b="1" i="0" u="none" strike="noStrike" baseline="0" dirty="0" err="1">
                <a:effectLst/>
              </a:rPr>
              <a:t>concrete</a:t>
            </a:r>
            <a:r>
              <a:rPr lang="fr-FR" sz="1400" b="1" i="0" u="none" strike="noStrike" baseline="0" dirty="0">
                <a:effectLst/>
              </a:rPr>
              <a:t> volume </a:t>
            </a:r>
            <a:r>
              <a:rPr lang="fr-FR" sz="1400" b="1" i="0" u="none" strike="noStrike" baseline="0" dirty="0" err="1">
                <a:effectLst/>
              </a:rPr>
              <a:t>transported</a:t>
            </a:r>
            <a:br>
              <a:rPr lang="fr-FR" sz="1400" b="1" i="0" u="none" strike="noStrike" baseline="0" dirty="0">
                <a:effectLst/>
              </a:rPr>
            </a:br>
            <a:r>
              <a:rPr lang="fr-FR" sz="1100" b="0" i="0" u="none" strike="noStrike" baseline="0" dirty="0">
                <a:effectLst/>
              </a:rPr>
              <a:t>&gt; 60% of GNR pilot </a:t>
            </a:r>
            <a:r>
              <a:rPr lang="fr-FR" sz="1100" b="0" i="0" u="none" strike="noStrike" baseline="0" dirty="0" err="1">
                <a:effectLst/>
              </a:rPr>
              <a:t>sample</a:t>
            </a:r>
            <a:r>
              <a:rPr lang="fr-FR" sz="1100" b="0" i="0" u="none" strike="noStrike" baseline="0" dirty="0">
                <a:effectLst/>
              </a:rPr>
              <a:t> - North America </a:t>
            </a:r>
            <a:br>
              <a:rPr lang="fr-FR" sz="1100" b="0" i="0" u="none" strike="noStrike" baseline="0" dirty="0">
                <a:effectLst/>
              </a:rPr>
            </a:br>
            <a:r>
              <a:rPr lang="fr-FR" sz="1100" b="0" i="0" u="none" strike="noStrike" baseline="0" dirty="0">
                <a:effectLst/>
              </a:rPr>
              <a:t>(</a:t>
            </a:r>
            <a:r>
              <a:rPr lang="fr-FR" sz="1100" b="0" i="0" u="none" strike="noStrike" baseline="0" dirty="0" err="1">
                <a:effectLst/>
              </a:rPr>
              <a:t>coverage</a:t>
            </a:r>
            <a:r>
              <a:rPr lang="fr-FR" sz="1100" b="0" i="0" u="none" strike="noStrike" baseline="0" dirty="0">
                <a:effectLst/>
              </a:rPr>
              <a:t>: &gt; 15M m</a:t>
            </a:r>
            <a:r>
              <a:rPr lang="fr-FR" sz="1100" b="0" i="0" u="none" strike="noStrike" baseline="30000" dirty="0">
                <a:effectLst/>
              </a:rPr>
              <a:t>3</a:t>
            </a:r>
            <a:r>
              <a:rPr lang="fr-FR" sz="1100" b="0" i="0" u="none" strike="noStrike" baseline="0" dirty="0">
                <a:effectLst/>
              </a:rPr>
              <a:t> in 2019) </a:t>
            </a:r>
            <a:endParaRPr lang="fr-FR" sz="11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North America'!$H$112:$H$120</c:f>
              <c:numCache>
                <c:formatCode>0.00%</c:formatCode>
                <c:ptCount val="9"/>
                <c:pt idx="0">
                  <c:v>0.41020739471459389</c:v>
                </c:pt>
                <c:pt idx="1">
                  <c:v>0.43823820951149217</c:v>
                </c:pt>
                <c:pt idx="2">
                  <c:v>0.61568669439246237</c:v>
                </c:pt>
                <c:pt idx="3">
                  <c:v>0.71431603715279979</c:v>
                </c:pt>
                <c:pt idx="4">
                  <c:v>0.74146441710505528</c:v>
                </c:pt>
                <c:pt idx="5">
                  <c:v>0.85726352018576613</c:v>
                </c:pt>
                <c:pt idx="6">
                  <c:v>0.88044707142681822</c:v>
                </c:pt>
                <c:pt idx="7">
                  <c:v>0.91317005155523345</c:v>
                </c:pt>
                <c:pt idx="8" formatCode="0%">
                  <c:v>1</c:v>
                </c:pt>
              </c:numCache>
            </c:numRef>
          </c:xVal>
          <c:yVal>
            <c:numRef>
              <c:f>'Graphics - North America'!$D$112:$D$120</c:f>
              <c:numCache>
                <c:formatCode>#,##0.00</c:formatCode>
                <c:ptCount val="9"/>
                <c:pt idx="0" formatCode="0.00">
                  <c:v>5.5208010356282209</c:v>
                </c:pt>
                <c:pt idx="1">
                  <c:v>5.9100089999999978</c:v>
                </c:pt>
                <c:pt idx="2" formatCode="0.00">
                  <c:v>6.7</c:v>
                </c:pt>
                <c:pt idx="3" formatCode="0.00">
                  <c:v>6.7745773544259169</c:v>
                </c:pt>
                <c:pt idx="4" formatCode="0.00">
                  <c:v>6.8427235054177453</c:v>
                </c:pt>
                <c:pt idx="5" formatCode="0.00">
                  <c:v>7.067298731283155</c:v>
                </c:pt>
                <c:pt idx="6" formatCode="#,##0.0">
                  <c:v>6.83</c:v>
                </c:pt>
                <c:pt idx="7" formatCode="0.00">
                  <c:v>7.2094888154499968</c:v>
                </c:pt>
                <c:pt idx="8" formatCode="0">
                  <c:v>8</c:v>
                </c:pt>
              </c:numCache>
            </c:numRef>
          </c:yVal>
          <c:smooth val="0"/>
          <c:extLst>
            <c:ext xmlns:c16="http://schemas.microsoft.com/office/drawing/2014/chart" uri="{C3380CC4-5D6E-409C-BE32-E72D297353CC}">
              <c16:uniqueId val="{00000000-ABF4-4F18-A39B-DFB71053C70E}"/>
            </c:ext>
          </c:extLst>
        </c:ser>
        <c:ser>
          <c:idx val="1"/>
          <c:order val="1"/>
          <c:tx>
            <c:strRef>
              <c:f>'Graphics - North America'!$G$109</c:f>
              <c:strCache>
                <c:ptCount val="1"/>
                <c:pt idx="0">
                  <c:v>Weighted average</c:v>
                </c:pt>
              </c:strCache>
            </c:strRef>
          </c:tx>
          <c:spPr>
            <a:ln w="19050" cap="rnd">
              <a:solidFill>
                <a:schemeClr val="accent2"/>
              </a:solidFill>
              <a:round/>
            </a:ln>
            <a:effectLst/>
          </c:spPr>
          <c:marker>
            <c:symbol val="none"/>
          </c:marker>
          <c:xVal>
            <c:numRef>
              <c:f>'Graphics - North America'!$F$111:$F$121</c:f>
              <c:numCache>
                <c:formatCode>_-* #,##0\ _€_-;\-* #,##0\ _€_-;_-* "-"??\ _€_-;_-@_-</c:formatCode>
                <c:ptCount val="11"/>
                <c:pt idx="0" formatCode="0">
                  <c:v>0</c:v>
                </c:pt>
                <c:pt idx="1">
                  <c:v>10393375.60987</c:v>
                </c:pt>
                <c:pt idx="2">
                  <c:v>11103589.0057976</c:v>
                </c:pt>
                <c:pt idx="3">
                  <c:v>15599580.0057976</c:v>
                </c:pt>
                <c:pt idx="4">
                  <c:v>18098539.845797602</c:v>
                </c:pt>
                <c:pt idx="5">
                  <c:v>18786395.095797602</c:v>
                </c:pt>
                <c:pt idx="6">
                  <c:v>21720383.095797602</c:v>
                </c:pt>
                <c:pt idx="7">
                  <c:v>22307781.955797601</c:v>
                </c:pt>
                <c:pt idx="8">
                  <c:v>23136880.182526451</c:v>
                </c:pt>
                <c:pt idx="9">
                  <c:v>25336880.182526451</c:v>
                </c:pt>
                <c:pt idx="10">
                  <c:v>30000000</c:v>
                </c:pt>
              </c:numCache>
            </c:numRef>
          </c:xVal>
          <c:yVal>
            <c:numRef>
              <c:f>'Graphics - North America'!$G$111:$G$121</c:f>
              <c:numCache>
                <c:formatCode>0.00</c:formatCode>
                <c:ptCount val="11"/>
                <c:pt idx="0">
                  <c:v>6.3966064058385079</c:v>
                </c:pt>
                <c:pt idx="1">
                  <c:v>6.3966064058385079</c:v>
                </c:pt>
                <c:pt idx="2">
                  <c:v>6.3966064058385079</c:v>
                </c:pt>
                <c:pt idx="3">
                  <c:v>6.3966064058385079</c:v>
                </c:pt>
                <c:pt idx="4">
                  <c:v>6.3966064058385079</c:v>
                </c:pt>
                <c:pt idx="5">
                  <c:v>6.3966064058385079</c:v>
                </c:pt>
                <c:pt idx="6">
                  <c:v>6.3966064058385079</c:v>
                </c:pt>
                <c:pt idx="7">
                  <c:v>6.3966064058385079</c:v>
                </c:pt>
                <c:pt idx="8">
                  <c:v>6.3966064058385079</c:v>
                </c:pt>
                <c:pt idx="9">
                  <c:v>6.3966064058385079</c:v>
                </c:pt>
                <c:pt idx="10">
                  <c:v>6.3966064058385079</c:v>
                </c:pt>
              </c:numCache>
            </c:numRef>
          </c:yVal>
          <c:smooth val="0"/>
          <c:extLst>
            <c:ext xmlns:c16="http://schemas.microsoft.com/office/drawing/2014/chart" uri="{C3380CC4-5D6E-409C-BE32-E72D297353CC}">
              <c16:uniqueId val="{00000001-ABF4-4F18-A39B-DFB71053C70E}"/>
            </c:ext>
          </c:extLst>
        </c:ser>
        <c:dLbls>
          <c:showLegendKey val="0"/>
          <c:showVal val="0"/>
          <c:showCatName val="0"/>
          <c:showSerName val="0"/>
          <c:showPercent val="0"/>
          <c:showBubbleSize val="0"/>
        </c:dLbls>
        <c:axId val="1495224607"/>
        <c:axId val="1206232639"/>
      </c:scatterChart>
      <c:valAx>
        <c:axId val="1495224607"/>
        <c:scaling>
          <c:orientation val="minMax"/>
          <c:max val="1"/>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206232639"/>
        <c:crosses val="autoZero"/>
        <c:crossBetween val="midCat"/>
        <c:majorUnit val="0.1"/>
      </c:valAx>
      <c:valAx>
        <c:axId val="120623263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sz="1000" b="1" i="0" u="none" strike="noStrike" baseline="0" dirty="0">
                    <a:effectLst/>
                  </a:rPr>
                  <a:t>m3/</a:t>
                </a:r>
                <a:r>
                  <a:rPr lang="fr-FR" sz="1000" b="1" i="0" u="none" strike="noStrike" baseline="0" dirty="0" err="1">
                    <a:effectLst/>
                  </a:rPr>
                  <a:t>delivery</a:t>
                </a:r>
                <a:r>
                  <a:rPr lang="fr-FR" sz="1000" b="1" i="0" u="none" strike="noStrike" baseline="0" dirty="0">
                    <a:effectLst/>
                  </a:rPr>
                  <a:t> </a:t>
                </a:r>
                <a:r>
                  <a:rPr lang="fr-FR" sz="1000" b="1" i="0" u="none" strike="noStrike" baseline="0" dirty="0" err="1">
                    <a:effectLst/>
                  </a:rPr>
                  <a:t>average</a:t>
                </a:r>
                <a:r>
                  <a:rPr lang="fr-FR" sz="1000" b="1" i="0" u="none" strike="noStrike" baseline="0" dirty="0">
                    <a:effectLst/>
                  </a:rPr>
                  <a:t> </a:t>
                </a:r>
                <a:r>
                  <a:rPr lang="fr-FR" sz="1000" b="1" i="0" u="none" strike="noStrike" baseline="0" dirty="0" err="1">
                    <a:effectLst/>
                  </a:rPr>
                  <a:t>concrete</a:t>
                </a:r>
                <a:r>
                  <a:rPr lang="fr-FR" sz="1000" b="1" i="0" u="none" strike="noStrike" baseline="0" dirty="0">
                    <a:effectLst/>
                  </a:rPr>
                  <a:t> volume </a:t>
                </a:r>
                <a:r>
                  <a:rPr lang="fr-FR" sz="1000" b="1" i="0" u="none" strike="noStrike" baseline="0" dirty="0" err="1">
                    <a:effectLst/>
                  </a:rPr>
                  <a:t>transported</a:t>
                </a:r>
                <a:endParaRPr lang="fr-FR" dirty="0"/>
              </a:p>
            </c:rich>
          </c:tx>
          <c:layout>
            <c:manualLayout>
              <c:xMode val="edge"/>
              <c:yMode val="edge"/>
              <c:x val="1.5243484224965706E-2"/>
              <c:y val="0.1411111111111111"/>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495224607"/>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a:effectLst/>
              </a:rPr>
              <a:t>Distance per liter*</a:t>
            </a:r>
          </a:p>
          <a:p>
            <a:pPr>
              <a:defRPr/>
            </a:pPr>
            <a:r>
              <a:rPr lang="fr-FR" sz="1100" b="0" i="0" baseline="0" dirty="0">
                <a:effectLst/>
              </a:rPr>
              <a:t>79% of GNR pilot </a:t>
            </a:r>
            <a:r>
              <a:rPr lang="fr-FR" sz="1100" b="0" i="0" baseline="0" dirty="0" err="1">
                <a:effectLst/>
              </a:rPr>
              <a:t>sample</a:t>
            </a:r>
            <a:r>
              <a:rPr lang="fr-FR" sz="1100" b="0" i="0" baseline="0" dirty="0">
                <a:effectLst/>
              </a:rPr>
              <a:t> - World (</a:t>
            </a:r>
            <a:r>
              <a:rPr lang="fr-FR" sz="1100" b="0" i="0" baseline="0" dirty="0" err="1">
                <a:effectLst/>
              </a:rPr>
              <a:t>coverage</a:t>
            </a:r>
            <a:r>
              <a:rPr lang="fr-FR" sz="1100" b="0" i="0" baseline="0" dirty="0">
                <a:effectLst/>
              </a:rPr>
              <a:t>: 59M m</a:t>
            </a:r>
            <a:r>
              <a:rPr lang="fr-FR" sz="1100" b="0" i="0" baseline="30000" dirty="0">
                <a:effectLst/>
              </a:rPr>
              <a:t>3</a:t>
            </a:r>
            <a:r>
              <a:rPr lang="fr-FR" sz="1100" b="0" i="0" baseline="0" dirty="0">
                <a:effectLst/>
              </a:rPr>
              <a:t> in 2019) </a:t>
            </a:r>
            <a:endParaRPr lang="fr-FR" sz="10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World level'!$H$351:$H$392</c:f>
              <c:numCache>
                <c:formatCode>0.00%</c:formatCode>
                <c:ptCount val="42"/>
                <c:pt idx="0">
                  <c:v>5.8738396247625502E-2</c:v>
                </c:pt>
                <c:pt idx="1">
                  <c:v>7.2590299508070263E-2</c:v>
                </c:pt>
                <c:pt idx="2">
                  <c:v>8.9357604986865569E-2</c:v>
                </c:pt>
                <c:pt idx="3">
                  <c:v>9.0837274104867249E-2</c:v>
                </c:pt>
                <c:pt idx="4">
                  <c:v>9.6031890113199528E-2</c:v>
                </c:pt>
                <c:pt idx="5">
                  <c:v>0.10584567564753591</c:v>
                </c:pt>
                <c:pt idx="6">
                  <c:v>0.27948979748506686</c:v>
                </c:pt>
                <c:pt idx="7">
                  <c:v>0.31624561988407535</c:v>
                </c:pt>
                <c:pt idx="8">
                  <c:v>0.31800072711082</c:v>
                </c:pt>
                <c:pt idx="9">
                  <c:v>0.33191427110958305</c:v>
                </c:pt>
                <c:pt idx="10">
                  <c:v>0.37515559154212857</c:v>
                </c:pt>
                <c:pt idx="11">
                  <c:v>0.3870212631085429</c:v>
                </c:pt>
                <c:pt idx="12">
                  <c:v>0.39722093699549976</c:v>
                </c:pt>
                <c:pt idx="13">
                  <c:v>0.43213156715557394</c:v>
                </c:pt>
                <c:pt idx="14">
                  <c:v>0.43415271887235984</c:v>
                </c:pt>
                <c:pt idx="15">
                  <c:v>0.46101771653571511</c:v>
                </c:pt>
                <c:pt idx="16">
                  <c:v>0.49357552280099681</c:v>
                </c:pt>
                <c:pt idx="17">
                  <c:v>0.49382611397379805</c:v>
                </c:pt>
                <c:pt idx="18">
                  <c:v>0.54284481481417168</c:v>
                </c:pt>
                <c:pt idx="19">
                  <c:v>0.61796019967941751</c:v>
                </c:pt>
                <c:pt idx="20">
                  <c:v>0.62153818936333172</c:v>
                </c:pt>
                <c:pt idx="21">
                  <c:v>0.63303031909297969</c:v>
                </c:pt>
                <c:pt idx="22">
                  <c:v>0.64303175663348855</c:v>
                </c:pt>
                <c:pt idx="23">
                  <c:v>0.70205701292849632</c:v>
                </c:pt>
                <c:pt idx="24">
                  <c:v>0.70998352297918654</c:v>
                </c:pt>
                <c:pt idx="25">
                  <c:v>0.73221459716235482</c:v>
                </c:pt>
                <c:pt idx="26">
                  <c:v>0.73912225252333641</c:v>
                </c:pt>
                <c:pt idx="27">
                  <c:v>0.75232093420298041</c:v>
                </c:pt>
                <c:pt idx="28">
                  <c:v>0.76104712564513299</c:v>
                </c:pt>
                <c:pt idx="29">
                  <c:v>0.78076913044100094</c:v>
                </c:pt>
                <c:pt idx="30">
                  <c:v>0.79302841683608627</c:v>
                </c:pt>
                <c:pt idx="31">
                  <c:v>0.79388207081130324</c:v>
                </c:pt>
                <c:pt idx="32">
                  <c:v>0.79871044929917301</c:v>
                </c:pt>
                <c:pt idx="33">
                  <c:v>0.85584349530723369</c:v>
                </c:pt>
                <c:pt idx="34">
                  <c:v>0.89944397859978953</c:v>
                </c:pt>
                <c:pt idx="35">
                  <c:v>0.91322073380063162</c:v>
                </c:pt>
                <c:pt idx="36">
                  <c:v>0.95497133564667469</c:v>
                </c:pt>
                <c:pt idx="37">
                  <c:v>0.95719327272619192</c:v>
                </c:pt>
                <c:pt idx="38">
                  <c:v>0.96391549078637262</c:v>
                </c:pt>
                <c:pt idx="39">
                  <c:v>0.97627142511280884</c:v>
                </c:pt>
                <c:pt idx="40">
                  <c:v>0.97888710559833714</c:v>
                </c:pt>
                <c:pt idx="41" formatCode="0%">
                  <c:v>1</c:v>
                </c:pt>
              </c:numCache>
            </c:numRef>
          </c:xVal>
          <c:yVal>
            <c:numRef>
              <c:f>'Graphics - World level'!$D$351:$D$392</c:f>
              <c:numCache>
                <c:formatCode>0.00</c:formatCode>
                <c:ptCount val="42"/>
                <c:pt idx="0">
                  <c:v>0.11458309612741081</c:v>
                </c:pt>
                <c:pt idx="1">
                  <c:v>0.18817296716283172</c:v>
                </c:pt>
                <c:pt idx="2">
                  <c:v>0.25589422741191847</c:v>
                </c:pt>
                <c:pt idx="3">
                  <c:v>0.33439610092085537</c:v>
                </c:pt>
                <c:pt idx="4" formatCode="#,##0.00">
                  <c:v>0.38413495777624507</c:v>
                </c:pt>
                <c:pt idx="5" formatCode="#,##0.0">
                  <c:v>0.39755050358595762</c:v>
                </c:pt>
                <c:pt idx="6">
                  <c:v>0.42374805996311349</c:v>
                </c:pt>
                <c:pt idx="7" formatCode="0.0">
                  <c:v>0.5</c:v>
                </c:pt>
                <c:pt idx="8">
                  <c:v>0.5</c:v>
                </c:pt>
                <c:pt idx="9">
                  <c:v>0.51897058001906582</c:v>
                </c:pt>
                <c:pt idx="10">
                  <c:v>0.54300000000000004</c:v>
                </c:pt>
                <c:pt idx="11" formatCode="#,##0.00">
                  <c:v>0.56535112575099511</c:v>
                </c:pt>
                <c:pt idx="12">
                  <c:v>0.59908386187455953</c:v>
                </c:pt>
                <c:pt idx="13">
                  <c:v>0.62295445996593279</c:v>
                </c:pt>
                <c:pt idx="14">
                  <c:v>0.66954559751524978</c:v>
                </c:pt>
                <c:pt idx="15">
                  <c:v>0.7457842146441056</c:v>
                </c:pt>
                <c:pt idx="16">
                  <c:v>0.7869941214275622</c:v>
                </c:pt>
                <c:pt idx="17">
                  <c:v>0.78756058158319875</c:v>
                </c:pt>
                <c:pt idx="18">
                  <c:v>0.81311493847176308</c:v>
                </c:pt>
                <c:pt idx="19">
                  <c:v>1.1000000000000001</c:v>
                </c:pt>
                <c:pt idx="20">
                  <c:v>1.2039036836039838</c:v>
                </c:pt>
                <c:pt idx="21">
                  <c:v>1.2253563122473805</c:v>
                </c:pt>
                <c:pt idx="22">
                  <c:v>1.3176731781157645</c:v>
                </c:pt>
                <c:pt idx="23" formatCode="0.0">
                  <c:v>1.5</c:v>
                </c:pt>
                <c:pt idx="24">
                  <c:v>1.5099320668497609</c:v>
                </c:pt>
                <c:pt idx="25">
                  <c:v>1.5183444356918525</c:v>
                </c:pt>
                <c:pt idx="26">
                  <c:v>1.53</c:v>
                </c:pt>
                <c:pt idx="27" formatCode="0.000">
                  <c:v>1.5330315121538811</c:v>
                </c:pt>
                <c:pt idx="28">
                  <c:v>1.5961451901991921</c:v>
                </c:pt>
                <c:pt idx="29">
                  <c:v>1.7118141386759287</c:v>
                </c:pt>
                <c:pt idx="30">
                  <c:v>1.8398841563330497</c:v>
                </c:pt>
                <c:pt idx="31">
                  <c:v>1.8398841563330497</c:v>
                </c:pt>
                <c:pt idx="32">
                  <c:v>2.2999999999999994</c:v>
                </c:pt>
                <c:pt idx="33" formatCode="0.0">
                  <c:v>2.5999999999999988</c:v>
                </c:pt>
                <c:pt idx="34" formatCode="0.0">
                  <c:v>2.5999999999999996</c:v>
                </c:pt>
                <c:pt idx="35" formatCode="0.0">
                  <c:v>2.5999999999999996</c:v>
                </c:pt>
                <c:pt idx="36" formatCode="0.0">
                  <c:v>2.6</c:v>
                </c:pt>
                <c:pt idx="37" formatCode="0.0">
                  <c:v>2.6</c:v>
                </c:pt>
                <c:pt idx="38" formatCode="0.0">
                  <c:v>2.6</c:v>
                </c:pt>
                <c:pt idx="39" formatCode="0.0">
                  <c:v>2.6</c:v>
                </c:pt>
                <c:pt idx="40" formatCode="0.0">
                  <c:v>2.6</c:v>
                </c:pt>
                <c:pt idx="41" formatCode="0.0">
                  <c:v>2.6000000000000005</c:v>
                </c:pt>
              </c:numCache>
            </c:numRef>
          </c:yVal>
          <c:smooth val="0"/>
          <c:extLst>
            <c:ext xmlns:c16="http://schemas.microsoft.com/office/drawing/2014/chart" uri="{C3380CC4-5D6E-409C-BE32-E72D297353CC}">
              <c16:uniqueId val="{00000000-567A-4021-91CC-0A738B8E61B0}"/>
            </c:ext>
          </c:extLst>
        </c:ser>
        <c:ser>
          <c:idx val="1"/>
          <c:order val="1"/>
          <c:tx>
            <c:strRef>
              <c:f>'Graphics - World level'!$G$348</c:f>
              <c:strCache>
                <c:ptCount val="1"/>
                <c:pt idx="0">
                  <c:v>Weighted average</c:v>
                </c:pt>
              </c:strCache>
            </c:strRef>
          </c:tx>
          <c:spPr>
            <a:ln w="19050" cap="rnd">
              <a:solidFill>
                <a:schemeClr val="accent2"/>
              </a:solidFill>
              <a:round/>
            </a:ln>
            <a:effectLst/>
          </c:spPr>
          <c:marker>
            <c:symbol val="none"/>
          </c:marker>
          <c:xVal>
            <c:numRef>
              <c:f>'Graphics - World level'!$F$350:$F$393</c:f>
              <c:numCache>
                <c:formatCode>_-* #,##0\ _€_-;\-* #,##0\ _€_-;_-* "-"??\ _€_-;_-@_-</c:formatCode>
                <c:ptCount val="44"/>
                <c:pt idx="0" formatCode="0">
                  <c:v>0</c:v>
                </c:pt>
                <c:pt idx="1">
                  <c:v>3515755.1460000002</c:v>
                </c:pt>
                <c:pt idx="2">
                  <c:v>4344853.3727288507</c:v>
                </c:pt>
                <c:pt idx="3">
                  <c:v>5348451.4327288568</c:v>
                </c:pt>
                <c:pt idx="4">
                  <c:v>5437016.2327288566</c:v>
                </c:pt>
                <c:pt idx="5">
                  <c:v>5747937.1827288568</c:v>
                </c:pt>
                <c:pt idx="6">
                  <c:v>6335336.0427288571</c:v>
                </c:pt>
                <c:pt idx="7">
                  <c:v>16728711.652598858</c:v>
                </c:pt>
                <c:pt idx="8">
                  <c:v>18928711.652598858</c:v>
                </c:pt>
                <c:pt idx="9">
                  <c:v>19033762.652598858</c:v>
                </c:pt>
                <c:pt idx="10">
                  <c:v>19866550.352598857</c:v>
                </c:pt>
                <c:pt idx="11">
                  <c:v>22454736.352598857</c:v>
                </c:pt>
                <c:pt idx="12">
                  <c:v>23164949.748526458</c:v>
                </c:pt>
                <c:pt idx="13">
                  <c:v>23775445.748526458</c:v>
                </c:pt>
                <c:pt idx="14">
                  <c:v>25865002.758526459</c:v>
                </c:pt>
                <c:pt idx="15">
                  <c:v>25985977.708526459</c:v>
                </c:pt>
                <c:pt idx="16">
                  <c:v>27593967.708526459</c:v>
                </c:pt>
                <c:pt idx="17">
                  <c:v>29542697.708526459</c:v>
                </c:pt>
                <c:pt idx="18">
                  <c:v>29557696.708526459</c:v>
                </c:pt>
                <c:pt idx="19">
                  <c:v>32491684.708526459</c:v>
                </c:pt>
                <c:pt idx="20">
                  <c:v>36987675.708526462</c:v>
                </c:pt>
                <c:pt idx="21">
                  <c:v>37201834.358526461</c:v>
                </c:pt>
                <c:pt idx="22">
                  <c:v>37889689.608526461</c:v>
                </c:pt>
                <c:pt idx="23">
                  <c:v>38488320.278526463</c:v>
                </c:pt>
                <c:pt idx="24">
                  <c:v>42021245.278526463</c:v>
                </c:pt>
                <c:pt idx="25">
                  <c:v>42495682.278526463</c:v>
                </c:pt>
                <c:pt idx="26">
                  <c:v>43826311.278526463</c:v>
                </c:pt>
                <c:pt idx="27">
                  <c:v>44239765.278526463</c:v>
                </c:pt>
                <c:pt idx="28">
                  <c:v>45029765.278526463</c:v>
                </c:pt>
                <c:pt idx="29">
                  <c:v>45552066.778526463</c:v>
                </c:pt>
                <c:pt idx="30">
                  <c:v>46732516.778526463</c:v>
                </c:pt>
                <c:pt idx="31">
                  <c:v>47466289.778526463</c:v>
                </c:pt>
                <c:pt idx="32">
                  <c:v>47517384.778526463</c:v>
                </c:pt>
                <c:pt idx="33">
                  <c:v>47806384.778526463</c:v>
                </c:pt>
                <c:pt idx="34">
                  <c:v>51226052.548526466</c:v>
                </c:pt>
                <c:pt idx="35">
                  <c:v>53835736.048526466</c:v>
                </c:pt>
                <c:pt idx="36">
                  <c:v>54660336.328526467</c:v>
                </c:pt>
                <c:pt idx="37">
                  <c:v>57159296.168526471</c:v>
                </c:pt>
                <c:pt idx="38">
                  <c:v>57292289.018526472</c:v>
                </c:pt>
                <c:pt idx="39">
                  <c:v>57694643.768526472</c:v>
                </c:pt>
                <c:pt idx="40">
                  <c:v>58434201.578526475</c:v>
                </c:pt>
                <c:pt idx="41">
                  <c:v>58590761.728526473</c:v>
                </c:pt>
                <c:pt idx="42">
                  <c:v>59854462.678526476</c:v>
                </c:pt>
                <c:pt idx="43">
                  <c:v>60000000</c:v>
                </c:pt>
              </c:numCache>
            </c:numRef>
          </c:xVal>
          <c:yVal>
            <c:numRef>
              <c:f>'Graphics - World level'!$G$350:$G$393</c:f>
              <c:numCache>
                <c:formatCode>0.00</c:formatCode>
                <c:ptCount val="44"/>
                <c:pt idx="0">
                  <c:v>1.1507217659100917</c:v>
                </c:pt>
                <c:pt idx="1">
                  <c:v>1.1507217659100917</c:v>
                </c:pt>
                <c:pt idx="2">
                  <c:v>1.1507217659100917</c:v>
                </c:pt>
                <c:pt idx="3">
                  <c:v>1.1507217659100917</c:v>
                </c:pt>
                <c:pt idx="4">
                  <c:v>1.1507217659100917</c:v>
                </c:pt>
                <c:pt idx="5">
                  <c:v>1.1507217659100917</c:v>
                </c:pt>
                <c:pt idx="6">
                  <c:v>1.1507217659100917</c:v>
                </c:pt>
                <c:pt idx="7">
                  <c:v>1.1507217659100917</c:v>
                </c:pt>
                <c:pt idx="8">
                  <c:v>1.1507217659100917</c:v>
                </c:pt>
                <c:pt idx="9">
                  <c:v>1.1507217659100917</c:v>
                </c:pt>
                <c:pt idx="10">
                  <c:v>1.1507217659100917</c:v>
                </c:pt>
                <c:pt idx="11">
                  <c:v>1.1507217659100917</c:v>
                </c:pt>
                <c:pt idx="12">
                  <c:v>1.1507217659100917</c:v>
                </c:pt>
                <c:pt idx="13">
                  <c:v>1.1507217659100917</c:v>
                </c:pt>
                <c:pt idx="14">
                  <c:v>1.1507217659100917</c:v>
                </c:pt>
                <c:pt idx="15">
                  <c:v>1.1507217659100917</c:v>
                </c:pt>
                <c:pt idx="16">
                  <c:v>1.1507217659100917</c:v>
                </c:pt>
                <c:pt idx="17">
                  <c:v>1.1507217659100917</c:v>
                </c:pt>
                <c:pt idx="18">
                  <c:v>1.1507217659100917</c:v>
                </c:pt>
                <c:pt idx="19">
                  <c:v>1.1507217659100917</c:v>
                </c:pt>
                <c:pt idx="20">
                  <c:v>1.1507217659100917</c:v>
                </c:pt>
                <c:pt idx="21">
                  <c:v>1.1507217659100917</c:v>
                </c:pt>
                <c:pt idx="22">
                  <c:v>1.1507217659100917</c:v>
                </c:pt>
                <c:pt idx="23">
                  <c:v>1.1507217659100917</c:v>
                </c:pt>
                <c:pt idx="24">
                  <c:v>1.1507217659100917</c:v>
                </c:pt>
                <c:pt idx="25">
                  <c:v>1.1507217659100917</c:v>
                </c:pt>
                <c:pt idx="26">
                  <c:v>1.1507217659100917</c:v>
                </c:pt>
                <c:pt idx="27">
                  <c:v>1.1507217659100917</c:v>
                </c:pt>
                <c:pt idx="28">
                  <c:v>1.1507217659100917</c:v>
                </c:pt>
                <c:pt idx="29">
                  <c:v>1.1507217659100917</c:v>
                </c:pt>
                <c:pt idx="30">
                  <c:v>1.1507217659100917</c:v>
                </c:pt>
                <c:pt idx="31">
                  <c:v>1.1507217659100917</c:v>
                </c:pt>
                <c:pt idx="32">
                  <c:v>1.1507217659100917</c:v>
                </c:pt>
                <c:pt idx="33">
                  <c:v>1.1507217659100917</c:v>
                </c:pt>
                <c:pt idx="34">
                  <c:v>1.1507217659100917</c:v>
                </c:pt>
                <c:pt idx="35">
                  <c:v>1.1507217659100917</c:v>
                </c:pt>
                <c:pt idx="36">
                  <c:v>1.1507217659100917</c:v>
                </c:pt>
                <c:pt idx="37">
                  <c:v>1.1507217659100917</c:v>
                </c:pt>
                <c:pt idx="38">
                  <c:v>1.1507217659100917</c:v>
                </c:pt>
                <c:pt idx="39">
                  <c:v>1.1507217659100917</c:v>
                </c:pt>
                <c:pt idx="40">
                  <c:v>1.1507217659100917</c:v>
                </c:pt>
                <c:pt idx="41">
                  <c:v>1.1507217659100917</c:v>
                </c:pt>
                <c:pt idx="42">
                  <c:v>1.1507217659100917</c:v>
                </c:pt>
                <c:pt idx="43">
                  <c:v>1.1507217659100917</c:v>
                </c:pt>
              </c:numCache>
            </c:numRef>
          </c:yVal>
          <c:smooth val="0"/>
          <c:extLst>
            <c:ext xmlns:c16="http://schemas.microsoft.com/office/drawing/2014/chart" uri="{C3380CC4-5D6E-409C-BE32-E72D297353CC}">
              <c16:uniqueId val="{00000001-567A-4021-91CC-0A738B8E61B0}"/>
            </c:ext>
          </c:extLst>
        </c:ser>
        <c:dLbls>
          <c:showLegendKey val="0"/>
          <c:showVal val="0"/>
          <c:showCatName val="0"/>
          <c:showSerName val="0"/>
          <c:showPercent val="0"/>
          <c:showBubbleSize val="0"/>
        </c:dLbls>
        <c:axId val="513839263"/>
        <c:axId val="1604711407"/>
      </c:scatterChart>
      <c:valAx>
        <c:axId val="513839263"/>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604711407"/>
        <c:crosses val="autoZero"/>
        <c:crossBetween val="midCat"/>
      </c:valAx>
      <c:valAx>
        <c:axId val="1604711407"/>
        <c:scaling>
          <c:orientation val="minMax"/>
          <c:max val="3"/>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r>
                  <a:rPr lang="fr-FR" sz="1100" b="1" i="0" baseline="0" dirty="0">
                    <a:effectLst/>
                  </a:rPr>
                  <a:t>Distance per liter (km/liter of fuel)</a:t>
                </a:r>
                <a:endParaRPr lang="fr-FR" sz="1100" dirty="0">
                  <a:effectLst/>
                </a:endParaRPr>
              </a:p>
            </c:rich>
          </c:tx>
          <c:overlay val="0"/>
          <c:spPr>
            <a:noFill/>
            <a:ln>
              <a:noFill/>
            </a:ln>
            <a:effectLst/>
          </c:spPr>
          <c:txPr>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s-CL"/>
            </a:p>
          </c:txPr>
        </c:title>
        <c:numFmt formatCode="General"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513839263"/>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a:effectLst/>
              </a:rPr>
              <a:t>Fuel </a:t>
            </a:r>
            <a:r>
              <a:rPr lang="fr-FR" sz="1400" b="1" i="0" baseline="0" dirty="0" err="1">
                <a:effectLst/>
              </a:rPr>
              <a:t>consumption</a:t>
            </a:r>
            <a:r>
              <a:rPr lang="fr-FR" sz="1400" b="1" i="0" baseline="0" dirty="0">
                <a:effectLst/>
              </a:rPr>
              <a:t> </a:t>
            </a:r>
          </a:p>
          <a:p>
            <a:pPr>
              <a:defRPr/>
            </a:pPr>
            <a:r>
              <a:rPr lang="fr-FR" sz="1100" b="0" i="0" baseline="0" dirty="0">
                <a:effectLst/>
              </a:rPr>
              <a:t>79% of GNR pilot </a:t>
            </a:r>
            <a:r>
              <a:rPr lang="fr-FR" sz="1100" b="0" i="0" baseline="0" dirty="0" err="1">
                <a:effectLst/>
              </a:rPr>
              <a:t>sample</a:t>
            </a:r>
            <a:r>
              <a:rPr lang="fr-FR" sz="1100" b="0" i="0" baseline="0" dirty="0">
                <a:effectLst/>
              </a:rPr>
              <a:t> - World (</a:t>
            </a:r>
            <a:r>
              <a:rPr lang="fr-FR" sz="1100" b="0" i="0" baseline="0" dirty="0" err="1">
                <a:effectLst/>
              </a:rPr>
              <a:t>coverage</a:t>
            </a:r>
            <a:r>
              <a:rPr lang="fr-FR" sz="1100" b="0" i="0" baseline="0" dirty="0">
                <a:effectLst/>
              </a:rPr>
              <a:t>: 59M m</a:t>
            </a:r>
            <a:r>
              <a:rPr lang="fr-FR" sz="1100" b="0" i="0" baseline="30000" dirty="0">
                <a:effectLst/>
              </a:rPr>
              <a:t>3</a:t>
            </a:r>
            <a:r>
              <a:rPr lang="fr-FR" sz="1100" b="0" i="0" baseline="0" dirty="0">
                <a:effectLst/>
              </a:rPr>
              <a:t> in 2019) </a:t>
            </a:r>
            <a:endParaRPr lang="fr-FR" sz="10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World level'!$H$408:$H$449</c:f>
              <c:numCache>
                <c:formatCode>0.00%</c:formatCode>
                <c:ptCount val="42"/>
                <c:pt idx="0">
                  <c:v>4.3600483292555843E-2</c:v>
                </c:pt>
                <c:pt idx="1">
                  <c:v>5.3601920833064684E-2</c:v>
                </c:pt>
                <c:pt idx="2">
                  <c:v>6.5957855159500894E-2</c:v>
                </c:pt>
                <c:pt idx="3">
                  <c:v>7.9734610360343017E-2</c:v>
                </c:pt>
                <c:pt idx="4">
                  <c:v>0.13686765636840365</c:v>
                </c:pt>
                <c:pt idx="5">
                  <c:v>0.14912694276348898</c:v>
                </c:pt>
                <c:pt idx="6">
                  <c:v>0.15584916082366965</c:v>
                </c:pt>
                <c:pt idx="7">
                  <c:v>0.16275681618465129</c:v>
                </c:pt>
                <c:pt idx="8">
                  <c:v>0.18386971058631416</c:v>
                </c:pt>
                <c:pt idx="9">
                  <c:v>0.18472336456153113</c:v>
                </c:pt>
                <c:pt idx="10">
                  <c:v>0.22647396640757414</c:v>
                </c:pt>
                <c:pt idx="11">
                  <c:v>0.24619597120344214</c:v>
                </c:pt>
                <c:pt idx="12">
                  <c:v>0.25102434969131188</c:v>
                </c:pt>
                <c:pt idx="13">
                  <c:v>0.26422303137095582</c:v>
                </c:pt>
                <c:pt idx="14">
                  <c:v>0.27813657536971892</c:v>
                </c:pt>
                <c:pt idx="15">
                  <c:v>0.28962870509936689</c:v>
                </c:pt>
                <c:pt idx="16">
                  <c:v>0.29982837898632375</c:v>
                </c:pt>
                <c:pt idx="17">
                  <c:v>0.32205945316949203</c:v>
                </c:pt>
                <c:pt idx="18">
                  <c:v>0.38108470946449979</c:v>
                </c:pt>
                <c:pt idx="19">
                  <c:v>0.38330664654401708</c:v>
                </c:pt>
                <c:pt idx="20">
                  <c:v>0.39123315659470725</c:v>
                </c:pt>
                <c:pt idx="21">
                  <c:v>0.43447447702725278</c:v>
                </c:pt>
                <c:pt idx="22">
                  <c:v>0.44320066846940537</c:v>
                </c:pt>
                <c:pt idx="23">
                  <c:v>0.51831605333465114</c:v>
                </c:pt>
                <c:pt idx="24">
                  <c:v>0.52093173382017932</c:v>
                </c:pt>
                <c:pt idx="25">
                  <c:v>0.55768755621918775</c:v>
                </c:pt>
                <c:pt idx="26">
                  <c:v>0.59259818637926198</c:v>
                </c:pt>
                <c:pt idx="27">
                  <c:v>0.59284877755206322</c:v>
                </c:pt>
                <c:pt idx="28">
                  <c:v>0.62540658381734493</c:v>
                </c:pt>
                <c:pt idx="29">
                  <c:v>0.67442528465771867</c:v>
                </c:pt>
                <c:pt idx="30">
                  <c:v>0.68423907019205499</c:v>
                </c:pt>
                <c:pt idx="31">
                  <c:v>0.68626022190884095</c:v>
                </c:pt>
                <c:pt idx="32">
                  <c:v>0.68801532913558561</c:v>
                </c:pt>
                <c:pt idx="33">
                  <c:v>0.69988100070199999</c:v>
                </c:pt>
                <c:pt idx="34">
                  <c:v>0.72674599836535525</c:v>
                </c:pt>
                <c:pt idx="35">
                  <c:v>0.72822566748335693</c:v>
                </c:pt>
                <c:pt idx="36">
                  <c:v>0.7334202834916892</c:v>
                </c:pt>
                <c:pt idx="37">
                  <c:v>0.74727218675213403</c:v>
                </c:pt>
                <c:pt idx="38">
                  <c:v>0.75085017643604823</c:v>
                </c:pt>
                <c:pt idx="39">
                  <c:v>0.92449429827357932</c:v>
                </c:pt>
                <c:pt idx="40">
                  <c:v>0.94126160375237455</c:v>
                </c:pt>
                <c:pt idx="41" formatCode="0%">
                  <c:v>1</c:v>
                </c:pt>
              </c:numCache>
            </c:numRef>
          </c:xVal>
          <c:yVal>
            <c:numRef>
              <c:f>'Graphics - World level'!$D$408:$D$449</c:f>
              <c:numCache>
                <c:formatCode>0.00</c:formatCode>
                <c:ptCount val="42"/>
                <c:pt idx="0">
                  <c:v>0.35844110215378994</c:v>
                </c:pt>
                <c:pt idx="1">
                  <c:v>0.51235646223249121</c:v>
                </c:pt>
                <c:pt idx="2">
                  <c:v>0.53078482972460084</c:v>
                </c:pt>
                <c:pt idx="3">
                  <c:v>0.80844925760021913</c:v>
                </c:pt>
                <c:pt idx="4">
                  <c:v>0.85921908159580196</c:v>
                </c:pt>
                <c:pt idx="5">
                  <c:v>0.99301354737880643</c:v>
                </c:pt>
                <c:pt idx="6">
                  <c:v>1.0247129244649837</c:v>
                </c:pt>
                <c:pt idx="7" formatCode="0.000">
                  <c:v>1.0576143413825012</c:v>
                </c:pt>
                <c:pt idx="8">
                  <c:v>1.1164562649006828</c:v>
                </c:pt>
                <c:pt idx="9">
                  <c:v>1.1698794826999197</c:v>
                </c:pt>
                <c:pt idx="10" formatCode="0.0">
                  <c:v>1.3045732516521447</c:v>
                </c:pt>
                <c:pt idx="11">
                  <c:v>1.3317340514688099</c:v>
                </c:pt>
                <c:pt idx="12">
                  <c:v>1.3844173645587823</c:v>
                </c:pt>
                <c:pt idx="13" formatCode="0.0">
                  <c:v>1.4005495776836114</c:v>
                </c:pt>
                <c:pt idx="14">
                  <c:v>1.5113026117939516</c:v>
                </c:pt>
                <c:pt idx="15">
                  <c:v>1.5977670374384429</c:v>
                </c:pt>
                <c:pt idx="16">
                  <c:v>1.6657997535922195</c:v>
                </c:pt>
                <c:pt idx="17">
                  <c:v>1.6867819814795755</c:v>
                </c:pt>
                <c:pt idx="18">
                  <c:v>1.7420494699646643</c:v>
                </c:pt>
                <c:pt idx="19">
                  <c:v>1.7938253169169251</c:v>
                </c:pt>
                <c:pt idx="20">
                  <c:v>1.8666043176496849</c:v>
                </c:pt>
                <c:pt idx="21">
                  <c:v>1.9232827028457822</c:v>
                </c:pt>
                <c:pt idx="22">
                  <c:v>2.0190220181674388</c:v>
                </c:pt>
                <c:pt idx="23">
                  <c:v>2.2991858887381276</c:v>
                </c:pt>
                <c:pt idx="24">
                  <c:v>2.3397589653998394</c:v>
                </c:pt>
                <c:pt idx="25">
                  <c:v>2.5</c:v>
                </c:pt>
                <c:pt idx="26">
                  <c:v>2.6899761319114517</c:v>
                </c:pt>
                <c:pt idx="27">
                  <c:v>3.1078523858027105</c:v>
                </c:pt>
                <c:pt idx="28">
                  <c:v>3.2590516819648543</c:v>
                </c:pt>
                <c:pt idx="29">
                  <c:v>3.7193571769417284</c:v>
                </c:pt>
                <c:pt idx="30" formatCode="0.0">
                  <c:v>3.7479067750224999</c:v>
                </c:pt>
                <c:pt idx="31">
                  <c:v>3.8054106315954246</c:v>
                </c:pt>
                <c:pt idx="32">
                  <c:v>3.8082544468816097</c:v>
                </c:pt>
                <c:pt idx="33" formatCode="0.0">
                  <c:v>4.3191689778712474</c:v>
                </c:pt>
                <c:pt idx="34">
                  <c:v>4.8631728707150206</c:v>
                </c:pt>
                <c:pt idx="35">
                  <c:v>5.1742154968774674</c:v>
                </c:pt>
                <c:pt idx="36">
                  <c:v>5.652414886155289</c:v>
                </c:pt>
                <c:pt idx="37">
                  <c:v>6.3567144008360907</c:v>
                </c:pt>
                <c:pt idx="38" formatCode="0.0">
                  <c:v>8.143942263663023</c:v>
                </c:pt>
                <c:pt idx="39">
                  <c:v>12.525543843700333</c:v>
                </c:pt>
                <c:pt idx="40" formatCode="0.0">
                  <c:v>12.657195241925363</c:v>
                </c:pt>
                <c:pt idx="41">
                  <c:v>13.806435903352599</c:v>
                </c:pt>
              </c:numCache>
            </c:numRef>
          </c:yVal>
          <c:smooth val="0"/>
          <c:extLst>
            <c:ext xmlns:c16="http://schemas.microsoft.com/office/drawing/2014/chart" uri="{C3380CC4-5D6E-409C-BE32-E72D297353CC}">
              <c16:uniqueId val="{00000000-734B-4144-8F7F-DF152CFC0BDD}"/>
            </c:ext>
          </c:extLst>
        </c:ser>
        <c:ser>
          <c:idx val="1"/>
          <c:order val="1"/>
          <c:tx>
            <c:strRef>
              <c:f>'Graphics - World level'!$G$405</c:f>
              <c:strCache>
                <c:ptCount val="1"/>
                <c:pt idx="0">
                  <c:v>Weighted average</c:v>
                </c:pt>
              </c:strCache>
            </c:strRef>
          </c:tx>
          <c:spPr>
            <a:ln w="19050" cap="rnd">
              <a:solidFill>
                <a:schemeClr val="accent2"/>
              </a:solidFill>
              <a:round/>
            </a:ln>
            <a:effectLst/>
          </c:spPr>
          <c:marker>
            <c:symbol val="none"/>
          </c:marker>
          <c:xVal>
            <c:numRef>
              <c:f>'Graphics - World level'!$F$407:$F$450</c:f>
              <c:numCache>
                <c:formatCode>_-* #,##0\ _€_-;\-* #,##0\ _€_-;_-* "-"??\ _€_-;_-@_-</c:formatCode>
                <c:ptCount val="44"/>
                <c:pt idx="0" formatCode="0">
                  <c:v>0</c:v>
                </c:pt>
                <c:pt idx="1">
                  <c:v>2609683.5</c:v>
                </c:pt>
                <c:pt idx="2">
                  <c:v>3208314.17</c:v>
                </c:pt>
                <c:pt idx="3">
                  <c:v>3947871.98</c:v>
                </c:pt>
                <c:pt idx="4">
                  <c:v>4772472.26</c:v>
                </c:pt>
                <c:pt idx="5">
                  <c:v>8192140.0300000003</c:v>
                </c:pt>
                <c:pt idx="6">
                  <c:v>8925913.0300000012</c:v>
                </c:pt>
                <c:pt idx="7">
                  <c:v>9328267.7800000012</c:v>
                </c:pt>
                <c:pt idx="8">
                  <c:v>9741721.7800000012</c:v>
                </c:pt>
                <c:pt idx="9">
                  <c:v>11005422.73</c:v>
                </c:pt>
                <c:pt idx="10">
                  <c:v>11056517.73</c:v>
                </c:pt>
                <c:pt idx="11">
                  <c:v>13555477.57</c:v>
                </c:pt>
                <c:pt idx="12">
                  <c:v>14735927.57</c:v>
                </c:pt>
                <c:pt idx="13">
                  <c:v>15024927.57</c:v>
                </c:pt>
                <c:pt idx="14">
                  <c:v>15814927.57</c:v>
                </c:pt>
                <c:pt idx="15">
                  <c:v>16647715.27</c:v>
                </c:pt>
                <c:pt idx="16">
                  <c:v>17335570.52</c:v>
                </c:pt>
                <c:pt idx="17">
                  <c:v>17946066.52</c:v>
                </c:pt>
                <c:pt idx="18">
                  <c:v>19276695.52</c:v>
                </c:pt>
                <c:pt idx="19">
                  <c:v>22809620.52</c:v>
                </c:pt>
                <c:pt idx="20">
                  <c:v>22942613.370000001</c:v>
                </c:pt>
                <c:pt idx="21">
                  <c:v>23417050.370000001</c:v>
                </c:pt>
                <c:pt idx="22">
                  <c:v>26005236.370000001</c:v>
                </c:pt>
                <c:pt idx="23">
                  <c:v>26527537.870000001</c:v>
                </c:pt>
                <c:pt idx="24">
                  <c:v>31023528.870000001</c:v>
                </c:pt>
                <c:pt idx="25">
                  <c:v>31180089.02</c:v>
                </c:pt>
                <c:pt idx="26">
                  <c:v>33380089.02</c:v>
                </c:pt>
                <c:pt idx="27">
                  <c:v>35469646.030000001</c:v>
                </c:pt>
                <c:pt idx="28">
                  <c:v>35484645.030000001</c:v>
                </c:pt>
                <c:pt idx="29">
                  <c:v>37433375.030000001</c:v>
                </c:pt>
                <c:pt idx="30">
                  <c:v>40367363.030000001</c:v>
                </c:pt>
                <c:pt idx="31">
                  <c:v>40954761.890000001</c:v>
                </c:pt>
                <c:pt idx="32">
                  <c:v>41075736.840000004</c:v>
                </c:pt>
                <c:pt idx="33">
                  <c:v>41180787.840000004</c:v>
                </c:pt>
                <c:pt idx="34">
                  <c:v>41891001.235927604</c:v>
                </c:pt>
                <c:pt idx="35">
                  <c:v>43498991.235927604</c:v>
                </c:pt>
                <c:pt idx="36">
                  <c:v>43587556.035927601</c:v>
                </c:pt>
                <c:pt idx="37">
                  <c:v>43898476.985927604</c:v>
                </c:pt>
                <c:pt idx="38">
                  <c:v>44727575.212656453</c:v>
                </c:pt>
                <c:pt idx="39">
                  <c:v>44941733.862656452</c:v>
                </c:pt>
                <c:pt idx="40">
                  <c:v>55335109.472526453</c:v>
                </c:pt>
                <c:pt idx="41">
                  <c:v>56338707.532526456</c:v>
                </c:pt>
                <c:pt idx="42">
                  <c:v>59854462.678526454</c:v>
                </c:pt>
                <c:pt idx="43">
                  <c:v>60000000</c:v>
                </c:pt>
              </c:numCache>
            </c:numRef>
          </c:xVal>
          <c:yVal>
            <c:numRef>
              <c:f>'Graphics - World level'!$G$407:$G$450</c:f>
              <c:numCache>
                <c:formatCode>0.00</c:formatCode>
                <c:ptCount val="44"/>
                <c:pt idx="0">
                  <c:v>4.8004065384257464</c:v>
                </c:pt>
                <c:pt idx="1">
                  <c:v>4.8004065384257464</c:v>
                </c:pt>
                <c:pt idx="2">
                  <c:v>4.8004065384257464</c:v>
                </c:pt>
                <c:pt idx="3">
                  <c:v>4.8004065384257464</c:v>
                </c:pt>
                <c:pt idx="4">
                  <c:v>4.8004065384257464</c:v>
                </c:pt>
                <c:pt idx="5">
                  <c:v>4.8004065384257464</c:v>
                </c:pt>
                <c:pt idx="6">
                  <c:v>4.8004065384257464</c:v>
                </c:pt>
                <c:pt idx="7">
                  <c:v>4.8004065384257464</c:v>
                </c:pt>
                <c:pt idx="8">
                  <c:v>4.8004065384257464</c:v>
                </c:pt>
                <c:pt idx="9">
                  <c:v>4.8004065384257464</c:v>
                </c:pt>
                <c:pt idx="10">
                  <c:v>4.8004065384257464</c:v>
                </c:pt>
                <c:pt idx="11">
                  <c:v>4.8004065384257464</c:v>
                </c:pt>
                <c:pt idx="12">
                  <c:v>4.8004065384257464</c:v>
                </c:pt>
                <c:pt idx="13">
                  <c:v>4.8004065384257464</c:v>
                </c:pt>
                <c:pt idx="14">
                  <c:v>4.8004065384257464</c:v>
                </c:pt>
                <c:pt idx="15">
                  <c:v>4.8004065384257464</c:v>
                </c:pt>
                <c:pt idx="16">
                  <c:v>4.8004065384257464</c:v>
                </c:pt>
                <c:pt idx="17">
                  <c:v>4.8004065384257464</c:v>
                </c:pt>
                <c:pt idx="18">
                  <c:v>4.8004065384257464</c:v>
                </c:pt>
                <c:pt idx="19">
                  <c:v>4.8004065384257464</c:v>
                </c:pt>
                <c:pt idx="20">
                  <c:v>4.8004065384257464</c:v>
                </c:pt>
                <c:pt idx="21">
                  <c:v>4.8004065384257464</c:v>
                </c:pt>
                <c:pt idx="22">
                  <c:v>4.8004065384257464</c:v>
                </c:pt>
                <c:pt idx="23">
                  <c:v>4.8004065384257464</c:v>
                </c:pt>
                <c:pt idx="24">
                  <c:v>4.8004065384257464</c:v>
                </c:pt>
                <c:pt idx="25">
                  <c:v>4.8004065384257464</c:v>
                </c:pt>
                <c:pt idx="26">
                  <c:v>4.8004065384257464</c:v>
                </c:pt>
                <c:pt idx="27">
                  <c:v>4.8004065384257464</c:v>
                </c:pt>
                <c:pt idx="28">
                  <c:v>4.8004065384257464</c:v>
                </c:pt>
                <c:pt idx="29">
                  <c:v>4.8004065384257464</c:v>
                </c:pt>
                <c:pt idx="30">
                  <c:v>4.8004065384257464</c:v>
                </c:pt>
                <c:pt idx="31">
                  <c:v>4.8004065384257464</c:v>
                </c:pt>
                <c:pt idx="32">
                  <c:v>4.8004065384257464</c:v>
                </c:pt>
                <c:pt idx="33">
                  <c:v>4.8004065384257464</c:v>
                </c:pt>
                <c:pt idx="34">
                  <c:v>4.8004065384257464</c:v>
                </c:pt>
                <c:pt idx="35">
                  <c:v>4.8004065384257464</c:v>
                </c:pt>
                <c:pt idx="36">
                  <c:v>4.8004065384257464</c:v>
                </c:pt>
                <c:pt idx="37">
                  <c:v>4.8004065384257464</c:v>
                </c:pt>
                <c:pt idx="38">
                  <c:v>4.8004065384257464</c:v>
                </c:pt>
                <c:pt idx="39">
                  <c:v>4.8004065384257464</c:v>
                </c:pt>
                <c:pt idx="40">
                  <c:v>4.8004065384257464</c:v>
                </c:pt>
                <c:pt idx="41">
                  <c:v>4.8004065384257464</c:v>
                </c:pt>
                <c:pt idx="42">
                  <c:v>4.8004065384257464</c:v>
                </c:pt>
                <c:pt idx="43">
                  <c:v>4.8004065384257464</c:v>
                </c:pt>
              </c:numCache>
            </c:numRef>
          </c:yVal>
          <c:smooth val="0"/>
          <c:extLst>
            <c:ext xmlns:c16="http://schemas.microsoft.com/office/drawing/2014/chart" uri="{C3380CC4-5D6E-409C-BE32-E72D297353CC}">
              <c16:uniqueId val="{00000001-734B-4144-8F7F-DF152CFC0BDD}"/>
            </c:ext>
          </c:extLst>
        </c:ser>
        <c:dLbls>
          <c:showLegendKey val="0"/>
          <c:showVal val="0"/>
          <c:showCatName val="0"/>
          <c:showSerName val="0"/>
          <c:showPercent val="0"/>
          <c:showBubbleSize val="0"/>
        </c:dLbls>
        <c:axId val="522200607"/>
        <c:axId val="1963297775"/>
      </c:scatterChart>
      <c:valAx>
        <c:axId val="522200607"/>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963297775"/>
        <c:crosses val="autoZero"/>
        <c:crossBetween val="midCat"/>
      </c:valAx>
      <c:valAx>
        <c:axId val="1963297775"/>
        <c:scaling>
          <c:orientation val="minMax"/>
          <c:max val="14"/>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sz="1000" b="1" i="0" u="none" strike="noStrike" baseline="0" dirty="0">
                    <a:effectLst/>
                  </a:rPr>
                  <a:t>Fuel </a:t>
                </a:r>
                <a:r>
                  <a:rPr lang="fr-FR" sz="1000" b="1" i="0" u="none" strike="noStrike" baseline="0" dirty="0" err="1">
                    <a:effectLst/>
                  </a:rPr>
                  <a:t>consumption</a:t>
                </a:r>
                <a:r>
                  <a:rPr lang="fr-FR" sz="1000" b="1" i="0" u="none" strike="noStrike" baseline="0" dirty="0">
                    <a:effectLst/>
                  </a:rPr>
                  <a:t> (l/km/m3 of </a:t>
                </a:r>
                <a:r>
                  <a:rPr lang="fr-FR" sz="1000" b="1" i="0" u="none" strike="noStrike" baseline="0" dirty="0" err="1">
                    <a:effectLst/>
                  </a:rPr>
                  <a:t>concrete</a:t>
                </a:r>
                <a:r>
                  <a:rPr lang="fr-FR" sz="1000" b="1" i="0" u="none" strike="noStrike" baseline="0" dirty="0">
                    <a:effectLst/>
                  </a:rPr>
                  <a:t>)</a:t>
                </a:r>
                <a:endParaRPr lang="fr-FR" b="1"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522200607"/>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a:effectLst/>
              </a:rPr>
              <a:t>Fuel </a:t>
            </a:r>
            <a:r>
              <a:rPr lang="fr-FR" sz="1400" b="1" i="0" baseline="0" dirty="0" err="1">
                <a:effectLst/>
              </a:rPr>
              <a:t>consumption</a:t>
            </a:r>
            <a:r>
              <a:rPr lang="fr-FR" sz="1400" b="1" i="0" baseline="0" dirty="0">
                <a:effectLst/>
              </a:rPr>
              <a:t> </a:t>
            </a:r>
            <a:endParaRPr lang="fr-FR" sz="1400" dirty="0">
              <a:effectLst/>
            </a:endParaRPr>
          </a:p>
          <a:p>
            <a:pPr>
              <a:defRPr/>
            </a:pPr>
            <a:r>
              <a:rPr lang="fr-FR" sz="1100" b="0" i="0" u="none" strike="noStrike" baseline="0" dirty="0">
                <a:effectLst/>
              </a:rPr>
              <a:t>70% of GNR pilot </a:t>
            </a:r>
            <a:r>
              <a:rPr lang="fr-FR" sz="1100" b="0" i="0" u="none" strike="noStrike" baseline="0" dirty="0" err="1">
                <a:effectLst/>
              </a:rPr>
              <a:t>sample</a:t>
            </a:r>
            <a:r>
              <a:rPr lang="fr-FR" sz="1100" b="0" i="0" u="none" strike="noStrike" baseline="0" dirty="0">
                <a:effectLst/>
              </a:rPr>
              <a:t> - Europe (</a:t>
            </a:r>
            <a:r>
              <a:rPr lang="fr-FR" sz="1100" b="0" i="0" u="none" strike="noStrike" baseline="0" dirty="0" err="1">
                <a:effectLst/>
              </a:rPr>
              <a:t>coverage</a:t>
            </a:r>
            <a:r>
              <a:rPr lang="fr-FR" sz="1100" b="0" i="0" u="none" strike="noStrike" baseline="0" dirty="0">
                <a:effectLst/>
              </a:rPr>
              <a:t>: 27M m</a:t>
            </a:r>
            <a:r>
              <a:rPr lang="fr-FR" sz="1100" b="0" i="0" u="none" strike="noStrike" baseline="30000" dirty="0">
                <a:effectLst/>
              </a:rPr>
              <a:t>3 </a:t>
            </a:r>
            <a:r>
              <a:rPr lang="fr-FR" sz="1100" b="0" i="0" u="none" strike="noStrike" baseline="0" dirty="0">
                <a:effectLst/>
              </a:rPr>
              <a:t>in 2019) </a:t>
            </a:r>
            <a:endParaRPr lang="fr-FR" sz="105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Europe'!$H$271:$H$294</c:f>
              <c:numCache>
                <c:formatCode>0.00%</c:formatCode>
                <c:ptCount val="24"/>
                <c:pt idx="0">
                  <c:v>9.4691636853229774E-2</c:v>
                </c:pt>
                <c:pt idx="1">
                  <c:v>0.11641278350294634</c:v>
                </c:pt>
                <c:pt idx="2">
                  <c:v>0.14324743206339052</c:v>
                </c:pt>
                <c:pt idx="3">
                  <c:v>0.17316782289347837</c:v>
                </c:pt>
                <c:pt idx="4">
                  <c:v>0.29724951273653177</c:v>
                </c:pt>
                <c:pt idx="5">
                  <c:v>0.32387426108195572</c:v>
                </c:pt>
                <c:pt idx="6">
                  <c:v>0.33847359079882444</c:v>
                </c:pt>
                <c:pt idx="7">
                  <c:v>0.39932868969184987</c:v>
                </c:pt>
                <c:pt idx="8">
                  <c:v>0.40118265749484811</c:v>
                </c:pt>
                <c:pt idx="9">
                  <c:v>0.44401495601817292</c:v>
                </c:pt>
                <c:pt idx="10">
                  <c:v>0.47267988535311006</c:v>
                </c:pt>
                <c:pt idx="11">
                  <c:v>0.4948315621876187</c:v>
                </c:pt>
                <c:pt idx="12">
                  <c:v>0.543113063777515</c:v>
                </c:pt>
                <c:pt idx="13">
                  <c:v>0.54793867219182124</c:v>
                </c:pt>
                <c:pt idx="14">
                  <c:v>0.64185027826229424</c:v>
                </c:pt>
                <c:pt idx="15">
                  <c:v>0.64753101957421466</c:v>
                </c:pt>
                <c:pt idx="16">
                  <c:v>0.72335001202101545</c:v>
                </c:pt>
                <c:pt idx="17">
                  <c:v>0.72389424654645185</c:v>
                </c:pt>
                <c:pt idx="18">
                  <c:v>0.79460337027160644</c:v>
                </c:pt>
                <c:pt idx="19">
                  <c:v>0.79899291254128679</c:v>
                </c:pt>
                <c:pt idx="20">
                  <c:v>0.80280465873314055</c:v>
                </c:pt>
                <c:pt idx="21">
                  <c:v>0.86115012673476798</c:v>
                </c:pt>
                <c:pt idx="22">
                  <c:v>0.87243180655818764</c:v>
                </c:pt>
                <c:pt idx="23" formatCode="0%">
                  <c:v>1</c:v>
                </c:pt>
              </c:numCache>
            </c:numRef>
          </c:xVal>
          <c:yVal>
            <c:numRef>
              <c:f>'Graphics - Europe'!$D$271:$D$294</c:f>
              <c:numCache>
                <c:formatCode>0.00</c:formatCode>
                <c:ptCount val="24"/>
                <c:pt idx="0">
                  <c:v>0.35844110215378994</c:v>
                </c:pt>
                <c:pt idx="1">
                  <c:v>0.51235646223249121</c:v>
                </c:pt>
                <c:pt idx="2">
                  <c:v>0.53078482972460084</c:v>
                </c:pt>
                <c:pt idx="3">
                  <c:v>0.80844925760021913</c:v>
                </c:pt>
                <c:pt idx="4">
                  <c:v>0.85921908159580196</c:v>
                </c:pt>
                <c:pt idx="5">
                  <c:v>0.99301354737880643</c:v>
                </c:pt>
                <c:pt idx="6">
                  <c:v>1.0247129244649837</c:v>
                </c:pt>
                <c:pt idx="7">
                  <c:v>1.1164562649006828</c:v>
                </c:pt>
                <c:pt idx="8">
                  <c:v>1.1698794826999197</c:v>
                </c:pt>
                <c:pt idx="9">
                  <c:v>1.3317340514688099</c:v>
                </c:pt>
                <c:pt idx="10" formatCode="0.0">
                  <c:v>1.4005495776836114</c:v>
                </c:pt>
                <c:pt idx="11">
                  <c:v>1.6657997535922195</c:v>
                </c:pt>
                <c:pt idx="12">
                  <c:v>1.6867819814795755</c:v>
                </c:pt>
                <c:pt idx="13">
                  <c:v>1.7938253169169251</c:v>
                </c:pt>
                <c:pt idx="14">
                  <c:v>1.9232827028457822</c:v>
                </c:pt>
                <c:pt idx="15">
                  <c:v>2.3397589653998394</c:v>
                </c:pt>
                <c:pt idx="16">
                  <c:v>2.6899761319114517</c:v>
                </c:pt>
                <c:pt idx="17">
                  <c:v>3.1078523858027105</c:v>
                </c:pt>
                <c:pt idx="18">
                  <c:v>3.2590516819648543</c:v>
                </c:pt>
                <c:pt idx="19">
                  <c:v>3.8054106315954246</c:v>
                </c:pt>
                <c:pt idx="20">
                  <c:v>3.8082544468816097</c:v>
                </c:pt>
                <c:pt idx="21">
                  <c:v>4.8631728707150206</c:v>
                </c:pt>
                <c:pt idx="22">
                  <c:v>5.652414886155289</c:v>
                </c:pt>
                <c:pt idx="23">
                  <c:v>13.806435903352599</c:v>
                </c:pt>
              </c:numCache>
            </c:numRef>
          </c:yVal>
          <c:smooth val="0"/>
          <c:extLst>
            <c:ext xmlns:c16="http://schemas.microsoft.com/office/drawing/2014/chart" uri="{C3380CC4-5D6E-409C-BE32-E72D297353CC}">
              <c16:uniqueId val="{00000000-DE84-4359-ACDB-85CB424AD482}"/>
            </c:ext>
          </c:extLst>
        </c:ser>
        <c:ser>
          <c:idx val="1"/>
          <c:order val="1"/>
          <c:tx>
            <c:strRef>
              <c:f>'Graphics - Europe'!$G$268</c:f>
              <c:strCache>
                <c:ptCount val="1"/>
                <c:pt idx="0">
                  <c:v>Weighted average</c:v>
                </c:pt>
              </c:strCache>
            </c:strRef>
          </c:tx>
          <c:spPr>
            <a:ln w="19050" cap="rnd">
              <a:solidFill>
                <a:schemeClr val="accent2"/>
              </a:solidFill>
              <a:round/>
            </a:ln>
            <a:effectLst/>
          </c:spPr>
          <c:marker>
            <c:symbol val="none"/>
          </c:marker>
          <c:xVal>
            <c:numRef>
              <c:f>'Graphics - Europe'!$F$270:$F$295</c:f>
              <c:numCache>
                <c:formatCode>_-* #,##0\ _€_-;\-* #,##0\ _€_-;_-* "-"??\ _€_-;_-@_-</c:formatCode>
                <c:ptCount val="26"/>
                <c:pt idx="0" formatCode="0">
                  <c:v>0</c:v>
                </c:pt>
                <c:pt idx="1">
                  <c:v>2609683.5</c:v>
                </c:pt>
                <c:pt idx="2">
                  <c:v>3208314.17</c:v>
                </c:pt>
                <c:pt idx="3">
                  <c:v>3947871.98</c:v>
                </c:pt>
                <c:pt idx="4">
                  <c:v>4772472.26</c:v>
                </c:pt>
                <c:pt idx="5">
                  <c:v>8192140.0300000003</c:v>
                </c:pt>
                <c:pt idx="6">
                  <c:v>8925913.0300000012</c:v>
                </c:pt>
                <c:pt idx="7">
                  <c:v>9328267.7800000012</c:v>
                </c:pt>
                <c:pt idx="8">
                  <c:v>11005422.73</c:v>
                </c:pt>
                <c:pt idx="9">
                  <c:v>11056517.73</c:v>
                </c:pt>
                <c:pt idx="10">
                  <c:v>12236967.73</c:v>
                </c:pt>
                <c:pt idx="11">
                  <c:v>13026967.73</c:v>
                </c:pt>
                <c:pt idx="12">
                  <c:v>13637463.73</c:v>
                </c:pt>
                <c:pt idx="13">
                  <c:v>14968092.73</c:v>
                </c:pt>
                <c:pt idx="14">
                  <c:v>15101085.58</c:v>
                </c:pt>
                <c:pt idx="15">
                  <c:v>17689271.579999998</c:v>
                </c:pt>
                <c:pt idx="16">
                  <c:v>17845831.729999997</c:v>
                </c:pt>
                <c:pt idx="17">
                  <c:v>19935388.739999998</c:v>
                </c:pt>
                <c:pt idx="18">
                  <c:v>19950387.739999998</c:v>
                </c:pt>
                <c:pt idx="19">
                  <c:v>21899117.739999998</c:v>
                </c:pt>
                <c:pt idx="20">
                  <c:v>22020092.689999998</c:v>
                </c:pt>
                <c:pt idx="21">
                  <c:v>22125143.689999998</c:v>
                </c:pt>
                <c:pt idx="22">
                  <c:v>23733133.689999998</c:v>
                </c:pt>
                <c:pt idx="23">
                  <c:v>24044054.639999997</c:v>
                </c:pt>
                <c:pt idx="24">
                  <c:v>27559809.785999998</c:v>
                </c:pt>
                <c:pt idx="25">
                  <c:v>30000000</c:v>
                </c:pt>
              </c:numCache>
            </c:numRef>
          </c:xVal>
          <c:yVal>
            <c:numRef>
              <c:f>'Graphics - Europe'!$G$270:$G$295</c:f>
              <c:numCache>
                <c:formatCode>0.00</c:formatCode>
                <c:ptCount val="26"/>
                <c:pt idx="0">
                  <c:v>3.3300676338803243</c:v>
                </c:pt>
                <c:pt idx="1">
                  <c:v>3.3300676338803243</c:v>
                </c:pt>
                <c:pt idx="2">
                  <c:v>3.3300676338803243</c:v>
                </c:pt>
                <c:pt idx="3">
                  <c:v>3.3300676338803243</c:v>
                </c:pt>
                <c:pt idx="4">
                  <c:v>3.3300676338803243</c:v>
                </c:pt>
                <c:pt idx="5">
                  <c:v>3.3300676338803243</c:v>
                </c:pt>
                <c:pt idx="6">
                  <c:v>3.3300676338803243</c:v>
                </c:pt>
                <c:pt idx="7">
                  <c:v>3.3300676338803243</c:v>
                </c:pt>
                <c:pt idx="8">
                  <c:v>3.3300676338803243</c:v>
                </c:pt>
                <c:pt idx="9">
                  <c:v>3.3300676338803243</c:v>
                </c:pt>
                <c:pt idx="10">
                  <c:v>3.3300676338803243</c:v>
                </c:pt>
                <c:pt idx="11">
                  <c:v>3.3300676338803243</c:v>
                </c:pt>
                <c:pt idx="12">
                  <c:v>3.3300676338803243</c:v>
                </c:pt>
                <c:pt idx="13">
                  <c:v>3.3300676338803243</c:v>
                </c:pt>
                <c:pt idx="14">
                  <c:v>3.3300676338803243</c:v>
                </c:pt>
                <c:pt idx="15">
                  <c:v>3.3300676338803243</c:v>
                </c:pt>
                <c:pt idx="16">
                  <c:v>3.3300676338803243</c:v>
                </c:pt>
                <c:pt idx="17">
                  <c:v>3.3300676338803243</c:v>
                </c:pt>
                <c:pt idx="18">
                  <c:v>3.3300676338803243</c:v>
                </c:pt>
                <c:pt idx="19">
                  <c:v>3.3300676338803243</c:v>
                </c:pt>
                <c:pt idx="20">
                  <c:v>3.3300676338803243</c:v>
                </c:pt>
                <c:pt idx="21">
                  <c:v>3.3300676338803243</c:v>
                </c:pt>
                <c:pt idx="22">
                  <c:v>3.3300676338803243</c:v>
                </c:pt>
                <c:pt idx="23">
                  <c:v>3.3300676338803243</c:v>
                </c:pt>
                <c:pt idx="24">
                  <c:v>3.3300676338803243</c:v>
                </c:pt>
                <c:pt idx="25">
                  <c:v>3.3300676338803243</c:v>
                </c:pt>
              </c:numCache>
            </c:numRef>
          </c:yVal>
          <c:smooth val="0"/>
          <c:extLst>
            <c:ext xmlns:c16="http://schemas.microsoft.com/office/drawing/2014/chart" uri="{C3380CC4-5D6E-409C-BE32-E72D297353CC}">
              <c16:uniqueId val="{00000001-DE84-4359-ACDB-85CB424AD482}"/>
            </c:ext>
          </c:extLst>
        </c:ser>
        <c:dLbls>
          <c:showLegendKey val="0"/>
          <c:showVal val="0"/>
          <c:showCatName val="0"/>
          <c:showSerName val="0"/>
          <c:showPercent val="0"/>
          <c:showBubbleSize val="0"/>
        </c:dLbls>
        <c:axId val="530875072"/>
        <c:axId val="703411248"/>
      </c:scatterChart>
      <c:valAx>
        <c:axId val="530875072"/>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703411248"/>
        <c:crosses val="autoZero"/>
        <c:crossBetween val="midCat"/>
      </c:valAx>
      <c:valAx>
        <c:axId val="7034112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u="none" strike="noStrike" baseline="0" dirty="0">
                    <a:effectLst/>
                  </a:rPr>
                  <a:t>Fuel </a:t>
                </a:r>
                <a:r>
                  <a:rPr lang="fr-FR" sz="1100" b="1" i="0" u="none" strike="noStrike" baseline="0" dirty="0" err="1">
                    <a:effectLst/>
                  </a:rPr>
                  <a:t>consumption</a:t>
                </a:r>
                <a:r>
                  <a:rPr lang="fr-FR" sz="1100" b="1" i="0" u="none" strike="noStrike" baseline="0" dirty="0">
                    <a:effectLst/>
                  </a:rPr>
                  <a:t> (l/km/m3 of </a:t>
                </a:r>
                <a:r>
                  <a:rPr lang="fr-FR" sz="1100" b="1" i="0" u="none" strike="noStrike" baseline="0" dirty="0" err="1">
                    <a:effectLst/>
                  </a:rPr>
                  <a:t>concrete</a:t>
                </a:r>
                <a:r>
                  <a:rPr lang="fr-FR" sz="1100" b="1" i="0" u="none" strike="noStrike" baseline="0" dirty="0">
                    <a:effectLst/>
                  </a:rPr>
                  <a:t>)</a:t>
                </a:r>
                <a:endParaRPr lang="fr-FR" sz="1100" dirty="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5308750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a:effectLst/>
              </a:rPr>
              <a:t>Distance per liter*</a:t>
            </a:r>
            <a:br>
              <a:rPr lang="fr-FR" sz="1400" b="1" i="0" baseline="0" dirty="0">
                <a:effectLst/>
              </a:rPr>
            </a:br>
            <a:r>
              <a:rPr lang="fr-FR" sz="1100" b="0" i="0" u="none" strike="noStrike" baseline="0" dirty="0">
                <a:effectLst/>
              </a:rPr>
              <a:t>70% of GNR pilot </a:t>
            </a:r>
            <a:r>
              <a:rPr lang="fr-FR" sz="1100" b="0" i="0" u="none" strike="noStrike" baseline="0" dirty="0" err="1">
                <a:effectLst/>
              </a:rPr>
              <a:t>sample</a:t>
            </a:r>
            <a:r>
              <a:rPr lang="fr-FR" sz="1100" b="0" i="0" u="none" strike="noStrike" baseline="0" dirty="0">
                <a:effectLst/>
              </a:rPr>
              <a:t> - Europe (</a:t>
            </a:r>
            <a:r>
              <a:rPr lang="fr-FR" sz="1100" b="0" i="0" u="none" strike="noStrike" baseline="0" dirty="0" err="1">
                <a:effectLst/>
              </a:rPr>
              <a:t>coverage</a:t>
            </a:r>
            <a:r>
              <a:rPr lang="fr-FR" sz="1100" b="0" i="0" u="none" strike="noStrike" baseline="0" dirty="0">
                <a:effectLst/>
              </a:rPr>
              <a:t>: 27M m</a:t>
            </a:r>
            <a:r>
              <a:rPr lang="fr-FR" sz="1100" b="0" i="0" u="none" strike="noStrike" baseline="30000" dirty="0">
                <a:effectLst/>
              </a:rPr>
              <a:t>3 </a:t>
            </a:r>
            <a:r>
              <a:rPr lang="fr-FR" sz="1100" b="0" i="0" u="none" strike="noStrike" baseline="0" dirty="0">
                <a:effectLst/>
              </a:rPr>
              <a:t>in 2019) </a:t>
            </a:r>
            <a:endParaRPr lang="fr-FR" sz="11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Europe'!$H$234:$H$256</c:f>
              <c:numCache>
                <c:formatCode>0.00%</c:formatCode>
                <c:ptCount val="23"/>
                <c:pt idx="0">
                  <c:v>0.13014873987846384</c:v>
                </c:pt>
                <c:pt idx="1">
                  <c:v>0.1416586341014317</c:v>
                </c:pt>
                <c:pt idx="2">
                  <c:v>0.14554748719420976</c:v>
                </c:pt>
                <c:pt idx="3">
                  <c:v>0.24135880865507064</c:v>
                </c:pt>
                <c:pt idx="4">
                  <c:v>0.26395858645564979</c:v>
                </c:pt>
                <c:pt idx="5">
                  <c:v>0.34131130314444463</c:v>
                </c:pt>
                <c:pt idx="6">
                  <c:v>0.34578964041354415</c:v>
                </c:pt>
                <c:pt idx="7">
                  <c:v>0.40531536491551179</c:v>
                </c:pt>
                <c:pt idx="8">
                  <c:v>0.47745484657193965</c:v>
                </c:pt>
                <c:pt idx="9">
                  <c:v>0.47801009028726438</c:v>
                </c:pt>
                <c:pt idx="10">
                  <c:v>0.50017062881104146</c:v>
                </c:pt>
                <c:pt idx="11">
                  <c:v>0.54942880533473171</c:v>
                </c:pt>
                <c:pt idx="12">
                  <c:v>0.57867359066085589</c:v>
                </c:pt>
                <c:pt idx="13">
                  <c:v>0.62237233349404997</c:v>
                </c:pt>
                <c:pt idx="14">
                  <c:v>0.64953566749798186</c:v>
                </c:pt>
                <c:pt idx="15">
                  <c:v>0.65142713877170122</c:v>
                </c:pt>
                <c:pt idx="16">
                  <c:v>0.77801884740501237</c:v>
                </c:pt>
                <c:pt idx="17">
                  <c:v>0.87462597870454206</c:v>
                </c:pt>
                <c:pt idx="18">
                  <c:v>0.90515162195575971</c:v>
                </c:pt>
                <c:pt idx="19">
                  <c:v>0.92004627801740069</c:v>
                </c:pt>
                <c:pt idx="20">
                  <c:v>0.947423758257538</c:v>
                </c:pt>
                <c:pt idx="21">
                  <c:v>0.95321941392510234</c:v>
                </c:pt>
                <c:pt idx="22" formatCode="0%">
                  <c:v>1</c:v>
                </c:pt>
              </c:numCache>
            </c:numRef>
          </c:xVal>
          <c:yVal>
            <c:numRef>
              <c:f>'Graphics - Europe'!$D$234:$D$256</c:f>
              <c:numCache>
                <c:formatCode>#,##0.00</c:formatCode>
                <c:ptCount val="23"/>
                <c:pt idx="0" formatCode="0.00">
                  <c:v>0.11458309612741081</c:v>
                </c:pt>
                <c:pt idx="1">
                  <c:v>0.38413495777624507</c:v>
                </c:pt>
                <c:pt idx="2" formatCode="0.00">
                  <c:v>0.5</c:v>
                </c:pt>
                <c:pt idx="3" formatCode="0.00">
                  <c:v>0.54300000000000004</c:v>
                </c:pt>
                <c:pt idx="4" formatCode="0.00">
                  <c:v>0.59908386187455953</c:v>
                </c:pt>
                <c:pt idx="5" formatCode="0.00">
                  <c:v>0.62295445996593279</c:v>
                </c:pt>
                <c:pt idx="6" formatCode="0.00">
                  <c:v>0.66954559751524978</c:v>
                </c:pt>
                <c:pt idx="7" formatCode="0.00">
                  <c:v>0.7457842146441056</c:v>
                </c:pt>
                <c:pt idx="8" formatCode="0.00">
                  <c:v>0.7869941214275622</c:v>
                </c:pt>
                <c:pt idx="9" formatCode="0.00">
                  <c:v>0.78756058158319875</c:v>
                </c:pt>
                <c:pt idx="10" formatCode="0.00">
                  <c:v>1.3176731781157645</c:v>
                </c:pt>
                <c:pt idx="11" formatCode="0.00">
                  <c:v>1.5183444356918525</c:v>
                </c:pt>
                <c:pt idx="12" formatCode="0.000">
                  <c:v>1.5330315121538811</c:v>
                </c:pt>
                <c:pt idx="13" formatCode="0.00">
                  <c:v>1.7118141386759287</c:v>
                </c:pt>
                <c:pt idx="14" formatCode="0.00">
                  <c:v>1.8398841563330497</c:v>
                </c:pt>
                <c:pt idx="15" formatCode="0.00">
                  <c:v>1.8398841563330497</c:v>
                </c:pt>
                <c:pt idx="16" formatCode="0.0">
                  <c:v>2.5999999999999988</c:v>
                </c:pt>
                <c:pt idx="17" formatCode="0.0">
                  <c:v>2.5999999999999996</c:v>
                </c:pt>
                <c:pt idx="18" formatCode="0.0">
                  <c:v>2.5999999999999996</c:v>
                </c:pt>
                <c:pt idx="19" formatCode="0.0">
                  <c:v>2.6</c:v>
                </c:pt>
                <c:pt idx="20" formatCode="0.0">
                  <c:v>2.6</c:v>
                </c:pt>
                <c:pt idx="21" formatCode="0.0">
                  <c:v>2.6</c:v>
                </c:pt>
                <c:pt idx="22" formatCode="0.0">
                  <c:v>2.6000000000000005</c:v>
                </c:pt>
              </c:numCache>
            </c:numRef>
          </c:yVal>
          <c:smooth val="0"/>
          <c:extLst>
            <c:ext xmlns:c16="http://schemas.microsoft.com/office/drawing/2014/chart" uri="{C3380CC4-5D6E-409C-BE32-E72D297353CC}">
              <c16:uniqueId val="{00000000-94F0-4176-ABD7-47BE396D2161}"/>
            </c:ext>
          </c:extLst>
        </c:ser>
        <c:ser>
          <c:idx val="1"/>
          <c:order val="1"/>
          <c:tx>
            <c:strRef>
              <c:f>'Graphics - Europe'!$G$231</c:f>
              <c:strCache>
                <c:ptCount val="1"/>
                <c:pt idx="0">
                  <c:v>Weighted average</c:v>
                </c:pt>
              </c:strCache>
            </c:strRef>
          </c:tx>
          <c:spPr>
            <a:ln w="19050" cap="rnd">
              <a:solidFill>
                <a:schemeClr val="accent2"/>
              </a:solidFill>
              <a:round/>
            </a:ln>
            <a:effectLst/>
          </c:spPr>
          <c:marker>
            <c:symbol val="none"/>
          </c:marker>
          <c:xVal>
            <c:numRef>
              <c:f>'Graphics - Europe'!$F$233:$F$257</c:f>
              <c:numCache>
                <c:formatCode>_-* #,##0\ _€_-;\-* #,##0\ _€_-;_-* "-"??\ _€_-;_-@_-</c:formatCode>
                <c:ptCount val="25"/>
                <c:pt idx="0" formatCode="0">
                  <c:v>0</c:v>
                </c:pt>
                <c:pt idx="1">
                  <c:v>3515755.1460000002</c:v>
                </c:pt>
                <c:pt idx="2">
                  <c:v>3826676.0960000004</c:v>
                </c:pt>
                <c:pt idx="3">
                  <c:v>3931727.0960000004</c:v>
                </c:pt>
                <c:pt idx="4">
                  <c:v>6519913.0960000008</c:v>
                </c:pt>
                <c:pt idx="5">
                  <c:v>7130409.0960000008</c:v>
                </c:pt>
                <c:pt idx="6">
                  <c:v>9219966.1060000006</c:v>
                </c:pt>
                <c:pt idx="7">
                  <c:v>9340941.0559999999</c:v>
                </c:pt>
                <c:pt idx="8">
                  <c:v>10948931.056</c:v>
                </c:pt>
                <c:pt idx="9">
                  <c:v>12897661.056</c:v>
                </c:pt>
                <c:pt idx="10">
                  <c:v>12912660.056</c:v>
                </c:pt>
                <c:pt idx="11">
                  <c:v>13511290.726</c:v>
                </c:pt>
                <c:pt idx="12">
                  <c:v>14841919.726</c:v>
                </c:pt>
                <c:pt idx="13">
                  <c:v>15631919.726</c:v>
                </c:pt>
                <c:pt idx="14">
                  <c:v>16812369.726</c:v>
                </c:pt>
                <c:pt idx="15">
                  <c:v>17546142.726</c:v>
                </c:pt>
                <c:pt idx="16">
                  <c:v>17597237.726</c:v>
                </c:pt>
                <c:pt idx="17">
                  <c:v>21016905.495999999</c:v>
                </c:pt>
                <c:pt idx="18">
                  <c:v>23626588.995999999</c:v>
                </c:pt>
                <c:pt idx="19">
                  <c:v>24451189.276000001</c:v>
                </c:pt>
                <c:pt idx="20">
                  <c:v>24853544.026000001</c:v>
                </c:pt>
                <c:pt idx="21">
                  <c:v>25593101.835999999</c:v>
                </c:pt>
                <c:pt idx="22">
                  <c:v>25749661.985999998</c:v>
                </c:pt>
                <c:pt idx="23">
                  <c:v>27013362.935999997</c:v>
                </c:pt>
                <c:pt idx="24">
                  <c:v>30000000</c:v>
                </c:pt>
              </c:numCache>
            </c:numRef>
          </c:xVal>
          <c:yVal>
            <c:numRef>
              <c:f>'Graphics - Europe'!$G$233:$G$257</c:f>
              <c:numCache>
                <c:formatCode>0.00</c:formatCode>
                <c:ptCount val="25"/>
                <c:pt idx="0">
                  <c:v>1.4287746364106966</c:v>
                </c:pt>
                <c:pt idx="1">
                  <c:v>1.4287746364106966</c:v>
                </c:pt>
                <c:pt idx="2">
                  <c:v>1.4287746364106966</c:v>
                </c:pt>
                <c:pt idx="3">
                  <c:v>1.4287746364106966</c:v>
                </c:pt>
                <c:pt idx="4">
                  <c:v>1.4287746364106966</c:v>
                </c:pt>
                <c:pt idx="5">
                  <c:v>1.4287746364106966</c:v>
                </c:pt>
                <c:pt idx="6">
                  <c:v>1.4287746364106966</c:v>
                </c:pt>
                <c:pt idx="7">
                  <c:v>1.4287746364106966</c:v>
                </c:pt>
                <c:pt idx="8">
                  <c:v>1.4287746364106966</c:v>
                </c:pt>
                <c:pt idx="9">
                  <c:v>1.4287746364106966</c:v>
                </c:pt>
                <c:pt idx="10">
                  <c:v>1.4287746364106966</c:v>
                </c:pt>
                <c:pt idx="11">
                  <c:v>1.4287746364106966</c:v>
                </c:pt>
                <c:pt idx="12">
                  <c:v>1.4287746364106966</c:v>
                </c:pt>
                <c:pt idx="13">
                  <c:v>1.4287746364106966</c:v>
                </c:pt>
                <c:pt idx="14">
                  <c:v>1.4287746364106966</c:v>
                </c:pt>
                <c:pt idx="15">
                  <c:v>1.4287746364106966</c:v>
                </c:pt>
                <c:pt idx="16">
                  <c:v>1.4287746364106966</c:v>
                </c:pt>
                <c:pt idx="17">
                  <c:v>1.4287746364106966</c:v>
                </c:pt>
                <c:pt idx="18">
                  <c:v>1.4287746364106966</c:v>
                </c:pt>
                <c:pt idx="19">
                  <c:v>1.4287746364106966</c:v>
                </c:pt>
                <c:pt idx="20">
                  <c:v>1.4287746364106966</c:v>
                </c:pt>
                <c:pt idx="21">
                  <c:v>1.4287746364106966</c:v>
                </c:pt>
                <c:pt idx="22">
                  <c:v>1.4287746364106966</c:v>
                </c:pt>
                <c:pt idx="23">
                  <c:v>1.4287746364106966</c:v>
                </c:pt>
                <c:pt idx="24">
                  <c:v>1.4287746364106966</c:v>
                </c:pt>
              </c:numCache>
            </c:numRef>
          </c:yVal>
          <c:smooth val="0"/>
          <c:extLst>
            <c:ext xmlns:c16="http://schemas.microsoft.com/office/drawing/2014/chart" uri="{C3380CC4-5D6E-409C-BE32-E72D297353CC}">
              <c16:uniqueId val="{00000001-94F0-4176-ABD7-47BE396D2161}"/>
            </c:ext>
          </c:extLst>
        </c:ser>
        <c:dLbls>
          <c:showLegendKey val="0"/>
          <c:showVal val="0"/>
          <c:showCatName val="0"/>
          <c:showSerName val="0"/>
          <c:showPercent val="0"/>
          <c:showBubbleSize val="0"/>
        </c:dLbls>
        <c:axId val="611058144"/>
        <c:axId val="2049721504"/>
      </c:scatterChart>
      <c:valAx>
        <c:axId val="611058144"/>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2049721504"/>
        <c:crosses val="autoZero"/>
        <c:crossBetween val="midCat"/>
      </c:valAx>
      <c:valAx>
        <c:axId val="20497215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u="none" strike="noStrike" baseline="0" dirty="0">
                    <a:effectLst/>
                  </a:rPr>
                  <a:t>Distance per liter (km/liter of fuel)</a:t>
                </a:r>
                <a:endParaRPr lang="fr-FR" sz="1100" dirty="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General"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61105814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fr-FR" sz="1400" b="1" i="0" baseline="0" dirty="0">
                <a:effectLst/>
              </a:rPr>
              <a:t>Distance per liter*</a:t>
            </a:r>
            <a:endParaRPr lang="fr-FR" sz="1400" dirty="0">
              <a:effectLst/>
            </a:endParaRPr>
          </a:p>
          <a:p>
            <a:pPr>
              <a:defRPr sz="1200"/>
            </a:pPr>
            <a:r>
              <a:rPr lang="fr-FR" sz="1100" b="0" i="0" u="none" strike="noStrike" baseline="0" dirty="0">
                <a:effectLst/>
              </a:rPr>
              <a:t>100% of GNR pilot </a:t>
            </a:r>
            <a:r>
              <a:rPr lang="fr-FR" sz="1100" b="0" i="0" u="none" strike="noStrike" baseline="0" dirty="0" err="1">
                <a:effectLst/>
              </a:rPr>
              <a:t>sample</a:t>
            </a:r>
            <a:r>
              <a:rPr lang="fr-FR" sz="1100" b="0" i="0" u="none" strike="noStrike" baseline="0" dirty="0">
                <a:effectLst/>
              </a:rPr>
              <a:t> - North America </a:t>
            </a:r>
            <a:br>
              <a:rPr lang="fr-FR" sz="1100" b="0" i="0" u="none" strike="noStrike" baseline="0" dirty="0">
                <a:effectLst/>
              </a:rPr>
            </a:br>
            <a:r>
              <a:rPr lang="fr-FR" sz="1100" b="0" i="0" u="none" strike="noStrike" baseline="0" dirty="0">
                <a:effectLst/>
              </a:rPr>
              <a:t>(</a:t>
            </a:r>
            <a:r>
              <a:rPr lang="fr-FR" sz="1100" b="0" i="0" u="none" strike="noStrike" baseline="0" dirty="0" err="1">
                <a:effectLst/>
              </a:rPr>
              <a:t>coverage</a:t>
            </a:r>
            <a:r>
              <a:rPr lang="fr-FR" sz="1100" b="0" i="0" u="none" strike="noStrike" baseline="0" dirty="0">
                <a:effectLst/>
              </a:rPr>
              <a:t>: 25M m</a:t>
            </a:r>
            <a:r>
              <a:rPr lang="fr-FR" sz="1100" b="0" i="0" u="none" strike="noStrike" baseline="30000" dirty="0">
                <a:effectLst/>
              </a:rPr>
              <a:t>3</a:t>
            </a:r>
            <a:r>
              <a:rPr lang="fr-FR" sz="1100" b="0" i="0" u="none" strike="noStrike" baseline="0" dirty="0">
                <a:effectLst/>
              </a:rPr>
              <a:t> in 2019) </a:t>
            </a:r>
            <a:endParaRPr lang="fr-FR" sz="1100" dirty="0">
              <a:effectLst/>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North America'!$H$130:$H$138</c:f>
              <c:numCache>
                <c:formatCode>0.00%</c:formatCode>
                <c:ptCount val="9"/>
                <c:pt idx="0">
                  <c:v>3.2722980128415222E-2</c:v>
                </c:pt>
                <c:pt idx="1">
                  <c:v>5.5906531369467341E-2</c:v>
                </c:pt>
                <c:pt idx="2">
                  <c:v>0.46611392608406127</c:v>
                </c:pt>
                <c:pt idx="3">
                  <c:v>0.55294387452882787</c:v>
                </c:pt>
                <c:pt idx="4">
                  <c:v>0.58097468932572605</c:v>
                </c:pt>
                <c:pt idx="5">
                  <c:v>0.69677379240643689</c:v>
                </c:pt>
                <c:pt idx="6">
                  <c:v>0.8742222772874072</c:v>
                </c:pt>
                <c:pt idx="7">
                  <c:v>0.9013706572396627</c:v>
                </c:pt>
                <c:pt idx="8" formatCode="0%">
                  <c:v>1</c:v>
                </c:pt>
              </c:numCache>
            </c:numRef>
          </c:xVal>
          <c:yVal>
            <c:numRef>
              <c:f>'Graphics - North America'!$D$130:$D$138</c:f>
              <c:numCache>
                <c:formatCode>#,##0.0</c:formatCode>
                <c:ptCount val="9"/>
                <c:pt idx="0" formatCode="0.00">
                  <c:v>0.18817296716283172</c:v>
                </c:pt>
                <c:pt idx="1">
                  <c:v>0.39755050358595762</c:v>
                </c:pt>
                <c:pt idx="2" formatCode="0.00">
                  <c:v>0.42374805996311349</c:v>
                </c:pt>
                <c:pt idx="3" formatCode="0.0">
                  <c:v>0.5</c:v>
                </c:pt>
                <c:pt idx="4" formatCode="#,##0.00">
                  <c:v>0.56535112575099511</c:v>
                </c:pt>
                <c:pt idx="5" formatCode="0.00">
                  <c:v>0.81311493847176308</c:v>
                </c:pt>
                <c:pt idx="6" formatCode="0.00">
                  <c:v>1.1000000000000001</c:v>
                </c:pt>
                <c:pt idx="7" formatCode="0.00">
                  <c:v>1.2253563122473805</c:v>
                </c:pt>
                <c:pt idx="8" formatCode="0.0">
                  <c:v>2.6</c:v>
                </c:pt>
              </c:numCache>
            </c:numRef>
          </c:yVal>
          <c:smooth val="0"/>
          <c:extLst>
            <c:ext xmlns:c16="http://schemas.microsoft.com/office/drawing/2014/chart" uri="{C3380CC4-5D6E-409C-BE32-E72D297353CC}">
              <c16:uniqueId val="{00000000-5534-4991-9F2F-B899EC0808F6}"/>
            </c:ext>
          </c:extLst>
        </c:ser>
        <c:ser>
          <c:idx val="1"/>
          <c:order val="1"/>
          <c:tx>
            <c:strRef>
              <c:f>'Graphics - North America'!$G$127</c:f>
              <c:strCache>
                <c:ptCount val="1"/>
                <c:pt idx="0">
                  <c:v>Weighted average</c:v>
                </c:pt>
              </c:strCache>
            </c:strRef>
          </c:tx>
          <c:spPr>
            <a:ln w="19050" cap="rnd">
              <a:solidFill>
                <a:schemeClr val="accent2"/>
              </a:solidFill>
              <a:round/>
            </a:ln>
            <a:effectLst/>
          </c:spPr>
          <c:marker>
            <c:symbol val="none"/>
          </c:marker>
          <c:xVal>
            <c:numRef>
              <c:f>'Graphics - North America'!$F$129:$F$139</c:f>
              <c:numCache>
                <c:formatCode>_-* #,##0\ _€_-;\-* #,##0\ _€_-;_-* "-"??\ _€_-;_-@_-</c:formatCode>
                <c:ptCount val="11"/>
                <c:pt idx="0" formatCode="0">
                  <c:v>0</c:v>
                </c:pt>
                <c:pt idx="1">
                  <c:v>829098.22672885039</c:v>
                </c:pt>
                <c:pt idx="2">
                  <c:v>1416497.0867288504</c:v>
                </c:pt>
                <c:pt idx="3">
                  <c:v>11809872.69659885</c:v>
                </c:pt>
                <c:pt idx="4">
                  <c:v>14009872.69659885</c:v>
                </c:pt>
                <c:pt idx="5">
                  <c:v>14720086.092526451</c:v>
                </c:pt>
                <c:pt idx="6">
                  <c:v>17654074.092526451</c:v>
                </c:pt>
                <c:pt idx="7">
                  <c:v>22150065.092526451</c:v>
                </c:pt>
                <c:pt idx="8">
                  <c:v>22837920.342526451</c:v>
                </c:pt>
                <c:pt idx="9">
                  <c:v>25336880.182526451</c:v>
                </c:pt>
                <c:pt idx="10">
                  <c:v>30000000</c:v>
                </c:pt>
              </c:numCache>
            </c:numRef>
          </c:xVal>
          <c:yVal>
            <c:numRef>
              <c:f>'Graphics - North America'!$G$129:$G$139</c:f>
              <c:numCache>
                <c:formatCode>0.00</c:formatCode>
                <c:ptCount val="11"/>
                <c:pt idx="0">
                  <c:v>0.82813133569406128</c:v>
                </c:pt>
                <c:pt idx="1">
                  <c:v>0.82813133569406128</c:v>
                </c:pt>
                <c:pt idx="2">
                  <c:v>0.82813133569406128</c:v>
                </c:pt>
                <c:pt idx="3">
                  <c:v>0.82813133569406128</c:v>
                </c:pt>
                <c:pt idx="4">
                  <c:v>0.82813133569406128</c:v>
                </c:pt>
                <c:pt idx="5">
                  <c:v>0.82813133569406128</c:v>
                </c:pt>
                <c:pt idx="6">
                  <c:v>0.82813133569406128</c:v>
                </c:pt>
                <c:pt idx="7">
                  <c:v>0.82813133569406128</c:v>
                </c:pt>
                <c:pt idx="8">
                  <c:v>0.82813133569406128</c:v>
                </c:pt>
                <c:pt idx="9">
                  <c:v>0.82813133569406128</c:v>
                </c:pt>
                <c:pt idx="10">
                  <c:v>0.82813133569406128</c:v>
                </c:pt>
              </c:numCache>
            </c:numRef>
          </c:yVal>
          <c:smooth val="0"/>
          <c:extLst>
            <c:ext xmlns:c16="http://schemas.microsoft.com/office/drawing/2014/chart" uri="{C3380CC4-5D6E-409C-BE32-E72D297353CC}">
              <c16:uniqueId val="{00000001-5534-4991-9F2F-B899EC0808F6}"/>
            </c:ext>
          </c:extLst>
        </c:ser>
        <c:dLbls>
          <c:showLegendKey val="0"/>
          <c:showVal val="0"/>
          <c:showCatName val="0"/>
          <c:showSerName val="0"/>
          <c:showPercent val="0"/>
          <c:showBubbleSize val="0"/>
        </c:dLbls>
        <c:axId val="1216295231"/>
        <c:axId val="1214074127"/>
      </c:scatterChart>
      <c:valAx>
        <c:axId val="1216295231"/>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fr-FR" sz="1200" b="1" i="0" baseline="0">
                    <a:effectLst/>
                  </a:rPr>
                  <a:t>m3 concrete production</a:t>
                </a:r>
                <a:endParaRPr lang="fr-FR" sz="1200">
                  <a:effectLst/>
                </a:endParaRP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214074127"/>
        <c:crosses val="autoZero"/>
        <c:crossBetween val="midCat"/>
      </c:valAx>
      <c:valAx>
        <c:axId val="121407412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u="none" strike="noStrike" baseline="0" dirty="0">
                    <a:effectLst/>
                  </a:rPr>
                  <a:t>Distance per liter (km/liter of fuel)</a:t>
                </a:r>
                <a:endParaRPr lang="fr-FR" sz="1100" dirty="0">
                  <a:effectLst/>
                </a:endParaRPr>
              </a:p>
            </c:rich>
          </c:tx>
          <c:layout>
            <c:manualLayout>
              <c:xMode val="edge"/>
              <c:yMode val="edge"/>
              <c:x val="3.0555555555555555E-2"/>
              <c:y val="0.20764828099139993"/>
            </c:manualLayout>
          </c:layout>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General"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216295231"/>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fr-FR" sz="1400" b="1" i="0" baseline="0" dirty="0">
                <a:effectLst/>
              </a:rPr>
              <a:t>Fuel </a:t>
            </a:r>
            <a:r>
              <a:rPr lang="fr-FR" sz="1400" b="1" i="0" baseline="0" dirty="0" err="1">
                <a:effectLst/>
              </a:rPr>
              <a:t>consumption</a:t>
            </a:r>
            <a:r>
              <a:rPr lang="fr-FR" sz="1400" b="1" i="0" baseline="0" dirty="0">
                <a:effectLst/>
              </a:rPr>
              <a:t> </a:t>
            </a:r>
            <a:br>
              <a:rPr lang="fr-FR" sz="1400" b="1" i="0" baseline="0" dirty="0">
                <a:effectLst/>
              </a:rPr>
            </a:br>
            <a:r>
              <a:rPr lang="fr-FR" sz="1100" b="0" i="0" baseline="0" dirty="0">
                <a:effectLst/>
              </a:rPr>
              <a:t>100% of GNR pilot </a:t>
            </a:r>
            <a:r>
              <a:rPr lang="fr-FR" sz="1100" b="0" i="0" baseline="0" dirty="0" err="1">
                <a:effectLst/>
              </a:rPr>
              <a:t>sample</a:t>
            </a:r>
            <a:r>
              <a:rPr lang="fr-FR" sz="1100" b="0" i="0" baseline="0" dirty="0">
                <a:effectLst/>
              </a:rPr>
              <a:t> - </a:t>
            </a:r>
            <a:r>
              <a:rPr lang="fr-FR" sz="1100" b="0" i="0" u="none" strike="noStrike" baseline="0" dirty="0">
                <a:effectLst/>
              </a:rPr>
              <a:t>North America </a:t>
            </a:r>
            <a:br>
              <a:rPr lang="fr-FR" sz="1100" b="0" i="0" baseline="0" dirty="0">
                <a:effectLst/>
              </a:rPr>
            </a:br>
            <a:r>
              <a:rPr lang="fr-FR" sz="1100" b="0" i="0" baseline="0" dirty="0">
                <a:effectLst/>
              </a:rPr>
              <a:t>(</a:t>
            </a:r>
            <a:r>
              <a:rPr lang="fr-FR" sz="1100" b="0" i="0" baseline="0" dirty="0" err="1">
                <a:effectLst/>
              </a:rPr>
              <a:t>coverage</a:t>
            </a:r>
            <a:r>
              <a:rPr lang="fr-FR" sz="1100" b="0" i="0" baseline="0" dirty="0">
                <a:effectLst/>
              </a:rPr>
              <a:t>: 25M m</a:t>
            </a:r>
            <a:r>
              <a:rPr lang="fr-FR" sz="1100" b="0" i="0" baseline="30000" dirty="0">
                <a:effectLst/>
              </a:rPr>
              <a:t>3 </a:t>
            </a:r>
            <a:r>
              <a:rPr lang="fr-FR" sz="1100" b="0" i="0" baseline="0" dirty="0">
                <a:effectLst/>
              </a:rPr>
              <a:t>in 2019) </a:t>
            </a:r>
            <a:endParaRPr lang="fr-FR" sz="1100" dirty="0">
              <a:effectLst/>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North America'!$H$150:$H$158</c:f>
              <c:numCache>
                <c:formatCode>0.00%</c:formatCode>
                <c:ptCount val="9"/>
                <c:pt idx="0">
                  <c:v>9.8629342760337357E-2</c:v>
                </c:pt>
                <c:pt idx="1">
                  <c:v>0.12577772271259283</c:v>
                </c:pt>
                <c:pt idx="2">
                  <c:v>0.30322620759356306</c:v>
                </c:pt>
                <c:pt idx="3">
                  <c:v>0.39005615603832966</c:v>
                </c:pt>
                <c:pt idx="4">
                  <c:v>0.5058552591190405</c:v>
                </c:pt>
                <c:pt idx="5">
                  <c:v>0.52903881036009259</c:v>
                </c:pt>
                <c:pt idx="6">
                  <c:v>0.55706962515699088</c:v>
                </c:pt>
                <c:pt idx="7">
                  <c:v>0.58979260528540611</c:v>
                </c:pt>
                <c:pt idx="8" formatCode="0%">
                  <c:v>1</c:v>
                </c:pt>
              </c:numCache>
            </c:numRef>
          </c:xVal>
          <c:yVal>
            <c:numRef>
              <c:f>'Graphics - North America'!$D$150:$D$158</c:f>
              <c:numCache>
                <c:formatCode>0.00</c:formatCode>
                <c:ptCount val="9"/>
                <c:pt idx="0" formatCode="0.0">
                  <c:v>1.3045732516521447</c:v>
                </c:pt>
                <c:pt idx="1">
                  <c:v>1.5977670374384429</c:v>
                </c:pt>
                <c:pt idx="2">
                  <c:v>2.2991858887381276</c:v>
                </c:pt>
                <c:pt idx="3">
                  <c:v>2.5</c:v>
                </c:pt>
                <c:pt idx="4">
                  <c:v>3.7193571769417284</c:v>
                </c:pt>
                <c:pt idx="5" formatCode="0.0">
                  <c:v>3.7479067750224999</c:v>
                </c:pt>
                <c:pt idx="6" formatCode="0.0">
                  <c:v>4.3191689778712474</c:v>
                </c:pt>
                <c:pt idx="7">
                  <c:v>6.3567144008360907</c:v>
                </c:pt>
                <c:pt idx="8">
                  <c:v>12.525543843700333</c:v>
                </c:pt>
              </c:numCache>
            </c:numRef>
          </c:yVal>
          <c:smooth val="0"/>
          <c:extLst>
            <c:ext xmlns:c16="http://schemas.microsoft.com/office/drawing/2014/chart" uri="{C3380CC4-5D6E-409C-BE32-E72D297353CC}">
              <c16:uniqueId val="{00000000-6E92-4CF8-8581-D6A50D7237AC}"/>
            </c:ext>
          </c:extLst>
        </c:ser>
        <c:ser>
          <c:idx val="1"/>
          <c:order val="1"/>
          <c:tx>
            <c:strRef>
              <c:f>'Graphics - North America'!$G$147</c:f>
              <c:strCache>
                <c:ptCount val="1"/>
                <c:pt idx="0">
                  <c:v>Weighted average</c:v>
                </c:pt>
              </c:strCache>
            </c:strRef>
          </c:tx>
          <c:spPr>
            <a:ln w="19050" cap="rnd">
              <a:solidFill>
                <a:schemeClr val="accent2"/>
              </a:solidFill>
              <a:round/>
            </a:ln>
            <a:effectLst/>
          </c:spPr>
          <c:marker>
            <c:symbol val="none"/>
          </c:marker>
          <c:xVal>
            <c:numRef>
              <c:f>'Graphics - North America'!$F$149:$F$159</c:f>
              <c:numCache>
                <c:formatCode>_-* #,##0\ _€_-;\-* #,##0\ _€_-;_-* "-"??\ _€_-;_-@_-</c:formatCode>
                <c:ptCount val="11"/>
                <c:pt idx="0" formatCode="0">
                  <c:v>0</c:v>
                </c:pt>
                <c:pt idx="1">
                  <c:v>2498959.8400000003</c:v>
                </c:pt>
                <c:pt idx="2">
                  <c:v>3186815.0900000003</c:v>
                </c:pt>
                <c:pt idx="3">
                  <c:v>7682806.0899999999</c:v>
                </c:pt>
                <c:pt idx="4">
                  <c:v>9882806.0899999999</c:v>
                </c:pt>
                <c:pt idx="5">
                  <c:v>12816794.09</c:v>
                </c:pt>
                <c:pt idx="6">
                  <c:v>13404192.949999999</c:v>
                </c:pt>
                <c:pt idx="7">
                  <c:v>14114406.3459276</c:v>
                </c:pt>
                <c:pt idx="8">
                  <c:v>14943504.572656451</c:v>
                </c:pt>
                <c:pt idx="9">
                  <c:v>25336880.182526451</c:v>
                </c:pt>
                <c:pt idx="10">
                  <c:v>30000000</c:v>
                </c:pt>
              </c:numCache>
            </c:numRef>
          </c:xVal>
          <c:yVal>
            <c:numRef>
              <c:f>'Graphics - North America'!$G$149:$G$159</c:f>
              <c:numCache>
                <c:formatCode>0.00</c:formatCode>
                <c:ptCount val="11"/>
                <c:pt idx="0">
                  <c:v>7.4552287301106741</c:v>
                </c:pt>
                <c:pt idx="1">
                  <c:v>7.4552287301106741</c:v>
                </c:pt>
                <c:pt idx="2">
                  <c:v>7.4552287301106741</c:v>
                </c:pt>
                <c:pt idx="3">
                  <c:v>7.4552287301106741</c:v>
                </c:pt>
                <c:pt idx="4">
                  <c:v>7.4552287301106741</c:v>
                </c:pt>
                <c:pt idx="5">
                  <c:v>7.4552287301106741</c:v>
                </c:pt>
                <c:pt idx="6">
                  <c:v>7.4552287301106741</c:v>
                </c:pt>
                <c:pt idx="7">
                  <c:v>7.4552287301106741</c:v>
                </c:pt>
                <c:pt idx="8">
                  <c:v>7.4552287301106741</c:v>
                </c:pt>
                <c:pt idx="9">
                  <c:v>7.4552287301106741</c:v>
                </c:pt>
                <c:pt idx="10">
                  <c:v>7.4552287301106741</c:v>
                </c:pt>
              </c:numCache>
            </c:numRef>
          </c:yVal>
          <c:smooth val="0"/>
          <c:extLst>
            <c:ext xmlns:c16="http://schemas.microsoft.com/office/drawing/2014/chart" uri="{C3380CC4-5D6E-409C-BE32-E72D297353CC}">
              <c16:uniqueId val="{00000001-6E92-4CF8-8581-D6A50D7237AC}"/>
            </c:ext>
          </c:extLst>
        </c:ser>
        <c:dLbls>
          <c:showLegendKey val="0"/>
          <c:showVal val="0"/>
          <c:showCatName val="0"/>
          <c:showSerName val="0"/>
          <c:showPercent val="0"/>
          <c:showBubbleSize val="0"/>
        </c:dLbls>
        <c:axId val="1200768207"/>
        <c:axId val="1202505583"/>
      </c:scatterChart>
      <c:valAx>
        <c:axId val="1200768207"/>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202505583"/>
        <c:crosses val="autoZero"/>
        <c:crossBetween val="midCat"/>
      </c:valAx>
      <c:valAx>
        <c:axId val="12025055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dirty="0">
                    <a:effectLst/>
                  </a:rPr>
                  <a:t>Fuel </a:t>
                </a:r>
                <a:r>
                  <a:rPr lang="fr-FR" sz="1100" b="1" i="0" baseline="0" dirty="0" err="1">
                    <a:effectLst/>
                  </a:rPr>
                  <a:t>consumption</a:t>
                </a:r>
                <a:r>
                  <a:rPr lang="fr-FR" sz="1100" b="1" i="0" baseline="0" dirty="0">
                    <a:effectLst/>
                  </a:rPr>
                  <a:t> (l/km/m3 of </a:t>
                </a:r>
                <a:r>
                  <a:rPr lang="fr-FR" sz="1100" b="1" i="0" baseline="0" dirty="0" err="1">
                    <a:effectLst/>
                  </a:rPr>
                  <a:t>concrete</a:t>
                </a:r>
                <a:r>
                  <a:rPr lang="fr-FR" sz="1100" b="1" i="0" baseline="0" dirty="0">
                    <a:effectLst/>
                  </a:rPr>
                  <a:t>)</a:t>
                </a:r>
                <a:endParaRPr lang="fr-FR" sz="1100" dirty="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200768207"/>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a:effectLst/>
              </a:rPr>
              <a:t>Gross CO2 </a:t>
            </a:r>
            <a:r>
              <a:rPr lang="fr-FR" sz="1400" b="1" i="0" baseline="0" dirty="0" err="1">
                <a:effectLst/>
              </a:rPr>
              <a:t>emissions</a:t>
            </a:r>
            <a:r>
              <a:rPr lang="fr-FR" sz="1400" b="1" i="0" baseline="0" dirty="0">
                <a:effectLst/>
              </a:rPr>
              <a:t> </a:t>
            </a:r>
            <a:r>
              <a:rPr lang="fr-FR" sz="1400" b="1" i="0" baseline="0" dirty="0" err="1">
                <a:effectLst/>
              </a:rPr>
              <a:t>from</a:t>
            </a:r>
            <a:r>
              <a:rPr lang="fr-FR" sz="1400" b="1" i="0" baseline="0" dirty="0">
                <a:effectLst/>
              </a:rPr>
              <a:t> transport</a:t>
            </a:r>
            <a:endParaRPr lang="fr-FR" sz="1400" dirty="0">
              <a:effectLst/>
            </a:endParaRPr>
          </a:p>
          <a:p>
            <a:pPr>
              <a:defRPr/>
            </a:pPr>
            <a:r>
              <a:rPr lang="fr-FR" sz="1100" b="0" i="0" baseline="0" dirty="0">
                <a:effectLst/>
              </a:rPr>
              <a:t>79% of GNR pilot </a:t>
            </a:r>
            <a:r>
              <a:rPr lang="fr-FR" sz="1100" b="0" i="0" baseline="0" dirty="0" err="1">
                <a:effectLst/>
              </a:rPr>
              <a:t>sample</a:t>
            </a:r>
            <a:r>
              <a:rPr lang="fr-FR" sz="1100" b="0" i="0" baseline="0" dirty="0">
                <a:effectLst/>
              </a:rPr>
              <a:t> - World (</a:t>
            </a:r>
            <a:r>
              <a:rPr lang="fr-FR" sz="1100" b="0" i="0" baseline="0" dirty="0" err="1">
                <a:effectLst/>
              </a:rPr>
              <a:t>coverage</a:t>
            </a:r>
            <a:r>
              <a:rPr lang="fr-FR" sz="1100" b="0" i="0" baseline="0" dirty="0">
                <a:effectLst/>
              </a:rPr>
              <a:t>: 75M m</a:t>
            </a:r>
            <a:r>
              <a:rPr lang="fr-FR" sz="1100" b="0" i="0" baseline="30000" dirty="0">
                <a:effectLst/>
              </a:rPr>
              <a:t>3</a:t>
            </a:r>
            <a:r>
              <a:rPr lang="fr-FR" sz="1100" b="0" i="0" baseline="0" dirty="0">
                <a:effectLst/>
              </a:rPr>
              <a:t> in 2019) </a:t>
            </a:r>
            <a:endParaRPr lang="fr-FR" sz="11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World level'!$H$465:$H$506</c:f>
              <c:numCache>
                <c:formatCode>0.00%</c:formatCode>
                <c:ptCount val="42"/>
                <c:pt idx="0">
                  <c:v>4.3600483292555843E-2</c:v>
                </c:pt>
                <c:pt idx="1">
                  <c:v>5.0322701352736511E-2</c:v>
                </c:pt>
                <c:pt idx="2">
                  <c:v>6.2678635679172715E-2</c:v>
                </c:pt>
                <c:pt idx="3">
                  <c:v>7.6455390880014837E-2</c:v>
                </c:pt>
                <c:pt idx="4">
                  <c:v>7.7309044855231809E-2</c:v>
                </c:pt>
                <c:pt idx="5">
                  <c:v>0.13444209086329245</c:v>
                </c:pt>
                <c:pt idx="6">
                  <c:v>0.14670137725837773</c:v>
                </c:pt>
                <c:pt idx="7">
                  <c:v>0.1536090326193594</c:v>
                </c:pt>
                <c:pt idx="8">
                  <c:v>0.17472192702102224</c:v>
                </c:pt>
                <c:pt idx="9">
                  <c:v>0.1773376075065505</c:v>
                </c:pt>
                <c:pt idx="10">
                  <c:v>0.18733904504705934</c:v>
                </c:pt>
                <c:pt idx="11">
                  <c:v>0.22908964689310235</c:v>
                </c:pt>
                <c:pt idx="12">
                  <c:v>0.24881165168897035</c:v>
                </c:pt>
                <c:pt idx="13">
                  <c:v>0.25364003017684011</c:v>
                </c:pt>
                <c:pt idx="14">
                  <c:v>0.26683871185648406</c:v>
                </c:pt>
                <c:pt idx="15">
                  <c:v>0.2807522558552471</c:v>
                </c:pt>
                <c:pt idx="16">
                  <c:v>0.29224438558489507</c:v>
                </c:pt>
                <c:pt idx="17">
                  <c:v>0.30244405947185193</c:v>
                </c:pt>
                <c:pt idx="18">
                  <c:v>0.3614693157668597</c:v>
                </c:pt>
                <c:pt idx="19">
                  <c:v>0.36369125284637699</c:v>
                </c:pt>
                <c:pt idx="20">
                  <c:v>0.38592232702954532</c:v>
                </c:pt>
                <c:pt idx="21">
                  <c:v>0.42916364746209085</c:v>
                </c:pt>
                <c:pt idx="22">
                  <c:v>0.43788983890424343</c:v>
                </c:pt>
                <c:pt idx="23">
                  <c:v>0.44581634895493361</c:v>
                </c:pt>
                <c:pt idx="24">
                  <c:v>0.52093173382017932</c:v>
                </c:pt>
                <c:pt idx="25">
                  <c:v>0.55768755621918775</c:v>
                </c:pt>
                <c:pt idx="26">
                  <c:v>0.59259818637926198</c:v>
                </c:pt>
                <c:pt idx="27">
                  <c:v>0.59284877755206322</c:v>
                </c:pt>
                <c:pt idx="28">
                  <c:v>0.62540658381734493</c:v>
                </c:pt>
                <c:pt idx="29">
                  <c:v>0.63522036935168136</c:v>
                </c:pt>
                <c:pt idx="30">
                  <c:v>0.63724152106846732</c:v>
                </c:pt>
                <c:pt idx="31">
                  <c:v>0.63899662829521198</c:v>
                </c:pt>
                <c:pt idx="32">
                  <c:v>0.68801532913558561</c:v>
                </c:pt>
                <c:pt idx="33">
                  <c:v>0.69320994514391798</c:v>
                </c:pt>
                <c:pt idx="34">
                  <c:v>0.70507561671033225</c:v>
                </c:pt>
                <c:pt idx="35">
                  <c:v>0.73194061437368763</c:v>
                </c:pt>
                <c:pt idx="36">
                  <c:v>0.7334202834916892</c:v>
                </c:pt>
                <c:pt idx="37">
                  <c:v>0.90706440532922028</c:v>
                </c:pt>
                <c:pt idx="38">
                  <c:v>0.91064239501313449</c:v>
                </c:pt>
                <c:pt idx="39">
                  <c:v>0.92449429827357932</c:v>
                </c:pt>
                <c:pt idx="40">
                  <c:v>0.98323269452120476</c:v>
                </c:pt>
                <c:pt idx="41" formatCode="0%">
                  <c:v>1</c:v>
                </c:pt>
              </c:numCache>
            </c:numRef>
          </c:xVal>
          <c:yVal>
            <c:numRef>
              <c:f>'Graphics - World level'!$D$465:$D$506</c:f>
              <c:numCache>
                <c:formatCode>0.00</c:formatCode>
                <c:ptCount val="42"/>
                <c:pt idx="0" formatCode="0">
                  <c:v>0.96061839730940646</c:v>
                </c:pt>
                <c:pt idx="1">
                  <c:v>1.3731099492873522</c:v>
                </c:pt>
                <c:pt idx="2">
                  <c:v>1.4224977810369146</c:v>
                </c:pt>
                <c:pt idx="3">
                  <c:v>2.1666355378203677</c:v>
                </c:pt>
                <c:pt idx="4">
                  <c:v>2.2276198268608627</c:v>
                </c:pt>
                <c:pt idx="5">
                  <c:v>2.3026981340607739</c:v>
                </c:pt>
                <c:pt idx="6">
                  <c:v>2.6612659001932246</c:v>
                </c:pt>
                <c:pt idx="7">
                  <c:v>2.8343953511068061</c:v>
                </c:pt>
                <c:pt idx="8">
                  <c:v>2.9920910894721739</c:v>
                </c:pt>
                <c:pt idx="9">
                  <c:v>3.1352647532988058</c:v>
                </c:pt>
                <c:pt idx="10">
                  <c:v>3.3236764079740948</c:v>
                </c:pt>
                <c:pt idx="11" formatCode="0.0">
                  <c:v>3.4962426425000701</c:v>
                </c:pt>
                <c:pt idx="12">
                  <c:v>3.5366677451718722</c:v>
                </c:pt>
                <c:pt idx="13">
                  <c:v>3.7102240283235548</c:v>
                </c:pt>
                <c:pt idx="14">
                  <c:v>3.7534581904325042</c:v>
                </c:pt>
                <c:pt idx="15">
                  <c:v>4.0805170518436693</c:v>
                </c:pt>
                <c:pt idx="16" formatCode="0.0">
                  <c:v>4.3139710010837966</c:v>
                </c:pt>
                <c:pt idx="17">
                  <c:v>4.4643258820457303</c:v>
                </c:pt>
                <c:pt idx="18" formatCode="0.0">
                  <c:v>4.7035335689045938</c:v>
                </c:pt>
                <c:pt idx="19">
                  <c:v>4.8074330500480382</c:v>
                </c:pt>
                <c:pt idx="20">
                  <c:v>5.0311019462635134</c:v>
                </c:pt>
                <c:pt idx="21">
                  <c:v>5.192863297683612</c:v>
                </c:pt>
                <c:pt idx="22">
                  <c:v>5.4324069517112257</c:v>
                </c:pt>
                <c:pt idx="23">
                  <c:v>5.4514258288354354</c:v>
                </c:pt>
                <c:pt idx="24">
                  <c:v>6.2078018995929449</c:v>
                </c:pt>
                <c:pt idx="25" formatCode="0.0">
                  <c:v>6.75</c:v>
                </c:pt>
                <c:pt idx="26">
                  <c:v>7.2091078425728279</c:v>
                </c:pt>
                <c:pt idx="27">
                  <c:v>8.3290118236582611</c:v>
                </c:pt>
                <c:pt idx="28">
                  <c:v>8.6927411948332356</c:v>
                </c:pt>
                <c:pt idx="29" formatCode="0.0">
                  <c:v>9.7367574501625995</c:v>
                </c:pt>
                <c:pt idx="30" formatCode="0.0">
                  <c:v>10.198460611972319</c:v>
                </c:pt>
                <c:pt idx="31" formatCode="0.0">
                  <c:v>10.199677517105652</c:v>
                </c:pt>
                <c:pt idx="32">
                  <c:v>10.321541706302909</c:v>
                </c:pt>
                <c:pt idx="33">
                  <c:v>10.928067180529686</c:v>
                </c:pt>
                <c:pt idx="34" formatCode="0.0">
                  <c:v>11.575327595804055</c:v>
                </c:pt>
                <c:pt idx="35">
                  <c:v>13.03325232746457</c:v>
                </c:pt>
                <c:pt idx="36">
                  <c:v>14.171030979869315</c:v>
                </c:pt>
                <c:pt idx="37">
                  <c:v>16.489811794115241</c:v>
                </c:pt>
                <c:pt idx="38" formatCode="0.0">
                  <c:v>22.106344028104434</c:v>
                </c:pt>
                <c:pt idx="39">
                  <c:v>24.332375716410883</c:v>
                </c:pt>
                <c:pt idx="40" formatCode="0">
                  <c:v>37.001103529536699</c:v>
                </c:pt>
                <c:pt idx="41" formatCode="0.0">
                  <c:v>70.94083901937897</c:v>
                </c:pt>
              </c:numCache>
            </c:numRef>
          </c:yVal>
          <c:smooth val="0"/>
          <c:extLst>
            <c:ext xmlns:c16="http://schemas.microsoft.com/office/drawing/2014/chart" uri="{C3380CC4-5D6E-409C-BE32-E72D297353CC}">
              <c16:uniqueId val="{00000000-9232-4B95-92ED-4280A76CC608}"/>
            </c:ext>
          </c:extLst>
        </c:ser>
        <c:ser>
          <c:idx val="1"/>
          <c:order val="1"/>
          <c:tx>
            <c:strRef>
              <c:f>'Graphics - World level'!$G$462</c:f>
              <c:strCache>
                <c:ptCount val="1"/>
                <c:pt idx="0">
                  <c:v>Weighted average</c:v>
                </c:pt>
              </c:strCache>
            </c:strRef>
          </c:tx>
          <c:spPr>
            <a:ln w="19050" cap="rnd">
              <a:solidFill>
                <a:schemeClr val="accent2"/>
              </a:solidFill>
              <a:round/>
            </a:ln>
            <a:effectLst/>
          </c:spPr>
          <c:marker>
            <c:symbol val="none"/>
          </c:marker>
          <c:xVal>
            <c:numRef>
              <c:f>'Graphics - World level'!$F$464:$F$507</c:f>
              <c:numCache>
                <c:formatCode>_-* #,##0\ _€_-;\-* #,##0\ _€_-;_-* "-"??\ _€_-;_-@_-</c:formatCode>
                <c:ptCount val="44"/>
                <c:pt idx="0" formatCode="General">
                  <c:v>0</c:v>
                </c:pt>
                <c:pt idx="1">
                  <c:v>2609683.5</c:v>
                </c:pt>
                <c:pt idx="2">
                  <c:v>3012038.25</c:v>
                </c:pt>
                <c:pt idx="3">
                  <c:v>3751596.06</c:v>
                </c:pt>
                <c:pt idx="4">
                  <c:v>4576196.34</c:v>
                </c:pt>
                <c:pt idx="5">
                  <c:v>4627291.34</c:v>
                </c:pt>
                <c:pt idx="6">
                  <c:v>8046959.1100000003</c:v>
                </c:pt>
                <c:pt idx="7">
                  <c:v>8780732.1099999994</c:v>
                </c:pt>
                <c:pt idx="8">
                  <c:v>9194186.1099999994</c:v>
                </c:pt>
                <c:pt idx="9">
                  <c:v>10457887.059999999</c:v>
                </c:pt>
                <c:pt idx="10">
                  <c:v>10614447.209999999</c:v>
                </c:pt>
                <c:pt idx="11">
                  <c:v>11213077.879999999</c:v>
                </c:pt>
                <c:pt idx="12">
                  <c:v>13712037.719999999</c:v>
                </c:pt>
                <c:pt idx="13">
                  <c:v>14892487.719999999</c:v>
                </c:pt>
                <c:pt idx="14">
                  <c:v>15181487.719999999</c:v>
                </c:pt>
                <c:pt idx="15">
                  <c:v>15971487.719999999</c:v>
                </c:pt>
                <c:pt idx="16">
                  <c:v>16804275.419999998</c:v>
                </c:pt>
                <c:pt idx="17">
                  <c:v>17492130.669999998</c:v>
                </c:pt>
                <c:pt idx="18">
                  <c:v>18102626.669999998</c:v>
                </c:pt>
                <c:pt idx="19">
                  <c:v>21635551.669999998</c:v>
                </c:pt>
                <c:pt idx="20">
                  <c:v>21768544.52</c:v>
                </c:pt>
                <c:pt idx="21">
                  <c:v>23099173.52</c:v>
                </c:pt>
                <c:pt idx="22">
                  <c:v>25687359.52</c:v>
                </c:pt>
                <c:pt idx="23">
                  <c:v>26209661.02</c:v>
                </c:pt>
                <c:pt idx="24">
                  <c:v>26684098.02</c:v>
                </c:pt>
                <c:pt idx="25">
                  <c:v>31180089.02</c:v>
                </c:pt>
                <c:pt idx="26">
                  <c:v>33380089.02</c:v>
                </c:pt>
                <c:pt idx="27">
                  <c:v>35469646.030000001</c:v>
                </c:pt>
                <c:pt idx="28">
                  <c:v>35484645.030000001</c:v>
                </c:pt>
                <c:pt idx="29">
                  <c:v>37433375.030000001</c:v>
                </c:pt>
                <c:pt idx="30">
                  <c:v>38020773.890000001</c:v>
                </c:pt>
                <c:pt idx="31">
                  <c:v>38141748.840000004</c:v>
                </c:pt>
                <c:pt idx="32">
                  <c:v>38246799.840000004</c:v>
                </c:pt>
                <c:pt idx="33">
                  <c:v>41180787.840000004</c:v>
                </c:pt>
                <c:pt idx="34">
                  <c:v>41491708.790000007</c:v>
                </c:pt>
                <c:pt idx="35">
                  <c:v>42201922.185927607</c:v>
                </c:pt>
                <c:pt idx="36">
                  <c:v>43809912.185927607</c:v>
                </c:pt>
                <c:pt idx="37">
                  <c:v>43898476.985927604</c:v>
                </c:pt>
                <c:pt idx="38">
                  <c:v>54291852.595797606</c:v>
                </c:pt>
                <c:pt idx="39">
                  <c:v>54506011.245797604</c:v>
                </c:pt>
                <c:pt idx="40">
                  <c:v>55335109.472526453</c:v>
                </c:pt>
                <c:pt idx="41">
                  <c:v>58850864.618526451</c:v>
                </c:pt>
                <c:pt idx="42">
                  <c:v>59854462.678526454</c:v>
                </c:pt>
                <c:pt idx="43">
                  <c:v>60000000</c:v>
                </c:pt>
              </c:numCache>
            </c:numRef>
          </c:xVal>
          <c:yVal>
            <c:numRef>
              <c:f>'Graphics - World level'!$G$464:$G$507</c:f>
              <c:numCache>
                <c:formatCode>0.0</c:formatCode>
                <c:ptCount val="44"/>
                <c:pt idx="0">
                  <c:v>10.637996477658824</c:v>
                </c:pt>
                <c:pt idx="1">
                  <c:v>10.637996477658824</c:v>
                </c:pt>
                <c:pt idx="2">
                  <c:v>10.637996477658824</c:v>
                </c:pt>
                <c:pt idx="3">
                  <c:v>10.637996477658824</c:v>
                </c:pt>
                <c:pt idx="4">
                  <c:v>10.637996477658824</c:v>
                </c:pt>
                <c:pt idx="5">
                  <c:v>10.637996477658824</c:v>
                </c:pt>
                <c:pt idx="6">
                  <c:v>10.637996477658824</c:v>
                </c:pt>
                <c:pt idx="7">
                  <c:v>10.637996477658824</c:v>
                </c:pt>
                <c:pt idx="8">
                  <c:v>10.637996477658824</c:v>
                </c:pt>
                <c:pt idx="9">
                  <c:v>10.637996477658824</c:v>
                </c:pt>
                <c:pt idx="10">
                  <c:v>10.637996477658824</c:v>
                </c:pt>
                <c:pt idx="11">
                  <c:v>10.637996477658824</c:v>
                </c:pt>
                <c:pt idx="12">
                  <c:v>10.637996477658824</c:v>
                </c:pt>
                <c:pt idx="13">
                  <c:v>10.637996477658824</c:v>
                </c:pt>
                <c:pt idx="14">
                  <c:v>10.637996477658824</c:v>
                </c:pt>
                <c:pt idx="15">
                  <c:v>10.637996477658824</c:v>
                </c:pt>
                <c:pt idx="16">
                  <c:v>10.637996477658824</c:v>
                </c:pt>
                <c:pt idx="17">
                  <c:v>10.637996477658824</c:v>
                </c:pt>
                <c:pt idx="18">
                  <c:v>10.637996477658824</c:v>
                </c:pt>
                <c:pt idx="19">
                  <c:v>10.637996477658824</c:v>
                </c:pt>
                <c:pt idx="20">
                  <c:v>10.637996477658824</c:v>
                </c:pt>
                <c:pt idx="21">
                  <c:v>10.637996477658824</c:v>
                </c:pt>
                <c:pt idx="22">
                  <c:v>10.637996477658824</c:v>
                </c:pt>
                <c:pt idx="23">
                  <c:v>10.637996477658824</c:v>
                </c:pt>
                <c:pt idx="24">
                  <c:v>10.637996477658824</c:v>
                </c:pt>
                <c:pt idx="25">
                  <c:v>10.637996477658824</c:v>
                </c:pt>
                <c:pt idx="26">
                  <c:v>10.637996477658824</c:v>
                </c:pt>
                <c:pt idx="27">
                  <c:v>10.637996477658824</c:v>
                </c:pt>
                <c:pt idx="28">
                  <c:v>10.637996477658824</c:v>
                </c:pt>
                <c:pt idx="29">
                  <c:v>10.637996477658824</c:v>
                </c:pt>
                <c:pt idx="30">
                  <c:v>10.637996477658824</c:v>
                </c:pt>
                <c:pt idx="31">
                  <c:v>10.637996477658824</c:v>
                </c:pt>
                <c:pt idx="32">
                  <c:v>10.637996477658824</c:v>
                </c:pt>
                <c:pt idx="33">
                  <c:v>10.637996477658824</c:v>
                </c:pt>
                <c:pt idx="34">
                  <c:v>10.637996477658824</c:v>
                </c:pt>
                <c:pt idx="35">
                  <c:v>10.637996477658824</c:v>
                </c:pt>
                <c:pt idx="36">
                  <c:v>10.637996477658824</c:v>
                </c:pt>
                <c:pt idx="37">
                  <c:v>10.637996477658824</c:v>
                </c:pt>
                <c:pt idx="38">
                  <c:v>10.637996477658824</c:v>
                </c:pt>
                <c:pt idx="39">
                  <c:v>10.637996477658824</c:v>
                </c:pt>
                <c:pt idx="40">
                  <c:v>10.637996477658824</c:v>
                </c:pt>
                <c:pt idx="41">
                  <c:v>10.637996477658824</c:v>
                </c:pt>
                <c:pt idx="42">
                  <c:v>10.637996477658824</c:v>
                </c:pt>
                <c:pt idx="43">
                  <c:v>10.637996477658824</c:v>
                </c:pt>
              </c:numCache>
            </c:numRef>
          </c:yVal>
          <c:smooth val="0"/>
          <c:extLst>
            <c:ext xmlns:c16="http://schemas.microsoft.com/office/drawing/2014/chart" uri="{C3380CC4-5D6E-409C-BE32-E72D297353CC}">
              <c16:uniqueId val="{00000001-9232-4B95-92ED-4280A76CC608}"/>
            </c:ext>
          </c:extLst>
        </c:ser>
        <c:dLbls>
          <c:showLegendKey val="0"/>
          <c:showVal val="0"/>
          <c:showCatName val="0"/>
          <c:showSerName val="0"/>
          <c:showPercent val="0"/>
          <c:showBubbleSize val="0"/>
        </c:dLbls>
        <c:axId val="356394288"/>
        <c:axId val="163934304"/>
      </c:scatterChart>
      <c:valAx>
        <c:axId val="356394288"/>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63934304"/>
        <c:crosses val="autoZero"/>
        <c:crossBetween val="midCat"/>
      </c:valAx>
      <c:valAx>
        <c:axId val="163934304"/>
        <c:scaling>
          <c:orientation val="minMax"/>
          <c:max val="8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kg CO2/m3 from transport</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35639428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fr-FR" sz="1400" b="1" i="0" baseline="0" dirty="0">
                <a:effectLst/>
              </a:rPr>
              <a:t>Gross CO2 </a:t>
            </a:r>
            <a:r>
              <a:rPr lang="fr-FR" sz="1400" b="1" i="0" baseline="0" dirty="0" err="1">
                <a:effectLst/>
              </a:rPr>
              <a:t>emissions</a:t>
            </a:r>
            <a:r>
              <a:rPr lang="fr-FR" sz="1400" b="1" i="0" baseline="0" dirty="0">
                <a:effectLst/>
              </a:rPr>
              <a:t> </a:t>
            </a:r>
            <a:r>
              <a:rPr lang="fr-FR" sz="1400" b="1" i="0" baseline="0" dirty="0" err="1">
                <a:effectLst/>
              </a:rPr>
              <a:t>from</a:t>
            </a:r>
            <a:r>
              <a:rPr lang="fr-FR" sz="1400" b="1" i="0" baseline="0" dirty="0">
                <a:effectLst/>
              </a:rPr>
              <a:t> transport</a:t>
            </a:r>
            <a:endParaRPr lang="fr-FR" sz="1200" dirty="0">
              <a:effectLst/>
            </a:endParaRPr>
          </a:p>
          <a:p>
            <a:pPr marL="0" marR="0" lvl="0" indent="0" algn="ctr" defTabSz="914400" rtl="0" eaLnBrk="1" fontAlgn="auto" latinLnBrk="0" hangingPunct="1">
              <a:lnSpc>
                <a:spcPct val="100000"/>
              </a:lnSpc>
              <a:spcBef>
                <a:spcPts val="0"/>
              </a:spcBef>
              <a:spcAft>
                <a:spcPts val="0"/>
              </a:spcAft>
              <a:buClrTx/>
              <a:buSzTx/>
              <a:buFontTx/>
              <a:buNone/>
              <a:tabLst/>
              <a:defRPr>
                <a:solidFill>
                  <a:sysClr val="windowText" lastClr="000000">
                    <a:lumMod val="65000"/>
                    <a:lumOff val="35000"/>
                  </a:sysClr>
                </a:solidFill>
              </a:defRPr>
            </a:pPr>
            <a:r>
              <a:rPr lang="fr-FR" sz="1100" b="0" i="0" baseline="0" dirty="0">
                <a:effectLst/>
              </a:rPr>
              <a:t>70% of GNR pilot </a:t>
            </a:r>
            <a:r>
              <a:rPr lang="fr-FR" sz="1100" b="0" i="0" baseline="0" dirty="0" err="1">
                <a:effectLst/>
              </a:rPr>
              <a:t>sample</a:t>
            </a:r>
            <a:r>
              <a:rPr lang="fr-FR" sz="1100" b="0" i="0" baseline="0" dirty="0">
                <a:effectLst/>
              </a:rPr>
              <a:t> - Europe (</a:t>
            </a:r>
            <a:r>
              <a:rPr lang="fr-FR" sz="1100" b="0" i="0" baseline="0" dirty="0" err="1">
                <a:effectLst/>
              </a:rPr>
              <a:t>coverage</a:t>
            </a:r>
            <a:r>
              <a:rPr lang="fr-FR" sz="1100" b="0" i="0" baseline="0" dirty="0">
                <a:effectLst/>
              </a:rPr>
              <a:t>: 25M m</a:t>
            </a:r>
            <a:r>
              <a:rPr lang="fr-FR" sz="1100" b="0" i="0" baseline="30000" dirty="0">
                <a:effectLst/>
              </a:rPr>
              <a:t>3 </a:t>
            </a:r>
            <a:r>
              <a:rPr lang="fr-FR" sz="1100" b="0" i="0" baseline="0" dirty="0">
                <a:effectLst/>
              </a:rPr>
              <a:t>in 2019) </a:t>
            </a:r>
            <a:endParaRPr lang="fr-FR" sz="1100" dirty="0">
              <a:effectLst/>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Europe'!$H$309:$H$331</c:f>
              <c:numCache>
                <c:formatCode>0.00%</c:formatCode>
                <c:ptCount val="23"/>
                <c:pt idx="0">
                  <c:v>0.10415071467547632</c:v>
                </c:pt>
                <c:pt idx="1">
                  <c:v>0.12020842234982557</c:v>
                </c:pt>
                <c:pt idx="2">
                  <c:v>0.14972367753511151</c:v>
                </c:pt>
                <c:pt idx="3">
                  <c:v>0.18263292054622679</c:v>
                </c:pt>
                <c:pt idx="4">
                  <c:v>0.18467208765838558</c:v>
                </c:pt>
                <c:pt idx="5">
                  <c:v>0.3211487302084084</c:v>
                </c:pt>
                <c:pt idx="6">
                  <c:v>0.35043311751421319</c:v>
                </c:pt>
                <c:pt idx="7">
                  <c:v>0.40086657317218022</c:v>
                </c:pt>
                <c:pt idx="8">
                  <c:v>0.40711478354412756</c:v>
                </c:pt>
                <c:pt idx="9">
                  <c:v>0.43100573128057118</c:v>
                </c:pt>
                <c:pt idx="10">
                  <c:v>0.4781166974719373</c:v>
                </c:pt>
                <c:pt idx="11">
                  <c:v>0.50964506656099595</c:v>
                </c:pt>
                <c:pt idx="12">
                  <c:v>0.53400955164377306</c:v>
                </c:pt>
                <c:pt idx="13">
                  <c:v>0.53931720691086893</c:v>
                </c:pt>
                <c:pt idx="14">
                  <c:v>0.59242171606606508</c:v>
                </c:pt>
                <c:pt idx="15">
                  <c:v>0.69571447996370339</c:v>
                </c:pt>
                <c:pt idx="16">
                  <c:v>0.69631307997378789</c:v>
                </c:pt>
                <c:pt idx="17">
                  <c:v>0.77408558465090338</c:v>
                </c:pt>
                <c:pt idx="18">
                  <c:v>0.77891361360549882</c:v>
                </c:pt>
                <c:pt idx="19">
                  <c:v>0.78310612841711236</c:v>
                </c:pt>
                <c:pt idx="20">
                  <c:v>0.79551477458055631</c:v>
                </c:pt>
                <c:pt idx="21">
                  <c:v>0.85968857484829719</c:v>
                </c:pt>
                <c:pt idx="22" formatCode="0%">
                  <c:v>1</c:v>
                </c:pt>
              </c:numCache>
            </c:numRef>
          </c:xVal>
          <c:yVal>
            <c:numRef>
              <c:f>'Graphics - Europe'!$D$309:$D$331</c:f>
              <c:numCache>
                <c:formatCode>0.00</c:formatCode>
                <c:ptCount val="23"/>
                <c:pt idx="0" formatCode="0">
                  <c:v>0.96061839730940646</c:v>
                </c:pt>
                <c:pt idx="1">
                  <c:v>1.3731099492873522</c:v>
                </c:pt>
                <c:pt idx="2">
                  <c:v>1.4224977810369146</c:v>
                </c:pt>
                <c:pt idx="3">
                  <c:v>2.1666355378203677</c:v>
                </c:pt>
                <c:pt idx="4">
                  <c:v>2.2276198268608627</c:v>
                </c:pt>
                <c:pt idx="5">
                  <c:v>2.3026981340607739</c:v>
                </c:pt>
                <c:pt idx="6">
                  <c:v>2.6612659001932246</c:v>
                </c:pt>
                <c:pt idx="7">
                  <c:v>2.9920910894721739</c:v>
                </c:pt>
                <c:pt idx="8">
                  <c:v>3.1352647532988058</c:v>
                </c:pt>
                <c:pt idx="9">
                  <c:v>3.3236764079740948</c:v>
                </c:pt>
                <c:pt idx="10">
                  <c:v>3.5366677451718722</c:v>
                </c:pt>
                <c:pt idx="11">
                  <c:v>3.7534581904325042</c:v>
                </c:pt>
                <c:pt idx="12">
                  <c:v>4.4643258820457303</c:v>
                </c:pt>
                <c:pt idx="13">
                  <c:v>4.8074330500480382</c:v>
                </c:pt>
                <c:pt idx="14">
                  <c:v>5.0311019462635134</c:v>
                </c:pt>
                <c:pt idx="15">
                  <c:v>5.192863297683612</c:v>
                </c:pt>
                <c:pt idx="16">
                  <c:v>8.3290118236582611</c:v>
                </c:pt>
                <c:pt idx="17">
                  <c:v>8.6927411948332356</c:v>
                </c:pt>
                <c:pt idx="18" formatCode="0.0">
                  <c:v>10.198460611972319</c:v>
                </c:pt>
                <c:pt idx="19" formatCode="0.0">
                  <c:v>10.199677517105652</c:v>
                </c:pt>
                <c:pt idx="20">
                  <c:v>10.928067180529686</c:v>
                </c:pt>
                <c:pt idx="21">
                  <c:v>13.03325232746457</c:v>
                </c:pt>
                <c:pt idx="22" formatCode="0">
                  <c:v>37.001103529536699</c:v>
                </c:pt>
              </c:numCache>
            </c:numRef>
          </c:yVal>
          <c:smooth val="0"/>
          <c:extLst>
            <c:ext xmlns:c16="http://schemas.microsoft.com/office/drawing/2014/chart" uri="{C3380CC4-5D6E-409C-BE32-E72D297353CC}">
              <c16:uniqueId val="{00000000-DEF2-48E9-BDB7-CD9B5BE2DC18}"/>
            </c:ext>
          </c:extLst>
        </c:ser>
        <c:ser>
          <c:idx val="1"/>
          <c:order val="1"/>
          <c:tx>
            <c:strRef>
              <c:f>'Graphics - Europe'!$G$306</c:f>
              <c:strCache>
                <c:ptCount val="1"/>
                <c:pt idx="0">
                  <c:v>Weighted average</c:v>
                </c:pt>
              </c:strCache>
            </c:strRef>
          </c:tx>
          <c:spPr>
            <a:ln w="19050" cap="rnd">
              <a:solidFill>
                <a:schemeClr val="accent2"/>
              </a:solidFill>
              <a:round/>
            </a:ln>
            <a:effectLst/>
          </c:spPr>
          <c:marker>
            <c:symbol val="none"/>
          </c:marker>
          <c:xVal>
            <c:numRef>
              <c:f>'Graphics - Europe'!$F$308:$F$332</c:f>
              <c:numCache>
                <c:formatCode>_-* #,##0\ _€_-;\-* #,##0\ _€_-;_-* "-"??\ _€_-;_-@_-</c:formatCode>
                <c:ptCount val="25"/>
                <c:pt idx="0" formatCode="General">
                  <c:v>0</c:v>
                </c:pt>
                <c:pt idx="1">
                  <c:v>2609683.5</c:v>
                </c:pt>
                <c:pt idx="2">
                  <c:v>3012038.25</c:v>
                </c:pt>
                <c:pt idx="3">
                  <c:v>3751596.06</c:v>
                </c:pt>
                <c:pt idx="4">
                  <c:v>4576196.34</c:v>
                </c:pt>
                <c:pt idx="5">
                  <c:v>4627291.34</c:v>
                </c:pt>
                <c:pt idx="6">
                  <c:v>8046959.1100000003</c:v>
                </c:pt>
                <c:pt idx="7">
                  <c:v>8780732.1099999994</c:v>
                </c:pt>
                <c:pt idx="8">
                  <c:v>10044433.059999999</c:v>
                </c:pt>
                <c:pt idx="9">
                  <c:v>10200993.209999999</c:v>
                </c:pt>
                <c:pt idx="10">
                  <c:v>10799623.879999999</c:v>
                </c:pt>
                <c:pt idx="11">
                  <c:v>11980073.879999999</c:v>
                </c:pt>
                <c:pt idx="12">
                  <c:v>12770073.879999999</c:v>
                </c:pt>
                <c:pt idx="13">
                  <c:v>13380569.879999999</c:v>
                </c:pt>
                <c:pt idx="14">
                  <c:v>13513562.729999999</c:v>
                </c:pt>
                <c:pt idx="15">
                  <c:v>14844191.729999999</c:v>
                </c:pt>
                <c:pt idx="16">
                  <c:v>17432377.729999997</c:v>
                </c:pt>
                <c:pt idx="17">
                  <c:v>17447376.729999997</c:v>
                </c:pt>
                <c:pt idx="18">
                  <c:v>19396106.729999997</c:v>
                </c:pt>
                <c:pt idx="19">
                  <c:v>19517081.679999996</c:v>
                </c:pt>
                <c:pt idx="20">
                  <c:v>19622132.679999996</c:v>
                </c:pt>
                <c:pt idx="21">
                  <c:v>19933053.629999995</c:v>
                </c:pt>
                <c:pt idx="22">
                  <c:v>21541043.629999995</c:v>
                </c:pt>
                <c:pt idx="23">
                  <c:v>25056798.775999997</c:v>
                </c:pt>
                <c:pt idx="24">
                  <c:v>30000000</c:v>
                </c:pt>
              </c:numCache>
            </c:numRef>
          </c:xVal>
          <c:yVal>
            <c:numRef>
              <c:f>'Graphics - Europe'!$G$308:$G$332</c:f>
              <c:numCache>
                <c:formatCode>0.0</c:formatCode>
                <c:ptCount val="25"/>
                <c:pt idx="0">
                  <c:v>8.900493074165853</c:v>
                </c:pt>
                <c:pt idx="1">
                  <c:v>8.900493074165853</c:v>
                </c:pt>
                <c:pt idx="2">
                  <c:v>8.900493074165853</c:v>
                </c:pt>
                <c:pt idx="3">
                  <c:v>8.900493074165853</c:v>
                </c:pt>
                <c:pt idx="4">
                  <c:v>8.900493074165853</c:v>
                </c:pt>
                <c:pt idx="5">
                  <c:v>8.900493074165853</c:v>
                </c:pt>
                <c:pt idx="6">
                  <c:v>8.900493074165853</c:v>
                </c:pt>
                <c:pt idx="7">
                  <c:v>8.900493074165853</c:v>
                </c:pt>
                <c:pt idx="8">
                  <c:v>8.900493074165853</c:v>
                </c:pt>
                <c:pt idx="9">
                  <c:v>8.900493074165853</c:v>
                </c:pt>
                <c:pt idx="10">
                  <c:v>8.900493074165853</c:v>
                </c:pt>
                <c:pt idx="11">
                  <c:v>8.900493074165853</c:v>
                </c:pt>
                <c:pt idx="12">
                  <c:v>8.900493074165853</c:v>
                </c:pt>
                <c:pt idx="13">
                  <c:v>8.900493074165853</c:v>
                </c:pt>
                <c:pt idx="14">
                  <c:v>8.900493074165853</c:v>
                </c:pt>
                <c:pt idx="15">
                  <c:v>8.900493074165853</c:v>
                </c:pt>
                <c:pt idx="16">
                  <c:v>8.900493074165853</c:v>
                </c:pt>
                <c:pt idx="17">
                  <c:v>8.900493074165853</c:v>
                </c:pt>
                <c:pt idx="18">
                  <c:v>8.900493074165853</c:v>
                </c:pt>
                <c:pt idx="19">
                  <c:v>8.900493074165853</c:v>
                </c:pt>
                <c:pt idx="20">
                  <c:v>8.900493074165853</c:v>
                </c:pt>
                <c:pt idx="21">
                  <c:v>8.900493074165853</c:v>
                </c:pt>
                <c:pt idx="22">
                  <c:v>8.900493074165853</c:v>
                </c:pt>
                <c:pt idx="23">
                  <c:v>8.900493074165853</c:v>
                </c:pt>
                <c:pt idx="24">
                  <c:v>8.900493074165853</c:v>
                </c:pt>
              </c:numCache>
            </c:numRef>
          </c:yVal>
          <c:smooth val="0"/>
          <c:extLst>
            <c:ext xmlns:c16="http://schemas.microsoft.com/office/drawing/2014/chart" uri="{C3380CC4-5D6E-409C-BE32-E72D297353CC}">
              <c16:uniqueId val="{00000001-DEF2-48E9-BDB7-CD9B5BE2DC18}"/>
            </c:ext>
          </c:extLst>
        </c:ser>
        <c:dLbls>
          <c:showLegendKey val="0"/>
          <c:showVal val="0"/>
          <c:showCatName val="0"/>
          <c:showSerName val="0"/>
          <c:showPercent val="0"/>
          <c:showBubbleSize val="0"/>
        </c:dLbls>
        <c:axId val="1849357824"/>
        <c:axId val="673405280"/>
      </c:scatterChart>
      <c:valAx>
        <c:axId val="1849357824"/>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673405280"/>
        <c:crosses val="autoZero"/>
        <c:crossBetween val="midCat"/>
      </c:valAx>
      <c:valAx>
        <c:axId val="67340528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kg CO2/m3 from transport</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84935782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a:effectLst/>
              </a:rPr>
              <a:t>Gross CO2 </a:t>
            </a:r>
            <a:r>
              <a:rPr lang="fr-FR" sz="1400" b="1" i="0" baseline="0" dirty="0" err="1">
                <a:effectLst/>
              </a:rPr>
              <a:t>emissions</a:t>
            </a:r>
            <a:r>
              <a:rPr lang="fr-FR" sz="1400" b="1" i="0" baseline="0" dirty="0">
                <a:effectLst/>
              </a:rPr>
              <a:t> </a:t>
            </a:r>
            <a:r>
              <a:rPr lang="fr-FR" sz="1400" b="1" i="0" baseline="0" dirty="0" err="1">
                <a:effectLst/>
              </a:rPr>
              <a:t>from</a:t>
            </a:r>
            <a:r>
              <a:rPr lang="fr-FR" sz="1400" b="1" i="0" baseline="0" dirty="0">
                <a:effectLst/>
              </a:rPr>
              <a:t> transport</a:t>
            </a:r>
            <a:endParaRPr lang="fr-FR" sz="1400" dirty="0">
              <a:effectLst/>
            </a:endParaRPr>
          </a:p>
          <a:p>
            <a:pPr>
              <a:defRPr/>
            </a:pPr>
            <a:r>
              <a:rPr lang="fr-FR" sz="1100" b="0" i="0" baseline="0" dirty="0">
                <a:effectLst/>
              </a:rPr>
              <a:t>100% of GNR pilot </a:t>
            </a:r>
            <a:r>
              <a:rPr lang="fr-FR" sz="1100" b="0" i="0" baseline="0" dirty="0" err="1">
                <a:effectLst/>
              </a:rPr>
              <a:t>sample</a:t>
            </a:r>
            <a:r>
              <a:rPr lang="fr-FR" sz="1100" b="0" i="0" baseline="0" dirty="0">
                <a:effectLst/>
              </a:rPr>
              <a:t> - Europe (</a:t>
            </a:r>
            <a:r>
              <a:rPr lang="fr-FR" sz="1100" b="0" i="0" baseline="0" dirty="0" err="1">
                <a:effectLst/>
              </a:rPr>
              <a:t>coverage</a:t>
            </a:r>
            <a:r>
              <a:rPr lang="fr-FR" sz="1100" b="0" i="0" baseline="0" dirty="0">
                <a:effectLst/>
              </a:rPr>
              <a:t>: 25M m</a:t>
            </a:r>
            <a:r>
              <a:rPr lang="fr-FR" sz="1100" b="0" i="0" baseline="30000" dirty="0">
                <a:effectLst/>
              </a:rPr>
              <a:t>3 </a:t>
            </a:r>
            <a:r>
              <a:rPr lang="fr-FR" sz="1100" b="0" i="0" baseline="0" dirty="0">
                <a:effectLst/>
              </a:rPr>
              <a:t>in 2019) </a:t>
            </a:r>
            <a:endParaRPr lang="fr-FR" sz="9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North America'!$H$170:$H$178</c:f>
              <c:numCache>
                <c:formatCode>0.00%</c:formatCode>
                <c:ptCount val="9"/>
                <c:pt idx="0">
                  <c:v>9.8629342760337371E-2</c:v>
                </c:pt>
                <c:pt idx="1">
                  <c:v>0.12577772271259285</c:v>
                </c:pt>
                <c:pt idx="2">
                  <c:v>0.30322620759356311</c:v>
                </c:pt>
                <c:pt idx="3">
                  <c:v>0.39005615603832972</c:v>
                </c:pt>
                <c:pt idx="4">
                  <c:v>0.41323970727938181</c:v>
                </c:pt>
                <c:pt idx="5">
                  <c:v>0.5290388103600927</c:v>
                </c:pt>
                <c:pt idx="6">
                  <c:v>0.55706962515699099</c:v>
                </c:pt>
                <c:pt idx="7">
                  <c:v>0.96727701987158488</c:v>
                </c:pt>
                <c:pt idx="8" formatCode="0%">
                  <c:v>1</c:v>
                </c:pt>
              </c:numCache>
            </c:numRef>
          </c:xVal>
          <c:yVal>
            <c:numRef>
              <c:f>'Graphics - North America'!$D$170:$D$178</c:f>
              <c:numCache>
                <c:formatCode>0.0</c:formatCode>
                <c:ptCount val="9"/>
                <c:pt idx="0">
                  <c:v>3.4962426425000701</c:v>
                </c:pt>
                <c:pt idx="1">
                  <c:v>4.3139710010837966</c:v>
                </c:pt>
                <c:pt idx="2" formatCode="0.00">
                  <c:v>6.2078018995929449</c:v>
                </c:pt>
                <c:pt idx="3">
                  <c:v>6.75</c:v>
                </c:pt>
                <c:pt idx="4">
                  <c:v>9.7367574501625995</c:v>
                </c:pt>
                <c:pt idx="5" formatCode="0.00">
                  <c:v>10.321541706302909</c:v>
                </c:pt>
                <c:pt idx="6">
                  <c:v>11.575327595804055</c:v>
                </c:pt>
                <c:pt idx="7" formatCode="0.00">
                  <c:v>16.489811794115241</c:v>
                </c:pt>
                <c:pt idx="8" formatCode="0.00">
                  <c:v>24.332375716410883</c:v>
                </c:pt>
              </c:numCache>
            </c:numRef>
          </c:yVal>
          <c:smooth val="0"/>
          <c:extLst>
            <c:ext xmlns:c16="http://schemas.microsoft.com/office/drawing/2014/chart" uri="{C3380CC4-5D6E-409C-BE32-E72D297353CC}">
              <c16:uniqueId val="{00000000-68DD-4B88-977F-EFE8FA7F5AB0}"/>
            </c:ext>
          </c:extLst>
        </c:ser>
        <c:ser>
          <c:idx val="1"/>
          <c:order val="1"/>
          <c:tx>
            <c:strRef>
              <c:f>'Graphics - North America'!$G$167</c:f>
              <c:strCache>
                <c:ptCount val="1"/>
                <c:pt idx="0">
                  <c:v>Weighted average</c:v>
                </c:pt>
              </c:strCache>
            </c:strRef>
          </c:tx>
          <c:spPr>
            <a:ln w="19050" cap="rnd">
              <a:solidFill>
                <a:schemeClr val="accent2"/>
              </a:solidFill>
              <a:round/>
            </a:ln>
            <a:effectLst/>
          </c:spPr>
          <c:marker>
            <c:symbol val="none"/>
          </c:marker>
          <c:xVal>
            <c:numRef>
              <c:f>'Graphics - North America'!$F$169:$F$179</c:f>
              <c:numCache>
                <c:formatCode>_-* #,##0\ _€_-;\-* #,##0\ _€_-;_-* "-"??\ _€_-;_-@_-</c:formatCode>
                <c:ptCount val="11"/>
                <c:pt idx="0" formatCode="General">
                  <c:v>0</c:v>
                </c:pt>
                <c:pt idx="1">
                  <c:v>2498959.8400000003</c:v>
                </c:pt>
                <c:pt idx="2">
                  <c:v>3186815.0900000003</c:v>
                </c:pt>
                <c:pt idx="3">
                  <c:v>7682806.0899999999</c:v>
                </c:pt>
                <c:pt idx="4">
                  <c:v>9882806.0899999999</c:v>
                </c:pt>
                <c:pt idx="5">
                  <c:v>10470204.949999999</c:v>
                </c:pt>
                <c:pt idx="6">
                  <c:v>13404192.949999999</c:v>
                </c:pt>
                <c:pt idx="7">
                  <c:v>14114406.3459276</c:v>
                </c:pt>
                <c:pt idx="8">
                  <c:v>24507781.955797598</c:v>
                </c:pt>
                <c:pt idx="9">
                  <c:v>25336880.182526447</c:v>
                </c:pt>
                <c:pt idx="10">
                  <c:v>30000000</c:v>
                </c:pt>
              </c:numCache>
            </c:numRef>
          </c:xVal>
          <c:yVal>
            <c:numRef>
              <c:f>'Graphics - North America'!$G$169:$G$179</c:f>
              <c:numCache>
                <c:formatCode>0.0</c:formatCode>
                <c:ptCount val="11"/>
                <c:pt idx="0">
                  <c:v>13.237558001339941</c:v>
                </c:pt>
                <c:pt idx="1">
                  <c:v>13.237558001339941</c:v>
                </c:pt>
                <c:pt idx="2">
                  <c:v>13.237558001339941</c:v>
                </c:pt>
                <c:pt idx="3">
                  <c:v>13.237558001339941</c:v>
                </c:pt>
                <c:pt idx="4">
                  <c:v>13.237558001339941</c:v>
                </c:pt>
                <c:pt idx="5">
                  <c:v>13.237558001339941</c:v>
                </c:pt>
                <c:pt idx="6">
                  <c:v>13.237558001339941</c:v>
                </c:pt>
                <c:pt idx="7">
                  <c:v>13.237558001339941</c:v>
                </c:pt>
                <c:pt idx="8">
                  <c:v>13.237558001339941</c:v>
                </c:pt>
                <c:pt idx="9">
                  <c:v>13.237558001339941</c:v>
                </c:pt>
                <c:pt idx="10">
                  <c:v>13.237558001339941</c:v>
                </c:pt>
              </c:numCache>
            </c:numRef>
          </c:yVal>
          <c:smooth val="0"/>
          <c:extLst>
            <c:ext xmlns:c16="http://schemas.microsoft.com/office/drawing/2014/chart" uri="{C3380CC4-5D6E-409C-BE32-E72D297353CC}">
              <c16:uniqueId val="{00000001-68DD-4B88-977F-EFE8FA7F5AB0}"/>
            </c:ext>
          </c:extLst>
        </c:ser>
        <c:dLbls>
          <c:showLegendKey val="0"/>
          <c:showVal val="0"/>
          <c:showCatName val="0"/>
          <c:showSerName val="0"/>
          <c:showPercent val="0"/>
          <c:showBubbleSize val="0"/>
        </c:dLbls>
        <c:axId val="1166237727"/>
        <c:axId val="1206252607"/>
      </c:scatterChart>
      <c:valAx>
        <c:axId val="1166237727"/>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206252607"/>
        <c:crosses val="autoZero"/>
        <c:crossBetween val="midCat"/>
      </c:valAx>
      <c:valAx>
        <c:axId val="120625260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kg CO2/m3 from transport</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166237727"/>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1" i="0" u="none" strike="noStrike" kern="1200" spc="0" baseline="0">
                <a:solidFill>
                  <a:sysClr val="windowText" lastClr="000000">
                    <a:lumMod val="65000"/>
                    <a:lumOff val="35000"/>
                  </a:sysClr>
                </a:solidFill>
                <a:latin typeface="+mn-lt"/>
                <a:ea typeface="+mn-ea"/>
                <a:cs typeface="+mn-cs"/>
              </a:defRPr>
            </a:pPr>
            <a:r>
              <a:rPr lang="fr-FR" sz="1400" b="1" dirty="0" err="1"/>
              <a:t>Wasted</a:t>
            </a:r>
            <a:r>
              <a:rPr lang="fr-FR" sz="1400" b="1" dirty="0"/>
              <a:t> </a:t>
            </a:r>
            <a:r>
              <a:rPr lang="fr-FR" sz="1400" b="1" dirty="0" err="1"/>
              <a:t>concrete</a:t>
            </a:r>
            <a:endParaRPr lang="fr-FR" sz="1400" b="1" dirty="0"/>
          </a:p>
          <a:p>
            <a:pPr marL="0" marR="0" lvl="0" indent="0" algn="ctr" defTabSz="914400" rtl="0" eaLnBrk="1" fontAlgn="auto" latinLnBrk="0" hangingPunct="1">
              <a:lnSpc>
                <a:spcPct val="100000"/>
              </a:lnSpc>
              <a:spcBef>
                <a:spcPts val="0"/>
              </a:spcBef>
              <a:spcAft>
                <a:spcPts val="0"/>
              </a:spcAft>
              <a:buClrTx/>
              <a:buSzTx/>
              <a:buFontTx/>
              <a:buNone/>
              <a:tabLst/>
              <a:defRPr sz="1600" b="1">
                <a:solidFill>
                  <a:sysClr val="windowText" lastClr="000000">
                    <a:lumMod val="65000"/>
                    <a:lumOff val="35000"/>
                  </a:sysClr>
                </a:solidFill>
              </a:defRPr>
            </a:pPr>
            <a:r>
              <a:rPr lang="fr-FR" sz="1100" b="0" i="0" baseline="0" dirty="0">
                <a:effectLst/>
              </a:rPr>
              <a:t>56% of GNR pilot </a:t>
            </a:r>
            <a:r>
              <a:rPr lang="fr-FR" sz="1100" b="0" i="0" baseline="0" dirty="0" err="1">
                <a:effectLst/>
              </a:rPr>
              <a:t>sample</a:t>
            </a:r>
            <a:r>
              <a:rPr lang="fr-FR" sz="1100" b="0" i="0" baseline="0" dirty="0">
                <a:effectLst/>
              </a:rPr>
              <a:t> – World (</a:t>
            </a:r>
            <a:r>
              <a:rPr lang="fr-FR" sz="1100" b="0" i="0" baseline="0" dirty="0" err="1">
                <a:effectLst/>
              </a:rPr>
              <a:t>coverage</a:t>
            </a:r>
            <a:r>
              <a:rPr lang="fr-FR" sz="1100" b="0" i="0" baseline="0" dirty="0">
                <a:effectLst/>
              </a:rPr>
              <a:t>: 42M m</a:t>
            </a:r>
            <a:r>
              <a:rPr lang="fr-FR" sz="1100" b="0" i="0" baseline="30000" dirty="0">
                <a:effectLst/>
              </a:rPr>
              <a:t>3</a:t>
            </a:r>
            <a:r>
              <a:rPr lang="fr-FR" sz="1100" b="0" i="0" baseline="0" dirty="0">
                <a:effectLst/>
              </a:rPr>
              <a:t> in 2019) </a:t>
            </a:r>
            <a:endParaRPr lang="fr-FR" sz="1100" dirty="0">
              <a:effectLst/>
            </a:endParaRPr>
          </a:p>
        </c:rich>
      </c:tx>
      <c:layout>
        <c:manualLayout>
          <c:xMode val="edge"/>
          <c:yMode val="edge"/>
          <c:x val="0.12892268842268842"/>
          <c:y val="2.2517730496453902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1" i="0" u="none" strike="noStrike" kern="1200" spc="0" baseline="0">
              <a:solidFill>
                <a:sysClr val="windowText" lastClr="000000">
                  <a:lumMod val="65000"/>
                  <a:lumOff val="35000"/>
                </a:sys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World level'!$H$525:$H$550</c:f>
              <c:numCache>
                <c:formatCode>0.00%</c:formatCode>
                <c:ptCount val="26"/>
                <c:pt idx="0">
                  <c:v>9.8306480559964514E-3</c:v>
                </c:pt>
                <c:pt idx="1">
                  <c:v>6.1538999911615877E-2</c:v>
                </c:pt>
                <c:pt idx="2">
                  <c:v>0.17687555520024956</c:v>
                </c:pt>
                <c:pt idx="3">
                  <c:v>0.18059806782376756</c:v>
                </c:pt>
                <c:pt idx="4">
                  <c:v>0.18799079937960225</c:v>
                </c:pt>
                <c:pt idx="5">
                  <c:v>0.20557518010194012</c:v>
                </c:pt>
                <c:pt idx="6">
                  <c:v>0.23364260355824001</c:v>
                </c:pt>
                <c:pt idx="7">
                  <c:v>0.31764455367416888</c:v>
                </c:pt>
                <c:pt idx="8">
                  <c:v>0.33744565073469496</c:v>
                </c:pt>
                <c:pt idx="9">
                  <c:v>0.49535445639975029</c:v>
                </c:pt>
                <c:pt idx="10">
                  <c:v>0.51170951131811959</c:v>
                </c:pt>
                <c:pt idx="11">
                  <c:v>0.61861017060289503</c:v>
                </c:pt>
                <c:pt idx="12">
                  <c:v>0.62110795610969982</c:v>
                </c:pt>
                <c:pt idx="13">
                  <c:v>0.68315809959855478</c:v>
                </c:pt>
                <c:pt idx="14">
                  <c:v>0.76446714562375762</c:v>
                </c:pt>
                <c:pt idx="15">
                  <c:v>0.77403388809307327</c:v>
                </c:pt>
                <c:pt idx="16">
                  <c:v>0.80408075978249538</c:v>
                </c:pt>
                <c:pt idx="17">
                  <c:v>0.82368718550230013</c:v>
                </c:pt>
                <c:pt idx="18">
                  <c:v>0.82684934115278108</c:v>
                </c:pt>
                <c:pt idx="19">
                  <c:v>0.88626682095249087</c:v>
                </c:pt>
                <c:pt idx="20">
                  <c:v>0.89754745476361086</c:v>
                </c:pt>
                <c:pt idx="21">
                  <c:v>0.90996615726889329</c:v>
                </c:pt>
                <c:pt idx="22">
                  <c:v>0.9622753034452326</c:v>
                </c:pt>
                <c:pt idx="23">
                  <c:v>0.97624181836866675</c:v>
                </c:pt>
                <c:pt idx="24">
                  <c:v>0.98311333802546763</c:v>
                </c:pt>
                <c:pt idx="25" formatCode="0%">
                  <c:v>1</c:v>
                </c:pt>
              </c:numCache>
            </c:numRef>
          </c:xVal>
          <c:yVal>
            <c:numRef>
              <c:f>'Graphics - World level'!$D$526:$D$550</c:f>
              <c:numCache>
                <c:formatCode>0%</c:formatCode>
                <c:ptCount val="25"/>
                <c:pt idx="0">
                  <c:v>0</c:v>
                </c:pt>
                <c:pt idx="1">
                  <c:v>0</c:v>
                </c:pt>
                <c:pt idx="2" formatCode="0.00%">
                  <c:v>1.5968303556173138E-4</c:v>
                </c:pt>
                <c:pt idx="3" formatCode="0.00%">
                  <c:v>4.2922807228010847E-4</c:v>
                </c:pt>
                <c:pt idx="4" formatCode="0.00%">
                  <c:v>6.8792458563854528E-4</c:v>
                </c:pt>
                <c:pt idx="5" formatCode="0.00%">
                  <c:v>8.725486043458003E-4</c:v>
                </c:pt>
                <c:pt idx="6" formatCode="0.00%">
                  <c:v>1.3197166653693467E-3</c:v>
                </c:pt>
                <c:pt idx="7" formatCode="0.00%">
                  <c:v>1.487233781190572E-3</c:v>
                </c:pt>
                <c:pt idx="8" formatCode="0.00%">
                  <c:v>1.7520734726499765E-3</c:v>
                </c:pt>
                <c:pt idx="9" formatCode="0.00%">
                  <c:v>2.427981759243678E-3</c:v>
                </c:pt>
                <c:pt idx="10" formatCode="0.00%">
                  <c:v>2.4822113745334453E-3</c:v>
                </c:pt>
                <c:pt idx="11" formatCode="0.00%">
                  <c:v>2.6082569418663317E-3</c:v>
                </c:pt>
                <c:pt idx="12" formatCode="0.00%">
                  <c:v>3.6007814740753046E-3</c:v>
                </c:pt>
                <c:pt idx="13" formatCode="0.00%">
                  <c:v>4.6305766656903934E-3</c:v>
                </c:pt>
                <c:pt idx="14" formatCode="0.00%">
                  <c:v>6.0000000000000001E-3</c:v>
                </c:pt>
                <c:pt idx="15" formatCode="0.00%">
                  <c:v>6.0854353872251245E-3</c:v>
                </c:pt>
                <c:pt idx="16" formatCode="0.00%">
                  <c:v>6.5532114558674286E-3</c:v>
                </c:pt>
                <c:pt idx="17">
                  <c:v>9.962941616786165E-3</c:v>
                </c:pt>
                <c:pt idx="18">
                  <c:v>1.0000000000000002E-2</c:v>
                </c:pt>
                <c:pt idx="19" formatCode="0.00%">
                  <c:v>1.2561204121938212E-2</c:v>
                </c:pt>
                <c:pt idx="20" formatCode="0.00%">
                  <c:v>1.5034994155674452E-2</c:v>
                </c:pt>
                <c:pt idx="21" formatCode="0.00%">
                  <c:v>1.9345454545454544E-2</c:v>
                </c:pt>
                <c:pt idx="22" formatCode="0.00%">
                  <c:v>2.1484539296304461E-2</c:v>
                </c:pt>
                <c:pt idx="23" formatCode="0.00%">
                  <c:v>2.3875432525951559E-2</c:v>
                </c:pt>
                <c:pt idx="24">
                  <c:v>0.04</c:v>
                </c:pt>
              </c:numCache>
            </c:numRef>
          </c:yVal>
          <c:smooth val="0"/>
          <c:extLst>
            <c:ext xmlns:c16="http://schemas.microsoft.com/office/drawing/2014/chart" uri="{C3380CC4-5D6E-409C-BE32-E72D297353CC}">
              <c16:uniqueId val="{00000000-B47D-4558-AA65-7BE8F4684139}"/>
            </c:ext>
          </c:extLst>
        </c:ser>
        <c:ser>
          <c:idx val="1"/>
          <c:order val="1"/>
          <c:tx>
            <c:strRef>
              <c:f>'Graphics - World level'!$G$522</c:f>
              <c:strCache>
                <c:ptCount val="1"/>
                <c:pt idx="0">
                  <c:v>Weighted average</c:v>
                </c:pt>
              </c:strCache>
            </c:strRef>
          </c:tx>
          <c:spPr>
            <a:ln w="19050" cap="rnd">
              <a:solidFill>
                <a:schemeClr val="accent2"/>
              </a:solidFill>
              <a:round/>
            </a:ln>
            <a:effectLst/>
          </c:spPr>
          <c:marker>
            <c:symbol val="none"/>
          </c:marker>
          <c:xVal>
            <c:numRef>
              <c:f>'Graphics - World level'!$F$524:$F$551</c:f>
              <c:numCache>
                <c:formatCode>_-* #,##0\ _€_-;\-* #,##0\ _€_-;_-* "-"??\ _€_-;_-@_-</c:formatCode>
                <c:ptCount val="28"/>
                <c:pt idx="0" formatCode="General">
                  <c:v>0</c:v>
                </c:pt>
                <c:pt idx="1">
                  <c:v>413454</c:v>
                </c:pt>
                <c:pt idx="2">
                  <c:v>3001640</c:v>
                </c:pt>
                <c:pt idx="3">
                  <c:v>7438971</c:v>
                </c:pt>
                <c:pt idx="4">
                  <c:v>7595531.1500000004</c:v>
                </c:pt>
                <c:pt idx="5">
                  <c:v>7906452.1000000006</c:v>
                </c:pt>
                <c:pt idx="6">
                  <c:v>8646009.9100000001</c:v>
                </c:pt>
                <c:pt idx="7">
                  <c:v>9826459.9100000001</c:v>
                </c:pt>
                <c:pt idx="8">
                  <c:v>13359384.91</c:v>
                </c:pt>
                <c:pt idx="9">
                  <c:v>14192172.609999999</c:v>
                </c:pt>
                <c:pt idx="10">
                  <c:v>20833446.609999999</c:v>
                </c:pt>
                <c:pt idx="11">
                  <c:v>21521301.859999999</c:v>
                </c:pt>
                <c:pt idx="12">
                  <c:v>26017292.859999999</c:v>
                </c:pt>
                <c:pt idx="13">
                  <c:v>26122343.859999999</c:v>
                </c:pt>
                <c:pt idx="14">
                  <c:v>28732027.359999999</c:v>
                </c:pt>
                <c:pt idx="15">
                  <c:v>32151695.129999999</c:v>
                </c:pt>
                <c:pt idx="16">
                  <c:v>32554049.879999999</c:v>
                </c:pt>
                <c:pt idx="17">
                  <c:v>33817750.829999998</c:v>
                </c:pt>
                <c:pt idx="18">
                  <c:v>34642351.109999999</c:v>
                </c:pt>
                <c:pt idx="19">
                  <c:v>34775343.960000001</c:v>
                </c:pt>
                <c:pt idx="20">
                  <c:v>37274303.800000004</c:v>
                </c:pt>
                <c:pt idx="21">
                  <c:v>37748740.800000004</c:v>
                </c:pt>
                <c:pt idx="22">
                  <c:v>38271042.300000004</c:v>
                </c:pt>
                <c:pt idx="23">
                  <c:v>40471042.300000004</c:v>
                </c:pt>
                <c:pt idx="24">
                  <c:v>41058441.160000004</c:v>
                </c:pt>
                <c:pt idx="25">
                  <c:v>41347441.160000004</c:v>
                </c:pt>
                <c:pt idx="26">
                  <c:v>42057654.555927604</c:v>
                </c:pt>
                <c:pt idx="27">
                  <c:v>45000000</c:v>
                </c:pt>
              </c:numCache>
            </c:numRef>
          </c:xVal>
          <c:yVal>
            <c:numRef>
              <c:f>'Graphics - World level'!$G$524:$G$551</c:f>
              <c:numCache>
                <c:formatCode>0.00%</c:formatCode>
                <c:ptCount val="28"/>
                <c:pt idx="0">
                  <c:v>4.8434019400221571E-3</c:v>
                </c:pt>
                <c:pt idx="1">
                  <c:v>4.8434019400221571E-3</c:v>
                </c:pt>
                <c:pt idx="2">
                  <c:v>4.8434019400221571E-3</c:v>
                </c:pt>
                <c:pt idx="3">
                  <c:v>4.8434019400221571E-3</c:v>
                </c:pt>
                <c:pt idx="4">
                  <c:v>4.8434019400221571E-3</c:v>
                </c:pt>
                <c:pt idx="5">
                  <c:v>4.8434019400221571E-3</c:v>
                </c:pt>
                <c:pt idx="6">
                  <c:v>4.8434019400221571E-3</c:v>
                </c:pt>
                <c:pt idx="7">
                  <c:v>4.8434019400221571E-3</c:v>
                </c:pt>
                <c:pt idx="8">
                  <c:v>4.8434019400221571E-3</c:v>
                </c:pt>
                <c:pt idx="9">
                  <c:v>4.8434019400221571E-3</c:v>
                </c:pt>
                <c:pt idx="10">
                  <c:v>4.8434019400221571E-3</c:v>
                </c:pt>
                <c:pt idx="11">
                  <c:v>4.8434019400221571E-3</c:v>
                </c:pt>
                <c:pt idx="12">
                  <c:v>4.8434019400221571E-3</c:v>
                </c:pt>
                <c:pt idx="13">
                  <c:v>4.8434019400221571E-3</c:v>
                </c:pt>
                <c:pt idx="14">
                  <c:v>4.8434019400221571E-3</c:v>
                </c:pt>
                <c:pt idx="15">
                  <c:v>4.8434019400221571E-3</c:v>
                </c:pt>
                <c:pt idx="16">
                  <c:v>4.8434019400221571E-3</c:v>
                </c:pt>
                <c:pt idx="17">
                  <c:v>4.8434019400221571E-3</c:v>
                </c:pt>
                <c:pt idx="18">
                  <c:v>4.8434019400221571E-3</c:v>
                </c:pt>
                <c:pt idx="19">
                  <c:v>4.8434019400221571E-3</c:v>
                </c:pt>
                <c:pt idx="20">
                  <c:v>4.8434019400221571E-3</c:v>
                </c:pt>
                <c:pt idx="21">
                  <c:v>4.8434019400221571E-3</c:v>
                </c:pt>
                <c:pt idx="22">
                  <c:v>4.8434019400221571E-3</c:v>
                </c:pt>
                <c:pt idx="23">
                  <c:v>4.8434019400221571E-3</c:v>
                </c:pt>
                <c:pt idx="24">
                  <c:v>4.8434019400221571E-3</c:v>
                </c:pt>
                <c:pt idx="25">
                  <c:v>4.8434019400221571E-3</c:v>
                </c:pt>
                <c:pt idx="26">
                  <c:v>4.8434019400221571E-3</c:v>
                </c:pt>
                <c:pt idx="27">
                  <c:v>4.8434019400221571E-3</c:v>
                </c:pt>
              </c:numCache>
            </c:numRef>
          </c:yVal>
          <c:smooth val="0"/>
          <c:extLst>
            <c:ext xmlns:c16="http://schemas.microsoft.com/office/drawing/2014/chart" uri="{C3380CC4-5D6E-409C-BE32-E72D297353CC}">
              <c16:uniqueId val="{00000001-B47D-4558-AA65-7BE8F4684139}"/>
            </c:ext>
          </c:extLst>
        </c:ser>
        <c:dLbls>
          <c:showLegendKey val="0"/>
          <c:showVal val="0"/>
          <c:showCatName val="0"/>
          <c:showSerName val="0"/>
          <c:showPercent val="0"/>
          <c:showBubbleSize val="0"/>
        </c:dLbls>
        <c:axId val="289539152"/>
        <c:axId val="234946736"/>
      </c:scatterChart>
      <c:valAx>
        <c:axId val="289539152"/>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234946736"/>
        <c:crossesAt val="0"/>
        <c:crossBetween val="midCat"/>
      </c:valAx>
      <c:valAx>
        <c:axId val="234946736"/>
        <c:scaling>
          <c:orientation val="minMax"/>
          <c:max val="4.0000000000000008E-2"/>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r>
                  <a:rPr lang="fr-FR" sz="1100" b="1"/>
                  <a:t>% wasted</a:t>
                </a:r>
                <a:r>
                  <a:rPr lang="fr-FR" sz="1100" b="1" baseline="0"/>
                  <a:t> concrete</a:t>
                </a:r>
                <a:endParaRPr lang="fr-FR" sz="1100" b="1"/>
              </a:p>
            </c:rich>
          </c:tx>
          <c:overlay val="0"/>
          <c:spPr>
            <a:noFill/>
            <a:ln>
              <a:noFill/>
            </a:ln>
            <a:effectLst/>
          </c:spPr>
          <c:txPr>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289539152"/>
        <c:crosses val="autoZero"/>
        <c:crossBetween val="midCat"/>
        <c:minorUnit val="1.0000000000000002E-2"/>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00" b="1" i="0" u="none" strike="noStrike" kern="1200" spc="0" baseline="0">
                <a:solidFill>
                  <a:sysClr val="windowText" lastClr="000000">
                    <a:lumMod val="65000"/>
                    <a:lumOff val="35000"/>
                  </a:sysClr>
                </a:solidFill>
                <a:latin typeface="+mn-lt"/>
                <a:ea typeface="+mn-ea"/>
                <a:cs typeface="+mn-cs"/>
              </a:defRPr>
            </a:pPr>
            <a:r>
              <a:rPr lang="fr-FR" sz="1400" b="1" dirty="0" err="1"/>
              <a:t>Returned</a:t>
            </a:r>
            <a:r>
              <a:rPr lang="fr-FR" sz="1400" b="1" dirty="0"/>
              <a:t> </a:t>
            </a:r>
            <a:r>
              <a:rPr lang="fr-FR" sz="1400" b="1" dirty="0" err="1"/>
              <a:t>Concrete</a:t>
            </a:r>
            <a:r>
              <a:rPr lang="fr-FR" sz="1400" b="1" dirty="0"/>
              <a:t> </a:t>
            </a:r>
            <a:r>
              <a:rPr lang="fr-FR" sz="1400" b="1" dirty="0" err="1"/>
              <a:t>Recovered</a:t>
            </a:r>
            <a:endParaRPr lang="fr-FR" sz="1400" b="1" dirty="0"/>
          </a:p>
          <a:p>
            <a:pPr marL="0" marR="0" lvl="0" indent="0" algn="ctr" defTabSz="914400" rtl="0" eaLnBrk="1" fontAlgn="auto" latinLnBrk="0" hangingPunct="1">
              <a:lnSpc>
                <a:spcPct val="100000"/>
              </a:lnSpc>
              <a:spcBef>
                <a:spcPts val="0"/>
              </a:spcBef>
              <a:spcAft>
                <a:spcPts val="0"/>
              </a:spcAft>
              <a:buClrTx/>
              <a:buSzTx/>
              <a:buFontTx/>
              <a:buNone/>
              <a:tabLst/>
              <a:defRPr sz="1800" b="1">
                <a:solidFill>
                  <a:sysClr val="windowText" lastClr="000000">
                    <a:lumMod val="65000"/>
                    <a:lumOff val="35000"/>
                  </a:sysClr>
                </a:solidFill>
              </a:defRPr>
            </a:pPr>
            <a:r>
              <a:rPr lang="fr-FR" sz="1100" b="0" i="0" baseline="0" dirty="0">
                <a:effectLst/>
              </a:rPr>
              <a:t>51% of GNR pilot </a:t>
            </a:r>
            <a:r>
              <a:rPr lang="fr-FR" sz="1100" b="0" i="0" baseline="0" dirty="0" err="1">
                <a:effectLst/>
              </a:rPr>
              <a:t>sample</a:t>
            </a:r>
            <a:r>
              <a:rPr lang="fr-FR" sz="1100" b="0" i="0" baseline="0" dirty="0">
                <a:effectLst/>
              </a:rPr>
              <a:t> – World (</a:t>
            </a:r>
            <a:r>
              <a:rPr lang="fr-FR" sz="1100" b="0" i="0" baseline="0" dirty="0" err="1">
                <a:effectLst/>
              </a:rPr>
              <a:t>coverage</a:t>
            </a:r>
            <a:r>
              <a:rPr lang="fr-FR" sz="1100" b="0" i="0" baseline="0" dirty="0">
                <a:effectLst/>
              </a:rPr>
              <a:t>: 38M m</a:t>
            </a:r>
            <a:r>
              <a:rPr lang="fr-FR" sz="1100" b="0" i="0" baseline="30000" dirty="0">
                <a:effectLst/>
              </a:rPr>
              <a:t>3</a:t>
            </a:r>
            <a:r>
              <a:rPr lang="fr-FR" sz="1100" b="0" i="0" baseline="0" dirty="0">
                <a:effectLst/>
              </a:rPr>
              <a:t> in 2019) </a:t>
            </a:r>
            <a:endParaRPr lang="fr-FR" sz="1100" dirty="0">
              <a:effectLst/>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00" b="1" i="0" u="none" strike="noStrike" kern="1200" spc="0" baseline="0">
              <a:solidFill>
                <a:sysClr val="windowText" lastClr="000000">
                  <a:lumMod val="65000"/>
                  <a:lumOff val="35000"/>
                </a:sys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World level'!$H$581:$H$607</c:f>
              <c:numCache>
                <c:formatCode>0.00%</c:formatCode>
                <c:ptCount val="27"/>
                <c:pt idx="0">
                  <c:v>1.3498787745898251E-2</c:v>
                </c:pt>
                <c:pt idx="1">
                  <c:v>0.12969686149538742</c:v>
                </c:pt>
                <c:pt idx="2">
                  <c:v>0.1331340376357433</c:v>
                </c:pt>
                <c:pt idx="3">
                  <c:v>0.14060319033502636</c:v>
                </c:pt>
                <c:pt idx="4">
                  <c:v>0.16654100057324192</c:v>
                </c:pt>
                <c:pt idx="5">
                  <c:v>0.16882994180155148</c:v>
                </c:pt>
                <c:pt idx="6">
                  <c:v>0.17436483335422387</c:v>
                </c:pt>
                <c:pt idx="7">
                  <c:v>0.18954605058856575</c:v>
                </c:pt>
                <c:pt idx="8">
                  <c:v>0.20732354504273018</c:v>
                </c:pt>
                <c:pt idx="9">
                  <c:v>0.22567888173220987</c:v>
                </c:pt>
                <c:pt idx="10">
                  <c:v>0.29312567951179286</c:v>
                </c:pt>
                <c:pt idx="11">
                  <c:v>0.34998428137484733</c:v>
                </c:pt>
                <c:pt idx="12">
                  <c:v>0.37129592638243064</c:v>
                </c:pt>
                <c:pt idx="13">
                  <c:v>0.39281917377822556</c:v>
                </c:pt>
                <c:pt idx="14">
                  <c:v>0.48119986843202073</c:v>
                </c:pt>
                <c:pt idx="15">
                  <c:v>0.48923556411699015</c:v>
                </c:pt>
                <c:pt idx="16">
                  <c:v>0.51066345774378108</c:v>
                </c:pt>
                <c:pt idx="17">
                  <c:v>0.52292519614928201</c:v>
                </c:pt>
                <c:pt idx="18">
                  <c:v>0.52697146489313196</c:v>
                </c:pt>
                <c:pt idx="19">
                  <c:v>0.54608520265381488</c:v>
                </c:pt>
                <c:pt idx="20">
                  <c:v>0.54880022673759477</c:v>
                </c:pt>
                <c:pt idx="21">
                  <c:v>0.58146034909669186</c:v>
                </c:pt>
                <c:pt idx="22">
                  <c:v>0.59185913479576413</c:v>
                </c:pt>
                <c:pt idx="23">
                  <c:v>0.68316694206259676</c:v>
                </c:pt>
                <c:pt idx="24">
                  <c:v>0.85480946671234914</c:v>
                </c:pt>
                <c:pt idx="25">
                  <c:v>0.88531798333473211</c:v>
                </c:pt>
                <c:pt idx="26" formatCode="0%">
                  <c:v>1</c:v>
                </c:pt>
              </c:numCache>
            </c:numRef>
          </c:xVal>
          <c:yVal>
            <c:numRef>
              <c:f>'Graphics - World level'!$D$581:$D$607</c:f>
              <c:numCache>
                <c:formatCode>0%</c:formatCode>
                <c:ptCount val="27"/>
                <c:pt idx="0">
                  <c:v>0</c:v>
                </c:pt>
                <c:pt idx="1">
                  <c:v>0</c:v>
                </c:pt>
                <c:pt idx="2">
                  <c:v>0</c:v>
                </c:pt>
                <c:pt idx="3">
                  <c:v>0</c:v>
                </c:pt>
                <c:pt idx="4">
                  <c:v>0</c:v>
                </c:pt>
                <c:pt idx="5">
                  <c:v>0</c:v>
                </c:pt>
                <c:pt idx="6">
                  <c:v>0.12271275050827767</c:v>
                </c:pt>
                <c:pt idx="7">
                  <c:v>0.17330741256850193</c:v>
                </c:pt>
                <c:pt idx="8">
                  <c:v>0.18436218011330338</c:v>
                </c:pt>
                <c:pt idx="9">
                  <c:v>0.19999999999999998</c:v>
                </c:pt>
                <c:pt idx="10">
                  <c:v>0.39854835922348741</c:v>
                </c:pt>
                <c:pt idx="11">
                  <c:v>0.40558659217877097</c:v>
                </c:pt>
                <c:pt idx="12">
                  <c:v>0.44327832158307245</c:v>
                </c:pt>
                <c:pt idx="13">
                  <c:v>0.46387758635615972</c:v>
                </c:pt>
                <c:pt idx="14">
                  <c:v>0.50581893000937062</c:v>
                </c:pt>
                <c:pt idx="15">
                  <c:v>0.5186357372088316</c:v>
                </c:pt>
                <c:pt idx="16" formatCode="0.0%">
                  <c:v>0.55219433929902684</c:v>
                </c:pt>
                <c:pt idx="17">
                  <c:v>0.55796617712505558</c:v>
                </c:pt>
                <c:pt idx="18">
                  <c:v>0.65277777777777779</c:v>
                </c:pt>
                <c:pt idx="19">
                  <c:v>0.65999705949182663</c:v>
                </c:pt>
                <c:pt idx="20">
                  <c:v>0.68360277136258663</c:v>
                </c:pt>
                <c:pt idx="21">
                  <c:v>0.69999999999999973</c:v>
                </c:pt>
                <c:pt idx="22">
                  <c:v>0.69999999999999973</c:v>
                </c:pt>
                <c:pt idx="23">
                  <c:v>0.74155537053933218</c:v>
                </c:pt>
                <c:pt idx="24">
                  <c:v>0.74366656386306562</c:v>
                </c:pt>
                <c:pt idx="25">
                  <c:v>0.93526491106781473</c:v>
                </c:pt>
                <c:pt idx="26">
                  <c:v>1</c:v>
                </c:pt>
              </c:numCache>
            </c:numRef>
          </c:yVal>
          <c:smooth val="0"/>
          <c:extLst>
            <c:ext xmlns:c16="http://schemas.microsoft.com/office/drawing/2014/chart" uri="{C3380CC4-5D6E-409C-BE32-E72D297353CC}">
              <c16:uniqueId val="{00000000-28F6-4547-AD7A-E7B2B0C2C60A}"/>
            </c:ext>
          </c:extLst>
        </c:ser>
        <c:ser>
          <c:idx val="1"/>
          <c:order val="1"/>
          <c:tx>
            <c:strRef>
              <c:f>'Graphics - World level'!$G$578</c:f>
              <c:strCache>
                <c:ptCount val="1"/>
                <c:pt idx="0">
                  <c:v>Weighted average</c:v>
                </c:pt>
              </c:strCache>
            </c:strRef>
          </c:tx>
          <c:spPr>
            <a:ln w="19050" cap="rnd">
              <a:solidFill>
                <a:schemeClr val="accent2"/>
              </a:solidFill>
              <a:round/>
            </a:ln>
            <a:effectLst/>
          </c:spPr>
          <c:marker>
            <c:symbol val="none"/>
          </c:marker>
          <c:xVal>
            <c:numRef>
              <c:f>'Graphics - World level'!$F$580:$F$608</c:f>
              <c:numCache>
                <c:formatCode>_-* #,##0\ _€_-;\-* #,##0\ _€_-;_-* "-"??\ _€_-;_-@_-</c:formatCode>
                <c:ptCount val="29"/>
                <c:pt idx="0" formatCode="General">
                  <c:v>0</c:v>
                </c:pt>
                <c:pt idx="1">
                  <c:v>522301.5</c:v>
                </c:pt>
                <c:pt idx="2">
                  <c:v>5018292.5</c:v>
                </c:pt>
                <c:pt idx="3">
                  <c:v>5151285.3499999996</c:v>
                </c:pt>
                <c:pt idx="4">
                  <c:v>5440285.3499999996</c:v>
                </c:pt>
                <c:pt idx="5">
                  <c:v>6443883.4100000057</c:v>
                </c:pt>
                <c:pt idx="6">
                  <c:v>6532448.2100000056</c:v>
                </c:pt>
                <c:pt idx="7">
                  <c:v>6746606.8600000059</c:v>
                </c:pt>
                <c:pt idx="8">
                  <c:v>7334005.7200000063</c:v>
                </c:pt>
                <c:pt idx="9">
                  <c:v>8021860.9700000063</c:v>
                </c:pt>
                <c:pt idx="10">
                  <c:v>8732074.3659276068</c:v>
                </c:pt>
                <c:pt idx="11">
                  <c:v>11341757.865927607</c:v>
                </c:pt>
                <c:pt idx="12">
                  <c:v>13541757.865927607</c:v>
                </c:pt>
                <c:pt idx="13">
                  <c:v>14366358.145927606</c:v>
                </c:pt>
                <c:pt idx="14">
                  <c:v>15199145.845927605</c:v>
                </c:pt>
                <c:pt idx="15">
                  <c:v>18618813.615927607</c:v>
                </c:pt>
                <c:pt idx="16">
                  <c:v>18929734.565927606</c:v>
                </c:pt>
                <c:pt idx="17">
                  <c:v>19758832.792656455</c:v>
                </c:pt>
                <c:pt idx="18">
                  <c:v>20233269.792656455</c:v>
                </c:pt>
                <c:pt idx="19">
                  <c:v>20389829.942656454</c:v>
                </c:pt>
                <c:pt idx="20">
                  <c:v>21129387.752656452</c:v>
                </c:pt>
                <c:pt idx="21">
                  <c:v>21234438.752656452</c:v>
                </c:pt>
                <c:pt idx="22">
                  <c:v>22498139.702656452</c:v>
                </c:pt>
                <c:pt idx="23">
                  <c:v>22900494.452656452</c:v>
                </c:pt>
                <c:pt idx="24">
                  <c:v>26433419.452656452</c:v>
                </c:pt>
                <c:pt idx="25">
                  <c:v>33074693.452656452</c:v>
                </c:pt>
                <c:pt idx="26">
                  <c:v>34255143.452656448</c:v>
                </c:pt>
                <c:pt idx="27">
                  <c:v>38692474.452656448</c:v>
                </c:pt>
                <c:pt idx="28">
                  <c:v>40000000</c:v>
                </c:pt>
              </c:numCache>
            </c:numRef>
          </c:xVal>
          <c:yVal>
            <c:numRef>
              <c:f>'Graphics - World level'!$G$580:$G$608</c:f>
              <c:numCache>
                <c:formatCode>0%</c:formatCode>
                <c:ptCount val="29"/>
                <c:pt idx="0">
                  <c:v>0.53311432824697536</c:v>
                </c:pt>
                <c:pt idx="1">
                  <c:v>0.53311432824697536</c:v>
                </c:pt>
                <c:pt idx="2">
                  <c:v>0.53311432824697536</c:v>
                </c:pt>
                <c:pt idx="3">
                  <c:v>0.53311432824697536</c:v>
                </c:pt>
                <c:pt idx="4">
                  <c:v>0.53311432824697536</c:v>
                </c:pt>
                <c:pt idx="5">
                  <c:v>0.53311432824697536</c:v>
                </c:pt>
                <c:pt idx="6">
                  <c:v>0.53311432824697536</c:v>
                </c:pt>
                <c:pt idx="7">
                  <c:v>0.53311432824697536</c:v>
                </c:pt>
                <c:pt idx="8">
                  <c:v>0.53311432824697536</c:v>
                </c:pt>
                <c:pt idx="9">
                  <c:v>0.53311432824697536</c:v>
                </c:pt>
                <c:pt idx="10">
                  <c:v>0.53311432824697536</c:v>
                </c:pt>
                <c:pt idx="11">
                  <c:v>0.53311432824697536</c:v>
                </c:pt>
                <c:pt idx="12">
                  <c:v>0.53311432824697536</c:v>
                </c:pt>
                <c:pt idx="13">
                  <c:v>0.53311432824697536</c:v>
                </c:pt>
                <c:pt idx="14">
                  <c:v>0.53311432824697536</c:v>
                </c:pt>
                <c:pt idx="15">
                  <c:v>0.53311432824697536</c:v>
                </c:pt>
                <c:pt idx="16">
                  <c:v>0.53311432824697536</c:v>
                </c:pt>
                <c:pt idx="17">
                  <c:v>0.53311432824697536</c:v>
                </c:pt>
                <c:pt idx="18">
                  <c:v>0.53311432824697536</c:v>
                </c:pt>
                <c:pt idx="19">
                  <c:v>0.53311432824697536</c:v>
                </c:pt>
                <c:pt idx="20">
                  <c:v>0.53311432824697536</c:v>
                </c:pt>
                <c:pt idx="21">
                  <c:v>0.53311432824697536</c:v>
                </c:pt>
                <c:pt idx="22">
                  <c:v>0.53311432824697536</c:v>
                </c:pt>
                <c:pt idx="23">
                  <c:v>0.53311432824697536</c:v>
                </c:pt>
                <c:pt idx="24">
                  <c:v>0.53311432824697536</c:v>
                </c:pt>
                <c:pt idx="25">
                  <c:v>0.53311432824697536</c:v>
                </c:pt>
                <c:pt idx="26">
                  <c:v>0.53311432824697536</c:v>
                </c:pt>
                <c:pt idx="27">
                  <c:v>0.53311432824697536</c:v>
                </c:pt>
                <c:pt idx="28">
                  <c:v>0.53311432824697536</c:v>
                </c:pt>
              </c:numCache>
            </c:numRef>
          </c:yVal>
          <c:smooth val="0"/>
          <c:extLst>
            <c:ext xmlns:c16="http://schemas.microsoft.com/office/drawing/2014/chart" uri="{C3380CC4-5D6E-409C-BE32-E72D297353CC}">
              <c16:uniqueId val="{00000001-28F6-4547-AD7A-E7B2B0C2C60A}"/>
            </c:ext>
          </c:extLst>
        </c:ser>
        <c:dLbls>
          <c:showLegendKey val="0"/>
          <c:showVal val="0"/>
          <c:showCatName val="0"/>
          <c:showSerName val="0"/>
          <c:showPercent val="0"/>
          <c:showBubbleSize val="0"/>
        </c:dLbls>
        <c:axId val="357908144"/>
        <c:axId val="673070080"/>
      </c:scatterChart>
      <c:valAx>
        <c:axId val="357908144"/>
        <c:scaling>
          <c:orientation val="minMax"/>
          <c:max val="1"/>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673070080"/>
        <c:crosses val="autoZero"/>
        <c:crossBetween val="midCat"/>
      </c:valAx>
      <c:valAx>
        <c:axId val="673070080"/>
        <c:scaling>
          <c:orientation val="minMax"/>
          <c:max val="1"/>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r>
                  <a:rPr lang="fr-FR" sz="1100" b="1"/>
                  <a:t>% returned concrete recovered</a:t>
                </a:r>
              </a:p>
            </c:rich>
          </c:tx>
          <c:overlay val="0"/>
          <c:spPr>
            <a:noFill/>
            <a:ln>
              <a:noFill/>
            </a:ln>
            <a:effectLst/>
          </c:spPr>
          <c:txPr>
            <a:bodyPr rot="-54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s-CL"/>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35790814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err="1">
                <a:effectLst/>
              </a:rPr>
              <a:t>Wasted</a:t>
            </a:r>
            <a:r>
              <a:rPr lang="fr-FR" sz="1400" b="1" i="0" baseline="0" dirty="0">
                <a:effectLst/>
              </a:rPr>
              <a:t> </a:t>
            </a:r>
            <a:r>
              <a:rPr lang="fr-FR" sz="1400" b="1" i="0" baseline="0" dirty="0" err="1">
                <a:effectLst/>
              </a:rPr>
              <a:t>concrete</a:t>
            </a:r>
            <a:endParaRPr lang="fr-FR" sz="1400" dirty="0">
              <a:effectLst/>
            </a:endParaRPr>
          </a:p>
          <a:p>
            <a:pPr>
              <a:defRPr/>
            </a:pPr>
            <a:r>
              <a:rPr lang="fr-FR" sz="1100" b="0" i="0" baseline="0" dirty="0">
                <a:effectLst/>
              </a:rPr>
              <a:t>53% of GNR pilot </a:t>
            </a:r>
            <a:r>
              <a:rPr lang="fr-FR" sz="1100" b="0" i="0" baseline="0" dirty="0" err="1">
                <a:effectLst/>
              </a:rPr>
              <a:t>sample</a:t>
            </a:r>
            <a:r>
              <a:rPr lang="fr-FR" sz="1100" b="0" i="0" baseline="0" dirty="0">
                <a:effectLst/>
              </a:rPr>
              <a:t> - Europe (</a:t>
            </a:r>
            <a:r>
              <a:rPr lang="fr-FR" sz="1100" b="0" i="0" baseline="0" dirty="0" err="1">
                <a:effectLst/>
              </a:rPr>
              <a:t>coverage</a:t>
            </a:r>
            <a:r>
              <a:rPr lang="fr-FR" sz="1100" b="0" i="0" baseline="0" dirty="0">
                <a:effectLst/>
              </a:rPr>
              <a:t>: 20M m</a:t>
            </a:r>
            <a:r>
              <a:rPr lang="fr-FR" sz="1100" b="0" i="0" baseline="30000" dirty="0">
                <a:effectLst/>
              </a:rPr>
              <a:t>3 </a:t>
            </a:r>
            <a:r>
              <a:rPr lang="fr-FR" sz="1100" b="0" i="0" baseline="0" dirty="0">
                <a:effectLst/>
              </a:rPr>
              <a:t>in 2019) </a:t>
            </a:r>
            <a:endParaRPr lang="fr-FR" sz="1100" dirty="0">
              <a:effectLst/>
            </a:endParaRPr>
          </a:p>
        </c:rich>
      </c:tx>
      <c:layout>
        <c:manualLayout>
          <c:xMode val="edge"/>
          <c:yMode val="edge"/>
          <c:x val="0.12174161449654891"/>
          <c:y val="3.8282750365419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Europe'!$H$348:$H$360</c:f>
              <c:numCache>
                <c:formatCode>0.00%</c:formatCode>
                <c:ptCount val="13"/>
                <c:pt idx="0">
                  <c:v>0.12702753367998648</c:v>
                </c:pt>
                <c:pt idx="1">
                  <c:v>0.1347114674185465</c:v>
                </c:pt>
                <c:pt idx="2">
                  <c:v>0.14997139133743734</c:v>
                </c:pt>
                <c:pt idx="3">
                  <c:v>0.18626870714784358</c:v>
                </c:pt>
                <c:pt idx="4">
                  <c:v>0.24420490343842702</c:v>
                </c:pt>
                <c:pt idx="5">
                  <c:v>0.57015700143795967</c:v>
                </c:pt>
                <c:pt idx="6">
                  <c:v>0.57531287873604275</c:v>
                </c:pt>
                <c:pt idx="7">
                  <c:v>0.70339550444005128</c:v>
                </c:pt>
                <c:pt idx="8">
                  <c:v>0.87123195932700259</c:v>
                </c:pt>
                <c:pt idx="9">
                  <c:v>0.89097943170994864</c:v>
                </c:pt>
                <c:pt idx="10">
                  <c:v>0.95300156419484572</c:v>
                </c:pt>
                <c:pt idx="11">
                  <c:v>0.99347274356148574</c:v>
                </c:pt>
                <c:pt idx="12" formatCode="0%">
                  <c:v>1</c:v>
                </c:pt>
              </c:numCache>
            </c:numRef>
          </c:xVal>
          <c:yVal>
            <c:numRef>
              <c:f>'Graphics - Europe'!$D$348:$D$360</c:f>
              <c:numCache>
                <c:formatCode>0.00%</c:formatCode>
                <c:ptCount val="13"/>
                <c:pt idx="0" formatCode="0%">
                  <c:v>0</c:v>
                </c:pt>
                <c:pt idx="1">
                  <c:v>1.5968303556173138E-4</c:v>
                </c:pt>
                <c:pt idx="2">
                  <c:v>4.2922807228010847E-4</c:v>
                </c:pt>
                <c:pt idx="3">
                  <c:v>6.8792458563854528E-4</c:v>
                </c:pt>
                <c:pt idx="4">
                  <c:v>8.725486043458003E-4</c:v>
                </c:pt>
                <c:pt idx="5">
                  <c:v>1.7520734726499765E-3</c:v>
                </c:pt>
                <c:pt idx="6">
                  <c:v>2.6082569418663317E-3</c:v>
                </c:pt>
                <c:pt idx="7">
                  <c:v>3.6007814740753046E-3</c:v>
                </c:pt>
                <c:pt idx="8">
                  <c:v>4.6305766656903934E-3</c:v>
                </c:pt>
                <c:pt idx="9">
                  <c:v>6.0000000000000001E-3</c:v>
                </c:pt>
                <c:pt idx="10">
                  <c:v>6.0854353872251245E-3</c:v>
                </c:pt>
                <c:pt idx="11">
                  <c:v>6.5532114558674286E-3</c:v>
                </c:pt>
                <c:pt idx="12" formatCode="0%">
                  <c:v>9.962941616786165E-3</c:v>
                </c:pt>
              </c:numCache>
            </c:numRef>
          </c:yVal>
          <c:smooth val="0"/>
          <c:extLst>
            <c:ext xmlns:c16="http://schemas.microsoft.com/office/drawing/2014/chart" uri="{C3380CC4-5D6E-409C-BE32-E72D297353CC}">
              <c16:uniqueId val="{00000000-4D84-4926-800C-70E9F38AFAEF}"/>
            </c:ext>
          </c:extLst>
        </c:ser>
        <c:ser>
          <c:idx val="1"/>
          <c:order val="1"/>
          <c:tx>
            <c:strRef>
              <c:f>'Graphics - Europe'!$G$345</c:f>
              <c:strCache>
                <c:ptCount val="1"/>
                <c:pt idx="0">
                  <c:v>Weighted average</c:v>
                </c:pt>
              </c:strCache>
            </c:strRef>
          </c:tx>
          <c:spPr>
            <a:ln w="19050" cap="rnd">
              <a:solidFill>
                <a:schemeClr val="accent2"/>
              </a:solidFill>
              <a:round/>
            </a:ln>
            <a:effectLst/>
          </c:spPr>
          <c:marker>
            <c:symbol val="none"/>
          </c:marker>
          <c:xVal>
            <c:numRef>
              <c:f>'Graphics - Europe'!$F$347:$F$361</c:f>
              <c:numCache>
                <c:formatCode>_-* #,##0\ _€_-;\-* #,##0\ _€_-;_-* "-"??\ _€_-;_-@_-</c:formatCode>
                <c:ptCount val="15"/>
                <c:pt idx="0" formatCode="General">
                  <c:v>0</c:v>
                </c:pt>
                <c:pt idx="1">
                  <c:v>2588186</c:v>
                </c:pt>
                <c:pt idx="2">
                  <c:v>2744746.15</c:v>
                </c:pt>
                <c:pt idx="3">
                  <c:v>3055667.1</c:v>
                </c:pt>
                <c:pt idx="4">
                  <c:v>3795224.91</c:v>
                </c:pt>
                <c:pt idx="5">
                  <c:v>4975674.91</c:v>
                </c:pt>
                <c:pt idx="6">
                  <c:v>11616948.91</c:v>
                </c:pt>
                <c:pt idx="7">
                  <c:v>11721999.91</c:v>
                </c:pt>
                <c:pt idx="8">
                  <c:v>14331683.41</c:v>
                </c:pt>
                <c:pt idx="9">
                  <c:v>17751351.18</c:v>
                </c:pt>
                <c:pt idx="10">
                  <c:v>18153705.93</c:v>
                </c:pt>
                <c:pt idx="11">
                  <c:v>19417406.879999999</c:v>
                </c:pt>
                <c:pt idx="12">
                  <c:v>20242007.16</c:v>
                </c:pt>
                <c:pt idx="13">
                  <c:v>20375000.010000002</c:v>
                </c:pt>
                <c:pt idx="14">
                  <c:v>25000000</c:v>
                </c:pt>
              </c:numCache>
            </c:numRef>
          </c:xVal>
          <c:yVal>
            <c:numRef>
              <c:f>'Graphics - Europe'!$G$347:$G$361</c:f>
              <c:numCache>
                <c:formatCode>0.00%</c:formatCode>
                <c:ptCount val="15"/>
                <c:pt idx="0">
                  <c:v>2.7327895712517848E-3</c:v>
                </c:pt>
                <c:pt idx="1">
                  <c:v>2.7327895712517848E-3</c:v>
                </c:pt>
                <c:pt idx="2">
                  <c:v>2.7327895712517848E-3</c:v>
                </c:pt>
                <c:pt idx="3">
                  <c:v>2.7327895712517848E-3</c:v>
                </c:pt>
                <c:pt idx="4">
                  <c:v>2.7327895712517848E-3</c:v>
                </c:pt>
                <c:pt idx="5">
                  <c:v>2.7327895712517848E-3</c:v>
                </c:pt>
                <c:pt idx="6">
                  <c:v>2.7327895712517848E-3</c:v>
                </c:pt>
                <c:pt idx="7">
                  <c:v>2.7327895712517848E-3</c:v>
                </c:pt>
                <c:pt idx="8">
                  <c:v>2.7327895712517848E-3</c:v>
                </c:pt>
                <c:pt idx="9">
                  <c:v>2.7327895712517848E-3</c:v>
                </c:pt>
                <c:pt idx="10">
                  <c:v>2.7327895712517848E-3</c:v>
                </c:pt>
                <c:pt idx="11">
                  <c:v>2.7327895712517848E-3</c:v>
                </c:pt>
                <c:pt idx="12">
                  <c:v>2.7327895712517848E-3</c:v>
                </c:pt>
                <c:pt idx="13">
                  <c:v>2.7327895712517848E-3</c:v>
                </c:pt>
                <c:pt idx="14">
                  <c:v>2.7327895712517848E-3</c:v>
                </c:pt>
              </c:numCache>
            </c:numRef>
          </c:yVal>
          <c:smooth val="0"/>
          <c:extLst>
            <c:ext xmlns:c16="http://schemas.microsoft.com/office/drawing/2014/chart" uri="{C3380CC4-5D6E-409C-BE32-E72D297353CC}">
              <c16:uniqueId val="{00000001-4D84-4926-800C-70E9F38AFAEF}"/>
            </c:ext>
          </c:extLst>
        </c:ser>
        <c:dLbls>
          <c:showLegendKey val="0"/>
          <c:showVal val="0"/>
          <c:showCatName val="0"/>
          <c:showSerName val="0"/>
          <c:showPercent val="0"/>
          <c:showBubbleSize val="0"/>
        </c:dLbls>
        <c:axId val="533633952"/>
        <c:axId val="613347840"/>
      </c:scatterChart>
      <c:valAx>
        <c:axId val="533633952"/>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613347840"/>
        <c:crossesAt val="0"/>
        <c:crossBetween val="midCat"/>
      </c:valAx>
      <c:valAx>
        <c:axId val="613347840"/>
        <c:scaling>
          <c:orientation val="minMax"/>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 wasted concrete</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 ;"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53363395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err="1">
                <a:effectLst/>
              </a:rPr>
              <a:t>Returned</a:t>
            </a:r>
            <a:r>
              <a:rPr lang="fr-FR" sz="1400" b="1" i="0" baseline="0" dirty="0">
                <a:effectLst/>
              </a:rPr>
              <a:t> </a:t>
            </a:r>
            <a:r>
              <a:rPr lang="fr-FR" sz="1400" b="1" i="0" baseline="0" dirty="0" err="1">
                <a:effectLst/>
              </a:rPr>
              <a:t>Concrete</a:t>
            </a:r>
            <a:r>
              <a:rPr lang="fr-FR" sz="1400" b="1" i="0" baseline="0" dirty="0">
                <a:effectLst/>
              </a:rPr>
              <a:t> </a:t>
            </a:r>
            <a:r>
              <a:rPr lang="fr-FR" sz="1400" b="1" i="0" baseline="0" dirty="0" err="1">
                <a:effectLst/>
              </a:rPr>
              <a:t>Recovered</a:t>
            </a:r>
            <a:endParaRPr lang="fr-FR" sz="1400" dirty="0">
              <a:effectLst/>
            </a:endParaRPr>
          </a:p>
          <a:p>
            <a:pPr>
              <a:defRPr/>
            </a:pPr>
            <a:r>
              <a:rPr lang="fr-FR" sz="1100" b="0" i="0" baseline="0" dirty="0">
                <a:effectLst/>
              </a:rPr>
              <a:t>46% of GNR pilot </a:t>
            </a:r>
            <a:r>
              <a:rPr lang="fr-FR" sz="1100" b="0" i="0" baseline="0" dirty="0" err="1">
                <a:effectLst/>
              </a:rPr>
              <a:t>sample</a:t>
            </a:r>
            <a:r>
              <a:rPr lang="fr-FR" sz="1100" b="0" i="0" baseline="0" dirty="0">
                <a:effectLst/>
              </a:rPr>
              <a:t> - Europe (</a:t>
            </a:r>
            <a:r>
              <a:rPr lang="fr-FR" sz="1100" b="0" i="0" baseline="0" dirty="0" err="1">
                <a:effectLst/>
              </a:rPr>
              <a:t>coverage</a:t>
            </a:r>
            <a:r>
              <a:rPr lang="fr-FR" sz="1100" b="0" i="0" baseline="0" dirty="0">
                <a:effectLst/>
              </a:rPr>
              <a:t>: 18M m</a:t>
            </a:r>
            <a:r>
              <a:rPr lang="fr-FR" sz="1100" b="0" i="0" baseline="30000" dirty="0">
                <a:effectLst/>
              </a:rPr>
              <a:t>3 </a:t>
            </a:r>
            <a:r>
              <a:rPr lang="fr-FR" sz="1100" b="0" i="0" baseline="0" dirty="0">
                <a:effectLst/>
              </a:rPr>
              <a:t>in 2019) </a:t>
            </a:r>
            <a:endParaRPr lang="fr-FR" sz="1100" dirty="0">
              <a:effectLst/>
            </a:endParaRPr>
          </a:p>
        </c:rich>
      </c:tx>
      <c:layout>
        <c:manualLayout>
          <c:xMode val="edge"/>
          <c:yMode val="edge"/>
          <c:x val="0.14133741258741259"/>
          <c:y val="4.445805555555555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Europe'!$H$385:$H$396</c:f>
              <c:numCache>
                <c:formatCode>0.00%</c:formatCode>
                <c:ptCount val="12"/>
                <c:pt idx="0">
                  <c:v>7.4770473186052061E-3</c:v>
                </c:pt>
                <c:pt idx="1">
                  <c:v>0.15419716810767958</c:v>
                </c:pt>
                <c:pt idx="2">
                  <c:v>0.20055736952072623</c:v>
                </c:pt>
                <c:pt idx="3">
                  <c:v>0.39281595883736353</c:v>
                </c:pt>
                <c:pt idx="4">
                  <c:v>0.41029637718688899</c:v>
                </c:pt>
                <c:pt idx="5">
                  <c:v>0.41909841165534301</c:v>
                </c:pt>
                <c:pt idx="6">
                  <c:v>0.46067740436219928</c:v>
                </c:pt>
                <c:pt idx="7">
                  <c:v>0.46658352110356394</c:v>
                </c:pt>
                <c:pt idx="8">
                  <c:v>0.53763058716550893</c:v>
                </c:pt>
                <c:pt idx="9">
                  <c:v>0.56025154389074316</c:v>
                </c:pt>
                <c:pt idx="10">
                  <c:v>0.93363342083993617</c:v>
                </c:pt>
                <c:pt idx="11">
                  <c:v>1</c:v>
                </c:pt>
              </c:numCache>
            </c:numRef>
          </c:xVal>
          <c:yVal>
            <c:numRef>
              <c:f>'Graphics - Europe'!$D$385:$D$396</c:f>
              <c:numCache>
                <c:formatCode>0%</c:formatCode>
                <c:ptCount val="12"/>
                <c:pt idx="0">
                  <c:v>0</c:v>
                </c:pt>
                <c:pt idx="1">
                  <c:v>0.39854835922348741</c:v>
                </c:pt>
                <c:pt idx="2">
                  <c:v>0.44327832158307245</c:v>
                </c:pt>
                <c:pt idx="3">
                  <c:v>0.50581893000937062</c:v>
                </c:pt>
                <c:pt idx="4">
                  <c:v>0.5186357372088316</c:v>
                </c:pt>
                <c:pt idx="5">
                  <c:v>0.65277777777777779</c:v>
                </c:pt>
                <c:pt idx="6">
                  <c:v>0.65999705949182663</c:v>
                </c:pt>
                <c:pt idx="7">
                  <c:v>0.68360277136258663</c:v>
                </c:pt>
                <c:pt idx="8">
                  <c:v>0.69999999999999973</c:v>
                </c:pt>
                <c:pt idx="9">
                  <c:v>0.69999999999999973</c:v>
                </c:pt>
                <c:pt idx="10">
                  <c:v>0.74366656386306562</c:v>
                </c:pt>
                <c:pt idx="11">
                  <c:v>0.93526491106781473</c:v>
                </c:pt>
              </c:numCache>
            </c:numRef>
          </c:yVal>
          <c:smooth val="0"/>
          <c:extLst>
            <c:ext xmlns:c16="http://schemas.microsoft.com/office/drawing/2014/chart" uri="{C3380CC4-5D6E-409C-BE32-E72D297353CC}">
              <c16:uniqueId val="{00000000-489D-4447-9C1B-98BC02379887}"/>
            </c:ext>
          </c:extLst>
        </c:ser>
        <c:ser>
          <c:idx val="1"/>
          <c:order val="1"/>
          <c:tx>
            <c:strRef>
              <c:f>'Graphics - Europe'!$G$382</c:f>
              <c:strCache>
                <c:ptCount val="1"/>
                <c:pt idx="0">
                  <c:v>Weighted average</c:v>
                </c:pt>
              </c:strCache>
            </c:strRef>
          </c:tx>
          <c:spPr>
            <a:ln w="19050" cap="rnd">
              <a:solidFill>
                <a:schemeClr val="accent2"/>
              </a:solidFill>
              <a:round/>
            </a:ln>
            <a:effectLst/>
          </c:spPr>
          <c:marker>
            <c:symbol val="none"/>
          </c:marker>
          <c:xVal>
            <c:numRef>
              <c:f>'Graphics - Europe'!$F$384:$F$397</c:f>
              <c:numCache>
                <c:formatCode>_-* #,##0\ _€_-;\-* #,##0\ _€_-;_-* "-"??\ _€_-;_-@_-</c:formatCode>
                <c:ptCount val="14"/>
                <c:pt idx="0" formatCode="General">
                  <c:v>0</c:v>
                </c:pt>
                <c:pt idx="1">
                  <c:v>132992.85</c:v>
                </c:pt>
                <c:pt idx="2">
                  <c:v>2742676.35</c:v>
                </c:pt>
                <c:pt idx="3">
                  <c:v>3567276.63</c:v>
                </c:pt>
                <c:pt idx="4">
                  <c:v>6986944.4000000004</c:v>
                </c:pt>
                <c:pt idx="5">
                  <c:v>7297865.3500000006</c:v>
                </c:pt>
                <c:pt idx="6">
                  <c:v>7454425.5000000009</c:v>
                </c:pt>
                <c:pt idx="7">
                  <c:v>8193983.3100000005</c:v>
                </c:pt>
                <c:pt idx="8">
                  <c:v>8299034.3100000005</c:v>
                </c:pt>
                <c:pt idx="9">
                  <c:v>9562735.2599999998</c:v>
                </c:pt>
                <c:pt idx="10">
                  <c:v>9965090.0099999998</c:v>
                </c:pt>
                <c:pt idx="11">
                  <c:v>16606364.01</c:v>
                </c:pt>
                <c:pt idx="12">
                  <c:v>17786814.009999998</c:v>
                </c:pt>
                <c:pt idx="13">
                  <c:v>20000000</c:v>
                </c:pt>
              </c:numCache>
            </c:numRef>
          </c:xVal>
          <c:yVal>
            <c:numRef>
              <c:f>'Graphics - Europe'!$G$384:$G$397</c:f>
              <c:numCache>
                <c:formatCode>0%</c:formatCode>
                <c:ptCount val="14"/>
                <c:pt idx="0">
                  <c:v>0.62787432860923531</c:v>
                </c:pt>
                <c:pt idx="1">
                  <c:v>0.62787432860923531</c:v>
                </c:pt>
                <c:pt idx="2">
                  <c:v>0.62787432860923531</c:v>
                </c:pt>
                <c:pt idx="3">
                  <c:v>0.62787432860923531</c:v>
                </c:pt>
                <c:pt idx="4">
                  <c:v>0.62787432860923531</c:v>
                </c:pt>
                <c:pt idx="5">
                  <c:v>0.62787432860923531</c:v>
                </c:pt>
                <c:pt idx="6">
                  <c:v>0.62787432860923531</c:v>
                </c:pt>
                <c:pt idx="7">
                  <c:v>0.62787432860923531</c:v>
                </c:pt>
                <c:pt idx="8">
                  <c:v>0.62787432860923531</c:v>
                </c:pt>
                <c:pt idx="9">
                  <c:v>0.62787432860923531</c:v>
                </c:pt>
                <c:pt idx="10">
                  <c:v>0.62787432860923531</c:v>
                </c:pt>
                <c:pt idx="11">
                  <c:v>0.62787432860923531</c:v>
                </c:pt>
                <c:pt idx="12">
                  <c:v>0.62787432860923531</c:v>
                </c:pt>
                <c:pt idx="13">
                  <c:v>0.62787432860923531</c:v>
                </c:pt>
              </c:numCache>
            </c:numRef>
          </c:yVal>
          <c:smooth val="0"/>
          <c:extLst>
            <c:ext xmlns:c16="http://schemas.microsoft.com/office/drawing/2014/chart" uri="{C3380CC4-5D6E-409C-BE32-E72D297353CC}">
              <c16:uniqueId val="{00000001-489D-4447-9C1B-98BC02379887}"/>
            </c:ext>
          </c:extLst>
        </c:ser>
        <c:dLbls>
          <c:showLegendKey val="0"/>
          <c:showVal val="0"/>
          <c:showCatName val="0"/>
          <c:showSerName val="0"/>
          <c:showPercent val="0"/>
          <c:showBubbleSize val="0"/>
        </c:dLbls>
        <c:axId val="389973504"/>
        <c:axId val="392482896"/>
      </c:scatterChart>
      <c:valAx>
        <c:axId val="389973504"/>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392482896"/>
        <c:crosses val="autoZero"/>
        <c:crossBetween val="midCat"/>
      </c:valAx>
      <c:valAx>
        <c:axId val="3924828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 returned concrete recovered</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38997350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err="1">
                <a:effectLst/>
              </a:rPr>
              <a:t>Wasted</a:t>
            </a:r>
            <a:r>
              <a:rPr lang="fr-FR" sz="1400" b="1" i="0" baseline="0" dirty="0">
                <a:effectLst/>
              </a:rPr>
              <a:t> </a:t>
            </a:r>
            <a:r>
              <a:rPr lang="fr-FR" sz="1400" b="1" i="0" baseline="0" dirty="0" err="1">
                <a:effectLst/>
              </a:rPr>
              <a:t>concrete</a:t>
            </a:r>
            <a:endParaRPr lang="fr-FR" sz="1400" dirty="0">
              <a:effectLst/>
            </a:endParaRPr>
          </a:p>
          <a:p>
            <a:pPr>
              <a:defRPr/>
            </a:pPr>
            <a:r>
              <a:rPr lang="fr-FR" sz="1100" b="0" i="0" u="none" strike="noStrike" baseline="0" dirty="0">
                <a:effectLst/>
              </a:rPr>
              <a:t>44% of GNR pilot </a:t>
            </a:r>
            <a:r>
              <a:rPr lang="fr-FR" sz="1100" b="0" i="0" u="none" strike="noStrike" baseline="0" dirty="0" err="1">
                <a:effectLst/>
              </a:rPr>
              <a:t>sample</a:t>
            </a:r>
            <a:r>
              <a:rPr lang="fr-FR" sz="1100" b="0" i="0" u="none" strike="noStrike" baseline="0" dirty="0">
                <a:effectLst/>
              </a:rPr>
              <a:t> - North America </a:t>
            </a:r>
            <a:br>
              <a:rPr lang="fr-FR" sz="1100" b="0" i="0" u="none" strike="noStrike" baseline="0" dirty="0">
                <a:effectLst/>
              </a:rPr>
            </a:br>
            <a:r>
              <a:rPr lang="fr-FR" sz="1100" b="0" i="0" u="none" strike="noStrike" baseline="0" dirty="0">
                <a:effectLst/>
              </a:rPr>
              <a:t>(</a:t>
            </a:r>
            <a:r>
              <a:rPr lang="fr-FR" sz="1100" b="0" i="0" u="none" strike="noStrike" baseline="0" dirty="0" err="1">
                <a:effectLst/>
              </a:rPr>
              <a:t>coverage</a:t>
            </a:r>
            <a:r>
              <a:rPr lang="fr-FR" sz="1100" b="0" i="0" u="none" strike="noStrike" baseline="0" dirty="0">
                <a:effectLst/>
              </a:rPr>
              <a:t>: 11M m</a:t>
            </a:r>
            <a:r>
              <a:rPr lang="fr-FR" sz="1100" b="0" i="0" u="none" strike="noStrike" baseline="30000" dirty="0">
                <a:effectLst/>
              </a:rPr>
              <a:t>3</a:t>
            </a:r>
            <a:r>
              <a:rPr lang="fr-FR" sz="1100" b="0" i="0" u="none" strike="noStrike" baseline="0" dirty="0">
                <a:effectLst/>
              </a:rPr>
              <a:t> in 2019) </a:t>
            </a:r>
            <a:endParaRPr lang="fr-FR" sz="11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North America'!$H$192:$H$197</c:f>
              <c:numCache>
                <c:formatCode>0.00%</c:formatCode>
                <c:ptCount val="6"/>
                <c:pt idx="0">
                  <c:v>6.152321216589781E-2</c:v>
                </c:pt>
                <c:pt idx="1">
                  <c:v>0.46365405028767864</c:v>
                </c:pt>
                <c:pt idx="2">
                  <c:v>0.68716624479426713</c:v>
                </c:pt>
                <c:pt idx="3">
                  <c:v>0.88393884595559458</c:v>
                </c:pt>
                <c:pt idx="4">
                  <c:v>0.93647702850168468</c:v>
                </c:pt>
                <c:pt idx="5" formatCode="0%">
                  <c:v>1</c:v>
                </c:pt>
              </c:numCache>
            </c:numRef>
          </c:xVal>
          <c:yVal>
            <c:numRef>
              <c:f>'Graphics - North America'!$D$192:$D$197</c:f>
              <c:numCache>
                <c:formatCode>0.00%</c:formatCode>
                <c:ptCount val="6"/>
                <c:pt idx="0">
                  <c:v>2.427981759243678E-3</c:v>
                </c:pt>
                <c:pt idx="1">
                  <c:v>2.4822113745334453E-3</c:v>
                </c:pt>
                <c:pt idx="2" formatCode="0%">
                  <c:v>1.0000000000000002E-2</c:v>
                </c:pt>
                <c:pt idx="3">
                  <c:v>1.9345454545454544E-2</c:v>
                </c:pt>
                <c:pt idx="4">
                  <c:v>2.1484539296304461E-2</c:v>
                </c:pt>
                <c:pt idx="5" formatCode="0%">
                  <c:v>0.04</c:v>
                </c:pt>
              </c:numCache>
            </c:numRef>
          </c:yVal>
          <c:smooth val="0"/>
          <c:extLst>
            <c:ext xmlns:c16="http://schemas.microsoft.com/office/drawing/2014/chart" uri="{C3380CC4-5D6E-409C-BE32-E72D297353CC}">
              <c16:uniqueId val="{00000000-FD17-4557-9419-EAA4FD52C5E2}"/>
            </c:ext>
          </c:extLst>
        </c:ser>
        <c:ser>
          <c:idx val="1"/>
          <c:order val="1"/>
          <c:tx>
            <c:strRef>
              <c:f>'Graphics - North America'!$G$189</c:f>
              <c:strCache>
                <c:ptCount val="1"/>
                <c:pt idx="0">
                  <c:v>Weighted average</c:v>
                </c:pt>
              </c:strCache>
            </c:strRef>
          </c:tx>
          <c:spPr>
            <a:ln w="19050" cap="rnd">
              <a:solidFill>
                <a:schemeClr val="accent2"/>
              </a:solidFill>
              <a:round/>
            </a:ln>
            <a:effectLst/>
          </c:spPr>
          <c:marker>
            <c:symbol val="none"/>
          </c:marker>
          <c:xVal>
            <c:numRef>
              <c:f>'Graphics - North America'!$F$191:$F$198</c:f>
              <c:numCache>
                <c:formatCode>_-* #,##0\ _€_-;\-* #,##0\ _€_-;_-* "-"??\ _€_-;_-@_-</c:formatCode>
                <c:ptCount val="8"/>
                <c:pt idx="0" formatCode="General">
                  <c:v>0</c:v>
                </c:pt>
                <c:pt idx="1">
                  <c:v>687855.25</c:v>
                </c:pt>
                <c:pt idx="2">
                  <c:v>5183846.25</c:v>
                </c:pt>
                <c:pt idx="3">
                  <c:v>7682806.0899999999</c:v>
                </c:pt>
                <c:pt idx="4">
                  <c:v>9882806.0899999999</c:v>
                </c:pt>
                <c:pt idx="5">
                  <c:v>10470204.949999999</c:v>
                </c:pt>
                <c:pt idx="6">
                  <c:v>11180418.3459276</c:v>
                </c:pt>
                <c:pt idx="7">
                  <c:v>15000000</c:v>
                </c:pt>
              </c:numCache>
            </c:numRef>
          </c:xVal>
          <c:yVal>
            <c:numRef>
              <c:f>'Graphics - North America'!$G$191:$G$198</c:f>
              <c:numCache>
                <c:formatCode>0.00%</c:formatCode>
                <c:ptCount val="8"/>
                <c:pt idx="0">
                  <c:v>1.0831324049524771E-2</c:v>
                </c:pt>
                <c:pt idx="1">
                  <c:v>1.0831324049524771E-2</c:v>
                </c:pt>
                <c:pt idx="2">
                  <c:v>1.0831324049524771E-2</c:v>
                </c:pt>
                <c:pt idx="3">
                  <c:v>1.0831324049524771E-2</c:v>
                </c:pt>
                <c:pt idx="4">
                  <c:v>1.0831324049524771E-2</c:v>
                </c:pt>
                <c:pt idx="5">
                  <c:v>1.0831324049524771E-2</c:v>
                </c:pt>
                <c:pt idx="6">
                  <c:v>1.0831324049524771E-2</c:v>
                </c:pt>
                <c:pt idx="7">
                  <c:v>1.0831324049524771E-2</c:v>
                </c:pt>
              </c:numCache>
            </c:numRef>
          </c:yVal>
          <c:smooth val="0"/>
          <c:extLst>
            <c:ext xmlns:c16="http://schemas.microsoft.com/office/drawing/2014/chart" uri="{C3380CC4-5D6E-409C-BE32-E72D297353CC}">
              <c16:uniqueId val="{00000001-FD17-4557-9419-EAA4FD52C5E2}"/>
            </c:ext>
          </c:extLst>
        </c:ser>
        <c:dLbls>
          <c:showLegendKey val="0"/>
          <c:showVal val="0"/>
          <c:showCatName val="0"/>
          <c:showSerName val="0"/>
          <c:showPercent val="0"/>
          <c:showBubbleSize val="0"/>
        </c:dLbls>
        <c:axId val="1167111663"/>
        <c:axId val="1202492271"/>
      </c:scatterChart>
      <c:valAx>
        <c:axId val="1167111663"/>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202492271"/>
        <c:crosses val="autoZero"/>
        <c:crossBetween val="midCat"/>
      </c:valAx>
      <c:valAx>
        <c:axId val="120249227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 wasted concrete</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167111663"/>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1" i="0" baseline="0" dirty="0" err="1">
                <a:effectLst/>
              </a:rPr>
              <a:t>Returned</a:t>
            </a:r>
            <a:r>
              <a:rPr lang="fr-FR" sz="1400" b="1" i="0" baseline="0" dirty="0">
                <a:effectLst/>
              </a:rPr>
              <a:t> </a:t>
            </a:r>
            <a:r>
              <a:rPr lang="fr-FR" sz="1400" b="1" i="0" baseline="0" dirty="0" err="1">
                <a:effectLst/>
              </a:rPr>
              <a:t>Concrete</a:t>
            </a:r>
            <a:r>
              <a:rPr lang="fr-FR" sz="1400" b="1" i="0" baseline="0" dirty="0">
                <a:effectLst/>
              </a:rPr>
              <a:t> </a:t>
            </a:r>
            <a:r>
              <a:rPr lang="fr-FR" sz="1400" b="1" i="0" baseline="0" dirty="0" err="1">
                <a:effectLst/>
              </a:rPr>
              <a:t>Recovered</a:t>
            </a:r>
            <a:endParaRPr lang="fr-FR" sz="1400" dirty="0">
              <a:effectLst/>
            </a:endParaRPr>
          </a:p>
          <a:p>
            <a:pPr>
              <a:defRPr/>
            </a:pPr>
            <a:r>
              <a:rPr lang="fr-FR" sz="1100" b="0" i="0" u="none" strike="noStrike" baseline="0" dirty="0">
                <a:effectLst/>
              </a:rPr>
              <a:t>20-50% of GNR pilot </a:t>
            </a:r>
            <a:r>
              <a:rPr lang="fr-FR" sz="1100" b="0" i="0" u="none" strike="noStrike" baseline="0" dirty="0" err="1">
                <a:effectLst/>
              </a:rPr>
              <a:t>sample</a:t>
            </a:r>
            <a:r>
              <a:rPr lang="fr-FR" sz="1100" b="0" i="0" u="none" strike="noStrike" baseline="0" dirty="0">
                <a:effectLst/>
              </a:rPr>
              <a:t> - North America</a:t>
            </a:r>
            <a:br>
              <a:rPr lang="fr-FR" sz="1100" b="0" i="0" u="none" strike="noStrike" baseline="0" dirty="0">
                <a:effectLst/>
              </a:rPr>
            </a:br>
            <a:r>
              <a:rPr lang="fr-FR" sz="1100" b="0" i="0" u="none" strike="noStrike" baseline="0" dirty="0">
                <a:effectLst/>
              </a:rPr>
              <a:t>(</a:t>
            </a:r>
            <a:r>
              <a:rPr lang="fr-FR" sz="1100" b="0" i="0" u="none" strike="noStrike" baseline="0" dirty="0" err="1">
                <a:effectLst/>
              </a:rPr>
              <a:t>coverage</a:t>
            </a:r>
            <a:r>
              <a:rPr lang="fr-FR" sz="1100" b="0" i="0" u="none" strike="noStrike" baseline="0" dirty="0">
                <a:effectLst/>
              </a:rPr>
              <a:t>: 5M-20M m</a:t>
            </a:r>
            <a:r>
              <a:rPr lang="fr-FR" sz="1100" b="0" i="0" u="none" strike="noStrike" baseline="30000" dirty="0">
                <a:effectLst/>
              </a:rPr>
              <a:t>3</a:t>
            </a:r>
            <a:r>
              <a:rPr lang="fr-FR" sz="1100" b="0" i="0" u="none" strike="noStrike" baseline="0" dirty="0">
                <a:effectLst/>
              </a:rPr>
              <a:t> in 2019) </a:t>
            </a:r>
            <a:endParaRPr lang="fr-FR" sz="11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North America'!$H$211:$H$216</c:f>
              <c:numCache>
                <c:formatCode>0.00%</c:formatCode>
                <c:ptCount val="6"/>
                <c:pt idx="0">
                  <c:v>0.47273688874196934</c:v>
                </c:pt>
                <c:pt idx="1">
                  <c:v>0.53449971467444557</c:v>
                </c:pt>
                <c:pt idx="2">
                  <c:v>0.60682515989660668</c:v>
                </c:pt>
                <c:pt idx="3">
                  <c:v>0.68150148178730485</c:v>
                </c:pt>
                <c:pt idx="4">
                  <c:v>0.9128233761666158</c:v>
                </c:pt>
                <c:pt idx="5" formatCode="0%">
                  <c:v>1</c:v>
                </c:pt>
              </c:numCache>
            </c:numRef>
          </c:xVal>
          <c:yVal>
            <c:numRef>
              <c:f>'Graphics - North America'!$D$211:$D$216</c:f>
              <c:numCache>
                <c:formatCode>0%</c:formatCode>
                <c:ptCount val="6"/>
                <c:pt idx="0">
                  <c:v>0</c:v>
                </c:pt>
                <c:pt idx="1">
                  <c:v>0.17330741256850193</c:v>
                </c:pt>
                <c:pt idx="2">
                  <c:v>0.18436218011330338</c:v>
                </c:pt>
                <c:pt idx="3">
                  <c:v>0.19999999999999998</c:v>
                </c:pt>
                <c:pt idx="4">
                  <c:v>0.40558659217877097</c:v>
                </c:pt>
                <c:pt idx="5" formatCode="0.0%">
                  <c:v>0.55219433929902684</c:v>
                </c:pt>
              </c:numCache>
            </c:numRef>
          </c:yVal>
          <c:smooth val="0"/>
          <c:extLst>
            <c:ext xmlns:c16="http://schemas.microsoft.com/office/drawing/2014/chart" uri="{C3380CC4-5D6E-409C-BE32-E72D297353CC}">
              <c16:uniqueId val="{00000000-33CC-4658-85E1-492ED1DD759F}"/>
            </c:ext>
          </c:extLst>
        </c:ser>
        <c:ser>
          <c:idx val="1"/>
          <c:order val="1"/>
          <c:tx>
            <c:strRef>
              <c:f>'Graphics - North America'!$G$208</c:f>
              <c:strCache>
                <c:ptCount val="1"/>
                <c:pt idx="0">
                  <c:v>Weighted average</c:v>
                </c:pt>
              </c:strCache>
            </c:strRef>
          </c:tx>
          <c:spPr>
            <a:ln w="19050" cap="rnd">
              <a:solidFill>
                <a:schemeClr val="accent2"/>
              </a:solidFill>
              <a:round/>
            </a:ln>
            <a:effectLst/>
          </c:spPr>
          <c:marker>
            <c:symbol val="none"/>
          </c:marker>
          <c:xVal>
            <c:numRef>
              <c:f>'Graphics - North America'!$F$210:$F$217</c:f>
              <c:numCache>
                <c:formatCode>_-* #,##0\ _€_-;\-* #,##0\ _€_-;_-* "-"??\ _€_-;_-@_-</c:formatCode>
                <c:ptCount val="8"/>
                <c:pt idx="0" formatCode="General">
                  <c:v>0</c:v>
                </c:pt>
                <c:pt idx="1">
                  <c:v>4495991</c:v>
                </c:pt>
                <c:pt idx="2">
                  <c:v>5083389.8600000003</c:v>
                </c:pt>
                <c:pt idx="3">
                  <c:v>5771245.1100000003</c:v>
                </c:pt>
                <c:pt idx="4">
                  <c:v>6481458.5059276</c:v>
                </c:pt>
                <c:pt idx="5">
                  <c:v>8681458.5059276</c:v>
                </c:pt>
                <c:pt idx="6">
                  <c:v>9510556.7326564509</c:v>
                </c:pt>
                <c:pt idx="7">
                  <c:v>10000000</c:v>
                </c:pt>
              </c:numCache>
            </c:numRef>
          </c:xVal>
          <c:yVal>
            <c:numRef>
              <c:f>'Graphics - North America'!$G$210:$G$217</c:f>
              <c:numCache>
                <c:formatCode>0%</c:formatCode>
                <c:ptCount val="8"/>
                <c:pt idx="0">
                  <c:v>0.18095615819418068</c:v>
                </c:pt>
                <c:pt idx="1">
                  <c:v>0.18095615819418068</c:v>
                </c:pt>
                <c:pt idx="2">
                  <c:v>0.18095615819418068</c:v>
                </c:pt>
                <c:pt idx="3">
                  <c:v>0.18095615819418068</c:v>
                </c:pt>
                <c:pt idx="4">
                  <c:v>0.18095615819418068</c:v>
                </c:pt>
                <c:pt idx="5">
                  <c:v>0.18095615819418068</c:v>
                </c:pt>
                <c:pt idx="6">
                  <c:v>0.18095615819418068</c:v>
                </c:pt>
                <c:pt idx="7">
                  <c:v>0.18095615819418068</c:v>
                </c:pt>
              </c:numCache>
            </c:numRef>
          </c:yVal>
          <c:smooth val="0"/>
          <c:extLst>
            <c:ext xmlns:c16="http://schemas.microsoft.com/office/drawing/2014/chart" uri="{C3380CC4-5D6E-409C-BE32-E72D297353CC}">
              <c16:uniqueId val="{00000001-33CC-4658-85E1-492ED1DD759F}"/>
            </c:ext>
          </c:extLst>
        </c:ser>
        <c:dLbls>
          <c:showLegendKey val="0"/>
          <c:showVal val="0"/>
          <c:showCatName val="0"/>
          <c:showSerName val="0"/>
          <c:showPercent val="0"/>
          <c:showBubbleSize val="0"/>
        </c:dLbls>
        <c:axId val="1835886223"/>
        <c:axId val="1214094511"/>
      </c:scatterChart>
      <c:valAx>
        <c:axId val="1835886223"/>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214094511"/>
        <c:crosses val="autoZero"/>
        <c:crossBetween val="midCat"/>
      </c:valAx>
      <c:valAx>
        <c:axId val="121409451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 returned concrete recovered</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835886223"/>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1" i="0" u="none" strike="noStrike" kern="1200" spc="0" baseline="0">
                <a:solidFill>
                  <a:sysClr val="windowText" lastClr="000000">
                    <a:lumMod val="65000"/>
                    <a:lumOff val="35000"/>
                  </a:sysClr>
                </a:solidFill>
                <a:latin typeface="+mn-lt"/>
                <a:ea typeface="+mn-ea"/>
                <a:cs typeface="+mn-cs"/>
              </a:defRPr>
            </a:pPr>
            <a:r>
              <a:rPr lang="fr-FR" sz="1400" b="1" dirty="0"/>
              <a:t>Water </a:t>
            </a:r>
            <a:r>
              <a:rPr lang="fr-FR" sz="1400" b="1" dirty="0" err="1"/>
              <a:t>withdrawal</a:t>
            </a:r>
            <a:r>
              <a:rPr lang="fr-FR" sz="1400" b="1" dirty="0"/>
              <a:t> per unit</a:t>
            </a:r>
            <a:br>
              <a:rPr lang="fr-FR" sz="1200" b="1" dirty="0"/>
            </a:br>
            <a:r>
              <a:rPr lang="fr-FR" sz="1100" b="0" i="0" baseline="0" dirty="0">
                <a:effectLst/>
              </a:rPr>
              <a:t>100% of GNR pilot </a:t>
            </a:r>
            <a:r>
              <a:rPr lang="fr-FR" sz="1100" b="0" i="0" baseline="0" dirty="0" err="1">
                <a:effectLst/>
              </a:rPr>
              <a:t>sample</a:t>
            </a:r>
            <a:r>
              <a:rPr lang="fr-FR" sz="1100" b="0" i="0" baseline="0" dirty="0">
                <a:effectLst/>
              </a:rPr>
              <a:t> - World (</a:t>
            </a:r>
            <a:r>
              <a:rPr lang="fr-FR" sz="1100" b="0" i="0" baseline="0" dirty="0" err="1">
                <a:effectLst/>
              </a:rPr>
              <a:t>coverage</a:t>
            </a:r>
            <a:r>
              <a:rPr lang="fr-FR" sz="1100" b="0" i="0" baseline="0" dirty="0">
                <a:effectLst/>
              </a:rPr>
              <a:t>: 75M m</a:t>
            </a:r>
            <a:r>
              <a:rPr lang="fr-FR" sz="1100" b="0" i="0" baseline="30000" dirty="0">
                <a:effectLst/>
              </a:rPr>
              <a:t>3</a:t>
            </a:r>
            <a:r>
              <a:rPr lang="fr-FR" sz="1100" b="0" i="0" baseline="0" dirty="0">
                <a:effectLst/>
              </a:rPr>
              <a:t> in 2019) </a:t>
            </a:r>
            <a:endParaRPr lang="fr-FR" sz="1200" dirty="0">
              <a:effectLst/>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1" i="0" u="none" strike="noStrike" kern="1200" spc="0" baseline="0">
              <a:solidFill>
                <a:sysClr val="windowText" lastClr="000000">
                  <a:lumMod val="65000"/>
                  <a:lumOff val="35000"/>
                </a:sys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World level'!$H$181:$H$226</c:f>
              <c:numCache>
                <c:formatCode>0.00%</c:formatCode>
                <c:ptCount val="46"/>
                <c:pt idx="0">
                  <c:v>1.7661765511307187E-3</c:v>
                </c:pt>
                <c:pt idx="1">
                  <c:v>1.9653668240695245E-3</c:v>
                </c:pt>
                <c:pt idx="2">
                  <c:v>3.5719428164195724E-3</c:v>
                </c:pt>
                <c:pt idx="3">
                  <c:v>1.1521899916682265E-2</c:v>
                </c:pt>
                <c:pt idx="4">
                  <c:v>9.9719591810901481E-2</c:v>
                </c:pt>
                <c:pt idx="5">
                  <c:v>0.11024619813302231</c:v>
                </c:pt>
                <c:pt idx="6">
                  <c:v>0.13799601019669955</c:v>
                </c:pt>
                <c:pt idx="7">
                  <c:v>0.13939111236101012</c:v>
                </c:pt>
                <c:pt idx="8">
                  <c:v>0.18480511039196798</c:v>
                </c:pt>
                <c:pt idx="9">
                  <c:v>0.19462661329402317</c:v>
                </c:pt>
                <c:pt idx="10">
                  <c:v>0.19875571716047377</c:v>
                </c:pt>
                <c:pt idx="11">
                  <c:v>0.21443237278355617</c:v>
                </c:pt>
                <c:pt idx="12">
                  <c:v>0.24880409594886024</c:v>
                </c:pt>
                <c:pt idx="13">
                  <c:v>0.25429486300717352</c:v>
                </c:pt>
                <c:pt idx="14">
                  <c:v>0.26535448093257391</c:v>
                </c:pt>
                <c:pt idx="15">
                  <c:v>0.27584586806649325</c:v>
                </c:pt>
                <c:pt idx="16">
                  <c:v>0.31480992370481453</c:v>
                </c:pt>
                <c:pt idx="17">
                  <c:v>0.32455460295977329</c:v>
                </c:pt>
                <c:pt idx="18">
                  <c:v>0.32989796934891419</c:v>
                </c:pt>
                <c:pt idx="19">
                  <c:v>0.35125245744697875</c:v>
                </c:pt>
                <c:pt idx="20">
                  <c:v>0.35905325344986849</c:v>
                </c:pt>
                <c:pt idx="21">
                  <c:v>0.37006387429627152</c:v>
                </c:pt>
                <c:pt idx="22">
                  <c:v>0.38101476134464918</c:v>
                </c:pt>
                <c:pt idx="23">
                  <c:v>0.38169331504794995</c:v>
                </c:pt>
                <c:pt idx="24">
                  <c:v>0.38980084654125274</c:v>
                </c:pt>
                <c:pt idx="25">
                  <c:v>0.43726629893821584</c:v>
                </c:pt>
                <c:pt idx="26">
                  <c:v>0.45404854689764829</c:v>
                </c:pt>
                <c:pt idx="27">
                  <c:v>0.46098483453958095</c:v>
                </c:pt>
                <c:pt idx="28">
                  <c:v>0.5076748956848407</c:v>
                </c:pt>
                <c:pt idx="29">
                  <c:v>0.56738272116790045</c:v>
                </c:pt>
                <c:pt idx="30">
                  <c:v>0.58505378948514097</c:v>
                </c:pt>
                <c:pt idx="31">
                  <c:v>0.61971100454273798</c:v>
                </c:pt>
                <c:pt idx="32">
                  <c:v>0.62179016042045254</c:v>
                </c:pt>
                <c:pt idx="33">
                  <c:v>0.65100668155288621</c:v>
                </c:pt>
                <c:pt idx="34">
                  <c:v>0.70993548834066023</c:v>
                </c:pt>
                <c:pt idx="35">
                  <c:v>0.7232635083081419</c:v>
                </c:pt>
                <c:pt idx="36">
                  <c:v>0.75645028693289784</c:v>
                </c:pt>
                <c:pt idx="37">
                  <c:v>0.89447677699793759</c:v>
                </c:pt>
                <c:pt idx="38">
                  <c:v>0.90077741274180512</c:v>
                </c:pt>
                <c:pt idx="39">
                  <c:v>0.92665700875380852</c:v>
                </c:pt>
                <c:pt idx="40">
                  <c:v>0.93608881088592488</c:v>
                </c:pt>
                <c:pt idx="41">
                  <c:v>0.94522369154396146</c:v>
                </c:pt>
                <c:pt idx="42">
                  <c:v>0.99214177241750834</c:v>
                </c:pt>
                <c:pt idx="43">
                  <c:v>0.99498585001906226</c:v>
                </c:pt>
                <c:pt idx="44">
                  <c:v>0.99882383847691381</c:v>
                </c:pt>
                <c:pt idx="45" formatCode="0%">
                  <c:v>1</c:v>
                </c:pt>
              </c:numCache>
            </c:numRef>
          </c:xVal>
          <c:yVal>
            <c:numRef>
              <c:f>'Graphics - World level'!$D$181:$D$226</c:f>
              <c:numCache>
                <c:formatCode>0</c:formatCode>
                <c:ptCount val="46"/>
                <c:pt idx="0">
                  <c:v>95.562701303115162</c:v>
                </c:pt>
                <c:pt idx="1">
                  <c:v>103.47356490432695</c:v>
                </c:pt>
                <c:pt idx="2">
                  <c:v>113.90787927583355</c:v>
                </c:pt>
                <c:pt idx="3">
                  <c:v>115.92456497426035</c:v>
                </c:pt>
                <c:pt idx="4">
                  <c:v>128.54259438776356</c:v>
                </c:pt>
                <c:pt idx="5">
                  <c:v>133.86618591765364</c:v>
                </c:pt>
                <c:pt idx="6">
                  <c:v>144.73211238204024</c:v>
                </c:pt>
                <c:pt idx="7">
                  <c:v>154.22033107728626</c:v>
                </c:pt>
                <c:pt idx="8">
                  <c:v>154.30392964752829</c:v>
                </c:pt>
                <c:pt idx="9">
                  <c:v>160.16002219758857</c:v>
                </c:pt>
                <c:pt idx="10">
                  <c:v>166.43372857313088</c:v>
                </c:pt>
                <c:pt idx="11">
                  <c:v>166.82621034351305</c:v>
                </c:pt>
                <c:pt idx="12">
                  <c:v>170</c:v>
                </c:pt>
                <c:pt idx="13" formatCode="_-* #,##0\ _€_-;\-* #,##0\ _€_-;_-* &quot;-&quot;??\ _€_-;_-@_-">
                  <c:v>175</c:v>
                </c:pt>
                <c:pt idx="14">
                  <c:v>175.65100925481968</c:v>
                </c:pt>
                <c:pt idx="15">
                  <c:v>179.26329113924049</c:v>
                </c:pt>
                <c:pt idx="16">
                  <c:v>182.59958800104158</c:v>
                </c:pt>
                <c:pt idx="17">
                  <c:v>184.68245629097828</c:v>
                </c:pt>
                <c:pt idx="18">
                  <c:v>185.13115602587021</c:v>
                </c:pt>
                <c:pt idx="19">
                  <c:v>186.61807598305958</c:v>
                </c:pt>
                <c:pt idx="20" formatCode="0.0">
                  <c:v>189.83352912874221</c:v>
                </c:pt>
                <c:pt idx="21" formatCode="0.00">
                  <c:v>190.2992128487476</c:v>
                </c:pt>
                <c:pt idx="22">
                  <c:v>191.26486046669788</c:v>
                </c:pt>
                <c:pt idx="23">
                  <c:v>201.84481847538899</c:v>
                </c:pt>
                <c:pt idx="24">
                  <c:v>202.49108921270573</c:v>
                </c:pt>
                <c:pt idx="25">
                  <c:v>202.75551447032603</c:v>
                </c:pt>
                <c:pt idx="26">
                  <c:v>210.03228651525515</c:v>
                </c:pt>
                <c:pt idx="27">
                  <c:v>211.51530102823753</c:v>
                </c:pt>
                <c:pt idx="28">
                  <c:v>219.6715703818812</c:v>
                </c:pt>
                <c:pt idx="29">
                  <c:v>220.88173219207957</c:v>
                </c:pt>
                <c:pt idx="30">
                  <c:v>221.64855868916129</c:v>
                </c:pt>
                <c:pt idx="31">
                  <c:v>240.6370389359476</c:v>
                </c:pt>
                <c:pt idx="32">
                  <c:v>247.65834728696927</c:v>
                </c:pt>
                <c:pt idx="33">
                  <c:v>251</c:v>
                </c:pt>
                <c:pt idx="34">
                  <c:v>253</c:v>
                </c:pt>
                <c:pt idx="35" formatCode="0.00">
                  <c:v>264.12905150436046</c:v>
                </c:pt>
                <c:pt idx="36">
                  <c:v>267.72713162129082</c:v>
                </c:pt>
                <c:pt idx="37">
                  <c:v>272.37955854236839</c:v>
                </c:pt>
                <c:pt idx="38">
                  <c:v>278.11456702549287</c:v>
                </c:pt>
                <c:pt idx="39">
                  <c:v>279.60723137633227</c:v>
                </c:pt>
                <c:pt idx="40">
                  <c:v>311.16630898148873</c:v>
                </c:pt>
                <c:pt idx="41">
                  <c:v>329.57755719680847</c:v>
                </c:pt>
                <c:pt idx="42">
                  <c:v>343</c:v>
                </c:pt>
                <c:pt idx="43" formatCode="0.00">
                  <c:v>353.86582791023102</c:v>
                </c:pt>
                <c:pt idx="44">
                  <c:v>401.38408304498267</c:v>
                </c:pt>
                <c:pt idx="45" formatCode="0.00">
                  <c:v>477.13364612410197</c:v>
                </c:pt>
              </c:numCache>
            </c:numRef>
          </c:yVal>
          <c:smooth val="0"/>
          <c:extLst>
            <c:ext xmlns:c16="http://schemas.microsoft.com/office/drawing/2014/chart" uri="{C3380CC4-5D6E-409C-BE32-E72D297353CC}">
              <c16:uniqueId val="{00000000-73B8-4D89-BFFC-EE4BDA7CF4FD}"/>
            </c:ext>
          </c:extLst>
        </c:ser>
        <c:ser>
          <c:idx val="1"/>
          <c:order val="1"/>
          <c:tx>
            <c:strRef>
              <c:f>'Graphics - World level'!$G$179</c:f>
              <c:strCache>
                <c:ptCount val="1"/>
                <c:pt idx="0">
                  <c:v>Weighted average</c:v>
                </c:pt>
              </c:strCache>
            </c:strRef>
          </c:tx>
          <c:spPr>
            <a:ln w="19050" cap="rnd">
              <a:solidFill>
                <a:schemeClr val="accent2"/>
              </a:solidFill>
              <a:round/>
            </a:ln>
            <a:effectLst/>
          </c:spPr>
          <c:marker>
            <c:symbol val="none"/>
          </c:marker>
          <c:xVal>
            <c:numRef>
              <c:f>'Graphics - World level'!$H$181:$H$226</c:f>
              <c:numCache>
                <c:formatCode>0.00%</c:formatCode>
                <c:ptCount val="46"/>
                <c:pt idx="0">
                  <c:v>1.7661765511307187E-3</c:v>
                </c:pt>
                <c:pt idx="1">
                  <c:v>1.9653668240695245E-3</c:v>
                </c:pt>
                <c:pt idx="2">
                  <c:v>3.5719428164195724E-3</c:v>
                </c:pt>
                <c:pt idx="3">
                  <c:v>1.1521899916682265E-2</c:v>
                </c:pt>
                <c:pt idx="4">
                  <c:v>9.9719591810901481E-2</c:v>
                </c:pt>
                <c:pt idx="5">
                  <c:v>0.11024619813302231</c:v>
                </c:pt>
                <c:pt idx="6">
                  <c:v>0.13799601019669955</c:v>
                </c:pt>
                <c:pt idx="7">
                  <c:v>0.13939111236101012</c:v>
                </c:pt>
                <c:pt idx="8">
                  <c:v>0.18480511039196798</c:v>
                </c:pt>
                <c:pt idx="9">
                  <c:v>0.19462661329402317</c:v>
                </c:pt>
                <c:pt idx="10">
                  <c:v>0.19875571716047377</c:v>
                </c:pt>
                <c:pt idx="11">
                  <c:v>0.21443237278355617</c:v>
                </c:pt>
                <c:pt idx="12">
                  <c:v>0.24880409594886024</c:v>
                </c:pt>
                <c:pt idx="13">
                  <c:v>0.25429486300717352</c:v>
                </c:pt>
                <c:pt idx="14">
                  <c:v>0.26535448093257391</c:v>
                </c:pt>
                <c:pt idx="15">
                  <c:v>0.27584586806649325</c:v>
                </c:pt>
                <c:pt idx="16">
                  <c:v>0.31480992370481453</c:v>
                </c:pt>
                <c:pt idx="17">
                  <c:v>0.32455460295977329</c:v>
                </c:pt>
                <c:pt idx="18">
                  <c:v>0.32989796934891419</c:v>
                </c:pt>
                <c:pt idx="19">
                  <c:v>0.35125245744697875</c:v>
                </c:pt>
                <c:pt idx="20">
                  <c:v>0.35905325344986849</c:v>
                </c:pt>
                <c:pt idx="21">
                  <c:v>0.37006387429627152</c:v>
                </c:pt>
                <c:pt idx="22">
                  <c:v>0.38101476134464918</c:v>
                </c:pt>
                <c:pt idx="23">
                  <c:v>0.38169331504794995</c:v>
                </c:pt>
                <c:pt idx="24">
                  <c:v>0.38980084654125274</c:v>
                </c:pt>
                <c:pt idx="25">
                  <c:v>0.43726629893821584</c:v>
                </c:pt>
                <c:pt idx="26">
                  <c:v>0.45404854689764829</c:v>
                </c:pt>
                <c:pt idx="27">
                  <c:v>0.46098483453958095</c:v>
                </c:pt>
                <c:pt idx="28">
                  <c:v>0.5076748956848407</c:v>
                </c:pt>
                <c:pt idx="29">
                  <c:v>0.56738272116790045</c:v>
                </c:pt>
                <c:pt idx="30">
                  <c:v>0.58505378948514097</c:v>
                </c:pt>
                <c:pt idx="31">
                  <c:v>0.61971100454273798</c:v>
                </c:pt>
                <c:pt idx="32">
                  <c:v>0.62179016042045254</c:v>
                </c:pt>
                <c:pt idx="33">
                  <c:v>0.65100668155288621</c:v>
                </c:pt>
                <c:pt idx="34">
                  <c:v>0.70993548834066023</c:v>
                </c:pt>
                <c:pt idx="35">
                  <c:v>0.7232635083081419</c:v>
                </c:pt>
                <c:pt idx="36">
                  <c:v>0.75645028693289784</c:v>
                </c:pt>
                <c:pt idx="37">
                  <c:v>0.89447677699793759</c:v>
                </c:pt>
                <c:pt idx="38">
                  <c:v>0.90077741274180512</c:v>
                </c:pt>
                <c:pt idx="39">
                  <c:v>0.92665700875380852</c:v>
                </c:pt>
                <c:pt idx="40">
                  <c:v>0.93608881088592488</c:v>
                </c:pt>
                <c:pt idx="41">
                  <c:v>0.94522369154396146</c:v>
                </c:pt>
                <c:pt idx="42">
                  <c:v>0.99214177241750834</c:v>
                </c:pt>
                <c:pt idx="43">
                  <c:v>0.99498585001906226</c:v>
                </c:pt>
                <c:pt idx="44">
                  <c:v>0.99882383847691381</c:v>
                </c:pt>
                <c:pt idx="45" formatCode="0%">
                  <c:v>1</c:v>
                </c:pt>
              </c:numCache>
            </c:numRef>
          </c:xVal>
          <c:yVal>
            <c:numRef>
              <c:f>'Graphics - World level'!$G$181:$G$226</c:f>
              <c:numCache>
                <c:formatCode>_-* #,##0\ _€_-;\-* #,##0\ _€_-;_-* "-"??\ _€_-;_-@_-</c:formatCode>
                <c:ptCount val="46"/>
                <c:pt idx="0" formatCode="0">
                  <c:v>219.33081442587749</c:v>
                </c:pt>
                <c:pt idx="1">
                  <c:v>219.33081442587749</c:v>
                </c:pt>
                <c:pt idx="2">
                  <c:v>219.33081442587749</c:v>
                </c:pt>
                <c:pt idx="3">
                  <c:v>219.33081442587749</c:v>
                </c:pt>
                <c:pt idx="4">
                  <c:v>219.33081442587749</c:v>
                </c:pt>
                <c:pt idx="5">
                  <c:v>219.33081442587749</c:v>
                </c:pt>
                <c:pt idx="6">
                  <c:v>219.33081442587749</c:v>
                </c:pt>
                <c:pt idx="7">
                  <c:v>219.33081442587749</c:v>
                </c:pt>
                <c:pt idx="8">
                  <c:v>219.33081442587749</c:v>
                </c:pt>
                <c:pt idx="9">
                  <c:v>219.33081442587749</c:v>
                </c:pt>
                <c:pt idx="10">
                  <c:v>219.33081442587749</c:v>
                </c:pt>
                <c:pt idx="11">
                  <c:v>219.33081442587749</c:v>
                </c:pt>
                <c:pt idx="12">
                  <c:v>219.33081442587749</c:v>
                </c:pt>
                <c:pt idx="13">
                  <c:v>219.33081442587749</c:v>
                </c:pt>
                <c:pt idx="14">
                  <c:v>219.33081442587749</c:v>
                </c:pt>
                <c:pt idx="15">
                  <c:v>219.33081442587749</c:v>
                </c:pt>
                <c:pt idx="16">
                  <c:v>219.33081442587749</c:v>
                </c:pt>
                <c:pt idx="17">
                  <c:v>219.33081442587749</c:v>
                </c:pt>
                <c:pt idx="18">
                  <c:v>219.33081442587749</c:v>
                </c:pt>
                <c:pt idx="19">
                  <c:v>219.33081442587749</c:v>
                </c:pt>
                <c:pt idx="20">
                  <c:v>219.33081442587749</c:v>
                </c:pt>
                <c:pt idx="21">
                  <c:v>219.33081442587749</c:v>
                </c:pt>
                <c:pt idx="22">
                  <c:v>219.33081442587749</c:v>
                </c:pt>
                <c:pt idx="23">
                  <c:v>219.33081442587749</c:v>
                </c:pt>
                <c:pt idx="24">
                  <c:v>219.33081442587749</c:v>
                </c:pt>
                <c:pt idx="25">
                  <c:v>219.33081442587749</c:v>
                </c:pt>
                <c:pt idx="26">
                  <c:v>219.33081442587749</c:v>
                </c:pt>
                <c:pt idx="27">
                  <c:v>219.33081442587749</c:v>
                </c:pt>
                <c:pt idx="28">
                  <c:v>219.33081442587749</c:v>
                </c:pt>
                <c:pt idx="29">
                  <c:v>219.33081442587749</c:v>
                </c:pt>
                <c:pt idx="30">
                  <c:v>219.33081442587749</c:v>
                </c:pt>
                <c:pt idx="31">
                  <c:v>219.33081442587749</c:v>
                </c:pt>
                <c:pt idx="32">
                  <c:v>219.33081442587749</c:v>
                </c:pt>
                <c:pt idx="33">
                  <c:v>219.33081442587749</c:v>
                </c:pt>
                <c:pt idx="34">
                  <c:v>219.33081442587749</c:v>
                </c:pt>
                <c:pt idx="35">
                  <c:v>219.33081442587749</c:v>
                </c:pt>
                <c:pt idx="36">
                  <c:v>219.33081442587749</c:v>
                </c:pt>
                <c:pt idx="37">
                  <c:v>219.33081442587749</c:v>
                </c:pt>
                <c:pt idx="38">
                  <c:v>219.33081442587749</c:v>
                </c:pt>
                <c:pt idx="39">
                  <c:v>219.33081442587749</c:v>
                </c:pt>
                <c:pt idx="40">
                  <c:v>219.33081442587749</c:v>
                </c:pt>
                <c:pt idx="41">
                  <c:v>219.33081442587749</c:v>
                </c:pt>
                <c:pt idx="42">
                  <c:v>219.33081442587749</c:v>
                </c:pt>
                <c:pt idx="43">
                  <c:v>219.33081442587749</c:v>
                </c:pt>
                <c:pt idx="44">
                  <c:v>219.33081442587749</c:v>
                </c:pt>
                <c:pt idx="45">
                  <c:v>219.33081442587749</c:v>
                </c:pt>
              </c:numCache>
            </c:numRef>
          </c:yVal>
          <c:smooth val="0"/>
          <c:extLst>
            <c:ext xmlns:c16="http://schemas.microsoft.com/office/drawing/2014/chart" uri="{C3380CC4-5D6E-409C-BE32-E72D297353CC}">
              <c16:uniqueId val="{00000001-73B8-4D89-BFFC-EE4BDA7CF4FD}"/>
            </c:ext>
          </c:extLst>
        </c:ser>
        <c:dLbls>
          <c:showLegendKey val="0"/>
          <c:showVal val="0"/>
          <c:showCatName val="0"/>
          <c:showSerName val="0"/>
          <c:showPercent val="0"/>
          <c:showBubbleSize val="0"/>
        </c:dLbls>
        <c:axId val="301664960"/>
        <c:axId val="25662944"/>
      </c:scatterChart>
      <c:valAx>
        <c:axId val="301664960"/>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25662944"/>
        <c:crosses val="autoZero"/>
        <c:crossBetween val="midCat"/>
      </c:valAx>
      <c:valAx>
        <c:axId val="25662944"/>
        <c:scaling>
          <c:orientation val="minMax"/>
          <c:max val="5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r>
                  <a:rPr lang="fr-FR" sz="1050" b="1"/>
                  <a:t>Litres/m3 water withdrawal per uit</a:t>
                </a:r>
              </a:p>
            </c:rich>
          </c:tx>
          <c:overlay val="0"/>
          <c:spPr>
            <a:noFill/>
            <a:ln>
              <a:noFill/>
            </a:ln>
            <a:effectLst/>
          </c:spPr>
          <c:txPr>
            <a:bodyPr rot="-54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s-CL"/>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30166496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fr-FR" sz="1400" b="1" i="0" baseline="0" dirty="0">
                <a:effectLst/>
              </a:rPr>
              <a:t>Water </a:t>
            </a:r>
            <a:r>
              <a:rPr lang="fr-FR" sz="1400" b="1" i="0" baseline="0" dirty="0" err="1">
                <a:effectLst/>
              </a:rPr>
              <a:t>withdrawal</a:t>
            </a:r>
            <a:r>
              <a:rPr lang="fr-FR" sz="1400" b="1" i="0" baseline="0" dirty="0">
                <a:effectLst/>
              </a:rPr>
              <a:t> per unit</a:t>
            </a:r>
            <a:br>
              <a:rPr lang="fr-FR" sz="1800" b="1" i="0" baseline="0" dirty="0">
                <a:effectLst/>
              </a:rPr>
            </a:br>
            <a:r>
              <a:rPr lang="fr-FR" sz="1100" b="0" i="0" baseline="0" dirty="0">
                <a:effectLst/>
              </a:rPr>
              <a:t>100% of GNR pilot </a:t>
            </a:r>
            <a:r>
              <a:rPr lang="fr-FR" sz="1100" b="0" i="0" baseline="0" dirty="0" err="1">
                <a:effectLst/>
              </a:rPr>
              <a:t>sample</a:t>
            </a:r>
            <a:r>
              <a:rPr lang="fr-FR" sz="1100" b="0" i="0" baseline="0" dirty="0">
                <a:effectLst/>
              </a:rPr>
              <a:t> - Europe (</a:t>
            </a:r>
            <a:r>
              <a:rPr lang="fr-FR" sz="1100" b="0" i="0" baseline="0" dirty="0" err="1">
                <a:effectLst/>
              </a:rPr>
              <a:t>coverage</a:t>
            </a:r>
            <a:r>
              <a:rPr lang="fr-FR" sz="1100" b="0" i="0" baseline="0" dirty="0">
                <a:effectLst/>
              </a:rPr>
              <a:t>: 38M m</a:t>
            </a:r>
            <a:r>
              <a:rPr lang="fr-FR" sz="1100" b="0" i="0" baseline="30000" dirty="0">
                <a:effectLst/>
              </a:rPr>
              <a:t>3 </a:t>
            </a:r>
            <a:r>
              <a:rPr lang="fr-FR" sz="1100" b="0" i="0" baseline="0" dirty="0">
                <a:effectLst/>
              </a:rPr>
              <a:t>in 2019) </a:t>
            </a:r>
            <a:endParaRPr lang="fr-FR" sz="1100" dirty="0">
              <a:effectLst/>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Europe'!$H$121:$H$147</c:f>
              <c:numCache>
                <c:formatCode>0.00%</c:formatCode>
                <c:ptCount val="27"/>
                <c:pt idx="0">
                  <c:v>3.4856469264462871E-3</c:v>
                </c:pt>
                <c:pt idx="1">
                  <c:v>3.8787599265043193E-3</c:v>
                </c:pt>
                <c:pt idx="2">
                  <c:v>7.0494263393565378E-3</c:v>
                </c:pt>
                <c:pt idx="3">
                  <c:v>2.2739105558667812E-2</c:v>
                </c:pt>
                <c:pt idx="4">
                  <c:v>0.19680211951609211</c:v>
                </c:pt>
                <c:pt idx="5">
                  <c:v>0.21757695822013901</c:v>
                </c:pt>
                <c:pt idx="6">
                  <c:v>0.27234274427210192</c:v>
                </c:pt>
                <c:pt idx="7">
                  <c:v>0.27509605541078425</c:v>
                </c:pt>
                <c:pt idx="8">
                  <c:v>0.36472308763069627</c:v>
                </c:pt>
                <c:pt idx="9">
                  <c:v>0.38410636580960478</c:v>
                </c:pt>
                <c:pt idx="10">
                  <c:v>0.39225538023959294</c:v>
                </c:pt>
                <c:pt idx="11">
                  <c:v>0.42319412555051394</c:v>
                </c:pt>
                <c:pt idx="12">
                  <c:v>0.49102861872793896</c:v>
                </c:pt>
                <c:pt idx="13">
                  <c:v>0.51173395041977476</c:v>
                </c:pt>
                <c:pt idx="14">
                  <c:v>0.53096561289004496</c:v>
                </c:pt>
                <c:pt idx="15">
                  <c:v>0.54151104144262174</c:v>
                </c:pt>
                <c:pt idx="16">
                  <c:v>0.58365530259091936</c:v>
                </c:pt>
                <c:pt idx="17">
                  <c:v>0.60526748273089492</c:v>
                </c:pt>
                <c:pt idx="18">
                  <c:v>0.60660664592430547</c:v>
                </c:pt>
                <c:pt idx="19">
                  <c:v>0.62260730690726618</c:v>
                </c:pt>
                <c:pt idx="20">
                  <c:v>0.71628299757020475</c:v>
                </c:pt>
                <c:pt idx="21">
                  <c:v>0.7494036903917719</c:v>
                </c:pt>
                <c:pt idx="22">
                  <c:v>0.84154910361355495</c:v>
                </c:pt>
                <c:pt idx="23">
                  <c:v>0.876423932479094</c:v>
                </c:pt>
                <c:pt idx="24">
                  <c:v>0.94482185966670285</c:v>
                </c:pt>
                <c:pt idx="25">
                  <c:v>0.94892518857236552</c:v>
                </c:pt>
                <c:pt idx="26" formatCode="0%">
                  <c:v>1</c:v>
                </c:pt>
              </c:numCache>
            </c:numRef>
          </c:xVal>
          <c:yVal>
            <c:numRef>
              <c:f>'Graphics - Europe'!$D$121:$D$147</c:f>
              <c:numCache>
                <c:formatCode>0</c:formatCode>
                <c:ptCount val="27"/>
                <c:pt idx="0">
                  <c:v>95.562701303115162</c:v>
                </c:pt>
                <c:pt idx="1">
                  <c:v>103.47356490432695</c:v>
                </c:pt>
                <c:pt idx="2">
                  <c:v>113.90787927583355</c:v>
                </c:pt>
                <c:pt idx="3">
                  <c:v>115.92456497426035</c:v>
                </c:pt>
                <c:pt idx="4">
                  <c:v>128.54259438776356</c:v>
                </c:pt>
                <c:pt idx="5">
                  <c:v>133.86618591765364</c:v>
                </c:pt>
                <c:pt idx="6">
                  <c:v>144.73211238204024</c:v>
                </c:pt>
                <c:pt idx="7">
                  <c:v>154.22033107728626</c:v>
                </c:pt>
                <c:pt idx="8">
                  <c:v>154.30392964752829</c:v>
                </c:pt>
                <c:pt idx="9">
                  <c:v>160.16002219758857</c:v>
                </c:pt>
                <c:pt idx="10">
                  <c:v>166.43372857313088</c:v>
                </c:pt>
                <c:pt idx="11">
                  <c:v>166.82621034351305</c:v>
                </c:pt>
                <c:pt idx="12">
                  <c:v>170</c:v>
                </c:pt>
                <c:pt idx="13">
                  <c:v>179.26329113924049</c:v>
                </c:pt>
                <c:pt idx="14">
                  <c:v>184.68245629097828</c:v>
                </c:pt>
                <c:pt idx="15">
                  <c:v>185.13115602587021</c:v>
                </c:pt>
                <c:pt idx="16">
                  <c:v>186.61807598305958</c:v>
                </c:pt>
                <c:pt idx="17">
                  <c:v>191.26486046669788</c:v>
                </c:pt>
                <c:pt idx="18">
                  <c:v>201.84481847538899</c:v>
                </c:pt>
                <c:pt idx="19">
                  <c:v>202.49108921270573</c:v>
                </c:pt>
                <c:pt idx="20">
                  <c:v>202.75551447032603</c:v>
                </c:pt>
                <c:pt idx="21">
                  <c:v>210.03228651525515</c:v>
                </c:pt>
                <c:pt idx="22">
                  <c:v>219.6715703818812</c:v>
                </c:pt>
                <c:pt idx="23">
                  <c:v>221.64855868916129</c:v>
                </c:pt>
                <c:pt idx="24">
                  <c:v>240.6370389359476</c:v>
                </c:pt>
                <c:pt idx="25">
                  <c:v>247.65834728696927</c:v>
                </c:pt>
                <c:pt idx="26">
                  <c:v>279.60723137633227</c:v>
                </c:pt>
              </c:numCache>
            </c:numRef>
          </c:yVal>
          <c:smooth val="0"/>
          <c:extLst>
            <c:ext xmlns:c16="http://schemas.microsoft.com/office/drawing/2014/chart" uri="{C3380CC4-5D6E-409C-BE32-E72D297353CC}">
              <c16:uniqueId val="{00000000-907D-4694-BC74-F5F74BEF953B}"/>
            </c:ext>
          </c:extLst>
        </c:ser>
        <c:ser>
          <c:idx val="1"/>
          <c:order val="1"/>
          <c:tx>
            <c:strRef>
              <c:f>'Graphics - Europe'!$G$118</c:f>
              <c:strCache>
                <c:ptCount val="1"/>
                <c:pt idx="0">
                  <c:v>Weighted average</c:v>
                </c:pt>
              </c:strCache>
            </c:strRef>
          </c:tx>
          <c:spPr>
            <a:ln w="19050" cap="rnd">
              <a:solidFill>
                <a:schemeClr val="accent2"/>
              </a:solidFill>
              <a:round/>
            </a:ln>
            <a:effectLst/>
          </c:spPr>
          <c:marker>
            <c:symbol val="none"/>
          </c:marker>
          <c:xVal>
            <c:numRef>
              <c:f>'Graphics - Europe'!$F$120:$F$148</c:f>
              <c:numCache>
                <c:formatCode>_-* #,##0\ _€_-;\-* #,##0\ _€_-;_-* "-"??\ _€_-;_-@_-</c:formatCode>
                <c:ptCount val="29"/>
                <c:pt idx="0" formatCode="0">
                  <c:v>0</c:v>
                </c:pt>
                <c:pt idx="1">
                  <c:v>132992.85</c:v>
                </c:pt>
                <c:pt idx="2">
                  <c:v>147991.85</c:v>
                </c:pt>
                <c:pt idx="3">
                  <c:v>268966.8</c:v>
                </c:pt>
                <c:pt idx="4">
                  <c:v>867597.47</c:v>
                </c:pt>
                <c:pt idx="5">
                  <c:v>7508871.4699999997</c:v>
                </c:pt>
                <c:pt idx="6">
                  <c:v>8301523.4699999997</c:v>
                </c:pt>
                <c:pt idx="7">
                  <c:v>10391080.48</c:v>
                </c:pt>
                <c:pt idx="8">
                  <c:v>10496131.48</c:v>
                </c:pt>
                <c:pt idx="9">
                  <c:v>13915799.25</c:v>
                </c:pt>
                <c:pt idx="10">
                  <c:v>14655357.060000001</c:v>
                </c:pt>
                <c:pt idx="11">
                  <c:v>14966278.01</c:v>
                </c:pt>
                <c:pt idx="12">
                  <c:v>16146728.01</c:v>
                </c:pt>
                <c:pt idx="13">
                  <c:v>18734914.009999998</c:v>
                </c:pt>
                <c:pt idx="14">
                  <c:v>19524914.009999998</c:v>
                </c:pt>
                <c:pt idx="15">
                  <c:v>20258687.009999998</c:v>
                </c:pt>
                <c:pt idx="16">
                  <c:v>20661041.759999998</c:v>
                </c:pt>
                <c:pt idx="17">
                  <c:v>22269031.759999998</c:v>
                </c:pt>
                <c:pt idx="18">
                  <c:v>23093632.039999999</c:v>
                </c:pt>
                <c:pt idx="19">
                  <c:v>23144727.039999999</c:v>
                </c:pt>
                <c:pt idx="20">
                  <c:v>23755223.039999999</c:v>
                </c:pt>
                <c:pt idx="21">
                  <c:v>27329365.039999999</c:v>
                </c:pt>
                <c:pt idx="22">
                  <c:v>28593065.989999998</c:v>
                </c:pt>
                <c:pt idx="23">
                  <c:v>32108821.136</c:v>
                </c:pt>
                <c:pt idx="24">
                  <c:v>33439450.136</c:v>
                </c:pt>
                <c:pt idx="25">
                  <c:v>36049133.636</c:v>
                </c:pt>
                <c:pt idx="26">
                  <c:v>36205693.785999998</c:v>
                </c:pt>
                <c:pt idx="27">
                  <c:v>38154423.785999998</c:v>
                </c:pt>
                <c:pt idx="28">
                  <c:v>40000000</c:v>
                </c:pt>
              </c:numCache>
            </c:numRef>
          </c:xVal>
          <c:yVal>
            <c:numRef>
              <c:f>'Graphics - Europe'!$G$120:$G$148</c:f>
              <c:numCache>
                <c:formatCode>0</c:formatCode>
                <c:ptCount val="29"/>
                <c:pt idx="0" formatCode="_-* #,##0\ _€_-;\-* #,##0\ _€_-;_-* &quot;-&quot;??\ _€_-;_-@_-">
                  <c:v>181.44617564113881</c:v>
                </c:pt>
                <c:pt idx="1">
                  <c:v>181.44617564113881</c:v>
                </c:pt>
                <c:pt idx="2" formatCode="_-* #,##0\ _€_-;\-* #,##0\ _€_-;_-* &quot;-&quot;??\ _€_-;_-@_-">
                  <c:v>181.44617564113881</c:v>
                </c:pt>
                <c:pt idx="3" formatCode="_-* #,##0\ _€_-;\-* #,##0\ _€_-;_-* &quot;-&quot;??\ _€_-;_-@_-">
                  <c:v>181.44617564113881</c:v>
                </c:pt>
                <c:pt idx="4" formatCode="_-* #,##0\ _€_-;\-* #,##0\ _€_-;_-* &quot;-&quot;??\ _€_-;_-@_-">
                  <c:v>181.44617564113881</c:v>
                </c:pt>
                <c:pt idx="5" formatCode="_-* #,##0\ _€_-;\-* #,##0\ _€_-;_-* &quot;-&quot;??\ _€_-;_-@_-">
                  <c:v>181.44617564113881</c:v>
                </c:pt>
                <c:pt idx="6" formatCode="_-* #,##0\ _€_-;\-* #,##0\ _€_-;_-* &quot;-&quot;??\ _€_-;_-@_-">
                  <c:v>181.44617564113881</c:v>
                </c:pt>
                <c:pt idx="7" formatCode="_-* #,##0\ _€_-;\-* #,##0\ _€_-;_-* &quot;-&quot;??\ _€_-;_-@_-">
                  <c:v>181.44617564113881</c:v>
                </c:pt>
                <c:pt idx="8" formatCode="_-* #,##0\ _€_-;\-* #,##0\ _€_-;_-* &quot;-&quot;??\ _€_-;_-@_-">
                  <c:v>181.44617564113881</c:v>
                </c:pt>
                <c:pt idx="9" formatCode="_-* #,##0\ _€_-;\-* #,##0\ _€_-;_-* &quot;-&quot;??\ _€_-;_-@_-">
                  <c:v>181.44617564113881</c:v>
                </c:pt>
                <c:pt idx="10" formatCode="_-* #,##0\ _€_-;\-* #,##0\ _€_-;_-* &quot;-&quot;??\ _€_-;_-@_-">
                  <c:v>181.44617564113881</c:v>
                </c:pt>
                <c:pt idx="11" formatCode="_-* #,##0\ _€_-;\-* #,##0\ _€_-;_-* &quot;-&quot;??\ _€_-;_-@_-">
                  <c:v>181.44617564113881</c:v>
                </c:pt>
                <c:pt idx="12" formatCode="_-* #,##0\ _€_-;\-* #,##0\ _€_-;_-* &quot;-&quot;??\ _€_-;_-@_-">
                  <c:v>181.44617564113881</c:v>
                </c:pt>
                <c:pt idx="13" formatCode="_-* #,##0\ _€_-;\-* #,##0\ _€_-;_-* &quot;-&quot;??\ _€_-;_-@_-">
                  <c:v>181.44617564113881</c:v>
                </c:pt>
                <c:pt idx="14" formatCode="_-* #,##0\ _€_-;\-* #,##0\ _€_-;_-* &quot;-&quot;??\ _€_-;_-@_-">
                  <c:v>181.44617564113881</c:v>
                </c:pt>
                <c:pt idx="15" formatCode="_-* #,##0\ _€_-;\-* #,##0\ _€_-;_-* &quot;-&quot;??\ _€_-;_-@_-">
                  <c:v>181.44617564113881</c:v>
                </c:pt>
                <c:pt idx="16" formatCode="_-* #,##0\ _€_-;\-* #,##0\ _€_-;_-* &quot;-&quot;??\ _€_-;_-@_-">
                  <c:v>181.44617564113881</c:v>
                </c:pt>
                <c:pt idx="17" formatCode="_-* #,##0\ _€_-;\-* #,##0\ _€_-;_-* &quot;-&quot;??\ _€_-;_-@_-">
                  <c:v>181.44617564113881</c:v>
                </c:pt>
                <c:pt idx="18" formatCode="_-* #,##0\ _€_-;\-* #,##0\ _€_-;_-* &quot;-&quot;??\ _€_-;_-@_-">
                  <c:v>181.44617564113881</c:v>
                </c:pt>
                <c:pt idx="19" formatCode="_-* #,##0\ _€_-;\-* #,##0\ _€_-;_-* &quot;-&quot;??\ _€_-;_-@_-">
                  <c:v>181.44617564113881</c:v>
                </c:pt>
                <c:pt idx="20" formatCode="_-* #,##0\ _€_-;\-* #,##0\ _€_-;_-* &quot;-&quot;??\ _€_-;_-@_-">
                  <c:v>181.44617564113881</c:v>
                </c:pt>
                <c:pt idx="21" formatCode="_-* #,##0\ _€_-;\-* #,##0\ _€_-;_-* &quot;-&quot;??\ _€_-;_-@_-">
                  <c:v>181.44617564113881</c:v>
                </c:pt>
                <c:pt idx="22" formatCode="_-* #,##0\ _€_-;\-* #,##0\ _€_-;_-* &quot;-&quot;??\ _€_-;_-@_-">
                  <c:v>181.44617564113881</c:v>
                </c:pt>
                <c:pt idx="23" formatCode="_-* #,##0\ _€_-;\-* #,##0\ _€_-;_-* &quot;-&quot;??\ _€_-;_-@_-">
                  <c:v>181.44617564113881</c:v>
                </c:pt>
                <c:pt idx="24" formatCode="_-* #,##0\ _€_-;\-* #,##0\ _€_-;_-* &quot;-&quot;??\ _€_-;_-@_-">
                  <c:v>181.44617564113881</c:v>
                </c:pt>
                <c:pt idx="25" formatCode="_-* #,##0\ _€_-;\-* #,##0\ _€_-;_-* &quot;-&quot;??\ _€_-;_-@_-">
                  <c:v>181.44617564113881</c:v>
                </c:pt>
                <c:pt idx="26" formatCode="_-* #,##0\ _€_-;\-* #,##0\ _€_-;_-* &quot;-&quot;??\ _€_-;_-@_-">
                  <c:v>181.44617564113881</c:v>
                </c:pt>
                <c:pt idx="27" formatCode="_-* #,##0\ _€_-;\-* #,##0\ _€_-;_-* &quot;-&quot;??\ _€_-;_-@_-">
                  <c:v>181.44617564113881</c:v>
                </c:pt>
                <c:pt idx="28" formatCode="_-* #,##0\ _€_-;\-* #,##0\ _€_-;_-* &quot;-&quot;??\ _€_-;_-@_-">
                  <c:v>181.44617564113881</c:v>
                </c:pt>
              </c:numCache>
            </c:numRef>
          </c:yVal>
          <c:smooth val="0"/>
          <c:extLst>
            <c:ext xmlns:c16="http://schemas.microsoft.com/office/drawing/2014/chart" uri="{C3380CC4-5D6E-409C-BE32-E72D297353CC}">
              <c16:uniqueId val="{00000001-907D-4694-BC74-F5F74BEF953B}"/>
            </c:ext>
          </c:extLst>
        </c:ser>
        <c:dLbls>
          <c:showLegendKey val="0"/>
          <c:showVal val="0"/>
          <c:showCatName val="0"/>
          <c:showSerName val="0"/>
          <c:showPercent val="0"/>
          <c:showBubbleSize val="0"/>
        </c:dLbls>
        <c:axId val="1041995136"/>
        <c:axId val="1250197552"/>
      </c:scatterChart>
      <c:valAx>
        <c:axId val="1041995136"/>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250197552"/>
        <c:crosses val="autoZero"/>
        <c:crossBetween val="midCat"/>
      </c:valAx>
      <c:valAx>
        <c:axId val="12501975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Litres/m3 water withdrawal per uit</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041995136"/>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fr-FR" sz="1400" b="1" i="0" u="none" strike="noStrike" baseline="0" dirty="0">
                <a:effectLst/>
              </a:rPr>
              <a:t>Water </a:t>
            </a:r>
            <a:r>
              <a:rPr lang="fr-FR" sz="1400" b="1" i="0" u="none" strike="noStrike" baseline="0" dirty="0" err="1">
                <a:effectLst/>
              </a:rPr>
              <a:t>withdrawal</a:t>
            </a:r>
            <a:r>
              <a:rPr lang="fr-FR" sz="1400" b="1" i="0" u="none" strike="noStrike" baseline="0" dirty="0">
                <a:effectLst/>
              </a:rPr>
              <a:t> per unit</a:t>
            </a:r>
          </a:p>
          <a:p>
            <a:pPr marL="0" marR="0" lvl="0" indent="0" algn="ctr" defTabSz="914400" rtl="0" eaLnBrk="1" fontAlgn="auto" latinLnBrk="0" hangingPunct="1">
              <a:lnSpc>
                <a:spcPct val="100000"/>
              </a:lnSpc>
              <a:spcBef>
                <a:spcPts val="0"/>
              </a:spcBef>
              <a:spcAft>
                <a:spcPts val="0"/>
              </a:spcAft>
              <a:buClrTx/>
              <a:buSzTx/>
              <a:buFontTx/>
              <a:buNone/>
              <a:tabLst/>
              <a:defRPr>
                <a:solidFill>
                  <a:sysClr val="windowText" lastClr="000000">
                    <a:lumMod val="65000"/>
                    <a:lumOff val="35000"/>
                  </a:sysClr>
                </a:solidFill>
              </a:defRPr>
            </a:pPr>
            <a:r>
              <a:rPr lang="fr-FR" sz="1100" b="0" i="0" u="none" strike="noStrike" baseline="0" dirty="0">
                <a:effectLst/>
              </a:rPr>
              <a:t>100% of GNR pilot </a:t>
            </a:r>
            <a:r>
              <a:rPr lang="fr-FR" sz="1100" b="0" i="0" u="none" strike="noStrike" baseline="0" dirty="0" err="1">
                <a:effectLst/>
              </a:rPr>
              <a:t>sample</a:t>
            </a:r>
            <a:r>
              <a:rPr lang="fr-FR" sz="1100" b="0" i="0" u="none" strike="noStrike" baseline="0" dirty="0">
                <a:effectLst/>
              </a:rPr>
              <a:t> - North America (</a:t>
            </a:r>
            <a:r>
              <a:rPr lang="fr-FR" sz="1100" b="0" i="0" u="none" strike="noStrike" baseline="0" dirty="0" err="1">
                <a:effectLst/>
              </a:rPr>
              <a:t>coverage</a:t>
            </a:r>
            <a:r>
              <a:rPr lang="fr-FR" sz="1100" b="0" i="0" u="none" strike="noStrike" baseline="0" dirty="0">
                <a:effectLst/>
              </a:rPr>
              <a:t>: 25M m</a:t>
            </a:r>
            <a:r>
              <a:rPr lang="fr-FR" sz="1100" b="0" i="0" u="none" strike="noStrike" baseline="30000" dirty="0">
                <a:effectLst/>
              </a:rPr>
              <a:t>3</a:t>
            </a:r>
            <a:r>
              <a:rPr lang="fr-FR" sz="1100" b="0" i="0" u="none" strike="noStrike" baseline="0" dirty="0">
                <a:effectLst/>
              </a:rPr>
              <a:t> in 2019) </a:t>
            </a:r>
            <a:endParaRPr lang="fr-FR" sz="1050" dirty="0">
              <a:effectLst/>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s-CL"/>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'Graphics - North America'!$H$71:$H$79</c:f>
              <c:numCache>
                <c:formatCode>0.00%</c:formatCode>
                <c:ptCount val="9"/>
                <c:pt idx="0">
                  <c:v>0.11579910308071084</c:v>
                </c:pt>
                <c:pt idx="1">
                  <c:v>0.13898265432176296</c:v>
                </c:pt>
                <c:pt idx="2">
                  <c:v>0.17170563445017817</c:v>
                </c:pt>
                <c:pt idx="3">
                  <c:v>0.34915411933114843</c:v>
                </c:pt>
                <c:pt idx="4">
                  <c:v>0.43598406777591503</c:v>
                </c:pt>
                <c:pt idx="5">
                  <c:v>0.53461341053625233</c:v>
                </c:pt>
                <c:pt idx="6">
                  <c:v>0.94482080525084633</c:v>
                </c:pt>
                <c:pt idx="7">
                  <c:v>0.9728516200477445</c:v>
                </c:pt>
                <c:pt idx="8" formatCode="0%">
                  <c:v>1</c:v>
                </c:pt>
              </c:numCache>
            </c:numRef>
          </c:xVal>
          <c:yVal>
            <c:numRef>
              <c:f>'Graphics - North America'!$D$71:$D$79</c:f>
              <c:numCache>
                <c:formatCode>0.0</c:formatCode>
                <c:ptCount val="9"/>
                <c:pt idx="0">
                  <c:v>182.59958800104158</c:v>
                </c:pt>
                <c:pt idx="1">
                  <c:v>189.83352912874221</c:v>
                </c:pt>
                <c:pt idx="2" formatCode="0.00">
                  <c:v>190.2992128487476</c:v>
                </c:pt>
                <c:pt idx="3" formatCode="0">
                  <c:v>220.88173219207957</c:v>
                </c:pt>
                <c:pt idx="4" formatCode="0">
                  <c:v>251</c:v>
                </c:pt>
                <c:pt idx="5" formatCode="0">
                  <c:v>267.72713162129082</c:v>
                </c:pt>
                <c:pt idx="6" formatCode="0">
                  <c:v>272.37955854236839</c:v>
                </c:pt>
                <c:pt idx="7" formatCode="0">
                  <c:v>311.16630898148873</c:v>
                </c:pt>
                <c:pt idx="8" formatCode="0">
                  <c:v>329.57755719680847</c:v>
                </c:pt>
              </c:numCache>
            </c:numRef>
          </c:yVal>
          <c:smooth val="0"/>
          <c:extLst>
            <c:ext xmlns:c16="http://schemas.microsoft.com/office/drawing/2014/chart" uri="{C3380CC4-5D6E-409C-BE32-E72D297353CC}">
              <c16:uniqueId val="{00000000-62ED-4A77-AFC0-DE0F9E3F4601}"/>
            </c:ext>
          </c:extLst>
        </c:ser>
        <c:ser>
          <c:idx val="1"/>
          <c:order val="1"/>
          <c:tx>
            <c:strRef>
              <c:f>'Graphics - North America'!$G$68</c:f>
              <c:strCache>
                <c:ptCount val="1"/>
                <c:pt idx="0">
                  <c:v>Weighted average</c:v>
                </c:pt>
              </c:strCache>
            </c:strRef>
          </c:tx>
          <c:spPr>
            <a:ln w="19050" cap="rnd">
              <a:solidFill>
                <a:schemeClr val="accent2"/>
              </a:solidFill>
              <a:round/>
            </a:ln>
            <a:effectLst/>
          </c:spPr>
          <c:marker>
            <c:symbol val="none"/>
          </c:marker>
          <c:xVal>
            <c:numRef>
              <c:f>'Graphics - North America'!$F$70:$F$80</c:f>
              <c:numCache>
                <c:formatCode>_-* #,##0\ _€_-;\-* #,##0\ _€_-;_-* "-"??\ _€_-;_-@_-</c:formatCode>
                <c:ptCount val="11"/>
                <c:pt idx="0" formatCode="0">
                  <c:v>0</c:v>
                </c:pt>
                <c:pt idx="1">
                  <c:v>2933988</c:v>
                </c:pt>
                <c:pt idx="2">
                  <c:v>3521386.8600000003</c:v>
                </c:pt>
                <c:pt idx="3">
                  <c:v>4350485.0867288504</c:v>
                </c:pt>
                <c:pt idx="4">
                  <c:v>8846476.0867288504</c:v>
                </c:pt>
                <c:pt idx="5">
                  <c:v>11046476.08672885</c:v>
                </c:pt>
                <c:pt idx="6">
                  <c:v>13545435.92672885</c:v>
                </c:pt>
                <c:pt idx="7">
                  <c:v>23938811.53659885</c:v>
                </c:pt>
                <c:pt idx="8">
                  <c:v>24649024.932526451</c:v>
                </c:pt>
                <c:pt idx="9">
                  <c:v>25336880.182526451</c:v>
                </c:pt>
                <c:pt idx="10">
                  <c:v>30000000</c:v>
                </c:pt>
              </c:numCache>
            </c:numRef>
          </c:xVal>
          <c:yVal>
            <c:numRef>
              <c:f>'Graphics - North America'!$G$70:$G$80</c:f>
              <c:numCache>
                <c:formatCode>_-* #,##0\ _€_-;\-* #,##0\ _€_-;_-* "-"??\ _€_-;_-@_-</c:formatCode>
                <c:ptCount val="11"/>
                <c:pt idx="0">
                  <c:v>248.8554309292316</c:v>
                </c:pt>
                <c:pt idx="1">
                  <c:v>248.8554309292316</c:v>
                </c:pt>
                <c:pt idx="2">
                  <c:v>248.8554309292316</c:v>
                </c:pt>
                <c:pt idx="3">
                  <c:v>248.8554309292316</c:v>
                </c:pt>
                <c:pt idx="4">
                  <c:v>248.8554309292316</c:v>
                </c:pt>
                <c:pt idx="5">
                  <c:v>248.8554309292316</c:v>
                </c:pt>
                <c:pt idx="6">
                  <c:v>248.8554309292316</c:v>
                </c:pt>
                <c:pt idx="7">
                  <c:v>248.8554309292316</c:v>
                </c:pt>
                <c:pt idx="8">
                  <c:v>248.8554309292316</c:v>
                </c:pt>
                <c:pt idx="9">
                  <c:v>248.8554309292316</c:v>
                </c:pt>
                <c:pt idx="10">
                  <c:v>248.8554309292316</c:v>
                </c:pt>
              </c:numCache>
            </c:numRef>
          </c:yVal>
          <c:smooth val="0"/>
          <c:extLst>
            <c:ext xmlns:c16="http://schemas.microsoft.com/office/drawing/2014/chart" uri="{C3380CC4-5D6E-409C-BE32-E72D297353CC}">
              <c16:uniqueId val="{00000001-62ED-4A77-AFC0-DE0F9E3F4601}"/>
            </c:ext>
          </c:extLst>
        </c:ser>
        <c:dLbls>
          <c:showLegendKey val="0"/>
          <c:showVal val="0"/>
          <c:showCatName val="0"/>
          <c:showSerName val="0"/>
          <c:showPercent val="0"/>
          <c:showBubbleSize val="0"/>
        </c:dLbls>
        <c:axId val="1213299983"/>
        <c:axId val="1473878687"/>
      </c:scatterChart>
      <c:valAx>
        <c:axId val="1213299983"/>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m3 concrete production</a:t>
                </a:r>
                <a:endParaRPr lang="fr-FR" sz="1100">
                  <a:effectLst/>
                </a:endParaRPr>
              </a:p>
            </c:rich>
          </c:tx>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473878687"/>
        <c:crosses val="autoZero"/>
        <c:crossBetween val="midCat"/>
      </c:valAx>
      <c:valAx>
        <c:axId val="147387868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fr-FR" sz="1100" b="1" i="0" baseline="0">
                    <a:effectLst/>
                  </a:rPr>
                  <a:t>Litres/m3 water withdrawal per uit</a:t>
                </a:r>
                <a:endParaRPr lang="fr-FR" sz="1100">
                  <a:effectLst/>
                </a:endParaRPr>
              </a:p>
            </c:rich>
          </c:tx>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L"/>
          </a:p>
        </c:txPr>
        <c:crossAx val="1213299983"/>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0-08-24T11:50:26.120" idx="1">
    <p:pos x="3128" y="1476"/>
    <p:text>Cual es esta?</p:text>
    <p:extLst>
      <p:ext uri="{C676402C-5697-4E1C-873F-D02D1690AC5C}">
        <p15:threadingInfo xmlns:p15="http://schemas.microsoft.com/office/powerpoint/2012/main" timeZoneBias="24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A09DDA-0787-4B42-881F-6B3C2393185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Date Placeholder 2">
            <a:extLst>
              <a:ext uri="{FF2B5EF4-FFF2-40B4-BE49-F238E27FC236}">
                <a16:creationId xmlns:a16="http://schemas.microsoft.com/office/drawing/2014/main" id="{4431845B-8C18-C246-A0D1-61FFD19631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0301B5-88AD-1849-891D-EA2905EB5A88}" type="datetimeFigureOut">
              <a:rPr lang="fr-FR" smtClean="0"/>
              <a:t>24/04/2023</a:t>
            </a:fld>
            <a:endParaRPr lang="fr-FR" dirty="0"/>
          </a:p>
        </p:txBody>
      </p:sp>
      <p:sp>
        <p:nvSpPr>
          <p:cNvPr id="4" name="Footer Placeholder 3">
            <a:extLst>
              <a:ext uri="{FF2B5EF4-FFF2-40B4-BE49-F238E27FC236}">
                <a16:creationId xmlns:a16="http://schemas.microsoft.com/office/drawing/2014/main" id="{EC75FE6D-CCE1-E44E-89A4-77460EF6CCB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5" name="Slide Number Placeholder 4">
            <a:extLst>
              <a:ext uri="{FF2B5EF4-FFF2-40B4-BE49-F238E27FC236}">
                <a16:creationId xmlns:a16="http://schemas.microsoft.com/office/drawing/2014/main" id="{DAD6315B-F8F9-5649-8DCB-C363E729D5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3A602F4-4C0C-5F4F-8771-7E15167AE556}" type="slidenum">
              <a:rPr lang="fr-FR" smtClean="0"/>
              <a:t>‹Nº›</a:t>
            </a:fld>
            <a:endParaRPr lang="fr-FR" dirty="0"/>
          </a:p>
        </p:txBody>
      </p:sp>
    </p:spTree>
    <p:extLst>
      <p:ext uri="{BB962C8B-B14F-4D97-AF65-F5344CB8AC3E}">
        <p14:creationId xmlns:p14="http://schemas.microsoft.com/office/powerpoint/2010/main" val="19574555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50AB23-24A6-494C-BA00-B87242B78CB4}" type="datetimeFigureOut">
              <a:rPr lang="fr-FR" smtClean="0"/>
              <a:t>24/04/2023</a:t>
            </a:fld>
            <a:endParaRPr lang="fr-F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CA530D-631F-4981-98F0-E6C07C67E1A3}" type="slidenum">
              <a:rPr lang="fr-FR" smtClean="0"/>
              <a:t>‹Nº›</a:t>
            </a:fld>
            <a:endParaRPr lang="fr-FR" dirty="0"/>
          </a:p>
        </p:txBody>
      </p:sp>
    </p:spTree>
    <p:extLst>
      <p:ext uri="{BB962C8B-B14F-4D97-AF65-F5344CB8AC3E}">
        <p14:creationId xmlns:p14="http://schemas.microsoft.com/office/powerpoint/2010/main" val="3129541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0CA530D-631F-4981-98F0-E6C07C67E1A3}" type="slidenum">
              <a:rPr lang="fr-FR" smtClean="0"/>
              <a:t>1</a:t>
            </a:fld>
            <a:endParaRPr lang="fr-FR" dirty="0"/>
          </a:p>
        </p:txBody>
      </p:sp>
    </p:spTree>
    <p:extLst>
      <p:ext uri="{BB962C8B-B14F-4D97-AF65-F5344CB8AC3E}">
        <p14:creationId xmlns:p14="http://schemas.microsoft.com/office/powerpoint/2010/main" val="4217049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20CA530D-631F-4981-98F0-E6C07C67E1A3}" type="slidenum">
              <a:rPr lang="fr-FR" smtClean="0"/>
              <a:t>2</a:t>
            </a:fld>
            <a:endParaRPr lang="fr-FR" dirty="0"/>
          </a:p>
        </p:txBody>
      </p:sp>
    </p:spTree>
    <p:extLst>
      <p:ext uri="{BB962C8B-B14F-4D97-AF65-F5344CB8AC3E}">
        <p14:creationId xmlns:p14="http://schemas.microsoft.com/office/powerpoint/2010/main" val="1861141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0CA530D-631F-4981-98F0-E6C07C67E1A3}" type="slidenum">
              <a:rPr lang="fr-FR" smtClean="0"/>
              <a:t>3</a:t>
            </a:fld>
            <a:endParaRPr lang="fr-FR" dirty="0"/>
          </a:p>
        </p:txBody>
      </p:sp>
    </p:spTree>
    <p:extLst>
      <p:ext uri="{BB962C8B-B14F-4D97-AF65-F5344CB8AC3E}">
        <p14:creationId xmlns:p14="http://schemas.microsoft.com/office/powerpoint/2010/main" val="1676491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CA530D-631F-4981-98F0-E6C07C67E1A3}" type="slidenum">
              <a:rPr lang="fr-FR" smtClean="0"/>
              <a:t>4</a:t>
            </a:fld>
            <a:endParaRPr lang="fr-FR" dirty="0"/>
          </a:p>
        </p:txBody>
      </p:sp>
    </p:spTree>
    <p:extLst>
      <p:ext uri="{BB962C8B-B14F-4D97-AF65-F5344CB8AC3E}">
        <p14:creationId xmlns:p14="http://schemas.microsoft.com/office/powerpoint/2010/main" val="196218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0CA530D-631F-4981-98F0-E6C07C67E1A3}" type="slidenum">
              <a:rPr lang="fr-FR" smtClean="0"/>
              <a:t>10</a:t>
            </a:fld>
            <a:endParaRPr lang="fr-FR" dirty="0"/>
          </a:p>
        </p:txBody>
      </p:sp>
    </p:spTree>
    <p:extLst>
      <p:ext uri="{BB962C8B-B14F-4D97-AF65-F5344CB8AC3E}">
        <p14:creationId xmlns:p14="http://schemas.microsoft.com/office/powerpoint/2010/main" val="350677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CA530D-631F-4981-98F0-E6C07C67E1A3}" type="slidenum">
              <a:rPr lang="fr-FR" smtClean="0"/>
              <a:t>11</a:t>
            </a:fld>
            <a:endParaRPr lang="fr-FR" dirty="0"/>
          </a:p>
        </p:txBody>
      </p:sp>
    </p:spTree>
    <p:extLst>
      <p:ext uri="{BB962C8B-B14F-4D97-AF65-F5344CB8AC3E}">
        <p14:creationId xmlns:p14="http://schemas.microsoft.com/office/powerpoint/2010/main" val="2765720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0CA530D-631F-4981-98F0-E6C07C67E1A3}" type="slidenum">
              <a:rPr lang="fr-FR" smtClean="0"/>
              <a:t>12</a:t>
            </a:fld>
            <a:endParaRPr lang="fr-FR" dirty="0"/>
          </a:p>
        </p:txBody>
      </p:sp>
    </p:spTree>
    <p:extLst>
      <p:ext uri="{BB962C8B-B14F-4D97-AF65-F5344CB8AC3E}">
        <p14:creationId xmlns:p14="http://schemas.microsoft.com/office/powerpoint/2010/main" val="208239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0CA530D-631F-4981-98F0-E6C07C67E1A3}" type="slidenum">
              <a:rPr lang="fr-FR" smtClean="0"/>
              <a:t>13</a:t>
            </a:fld>
            <a:endParaRPr lang="fr-FR" dirty="0"/>
          </a:p>
        </p:txBody>
      </p:sp>
    </p:spTree>
    <p:extLst>
      <p:ext uri="{BB962C8B-B14F-4D97-AF65-F5344CB8AC3E}">
        <p14:creationId xmlns:p14="http://schemas.microsoft.com/office/powerpoint/2010/main" val="3698485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0CA530D-631F-4981-98F0-E6C07C67E1A3}" type="slidenum">
              <a:rPr lang="fr-FR" smtClean="0"/>
              <a:t>14</a:t>
            </a:fld>
            <a:endParaRPr lang="fr-FR" dirty="0"/>
          </a:p>
        </p:txBody>
      </p:sp>
    </p:spTree>
    <p:extLst>
      <p:ext uri="{BB962C8B-B14F-4D97-AF65-F5344CB8AC3E}">
        <p14:creationId xmlns:p14="http://schemas.microsoft.com/office/powerpoint/2010/main" val="2041264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0CA530D-631F-4981-98F0-E6C07C67E1A3}" type="slidenum">
              <a:rPr lang="fr-FR" smtClean="0"/>
              <a:t>23</a:t>
            </a:fld>
            <a:endParaRPr lang="fr-FR" dirty="0"/>
          </a:p>
        </p:txBody>
      </p:sp>
    </p:spTree>
    <p:extLst>
      <p:ext uri="{BB962C8B-B14F-4D97-AF65-F5344CB8AC3E}">
        <p14:creationId xmlns:p14="http://schemas.microsoft.com/office/powerpoint/2010/main" val="1856249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CA530D-631F-4981-98F0-E6C07C67E1A3}" type="slidenum">
              <a:rPr lang="fr-FR" smtClean="0"/>
              <a:t>24</a:t>
            </a:fld>
            <a:endParaRPr lang="fr-FR" dirty="0"/>
          </a:p>
        </p:txBody>
      </p:sp>
    </p:spTree>
    <p:extLst>
      <p:ext uri="{BB962C8B-B14F-4D97-AF65-F5344CB8AC3E}">
        <p14:creationId xmlns:p14="http://schemas.microsoft.com/office/powerpoint/2010/main" val="2193007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CA530D-631F-4981-98F0-E6C07C67E1A3}" type="slidenum">
              <a:rPr lang="fr-FR" smtClean="0"/>
              <a:t>28</a:t>
            </a:fld>
            <a:endParaRPr lang="fr-FR" dirty="0"/>
          </a:p>
        </p:txBody>
      </p:sp>
    </p:spTree>
    <p:extLst>
      <p:ext uri="{BB962C8B-B14F-4D97-AF65-F5344CB8AC3E}">
        <p14:creationId xmlns:p14="http://schemas.microsoft.com/office/powerpoint/2010/main" val="26266857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0CA530D-631F-4981-98F0-E6C07C67E1A3}" type="slidenum">
              <a:rPr lang="fr-FR" smtClean="0"/>
              <a:t>31</a:t>
            </a:fld>
            <a:endParaRPr lang="fr-FR" dirty="0"/>
          </a:p>
        </p:txBody>
      </p:sp>
    </p:spTree>
    <p:extLst>
      <p:ext uri="{BB962C8B-B14F-4D97-AF65-F5344CB8AC3E}">
        <p14:creationId xmlns:p14="http://schemas.microsoft.com/office/powerpoint/2010/main" val="16784005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0CA530D-631F-4981-98F0-E6C07C67E1A3}" type="slidenum">
              <a:rPr lang="fr-FR" smtClean="0"/>
              <a:t>32</a:t>
            </a:fld>
            <a:endParaRPr lang="fr-FR" dirty="0"/>
          </a:p>
        </p:txBody>
      </p:sp>
    </p:spTree>
    <p:extLst>
      <p:ext uri="{BB962C8B-B14F-4D97-AF65-F5344CB8AC3E}">
        <p14:creationId xmlns:p14="http://schemas.microsoft.com/office/powerpoint/2010/main" val="14369574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CA530D-631F-4981-98F0-E6C07C67E1A3}" type="slidenum">
              <a:rPr lang="fr-FR" smtClean="0"/>
              <a:t>33</a:t>
            </a:fld>
            <a:endParaRPr lang="fr-FR" dirty="0"/>
          </a:p>
        </p:txBody>
      </p:sp>
    </p:spTree>
    <p:extLst>
      <p:ext uri="{BB962C8B-B14F-4D97-AF65-F5344CB8AC3E}">
        <p14:creationId xmlns:p14="http://schemas.microsoft.com/office/powerpoint/2010/main" val="470408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0CA530D-631F-4981-98F0-E6C07C67E1A3}" type="slidenum">
              <a:rPr lang="fr-FR" smtClean="0"/>
              <a:t>34</a:t>
            </a:fld>
            <a:endParaRPr lang="fr-FR" dirty="0"/>
          </a:p>
        </p:txBody>
      </p:sp>
    </p:spTree>
    <p:extLst>
      <p:ext uri="{BB962C8B-B14F-4D97-AF65-F5344CB8AC3E}">
        <p14:creationId xmlns:p14="http://schemas.microsoft.com/office/powerpoint/2010/main" val="23052458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CA530D-631F-4981-98F0-E6C07C67E1A3}" type="slidenum">
              <a:rPr lang="fr-FR" smtClean="0"/>
              <a:t>35</a:t>
            </a:fld>
            <a:endParaRPr lang="fr-FR" dirty="0"/>
          </a:p>
        </p:txBody>
      </p:sp>
    </p:spTree>
    <p:extLst>
      <p:ext uri="{BB962C8B-B14F-4D97-AF65-F5344CB8AC3E}">
        <p14:creationId xmlns:p14="http://schemas.microsoft.com/office/powerpoint/2010/main" val="27461850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0CA530D-631F-4981-98F0-E6C07C67E1A3}" type="slidenum">
              <a:rPr lang="fr-FR" smtClean="0"/>
              <a:t>36</a:t>
            </a:fld>
            <a:endParaRPr lang="fr-FR" dirty="0"/>
          </a:p>
        </p:txBody>
      </p:sp>
    </p:spTree>
    <p:extLst>
      <p:ext uri="{BB962C8B-B14F-4D97-AF65-F5344CB8AC3E}">
        <p14:creationId xmlns:p14="http://schemas.microsoft.com/office/powerpoint/2010/main" val="25655142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0CA530D-631F-4981-98F0-E6C07C67E1A3}" type="slidenum">
              <a:rPr lang="fr-FR" smtClean="0"/>
              <a:t>37</a:t>
            </a:fld>
            <a:endParaRPr lang="fr-FR" dirty="0"/>
          </a:p>
        </p:txBody>
      </p:sp>
    </p:spTree>
    <p:extLst>
      <p:ext uri="{BB962C8B-B14F-4D97-AF65-F5344CB8AC3E}">
        <p14:creationId xmlns:p14="http://schemas.microsoft.com/office/powerpoint/2010/main" val="23746167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1">
    <p:spTree>
      <p:nvGrpSpPr>
        <p:cNvPr id="1" name=""/>
        <p:cNvGrpSpPr/>
        <p:nvPr/>
      </p:nvGrpSpPr>
      <p:grpSpPr>
        <a:xfrm>
          <a:off x="0" y="0"/>
          <a:ext cx="0" cy="0"/>
          <a:chOff x="0" y="0"/>
          <a:chExt cx="0" cy="0"/>
        </a:xfrm>
      </p:grpSpPr>
      <p:sp>
        <p:nvSpPr>
          <p:cNvPr id="9" name="Rectangle 8"/>
          <p:cNvSpPr/>
          <p:nvPr/>
        </p:nvSpPr>
        <p:spPr bwMode="hidden">
          <a:xfrm>
            <a:off x="0" y="0"/>
            <a:ext cx="8096250" cy="3429000"/>
          </a:xfrm>
          <a:prstGeom prst="rect">
            <a:avLst/>
          </a:prstGeom>
          <a:solidFill>
            <a:srgbClr val="46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0" name="Rectangle 9"/>
          <p:cNvSpPr/>
          <p:nvPr/>
        </p:nvSpPr>
        <p:spPr bwMode="hidden">
          <a:xfrm>
            <a:off x="0" y="3429000"/>
            <a:ext cx="8096250" cy="1143000"/>
          </a:xfrm>
          <a:prstGeom prst="rect">
            <a:avLst/>
          </a:prstGeom>
          <a:solidFill>
            <a:srgbClr val="D04A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1" name="Rectangle 10"/>
          <p:cNvSpPr/>
          <p:nvPr/>
        </p:nvSpPr>
        <p:spPr bwMode="hidden">
          <a:xfrm>
            <a:off x="8096250" y="0"/>
            <a:ext cx="4095750" cy="3429000"/>
          </a:xfrm>
          <a:prstGeom prst="rect">
            <a:avLst/>
          </a:prstGeom>
          <a:solidFill>
            <a:srgbClr val="EB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Title 1"/>
          <p:cNvSpPr>
            <a:spLocks noGrp="1"/>
          </p:cNvSpPr>
          <p:nvPr>
            <p:ph type="ctrTitle" hasCustomPrompt="1"/>
          </p:nvPr>
        </p:nvSpPr>
        <p:spPr>
          <a:xfrm>
            <a:off x="442912" y="428625"/>
            <a:ext cx="7418388" cy="2428874"/>
          </a:xfrm>
        </p:spPr>
        <p:txBody>
          <a:bodyPr anchor="b" anchorCtr="0"/>
          <a:lstStyle>
            <a:lvl1pPr algn="l">
              <a:lnSpc>
                <a:spcPct val="85000"/>
              </a:lnSpc>
              <a:defRPr sz="6000">
                <a:solidFill>
                  <a:schemeClr val="bg1"/>
                </a:solidFill>
              </a:defRPr>
            </a:lvl1pPr>
          </a:lstStyle>
          <a:p>
            <a:r>
              <a:rPr lang="fr-FR"/>
              <a:t>[Presentation title]</a:t>
            </a:r>
            <a:endParaRPr lang="fr-FR" dirty="0"/>
          </a:p>
        </p:txBody>
      </p:sp>
      <p:sp>
        <p:nvSpPr>
          <p:cNvPr id="3" name="Subtitle 2"/>
          <p:cNvSpPr>
            <a:spLocks noGrp="1"/>
          </p:cNvSpPr>
          <p:nvPr>
            <p:ph type="subTitle" idx="1" hasCustomPrompt="1"/>
          </p:nvPr>
        </p:nvSpPr>
        <p:spPr>
          <a:xfrm>
            <a:off x="442914" y="3749040"/>
            <a:ext cx="5473700" cy="594360"/>
          </a:xfrm>
        </p:spPr>
        <p:txBody>
          <a:bodyPr/>
          <a:lstStyle>
            <a:lvl1pPr marL="0" indent="0" algn="l">
              <a:lnSpc>
                <a:spcPct val="100000"/>
              </a:lnSpc>
              <a:spcBef>
                <a:spcPts val="0"/>
              </a:spcBef>
              <a:spcAft>
                <a:spcPts val="0"/>
              </a:spcAft>
              <a:buNone/>
              <a:defRPr sz="1600" b="0">
                <a:solidFill>
                  <a:schemeClr val="bg1"/>
                </a:solidFill>
              </a:defRPr>
            </a:lvl1pPr>
            <a:lvl2pPr marL="0" indent="0" algn="l">
              <a:lnSpc>
                <a:spcPct val="100000"/>
              </a:lnSpc>
              <a:spcBef>
                <a:spcPts val="0"/>
              </a:spcBef>
              <a:spcAft>
                <a:spcPts val="0"/>
              </a:spcAft>
              <a:buNone/>
              <a:defRPr sz="1600">
                <a:solidFill>
                  <a:schemeClr val="bg1"/>
                </a:solidFill>
              </a:defRPr>
            </a:lvl2pPr>
            <a:lvl3pPr marL="0" indent="0" algn="l">
              <a:lnSpc>
                <a:spcPct val="100000"/>
              </a:lnSpc>
              <a:spcBef>
                <a:spcPts val="0"/>
              </a:spcBef>
              <a:spcAft>
                <a:spcPts val="0"/>
              </a:spcAft>
              <a:buNone/>
              <a:defRPr sz="1600">
                <a:solidFill>
                  <a:schemeClr val="bg1"/>
                </a:solidFill>
              </a:defRPr>
            </a:lvl3pPr>
            <a:lvl4pPr marL="0" indent="0" algn="l">
              <a:lnSpc>
                <a:spcPct val="100000"/>
              </a:lnSpc>
              <a:spcBef>
                <a:spcPts val="0"/>
              </a:spcBef>
              <a:spcAft>
                <a:spcPts val="0"/>
              </a:spcAft>
              <a:buNone/>
              <a:defRPr sz="1600">
                <a:solidFill>
                  <a:schemeClr val="bg1"/>
                </a:solidFill>
              </a:defRPr>
            </a:lvl4pPr>
            <a:lvl5pPr marL="0" indent="0" algn="l">
              <a:lnSpc>
                <a:spcPct val="100000"/>
              </a:lnSpc>
              <a:spcBef>
                <a:spcPts val="0"/>
              </a:spcBef>
              <a:spcAft>
                <a:spcPts val="0"/>
              </a:spcAft>
              <a:buNone/>
              <a:defRPr sz="1600">
                <a:solidFill>
                  <a:schemeClr val="bg1"/>
                </a:solidFill>
              </a:defRPr>
            </a:lvl5pPr>
            <a:lvl6pPr marL="0" indent="0" algn="l">
              <a:lnSpc>
                <a:spcPct val="100000"/>
              </a:lnSpc>
              <a:spcBef>
                <a:spcPts val="0"/>
              </a:spcBef>
              <a:spcAft>
                <a:spcPts val="0"/>
              </a:spcAft>
              <a:buNone/>
              <a:defRPr sz="1600">
                <a:solidFill>
                  <a:schemeClr val="bg1"/>
                </a:solidFill>
              </a:defRPr>
            </a:lvl6pPr>
            <a:lvl7pPr marL="0" indent="0" algn="l">
              <a:lnSpc>
                <a:spcPct val="100000"/>
              </a:lnSpc>
              <a:spcBef>
                <a:spcPts val="0"/>
              </a:spcBef>
              <a:spcAft>
                <a:spcPts val="0"/>
              </a:spcAft>
              <a:buNone/>
              <a:defRPr sz="1600">
                <a:solidFill>
                  <a:schemeClr val="bg1"/>
                </a:solidFill>
              </a:defRPr>
            </a:lvl7pPr>
            <a:lvl8pPr marL="0" indent="0" algn="l">
              <a:lnSpc>
                <a:spcPct val="100000"/>
              </a:lnSpc>
              <a:spcBef>
                <a:spcPts val="0"/>
              </a:spcBef>
              <a:spcAft>
                <a:spcPts val="0"/>
              </a:spcAft>
              <a:buNone/>
              <a:defRPr sz="1600">
                <a:solidFill>
                  <a:schemeClr val="bg1"/>
                </a:solidFill>
              </a:defRPr>
            </a:lvl8pPr>
            <a:lvl9pPr marL="0" indent="0" algn="l">
              <a:lnSpc>
                <a:spcPct val="100000"/>
              </a:lnSpc>
              <a:spcBef>
                <a:spcPts val="0"/>
              </a:spcBef>
              <a:spcAft>
                <a:spcPts val="0"/>
              </a:spcAft>
              <a:buNone/>
              <a:defRPr sz="1600">
                <a:solidFill>
                  <a:schemeClr val="bg1"/>
                </a:solidFill>
              </a:defRPr>
            </a:lvl9pPr>
          </a:lstStyle>
          <a:p>
            <a:r>
              <a:rPr lang="fr-FR"/>
              <a:t>[Presentation subtitle]</a:t>
            </a:r>
            <a:endParaRPr lang="fr-FR" dirty="0"/>
          </a:p>
        </p:txBody>
      </p:sp>
      <p:pic>
        <p:nvPicPr>
          <p:cNvPr id="8" name="Picture 7">
            <a:extLst>
              <a:ext uri="{FF2B5EF4-FFF2-40B4-BE49-F238E27FC236}">
                <a16:creationId xmlns:a16="http://schemas.microsoft.com/office/drawing/2014/main" id="{9C024489-97EC-1D48-A1FA-019C1228618C}"/>
              </a:ext>
            </a:extLst>
          </p:cNvPr>
          <p:cNvPicPr>
            <a:picLocks noChangeAspect="1"/>
          </p:cNvPicPr>
          <p:nvPr userDrawn="1"/>
        </p:nvPicPr>
        <p:blipFill>
          <a:blip r:embed="rId2"/>
          <a:stretch>
            <a:fillRect/>
          </a:stretch>
        </p:blipFill>
        <p:spPr bwMode="gray">
          <a:xfrm>
            <a:off x="185139" y="5330952"/>
            <a:ext cx="1636776" cy="1351185"/>
          </a:xfrm>
          <a:prstGeom prst="rect">
            <a:avLst/>
          </a:prstGeom>
        </p:spPr>
      </p:pic>
      <p:pic>
        <p:nvPicPr>
          <p:cNvPr id="4" name="Image 3">
            <a:extLst>
              <a:ext uri="{FF2B5EF4-FFF2-40B4-BE49-F238E27FC236}">
                <a16:creationId xmlns:a16="http://schemas.microsoft.com/office/drawing/2014/main" id="{D9BDC161-8CFD-4FFE-B0D3-2C87146DBEE2}"/>
              </a:ext>
            </a:extLst>
          </p:cNvPr>
          <p:cNvPicPr>
            <a:picLocks noChangeAspect="1"/>
          </p:cNvPicPr>
          <p:nvPr userDrawn="1"/>
        </p:nvPicPr>
        <p:blipFill>
          <a:blip r:embed="rId3"/>
          <a:stretch>
            <a:fillRect/>
          </a:stretch>
        </p:blipFill>
        <p:spPr>
          <a:xfrm>
            <a:off x="10177447" y="5227633"/>
            <a:ext cx="1547593" cy="1454504"/>
          </a:xfrm>
          <a:prstGeom prst="rect">
            <a:avLst/>
          </a:prstGeom>
        </p:spPr>
      </p:pic>
    </p:spTree>
    <p:extLst>
      <p:ext uri="{BB962C8B-B14F-4D97-AF65-F5344CB8AC3E}">
        <p14:creationId xmlns:p14="http://schemas.microsoft.com/office/powerpoint/2010/main" val="254223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2913" y="432000"/>
            <a:ext cx="11306175" cy="1387275"/>
          </a:xfrm>
        </p:spPr>
        <p:txBody>
          <a:bodyPr/>
          <a:lstStyle>
            <a:lvl1pPr>
              <a:defRPr/>
            </a:lvl1pPr>
          </a:lstStyle>
          <a:p>
            <a:r>
              <a:rPr lang="fr-FR"/>
              <a:t>[Slide title]</a:t>
            </a:r>
            <a:endParaRPr lang="fr-FR" dirty="0"/>
          </a:p>
        </p:txBody>
      </p:sp>
      <p:sp>
        <p:nvSpPr>
          <p:cNvPr id="3" name="Content Placeholder 2"/>
          <p:cNvSpPr>
            <a:spLocks noGrp="1"/>
          </p:cNvSpPr>
          <p:nvPr>
            <p:ph idx="1" hasCustomPrompt="1"/>
          </p:nvPr>
        </p:nvSpPr>
        <p:spPr>
          <a:xfrm>
            <a:off x="442912" y="2103120"/>
            <a:ext cx="11306175" cy="4073842"/>
          </a:xfrm>
        </p:spPr>
        <p:txBody>
          <a:bodyPr/>
          <a:lstStyle>
            <a:lvl1pPr marL="730250" indent="-730250">
              <a:lnSpc>
                <a:spcPct val="90000"/>
              </a:lnSpc>
              <a:spcBef>
                <a:spcPts val="0"/>
              </a:spcBef>
              <a:spcAft>
                <a:spcPts val="600"/>
              </a:spcAft>
              <a:buClr>
                <a:schemeClr val="accent1"/>
              </a:buClr>
              <a:buFont typeface="+mj-lt"/>
              <a:buAutoNum type="arabicPeriod"/>
              <a:tabLst>
                <a:tab pos="10623550" algn="r"/>
              </a:tabLst>
              <a:defRPr sz="2800" b="0">
                <a:solidFill>
                  <a:schemeClr val="tx1"/>
                </a:solidFill>
              </a:defRPr>
            </a:lvl1pPr>
            <a:lvl2pPr marL="730250" indent="0">
              <a:buClr>
                <a:schemeClr val="accent4"/>
              </a:buClr>
              <a:buFont typeface="+mj-lt"/>
              <a:buNone/>
              <a:tabLst>
                <a:tab pos="10623550" algn="r"/>
              </a:tabLst>
              <a:defRPr sz="1600"/>
            </a:lvl2pPr>
            <a:lvl3pPr marL="914400" indent="-182563">
              <a:lnSpc>
                <a:spcPct val="100000"/>
              </a:lnSpc>
              <a:tabLst>
                <a:tab pos="10623550" algn="r"/>
              </a:tabLst>
              <a:defRPr/>
            </a:lvl3pPr>
            <a:lvl4pPr marL="1096963" indent="-182563">
              <a:lnSpc>
                <a:spcPct val="100000"/>
              </a:lnSpc>
              <a:tabLst>
                <a:tab pos="10623550" algn="r"/>
              </a:tabLst>
              <a:defRPr/>
            </a:lvl4pPr>
            <a:lvl5pPr marL="1279525" indent="-182563">
              <a:lnSpc>
                <a:spcPct val="100000"/>
              </a:lnSpc>
              <a:tabLst>
                <a:tab pos="10623550" algn="r"/>
              </a:tabLst>
              <a:defRPr/>
            </a:lvl5pPr>
            <a:lvl6pPr marL="1462088" indent="-182563">
              <a:lnSpc>
                <a:spcPct val="100000"/>
              </a:lnSpc>
              <a:tabLst>
                <a:tab pos="10623550" algn="r"/>
              </a:tabLst>
              <a:defRPr/>
            </a:lvl6pPr>
            <a:lvl7pPr marL="1644650" indent="-182563">
              <a:lnSpc>
                <a:spcPct val="100000"/>
              </a:lnSpc>
              <a:tabLst>
                <a:tab pos="10623550" algn="r"/>
              </a:tabLst>
              <a:defRPr/>
            </a:lvl7pPr>
            <a:lvl8pPr marL="1828800" indent="-182563">
              <a:lnSpc>
                <a:spcPct val="100000"/>
              </a:lnSpc>
              <a:tabLst>
                <a:tab pos="10623550" algn="r"/>
              </a:tabLst>
              <a:defRPr/>
            </a:lvl8pPr>
            <a:lvl9pPr marL="2011363" indent="-182563">
              <a:lnSpc>
                <a:spcPct val="100000"/>
              </a:lnSpc>
              <a:tabLst>
                <a:tab pos="10623550" algn="r"/>
              </a:tabLst>
              <a:defRPr/>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5" name="Presentation Footer">
            <a:extLst>
              <a:ext uri="{FF2B5EF4-FFF2-40B4-BE49-F238E27FC236}">
                <a16:creationId xmlns:a16="http://schemas.microsoft.com/office/drawing/2014/main" id="{B0AE826D-197B-B84E-8B9B-E0610700761D}"/>
              </a:ext>
            </a:extLst>
          </p:cNvPr>
          <p:cNvSpPr>
            <a:spLocks noGrp="1"/>
          </p:cNvSpPr>
          <p:nvPr>
            <p:ph type="ftr" sz="quarter" idx="13"/>
          </p:nvPr>
        </p:nvSpPr>
        <p:spPr/>
        <p:txBody>
          <a:bodyPr/>
          <a:lstStyle/>
          <a:p>
            <a:pPr algn="l"/>
            <a:r>
              <a:rPr lang="en-US" dirty="0"/>
              <a:t>GCCA GNR Concrete Pilot Project</a:t>
            </a:r>
            <a:endParaRPr lang="fr-FR" dirty="0"/>
          </a:p>
        </p:txBody>
      </p:sp>
      <p:sp>
        <p:nvSpPr>
          <p:cNvPr id="4" name="Date">
            <a:extLst>
              <a:ext uri="{FF2B5EF4-FFF2-40B4-BE49-F238E27FC236}">
                <a16:creationId xmlns:a16="http://schemas.microsoft.com/office/drawing/2014/main" id="{2A29A14A-827E-1247-9162-E763C985ACD0}"/>
              </a:ext>
            </a:extLst>
          </p:cNvPr>
          <p:cNvSpPr>
            <a:spLocks noGrp="1"/>
          </p:cNvSpPr>
          <p:nvPr>
            <p:ph type="dt" sz="half" idx="12"/>
          </p:nvPr>
        </p:nvSpPr>
        <p:spPr/>
        <p:txBody>
          <a:bodyPr/>
          <a:lstStyle/>
          <a:p>
            <a:r>
              <a:rPr lang="fr-FR"/>
              <a:t>July 2020</a:t>
            </a:r>
            <a:endParaRPr lang="fr-FR" dirty="0"/>
          </a:p>
        </p:txBody>
      </p:sp>
      <p:sp>
        <p:nvSpPr>
          <p:cNvPr id="6" name="Slide Number">
            <a:extLst>
              <a:ext uri="{FF2B5EF4-FFF2-40B4-BE49-F238E27FC236}">
                <a16:creationId xmlns:a16="http://schemas.microsoft.com/office/drawing/2014/main" id="{7092926E-C7A2-1946-B74B-5EC49D3EAE3C}"/>
              </a:ext>
            </a:extLst>
          </p:cNvPr>
          <p:cNvSpPr>
            <a:spLocks noGrp="1"/>
          </p:cNvSpPr>
          <p:nvPr>
            <p:ph type="sldNum" sz="quarter" idx="11"/>
          </p:nvPr>
        </p:nvSpPr>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2123520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Full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2913" y="432000"/>
            <a:ext cx="11306175" cy="1387275"/>
          </a:xfrm>
        </p:spPr>
        <p:txBody>
          <a:bodyPr/>
          <a:lstStyle>
            <a:lvl1pPr>
              <a:defRPr/>
            </a:lvl1pPr>
          </a:lstStyle>
          <a:p>
            <a:r>
              <a:rPr lang="fr-FR"/>
              <a:t>[Slide title]</a:t>
            </a:r>
            <a:endParaRPr lang="fr-FR" dirty="0"/>
          </a:p>
        </p:txBody>
      </p:sp>
      <p:sp>
        <p:nvSpPr>
          <p:cNvPr id="3" name="Content Placeholder 2"/>
          <p:cNvSpPr>
            <a:spLocks noGrp="1"/>
          </p:cNvSpPr>
          <p:nvPr>
            <p:ph idx="1" hasCustomPrompt="1"/>
          </p:nvPr>
        </p:nvSpPr>
        <p:spPr>
          <a:xfrm>
            <a:off x="442913" y="2103120"/>
            <a:ext cx="11306175" cy="4073842"/>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0" name="Presentation Footer">
            <a:extLst>
              <a:ext uri="{FF2B5EF4-FFF2-40B4-BE49-F238E27FC236}">
                <a16:creationId xmlns:a16="http://schemas.microsoft.com/office/drawing/2014/main" id="{9853FC5B-A1A5-4F7F-A104-DF817D185242}"/>
              </a:ext>
            </a:extLst>
          </p:cNvPr>
          <p:cNvSpPr>
            <a:spLocks noGrp="1"/>
          </p:cNvSpPr>
          <p:nvPr>
            <p:ph type="ftr" sz="quarter" idx="13"/>
          </p:nvPr>
        </p:nvSpPr>
        <p:spPr>
          <a:xfrm>
            <a:off x="442912" y="6355080"/>
            <a:ext cx="5473701" cy="137160"/>
          </a:xfrm>
        </p:spPr>
        <p:txBody>
          <a:bodyPr/>
          <a:lstStyle/>
          <a:p>
            <a:pPr algn="l"/>
            <a:r>
              <a:rPr lang="en-US"/>
              <a:t>GCCA GNR Concrete Pilot Project</a:t>
            </a:r>
            <a:endParaRPr lang="fr-FR" dirty="0"/>
          </a:p>
        </p:txBody>
      </p:sp>
      <p:sp>
        <p:nvSpPr>
          <p:cNvPr id="11" name="Date">
            <a:extLst>
              <a:ext uri="{FF2B5EF4-FFF2-40B4-BE49-F238E27FC236}">
                <a16:creationId xmlns:a16="http://schemas.microsoft.com/office/drawing/2014/main" id="{83AEF06C-AE3F-4BB4-AD32-87AFCA4C3422}"/>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2" name="Slide Number">
            <a:extLst>
              <a:ext uri="{FF2B5EF4-FFF2-40B4-BE49-F238E27FC236}">
                <a16:creationId xmlns:a16="http://schemas.microsoft.com/office/drawing/2014/main" id="{424280CD-7F82-4378-B4EB-A953855D63E1}"/>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3258172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Full Content - Subtitle">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442913" y="430514"/>
            <a:ext cx="11306175" cy="502920"/>
          </a:xfrm>
        </p:spPr>
        <p:txBody>
          <a:bodyPr/>
          <a:lstStyle>
            <a:lvl1pPr>
              <a:defRPr/>
            </a:lvl1pPr>
          </a:lstStyle>
          <a:p>
            <a:r>
              <a:rPr lang="fr-FR"/>
              <a:t>[Slide title]</a:t>
            </a:r>
            <a:endParaRPr lang="fr-FR" dirty="0"/>
          </a:p>
        </p:txBody>
      </p:sp>
      <p:sp>
        <p:nvSpPr>
          <p:cNvPr id="6" name="Subtitle 2">
            <a:extLst>
              <a:ext uri="{FF2B5EF4-FFF2-40B4-BE49-F238E27FC236}">
                <a16:creationId xmlns:a16="http://schemas.microsoft.com/office/drawing/2014/main" id="{06D22B17-E9E9-3842-A116-5C0D59C56C8F}"/>
              </a:ext>
            </a:extLst>
          </p:cNvPr>
          <p:cNvSpPr>
            <a:spLocks noGrp="1"/>
          </p:cNvSpPr>
          <p:nvPr>
            <p:ph type="subTitle" idx="16" hasCustomPrompt="1"/>
          </p:nvPr>
        </p:nvSpPr>
        <p:spPr>
          <a:xfrm>
            <a:off x="442912" y="933433"/>
            <a:ext cx="11306176" cy="885842"/>
          </a:xfrm>
        </p:spPr>
        <p:txBody>
          <a:bodyPr/>
          <a:lstStyle>
            <a:lvl1pPr marL="0" indent="0" algn="l">
              <a:lnSpc>
                <a:spcPct val="85000"/>
              </a:lnSpc>
              <a:spcBef>
                <a:spcPts val="0"/>
              </a:spcBef>
              <a:spcAft>
                <a:spcPts val="0"/>
              </a:spcAft>
              <a:buNone/>
              <a:defRPr sz="2400" b="0">
                <a:solidFill>
                  <a:schemeClr val="tx1"/>
                </a:solidFill>
              </a:defRPr>
            </a:lvl1pPr>
            <a:lvl2pPr marL="0" indent="0" algn="l">
              <a:lnSpc>
                <a:spcPct val="85000"/>
              </a:lnSpc>
              <a:spcBef>
                <a:spcPts val="0"/>
              </a:spcBef>
              <a:spcAft>
                <a:spcPts val="0"/>
              </a:spcAft>
              <a:buNone/>
              <a:defRPr sz="2400"/>
            </a:lvl2pPr>
            <a:lvl3pPr marL="0" indent="0" algn="l">
              <a:lnSpc>
                <a:spcPct val="85000"/>
              </a:lnSpc>
              <a:spcBef>
                <a:spcPts val="0"/>
              </a:spcBef>
              <a:spcAft>
                <a:spcPts val="0"/>
              </a:spcAft>
              <a:buNone/>
              <a:defRPr sz="2400"/>
            </a:lvl3pPr>
            <a:lvl4pPr marL="0" indent="0" algn="l">
              <a:lnSpc>
                <a:spcPct val="85000"/>
              </a:lnSpc>
              <a:spcBef>
                <a:spcPts val="0"/>
              </a:spcBef>
              <a:spcAft>
                <a:spcPts val="0"/>
              </a:spcAft>
              <a:buNone/>
              <a:defRPr sz="2400"/>
            </a:lvl4pPr>
            <a:lvl5pPr marL="0" indent="0" algn="l">
              <a:lnSpc>
                <a:spcPct val="85000"/>
              </a:lnSpc>
              <a:spcBef>
                <a:spcPts val="0"/>
              </a:spcBef>
              <a:spcAft>
                <a:spcPts val="0"/>
              </a:spcAft>
              <a:buNone/>
              <a:defRPr sz="2400"/>
            </a:lvl5pPr>
            <a:lvl6pPr marL="0" indent="0" algn="l">
              <a:lnSpc>
                <a:spcPct val="85000"/>
              </a:lnSpc>
              <a:spcBef>
                <a:spcPts val="0"/>
              </a:spcBef>
              <a:spcAft>
                <a:spcPts val="0"/>
              </a:spcAft>
              <a:buNone/>
              <a:defRPr sz="2400"/>
            </a:lvl6pPr>
            <a:lvl7pPr marL="0" indent="0" algn="l">
              <a:lnSpc>
                <a:spcPct val="85000"/>
              </a:lnSpc>
              <a:spcBef>
                <a:spcPts val="0"/>
              </a:spcBef>
              <a:spcAft>
                <a:spcPts val="0"/>
              </a:spcAft>
              <a:buNone/>
              <a:defRPr sz="2400"/>
            </a:lvl7pPr>
            <a:lvl8pPr marL="0" indent="0" algn="l">
              <a:lnSpc>
                <a:spcPct val="85000"/>
              </a:lnSpc>
              <a:spcBef>
                <a:spcPts val="0"/>
              </a:spcBef>
              <a:spcAft>
                <a:spcPts val="0"/>
              </a:spcAft>
              <a:buNone/>
              <a:defRPr sz="2400"/>
            </a:lvl8pPr>
            <a:lvl9pPr marL="0" indent="0" algn="l">
              <a:lnSpc>
                <a:spcPct val="85000"/>
              </a:lnSpc>
              <a:spcBef>
                <a:spcPts val="0"/>
              </a:spcBef>
              <a:spcAft>
                <a:spcPts val="0"/>
              </a:spcAft>
              <a:buNone/>
              <a:defRPr sz="2400"/>
            </a:lvl9pPr>
          </a:lstStyle>
          <a:p>
            <a:r>
              <a:rPr lang="fr-FR"/>
              <a:t>[Optional slide subtitle]</a:t>
            </a:r>
            <a:endParaRPr lang="fr-FR" dirty="0"/>
          </a:p>
        </p:txBody>
      </p:sp>
      <p:sp>
        <p:nvSpPr>
          <p:cNvPr id="3" name="Content Placeholder 2"/>
          <p:cNvSpPr>
            <a:spLocks noGrp="1"/>
          </p:cNvSpPr>
          <p:nvPr>
            <p:ph idx="1" hasCustomPrompt="1"/>
          </p:nvPr>
        </p:nvSpPr>
        <p:spPr>
          <a:xfrm>
            <a:off x="442913" y="2103438"/>
            <a:ext cx="11306175"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2" name="Presentation Footer">
            <a:extLst>
              <a:ext uri="{FF2B5EF4-FFF2-40B4-BE49-F238E27FC236}">
                <a16:creationId xmlns:a16="http://schemas.microsoft.com/office/drawing/2014/main" id="{C0A96048-10F2-4224-818D-5BECEE168473}"/>
              </a:ext>
            </a:extLst>
          </p:cNvPr>
          <p:cNvSpPr>
            <a:spLocks noGrp="1"/>
          </p:cNvSpPr>
          <p:nvPr>
            <p:ph type="ftr" sz="quarter" idx="13"/>
          </p:nvPr>
        </p:nvSpPr>
        <p:spPr>
          <a:xfrm>
            <a:off x="442912" y="6355080"/>
            <a:ext cx="5473701" cy="137160"/>
          </a:xfrm>
        </p:spPr>
        <p:txBody>
          <a:bodyPr/>
          <a:lstStyle/>
          <a:p>
            <a:pPr algn="l"/>
            <a:r>
              <a:rPr lang="en-US"/>
              <a:t>GCCA GNR Concrete Pilot Project</a:t>
            </a:r>
            <a:endParaRPr lang="fr-FR" dirty="0"/>
          </a:p>
        </p:txBody>
      </p:sp>
      <p:sp>
        <p:nvSpPr>
          <p:cNvPr id="13" name="Date">
            <a:extLst>
              <a:ext uri="{FF2B5EF4-FFF2-40B4-BE49-F238E27FC236}">
                <a16:creationId xmlns:a16="http://schemas.microsoft.com/office/drawing/2014/main" id="{C1F41BA3-BD4F-444B-8A48-A3CC74630D92}"/>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4" name="Slide Number">
            <a:extLst>
              <a:ext uri="{FF2B5EF4-FFF2-40B4-BE49-F238E27FC236}">
                <a16:creationId xmlns:a16="http://schemas.microsoft.com/office/drawing/2014/main" id="{E362C54E-6F95-4E35-B11E-0FA6890BB97B}"/>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4663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Column Content">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42913" y="432000"/>
            <a:ext cx="11306175" cy="1387275"/>
          </a:xfrm>
        </p:spPr>
        <p:txBody>
          <a:bodyPr/>
          <a:lstStyle>
            <a:lvl1pPr>
              <a:defRPr/>
            </a:lvl1pPr>
          </a:lstStyle>
          <a:p>
            <a:r>
              <a:rPr lang="fr-FR"/>
              <a:t>[Slide title]</a:t>
            </a:r>
            <a:endParaRPr lang="fr-FR" dirty="0"/>
          </a:p>
        </p:txBody>
      </p:sp>
      <p:sp>
        <p:nvSpPr>
          <p:cNvPr id="3" name="Content Placeholder 2"/>
          <p:cNvSpPr>
            <a:spLocks noGrp="1"/>
          </p:cNvSpPr>
          <p:nvPr>
            <p:ph idx="1" hasCustomPrompt="1"/>
          </p:nvPr>
        </p:nvSpPr>
        <p:spPr>
          <a:xfrm>
            <a:off x="442914" y="2103438"/>
            <a:ext cx="3529012" cy="4068762"/>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0" name="Presentation Footer">
            <a:extLst>
              <a:ext uri="{FF2B5EF4-FFF2-40B4-BE49-F238E27FC236}">
                <a16:creationId xmlns:a16="http://schemas.microsoft.com/office/drawing/2014/main" id="{7B52BB9D-0714-41EB-A065-3C9301AC9AF2}"/>
              </a:ext>
            </a:extLst>
          </p:cNvPr>
          <p:cNvSpPr>
            <a:spLocks noGrp="1"/>
          </p:cNvSpPr>
          <p:nvPr>
            <p:ph type="ftr" sz="quarter" idx="13"/>
          </p:nvPr>
        </p:nvSpPr>
        <p:spPr>
          <a:xfrm>
            <a:off x="442912" y="6355080"/>
            <a:ext cx="5473701" cy="137160"/>
          </a:xfrm>
        </p:spPr>
        <p:txBody>
          <a:bodyPr/>
          <a:lstStyle/>
          <a:p>
            <a:pPr algn="l"/>
            <a:r>
              <a:rPr lang="en-US"/>
              <a:t>GCCA GNR Concrete Pilot Project</a:t>
            </a:r>
            <a:endParaRPr lang="fr-FR" dirty="0"/>
          </a:p>
        </p:txBody>
      </p:sp>
      <p:sp>
        <p:nvSpPr>
          <p:cNvPr id="11" name="Date">
            <a:extLst>
              <a:ext uri="{FF2B5EF4-FFF2-40B4-BE49-F238E27FC236}">
                <a16:creationId xmlns:a16="http://schemas.microsoft.com/office/drawing/2014/main" id="{4CDD38BF-B105-49DA-8707-FF2BB7A24DF7}"/>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2" name="Slide Number">
            <a:extLst>
              <a:ext uri="{FF2B5EF4-FFF2-40B4-BE49-F238E27FC236}">
                <a16:creationId xmlns:a16="http://schemas.microsoft.com/office/drawing/2014/main" id="{D6F070B6-A4B1-450C-9787-CEE408FDB21E}"/>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3164721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Column Content - Subtitle">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442913" y="430514"/>
            <a:ext cx="11306175" cy="502920"/>
          </a:xfrm>
        </p:spPr>
        <p:txBody>
          <a:bodyPr/>
          <a:lstStyle>
            <a:lvl1pPr>
              <a:defRPr/>
            </a:lvl1pPr>
          </a:lstStyle>
          <a:p>
            <a:r>
              <a:rPr lang="fr-FR"/>
              <a:t>[Slide title]</a:t>
            </a:r>
            <a:endParaRPr lang="fr-FR" dirty="0"/>
          </a:p>
        </p:txBody>
      </p:sp>
      <p:sp>
        <p:nvSpPr>
          <p:cNvPr id="6" name="Subtitle 2">
            <a:extLst>
              <a:ext uri="{FF2B5EF4-FFF2-40B4-BE49-F238E27FC236}">
                <a16:creationId xmlns:a16="http://schemas.microsoft.com/office/drawing/2014/main" id="{1C758DF0-2055-C446-AF59-8BED8AF86DAB}"/>
              </a:ext>
            </a:extLst>
          </p:cNvPr>
          <p:cNvSpPr>
            <a:spLocks noGrp="1"/>
          </p:cNvSpPr>
          <p:nvPr>
            <p:ph type="subTitle" idx="16" hasCustomPrompt="1"/>
          </p:nvPr>
        </p:nvSpPr>
        <p:spPr>
          <a:xfrm>
            <a:off x="442912" y="933433"/>
            <a:ext cx="11306176" cy="885842"/>
          </a:xfrm>
        </p:spPr>
        <p:txBody>
          <a:bodyPr/>
          <a:lstStyle>
            <a:lvl1pPr marL="0" indent="0" algn="l">
              <a:lnSpc>
                <a:spcPct val="85000"/>
              </a:lnSpc>
              <a:spcBef>
                <a:spcPts val="0"/>
              </a:spcBef>
              <a:spcAft>
                <a:spcPts val="0"/>
              </a:spcAft>
              <a:buNone/>
              <a:defRPr sz="2400" b="0">
                <a:solidFill>
                  <a:schemeClr val="tx1"/>
                </a:solidFill>
              </a:defRPr>
            </a:lvl1pPr>
            <a:lvl2pPr marL="0" indent="0" algn="l">
              <a:lnSpc>
                <a:spcPct val="85000"/>
              </a:lnSpc>
              <a:spcBef>
                <a:spcPts val="0"/>
              </a:spcBef>
              <a:spcAft>
                <a:spcPts val="0"/>
              </a:spcAft>
              <a:buNone/>
              <a:defRPr sz="2400"/>
            </a:lvl2pPr>
            <a:lvl3pPr marL="0" indent="0" algn="l">
              <a:lnSpc>
                <a:spcPct val="85000"/>
              </a:lnSpc>
              <a:spcBef>
                <a:spcPts val="0"/>
              </a:spcBef>
              <a:spcAft>
                <a:spcPts val="0"/>
              </a:spcAft>
              <a:buNone/>
              <a:defRPr sz="2400"/>
            </a:lvl3pPr>
            <a:lvl4pPr marL="0" indent="0" algn="l">
              <a:lnSpc>
                <a:spcPct val="85000"/>
              </a:lnSpc>
              <a:spcBef>
                <a:spcPts val="0"/>
              </a:spcBef>
              <a:spcAft>
                <a:spcPts val="0"/>
              </a:spcAft>
              <a:buNone/>
              <a:defRPr sz="2400"/>
            </a:lvl4pPr>
            <a:lvl5pPr marL="0" indent="0" algn="l">
              <a:lnSpc>
                <a:spcPct val="85000"/>
              </a:lnSpc>
              <a:spcBef>
                <a:spcPts val="0"/>
              </a:spcBef>
              <a:spcAft>
                <a:spcPts val="0"/>
              </a:spcAft>
              <a:buNone/>
              <a:defRPr sz="2400"/>
            </a:lvl5pPr>
            <a:lvl6pPr marL="0" indent="0" algn="l">
              <a:lnSpc>
                <a:spcPct val="85000"/>
              </a:lnSpc>
              <a:spcBef>
                <a:spcPts val="0"/>
              </a:spcBef>
              <a:spcAft>
                <a:spcPts val="0"/>
              </a:spcAft>
              <a:buNone/>
              <a:defRPr sz="2400"/>
            </a:lvl6pPr>
            <a:lvl7pPr marL="0" indent="0" algn="l">
              <a:lnSpc>
                <a:spcPct val="85000"/>
              </a:lnSpc>
              <a:spcBef>
                <a:spcPts val="0"/>
              </a:spcBef>
              <a:spcAft>
                <a:spcPts val="0"/>
              </a:spcAft>
              <a:buNone/>
              <a:defRPr sz="2400"/>
            </a:lvl7pPr>
            <a:lvl8pPr marL="0" indent="0" algn="l">
              <a:lnSpc>
                <a:spcPct val="85000"/>
              </a:lnSpc>
              <a:spcBef>
                <a:spcPts val="0"/>
              </a:spcBef>
              <a:spcAft>
                <a:spcPts val="0"/>
              </a:spcAft>
              <a:buNone/>
              <a:defRPr sz="2400"/>
            </a:lvl8pPr>
            <a:lvl9pPr marL="0" indent="0" algn="l">
              <a:lnSpc>
                <a:spcPct val="85000"/>
              </a:lnSpc>
              <a:spcBef>
                <a:spcPts val="0"/>
              </a:spcBef>
              <a:spcAft>
                <a:spcPts val="0"/>
              </a:spcAft>
              <a:buNone/>
              <a:defRPr sz="2400"/>
            </a:lvl9pPr>
          </a:lstStyle>
          <a:p>
            <a:r>
              <a:rPr lang="fr-FR"/>
              <a:t>[Optional slide subtitle]</a:t>
            </a:r>
            <a:endParaRPr lang="fr-FR" dirty="0"/>
          </a:p>
        </p:txBody>
      </p:sp>
      <p:sp>
        <p:nvSpPr>
          <p:cNvPr id="3" name="Content Placeholder 2"/>
          <p:cNvSpPr>
            <a:spLocks noGrp="1"/>
          </p:cNvSpPr>
          <p:nvPr>
            <p:ph idx="1" hasCustomPrompt="1"/>
          </p:nvPr>
        </p:nvSpPr>
        <p:spPr>
          <a:xfrm>
            <a:off x="442914" y="2103438"/>
            <a:ext cx="3529012"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2" name="Presentation Footer">
            <a:extLst>
              <a:ext uri="{FF2B5EF4-FFF2-40B4-BE49-F238E27FC236}">
                <a16:creationId xmlns:a16="http://schemas.microsoft.com/office/drawing/2014/main" id="{AD04E10A-3CEF-447C-885A-911D22505435}"/>
              </a:ext>
            </a:extLst>
          </p:cNvPr>
          <p:cNvSpPr>
            <a:spLocks noGrp="1"/>
          </p:cNvSpPr>
          <p:nvPr>
            <p:ph type="ftr" sz="quarter" idx="13"/>
          </p:nvPr>
        </p:nvSpPr>
        <p:spPr>
          <a:xfrm>
            <a:off x="442912" y="6355080"/>
            <a:ext cx="5473701" cy="137160"/>
          </a:xfrm>
        </p:spPr>
        <p:txBody>
          <a:bodyPr/>
          <a:lstStyle/>
          <a:p>
            <a:pPr algn="l"/>
            <a:r>
              <a:rPr lang="en-US"/>
              <a:t>GCCA GNR Concrete Pilot Project</a:t>
            </a:r>
            <a:endParaRPr lang="fr-FR" dirty="0"/>
          </a:p>
        </p:txBody>
      </p:sp>
      <p:sp>
        <p:nvSpPr>
          <p:cNvPr id="13" name="Date">
            <a:extLst>
              <a:ext uri="{FF2B5EF4-FFF2-40B4-BE49-F238E27FC236}">
                <a16:creationId xmlns:a16="http://schemas.microsoft.com/office/drawing/2014/main" id="{26D0D962-572E-435C-BDA7-54D718BEA5C1}"/>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4" name="Slide Number">
            <a:extLst>
              <a:ext uri="{FF2B5EF4-FFF2-40B4-BE49-F238E27FC236}">
                <a16:creationId xmlns:a16="http://schemas.microsoft.com/office/drawing/2014/main" id="{6DA80911-AAEC-40A3-90D1-AF7AD8369F64}"/>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11233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e Column Content Dark">
    <p:bg>
      <p:bgPr>
        <a:solidFill>
          <a:srgbClr val="464646"/>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p:txBody>
          <a:bodyPr/>
          <a:lstStyle>
            <a:lvl1pPr>
              <a:defRPr>
                <a:solidFill>
                  <a:schemeClr val="tx1"/>
                </a:solidFill>
              </a:defRPr>
            </a:lvl1pPr>
          </a:lstStyle>
          <a:p>
            <a:r>
              <a:rPr lang="fr-FR"/>
              <a:t>[Slide title]</a:t>
            </a:r>
            <a:endParaRPr lang="fr-FR" dirty="0"/>
          </a:p>
        </p:txBody>
      </p:sp>
      <p:sp>
        <p:nvSpPr>
          <p:cNvPr id="3" name="Content Placeholder 2"/>
          <p:cNvSpPr>
            <a:spLocks noGrp="1"/>
          </p:cNvSpPr>
          <p:nvPr>
            <p:ph idx="1" hasCustomPrompt="1"/>
          </p:nvPr>
        </p:nvSpPr>
        <p:spPr>
          <a:xfrm>
            <a:off x="442914" y="2103438"/>
            <a:ext cx="3529012" cy="40687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3" name="Presentation Footer">
            <a:extLst>
              <a:ext uri="{FF2B5EF4-FFF2-40B4-BE49-F238E27FC236}">
                <a16:creationId xmlns:a16="http://schemas.microsoft.com/office/drawing/2014/main" id="{E542CCAF-6994-4C2E-A29F-F9E9E6F7953E}"/>
              </a:ext>
            </a:extLst>
          </p:cNvPr>
          <p:cNvSpPr>
            <a:spLocks noGrp="1"/>
          </p:cNvSpPr>
          <p:nvPr>
            <p:ph type="ftr" sz="quarter" idx="13"/>
          </p:nvPr>
        </p:nvSpPr>
        <p:spPr>
          <a:xfrm>
            <a:off x="442912" y="6355080"/>
            <a:ext cx="5473701" cy="137160"/>
          </a:xfrm>
        </p:spPr>
        <p:txBody>
          <a:bodyPr/>
          <a:lstStyle/>
          <a:p>
            <a:pPr algn="l"/>
            <a:r>
              <a:rPr lang="en-US"/>
              <a:t>GCCA GNR Concrete Pilot Project</a:t>
            </a:r>
            <a:endParaRPr lang="fr-FR" dirty="0"/>
          </a:p>
        </p:txBody>
      </p:sp>
      <p:sp>
        <p:nvSpPr>
          <p:cNvPr id="14" name="Date">
            <a:extLst>
              <a:ext uri="{FF2B5EF4-FFF2-40B4-BE49-F238E27FC236}">
                <a16:creationId xmlns:a16="http://schemas.microsoft.com/office/drawing/2014/main" id="{8B579EE4-B6F2-46DD-AB07-6E80B1CEEAEB}"/>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5" name="Slide Number">
            <a:extLst>
              <a:ext uri="{FF2B5EF4-FFF2-40B4-BE49-F238E27FC236}">
                <a16:creationId xmlns:a16="http://schemas.microsoft.com/office/drawing/2014/main" id="{9C500E16-A5D2-464A-BABA-F48C4283BAB0}"/>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767746839"/>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42913" y="432000"/>
            <a:ext cx="11306175" cy="1387275"/>
          </a:xfrm>
        </p:spPr>
        <p:txBody>
          <a:bodyPr/>
          <a:lstStyle>
            <a:lvl1pPr>
              <a:defRPr/>
            </a:lvl1pPr>
          </a:lstStyle>
          <a:p>
            <a:r>
              <a:rPr lang="fr-FR"/>
              <a:t>[Slide title]</a:t>
            </a:r>
            <a:endParaRPr lang="fr-FR" dirty="0"/>
          </a:p>
        </p:txBody>
      </p:sp>
      <p:sp>
        <p:nvSpPr>
          <p:cNvPr id="3" name="Content Placeholder 2"/>
          <p:cNvSpPr>
            <a:spLocks noGrp="1"/>
          </p:cNvSpPr>
          <p:nvPr>
            <p:ph sz="half" idx="1" hasCustomPrompt="1"/>
          </p:nvPr>
        </p:nvSpPr>
        <p:spPr>
          <a:xfrm>
            <a:off x="442913" y="2103438"/>
            <a:ext cx="5473700" cy="4068761"/>
          </a:xfrm>
        </p:spPr>
        <p:txBody>
          <a:body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4" name="Content Placeholder 3"/>
          <p:cNvSpPr>
            <a:spLocks noGrp="1"/>
          </p:cNvSpPr>
          <p:nvPr>
            <p:ph sz="half" idx="2" hasCustomPrompt="1"/>
          </p:nvPr>
        </p:nvSpPr>
        <p:spPr>
          <a:xfrm>
            <a:off x="6275388" y="2103438"/>
            <a:ext cx="5473700"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1" name="Presentation Footer">
            <a:extLst>
              <a:ext uri="{FF2B5EF4-FFF2-40B4-BE49-F238E27FC236}">
                <a16:creationId xmlns:a16="http://schemas.microsoft.com/office/drawing/2014/main" id="{E7ED5D26-0F4E-4435-AE02-4BF450400824}"/>
              </a:ext>
            </a:extLst>
          </p:cNvPr>
          <p:cNvSpPr>
            <a:spLocks noGrp="1"/>
          </p:cNvSpPr>
          <p:nvPr>
            <p:ph type="ftr" sz="quarter" idx="13"/>
          </p:nvPr>
        </p:nvSpPr>
        <p:spPr>
          <a:xfrm>
            <a:off x="442912" y="6355080"/>
            <a:ext cx="5473701" cy="137160"/>
          </a:xfrm>
        </p:spPr>
        <p:txBody>
          <a:bodyPr/>
          <a:lstStyle/>
          <a:p>
            <a:pPr algn="l"/>
            <a:r>
              <a:rPr lang="en-US"/>
              <a:t>GCCA GNR Concrete Pilot Project</a:t>
            </a:r>
            <a:endParaRPr lang="fr-FR" dirty="0"/>
          </a:p>
        </p:txBody>
      </p:sp>
      <p:sp>
        <p:nvSpPr>
          <p:cNvPr id="12" name="Date">
            <a:extLst>
              <a:ext uri="{FF2B5EF4-FFF2-40B4-BE49-F238E27FC236}">
                <a16:creationId xmlns:a16="http://schemas.microsoft.com/office/drawing/2014/main" id="{25C81924-25E8-4886-B2A4-3E64CBC6F558}"/>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3" name="Slide Number">
            <a:extLst>
              <a:ext uri="{FF2B5EF4-FFF2-40B4-BE49-F238E27FC236}">
                <a16:creationId xmlns:a16="http://schemas.microsoft.com/office/drawing/2014/main" id="{71D092D2-EB9A-42A2-9448-EC3149819AD4}"/>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2165727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 Subtitle">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442913" y="430514"/>
            <a:ext cx="11306175" cy="502920"/>
          </a:xfrm>
        </p:spPr>
        <p:txBody>
          <a:bodyPr/>
          <a:lstStyle>
            <a:lvl1pPr>
              <a:defRPr/>
            </a:lvl1pPr>
          </a:lstStyle>
          <a:p>
            <a:r>
              <a:rPr lang="fr-FR"/>
              <a:t>[Slide title]</a:t>
            </a:r>
            <a:endParaRPr lang="fr-FR" dirty="0"/>
          </a:p>
        </p:txBody>
      </p:sp>
      <p:sp>
        <p:nvSpPr>
          <p:cNvPr id="7" name="Subtitle 2">
            <a:extLst>
              <a:ext uri="{FF2B5EF4-FFF2-40B4-BE49-F238E27FC236}">
                <a16:creationId xmlns:a16="http://schemas.microsoft.com/office/drawing/2014/main" id="{32E0820E-E86A-4245-AF6A-000EBF442F6A}"/>
              </a:ext>
            </a:extLst>
          </p:cNvPr>
          <p:cNvSpPr>
            <a:spLocks noGrp="1"/>
          </p:cNvSpPr>
          <p:nvPr>
            <p:ph type="subTitle" idx="16" hasCustomPrompt="1"/>
          </p:nvPr>
        </p:nvSpPr>
        <p:spPr>
          <a:xfrm>
            <a:off x="442912" y="933433"/>
            <a:ext cx="11306176" cy="885842"/>
          </a:xfrm>
        </p:spPr>
        <p:txBody>
          <a:bodyPr/>
          <a:lstStyle>
            <a:lvl1pPr marL="0" indent="0" algn="l">
              <a:lnSpc>
                <a:spcPct val="85000"/>
              </a:lnSpc>
              <a:spcBef>
                <a:spcPts val="0"/>
              </a:spcBef>
              <a:spcAft>
                <a:spcPts val="0"/>
              </a:spcAft>
              <a:buNone/>
              <a:defRPr sz="2400" b="0">
                <a:solidFill>
                  <a:schemeClr val="tx1"/>
                </a:solidFill>
              </a:defRPr>
            </a:lvl1pPr>
            <a:lvl2pPr marL="0" indent="0" algn="l">
              <a:lnSpc>
                <a:spcPct val="85000"/>
              </a:lnSpc>
              <a:spcBef>
                <a:spcPts val="0"/>
              </a:spcBef>
              <a:spcAft>
                <a:spcPts val="0"/>
              </a:spcAft>
              <a:buNone/>
              <a:defRPr sz="2400"/>
            </a:lvl2pPr>
            <a:lvl3pPr marL="0" indent="0" algn="l">
              <a:lnSpc>
                <a:spcPct val="85000"/>
              </a:lnSpc>
              <a:spcBef>
                <a:spcPts val="0"/>
              </a:spcBef>
              <a:spcAft>
                <a:spcPts val="0"/>
              </a:spcAft>
              <a:buNone/>
              <a:defRPr sz="2400"/>
            </a:lvl3pPr>
            <a:lvl4pPr marL="0" indent="0" algn="l">
              <a:lnSpc>
                <a:spcPct val="85000"/>
              </a:lnSpc>
              <a:spcBef>
                <a:spcPts val="0"/>
              </a:spcBef>
              <a:spcAft>
                <a:spcPts val="0"/>
              </a:spcAft>
              <a:buNone/>
              <a:defRPr sz="2400"/>
            </a:lvl4pPr>
            <a:lvl5pPr marL="0" indent="0" algn="l">
              <a:lnSpc>
                <a:spcPct val="85000"/>
              </a:lnSpc>
              <a:spcBef>
                <a:spcPts val="0"/>
              </a:spcBef>
              <a:spcAft>
                <a:spcPts val="0"/>
              </a:spcAft>
              <a:buNone/>
              <a:defRPr sz="2400"/>
            </a:lvl5pPr>
            <a:lvl6pPr marL="0" indent="0" algn="l">
              <a:lnSpc>
                <a:spcPct val="85000"/>
              </a:lnSpc>
              <a:spcBef>
                <a:spcPts val="0"/>
              </a:spcBef>
              <a:spcAft>
                <a:spcPts val="0"/>
              </a:spcAft>
              <a:buNone/>
              <a:defRPr sz="2400"/>
            </a:lvl6pPr>
            <a:lvl7pPr marL="0" indent="0" algn="l">
              <a:lnSpc>
                <a:spcPct val="85000"/>
              </a:lnSpc>
              <a:spcBef>
                <a:spcPts val="0"/>
              </a:spcBef>
              <a:spcAft>
                <a:spcPts val="0"/>
              </a:spcAft>
              <a:buNone/>
              <a:defRPr sz="2400"/>
            </a:lvl7pPr>
            <a:lvl8pPr marL="0" indent="0" algn="l">
              <a:lnSpc>
                <a:spcPct val="85000"/>
              </a:lnSpc>
              <a:spcBef>
                <a:spcPts val="0"/>
              </a:spcBef>
              <a:spcAft>
                <a:spcPts val="0"/>
              </a:spcAft>
              <a:buNone/>
              <a:defRPr sz="2400"/>
            </a:lvl8pPr>
            <a:lvl9pPr marL="0" indent="0" algn="l">
              <a:lnSpc>
                <a:spcPct val="85000"/>
              </a:lnSpc>
              <a:spcBef>
                <a:spcPts val="0"/>
              </a:spcBef>
              <a:spcAft>
                <a:spcPts val="0"/>
              </a:spcAft>
              <a:buNone/>
              <a:defRPr sz="2400"/>
            </a:lvl9pPr>
          </a:lstStyle>
          <a:p>
            <a:r>
              <a:rPr lang="fr-FR"/>
              <a:t>[Optional slide subtitle]</a:t>
            </a:r>
            <a:endParaRPr lang="fr-FR" dirty="0"/>
          </a:p>
        </p:txBody>
      </p:sp>
      <p:sp>
        <p:nvSpPr>
          <p:cNvPr id="3" name="Content Placeholder 2"/>
          <p:cNvSpPr>
            <a:spLocks noGrp="1"/>
          </p:cNvSpPr>
          <p:nvPr>
            <p:ph sz="half" idx="1" hasCustomPrompt="1"/>
          </p:nvPr>
        </p:nvSpPr>
        <p:spPr>
          <a:xfrm>
            <a:off x="442913" y="2103438"/>
            <a:ext cx="5473700" cy="4068761"/>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4" name="Content Placeholder 3"/>
          <p:cNvSpPr>
            <a:spLocks noGrp="1"/>
          </p:cNvSpPr>
          <p:nvPr>
            <p:ph sz="half" idx="2" hasCustomPrompt="1"/>
          </p:nvPr>
        </p:nvSpPr>
        <p:spPr>
          <a:xfrm>
            <a:off x="6275388" y="2103437"/>
            <a:ext cx="5473699" cy="4068761"/>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3" name="Presentation Footer">
            <a:extLst>
              <a:ext uri="{FF2B5EF4-FFF2-40B4-BE49-F238E27FC236}">
                <a16:creationId xmlns:a16="http://schemas.microsoft.com/office/drawing/2014/main" id="{067D2AEA-341E-4BEC-9DE2-87F1D311F51B}"/>
              </a:ext>
            </a:extLst>
          </p:cNvPr>
          <p:cNvSpPr>
            <a:spLocks noGrp="1"/>
          </p:cNvSpPr>
          <p:nvPr>
            <p:ph type="ftr" sz="quarter" idx="13"/>
          </p:nvPr>
        </p:nvSpPr>
        <p:spPr>
          <a:xfrm>
            <a:off x="442912" y="6355080"/>
            <a:ext cx="5473701" cy="137160"/>
          </a:xfrm>
        </p:spPr>
        <p:txBody>
          <a:bodyPr/>
          <a:lstStyle/>
          <a:p>
            <a:pPr algn="l"/>
            <a:r>
              <a:rPr lang="en-US"/>
              <a:t>GCCA GNR Concrete Pilot Project</a:t>
            </a:r>
            <a:endParaRPr lang="fr-FR" dirty="0"/>
          </a:p>
        </p:txBody>
      </p:sp>
      <p:sp>
        <p:nvSpPr>
          <p:cNvPr id="14" name="Date">
            <a:extLst>
              <a:ext uri="{FF2B5EF4-FFF2-40B4-BE49-F238E27FC236}">
                <a16:creationId xmlns:a16="http://schemas.microsoft.com/office/drawing/2014/main" id="{FFDA629C-04CF-4329-A513-8273BEBC5E42}"/>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5" name="Slide Number">
            <a:extLst>
              <a:ext uri="{FF2B5EF4-FFF2-40B4-BE49-F238E27FC236}">
                <a16:creationId xmlns:a16="http://schemas.microsoft.com/office/drawing/2014/main" id="{C3EEAEFD-4D96-414E-BFBD-533058064162}"/>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3641426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2913" y="432000"/>
            <a:ext cx="5317807" cy="1387275"/>
          </a:xfrm>
        </p:spPr>
        <p:txBody>
          <a:bodyPr/>
          <a:lstStyle>
            <a:lvl1pPr>
              <a:defRPr/>
            </a:lvl1pPr>
          </a:lstStyle>
          <a:p>
            <a:r>
              <a:rPr lang="fr-FR"/>
              <a:t>[Slide title]</a:t>
            </a:r>
            <a:endParaRPr lang="fr-FR" dirty="0"/>
          </a:p>
        </p:txBody>
      </p:sp>
      <p:sp>
        <p:nvSpPr>
          <p:cNvPr id="3" name="Content Placeholder 2"/>
          <p:cNvSpPr>
            <a:spLocks noGrp="1"/>
          </p:cNvSpPr>
          <p:nvPr>
            <p:ph sz="half" idx="1" hasCustomPrompt="1"/>
          </p:nvPr>
        </p:nvSpPr>
        <p:spPr>
          <a:xfrm>
            <a:off x="442913" y="2103438"/>
            <a:ext cx="5317807" cy="4068761"/>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8" name="Picture Placeholder 2">
            <a:extLst>
              <a:ext uri="{FF2B5EF4-FFF2-40B4-BE49-F238E27FC236}">
                <a16:creationId xmlns:a16="http://schemas.microsoft.com/office/drawing/2014/main" id="{2BED7AA0-17C2-48FB-ABC4-C692036AAF8C}"/>
              </a:ext>
            </a:extLst>
          </p:cNvPr>
          <p:cNvSpPr>
            <a:spLocks noGrp="1"/>
          </p:cNvSpPr>
          <p:nvPr>
            <p:ph type="pic" sz="quarter" idx="13"/>
          </p:nvPr>
        </p:nvSpPr>
        <p:spPr>
          <a:xfrm>
            <a:off x="6096000" y="0"/>
            <a:ext cx="6096000" cy="6858000"/>
          </a:xfrm>
          <a:solidFill>
            <a:srgbClr val="DEDEDE"/>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10" name="Presentation Footer">
            <a:extLst>
              <a:ext uri="{FF2B5EF4-FFF2-40B4-BE49-F238E27FC236}">
                <a16:creationId xmlns:a16="http://schemas.microsoft.com/office/drawing/2014/main" id="{13CA01EC-74E7-46D6-B9C3-3BF3818DA279}"/>
              </a:ext>
            </a:extLst>
          </p:cNvPr>
          <p:cNvSpPr>
            <a:spLocks noGrp="1"/>
          </p:cNvSpPr>
          <p:nvPr>
            <p:ph type="ftr" sz="quarter" idx="14"/>
          </p:nvPr>
        </p:nvSpPr>
        <p:spPr>
          <a:xfrm>
            <a:off x="442912" y="6355080"/>
            <a:ext cx="5473701" cy="137160"/>
          </a:xfrm>
        </p:spPr>
        <p:txBody>
          <a:bodyPr/>
          <a:lstStyle/>
          <a:p>
            <a:pPr algn="l"/>
            <a:r>
              <a:rPr lang="en-US"/>
              <a:t>GCCA GNR Concrete Pilot Project</a:t>
            </a:r>
            <a:endParaRPr lang="fr-FR" dirty="0"/>
          </a:p>
        </p:txBody>
      </p:sp>
      <p:sp>
        <p:nvSpPr>
          <p:cNvPr id="11" name="Date">
            <a:extLst>
              <a:ext uri="{FF2B5EF4-FFF2-40B4-BE49-F238E27FC236}">
                <a16:creationId xmlns:a16="http://schemas.microsoft.com/office/drawing/2014/main" id="{1E65F41B-A18F-4D3E-915F-1F3293174063}"/>
              </a:ext>
            </a:extLst>
          </p:cNvPr>
          <p:cNvSpPr>
            <a:spLocks noGrp="1"/>
          </p:cNvSpPr>
          <p:nvPr>
            <p:ph type="dt" sz="half" idx="12"/>
          </p:nvPr>
        </p:nvSpPr>
        <p:spPr>
          <a:xfrm>
            <a:off x="9984296" y="6355080"/>
            <a:ext cx="1764792" cy="137160"/>
          </a:xfrm>
        </p:spPr>
        <p:txBody>
          <a:bodyPr/>
          <a:lstStyle>
            <a:lvl1pPr>
              <a:defRPr>
                <a:solidFill>
                  <a:schemeClr val="bg1"/>
                </a:solidFill>
              </a:defRPr>
            </a:lvl1pPr>
          </a:lstStyle>
          <a:p>
            <a:r>
              <a:rPr lang="fr-FR"/>
              <a:t>July 2020</a:t>
            </a:r>
            <a:endParaRPr lang="fr-FR" dirty="0"/>
          </a:p>
        </p:txBody>
      </p:sp>
      <p:sp>
        <p:nvSpPr>
          <p:cNvPr id="12" name="Slide Number">
            <a:extLst>
              <a:ext uri="{FF2B5EF4-FFF2-40B4-BE49-F238E27FC236}">
                <a16:creationId xmlns:a16="http://schemas.microsoft.com/office/drawing/2014/main" id="{D73C98D8-5B98-41C4-AEFF-4A77CD067698}"/>
              </a:ext>
            </a:extLst>
          </p:cNvPr>
          <p:cNvSpPr>
            <a:spLocks noGrp="1"/>
          </p:cNvSpPr>
          <p:nvPr>
            <p:ph type="sldNum" sz="quarter" idx="11"/>
          </p:nvPr>
        </p:nvSpPr>
        <p:spPr>
          <a:xfrm>
            <a:off x="9984296" y="6492240"/>
            <a:ext cx="1764792" cy="137160"/>
          </a:xfrm>
        </p:spPr>
        <p:txBody>
          <a:bodyPr/>
          <a:lstStyle>
            <a:lvl1pPr>
              <a:defRPr>
                <a:solidFill>
                  <a:schemeClr val="bg1"/>
                </a:solidFill>
              </a:defRPr>
            </a:lvl1p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31623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and Image - Subtitle">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442914" y="430514"/>
            <a:ext cx="5317806" cy="502920"/>
          </a:xfrm>
        </p:spPr>
        <p:txBody>
          <a:bodyPr/>
          <a:lstStyle>
            <a:lvl1pPr>
              <a:defRPr/>
            </a:lvl1pPr>
          </a:lstStyle>
          <a:p>
            <a:r>
              <a:rPr lang="fr-FR"/>
              <a:t>[Slide title]</a:t>
            </a:r>
            <a:endParaRPr lang="fr-FR" dirty="0"/>
          </a:p>
        </p:txBody>
      </p:sp>
      <p:sp>
        <p:nvSpPr>
          <p:cNvPr id="7" name="Subtitle 2">
            <a:extLst>
              <a:ext uri="{FF2B5EF4-FFF2-40B4-BE49-F238E27FC236}">
                <a16:creationId xmlns:a16="http://schemas.microsoft.com/office/drawing/2014/main" id="{339845CC-465C-0147-BB19-41367E39D82E}"/>
              </a:ext>
            </a:extLst>
          </p:cNvPr>
          <p:cNvSpPr>
            <a:spLocks noGrp="1"/>
          </p:cNvSpPr>
          <p:nvPr>
            <p:ph type="subTitle" idx="16" hasCustomPrompt="1"/>
          </p:nvPr>
        </p:nvSpPr>
        <p:spPr>
          <a:xfrm>
            <a:off x="442912" y="933433"/>
            <a:ext cx="5317808" cy="885842"/>
          </a:xfrm>
        </p:spPr>
        <p:txBody>
          <a:bodyPr/>
          <a:lstStyle>
            <a:lvl1pPr marL="0" indent="0" algn="l">
              <a:lnSpc>
                <a:spcPct val="85000"/>
              </a:lnSpc>
              <a:spcBef>
                <a:spcPts val="0"/>
              </a:spcBef>
              <a:spcAft>
                <a:spcPts val="0"/>
              </a:spcAft>
              <a:buNone/>
              <a:defRPr sz="2400" b="0">
                <a:solidFill>
                  <a:schemeClr val="tx1"/>
                </a:solidFill>
              </a:defRPr>
            </a:lvl1pPr>
            <a:lvl2pPr marL="0" indent="0" algn="l">
              <a:lnSpc>
                <a:spcPct val="85000"/>
              </a:lnSpc>
              <a:spcBef>
                <a:spcPts val="0"/>
              </a:spcBef>
              <a:spcAft>
                <a:spcPts val="0"/>
              </a:spcAft>
              <a:buNone/>
              <a:defRPr sz="2400"/>
            </a:lvl2pPr>
            <a:lvl3pPr marL="0" indent="0" algn="l">
              <a:lnSpc>
                <a:spcPct val="85000"/>
              </a:lnSpc>
              <a:spcBef>
                <a:spcPts val="0"/>
              </a:spcBef>
              <a:spcAft>
                <a:spcPts val="0"/>
              </a:spcAft>
              <a:buNone/>
              <a:defRPr sz="2400"/>
            </a:lvl3pPr>
            <a:lvl4pPr marL="0" indent="0" algn="l">
              <a:lnSpc>
                <a:spcPct val="85000"/>
              </a:lnSpc>
              <a:spcBef>
                <a:spcPts val="0"/>
              </a:spcBef>
              <a:spcAft>
                <a:spcPts val="0"/>
              </a:spcAft>
              <a:buNone/>
              <a:defRPr sz="2400"/>
            </a:lvl4pPr>
            <a:lvl5pPr marL="0" indent="0" algn="l">
              <a:lnSpc>
                <a:spcPct val="85000"/>
              </a:lnSpc>
              <a:spcBef>
                <a:spcPts val="0"/>
              </a:spcBef>
              <a:spcAft>
                <a:spcPts val="0"/>
              </a:spcAft>
              <a:buNone/>
              <a:defRPr sz="2400"/>
            </a:lvl5pPr>
            <a:lvl6pPr marL="0" indent="0" algn="l">
              <a:lnSpc>
                <a:spcPct val="85000"/>
              </a:lnSpc>
              <a:spcBef>
                <a:spcPts val="0"/>
              </a:spcBef>
              <a:spcAft>
                <a:spcPts val="0"/>
              </a:spcAft>
              <a:buNone/>
              <a:defRPr sz="2400"/>
            </a:lvl6pPr>
            <a:lvl7pPr marL="0" indent="0" algn="l">
              <a:lnSpc>
                <a:spcPct val="85000"/>
              </a:lnSpc>
              <a:spcBef>
                <a:spcPts val="0"/>
              </a:spcBef>
              <a:spcAft>
                <a:spcPts val="0"/>
              </a:spcAft>
              <a:buNone/>
              <a:defRPr sz="2400"/>
            </a:lvl7pPr>
            <a:lvl8pPr marL="0" indent="0" algn="l">
              <a:lnSpc>
                <a:spcPct val="85000"/>
              </a:lnSpc>
              <a:spcBef>
                <a:spcPts val="0"/>
              </a:spcBef>
              <a:spcAft>
                <a:spcPts val="0"/>
              </a:spcAft>
              <a:buNone/>
              <a:defRPr sz="2400"/>
            </a:lvl8pPr>
            <a:lvl9pPr marL="0" indent="0" algn="l">
              <a:lnSpc>
                <a:spcPct val="85000"/>
              </a:lnSpc>
              <a:spcBef>
                <a:spcPts val="0"/>
              </a:spcBef>
              <a:spcAft>
                <a:spcPts val="0"/>
              </a:spcAft>
              <a:buNone/>
              <a:defRPr sz="2400"/>
            </a:lvl9pPr>
          </a:lstStyle>
          <a:p>
            <a:r>
              <a:rPr lang="fr-FR"/>
              <a:t>[Optional slide subtitle]</a:t>
            </a:r>
            <a:endParaRPr lang="fr-FR" dirty="0"/>
          </a:p>
        </p:txBody>
      </p:sp>
      <p:sp>
        <p:nvSpPr>
          <p:cNvPr id="3" name="Content Placeholder 2"/>
          <p:cNvSpPr>
            <a:spLocks noGrp="1"/>
          </p:cNvSpPr>
          <p:nvPr>
            <p:ph sz="half" idx="1" hasCustomPrompt="1"/>
          </p:nvPr>
        </p:nvSpPr>
        <p:spPr>
          <a:xfrm>
            <a:off x="442913" y="2103438"/>
            <a:ext cx="5317807"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9" name="Picture Placeholder 2"/>
          <p:cNvSpPr>
            <a:spLocks noGrp="1"/>
          </p:cNvSpPr>
          <p:nvPr>
            <p:ph type="pic" sz="quarter" idx="13"/>
          </p:nvPr>
        </p:nvSpPr>
        <p:spPr>
          <a:xfrm>
            <a:off x="6096000" y="0"/>
            <a:ext cx="6096000" cy="6858000"/>
          </a:xfrm>
          <a:solidFill>
            <a:srgbClr val="DEDEDE"/>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14" name="Presentation Footer">
            <a:extLst>
              <a:ext uri="{FF2B5EF4-FFF2-40B4-BE49-F238E27FC236}">
                <a16:creationId xmlns:a16="http://schemas.microsoft.com/office/drawing/2014/main" id="{D7C5ACFB-61B7-4A08-AE8A-3A80BEC2E22A}"/>
              </a:ext>
            </a:extLst>
          </p:cNvPr>
          <p:cNvSpPr>
            <a:spLocks noGrp="1"/>
          </p:cNvSpPr>
          <p:nvPr>
            <p:ph type="ftr" sz="quarter" idx="14"/>
          </p:nvPr>
        </p:nvSpPr>
        <p:spPr>
          <a:xfrm>
            <a:off x="442912" y="6355080"/>
            <a:ext cx="5473701" cy="137160"/>
          </a:xfrm>
        </p:spPr>
        <p:txBody>
          <a:bodyPr/>
          <a:lstStyle/>
          <a:p>
            <a:pPr algn="l"/>
            <a:r>
              <a:rPr lang="en-US"/>
              <a:t>GCCA GNR Concrete Pilot Project</a:t>
            </a:r>
            <a:endParaRPr lang="fr-FR" dirty="0"/>
          </a:p>
        </p:txBody>
      </p:sp>
      <p:sp>
        <p:nvSpPr>
          <p:cNvPr id="15" name="Date">
            <a:extLst>
              <a:ext uri="{FF2B5EF4-FFF2-40B4-BE49-F238E27FC236}">
                <a16:creationId xmlns:a16="http://schemas.microsoft.com/office/drawing/2014/main" id="{02BAA9CC-763F-4505-97C9-24D4ABD8DD6F}"/>
              </a:ext>
            </a:extLst>
          </p:cNvPr>
          <p:cNvSpPr>
            <a:spLocks noGrp="1"/>
          </p:cNvSpPr>
          <p:nvPr>
            <p:ph type="dt" sz="half" idx="12"/>
          </p:nvPr>
        </p:nvSpPr>
        <p:spPr>
          <a:xfrm>
            <a:off x="9984296" y="6355080"/>
            <a:ext cx="1764792" cy="137160"/>
          </a:xfrm>
        </p:spPr>
        <p:txBody>
          <a:bodyPr/>
          <a:lstStyle>
            <a:lvl1pPr>
              <a:defRPr>
                <a:solidFill>
                  <a:schemeClr val="bg1"/>
                </a:solidFill>
              </a:defRPr>
            </a:lvl1pPr>
          </a:lstStyle>
          <a:p>
            <a:r>
              <a:rPr lang="fr-FR"/>
              <a:t>July 2020</a:t>
            </a:r>
            <a:endParaRPr lang="fr-FR" dirty="0"/>
          </a:p>
        </p:txBody>
      </p:sp>
      <p:sp>
        <p:nvSpPr>
          <p:cNvPr id="16" name="Slide Number">
            <a:extLst>
              <a:ext uri="{FF2B5EF4-FFF2-40B4-BE49-F238E27FC236}">
                <a16:creationId xmlns:a16="http://schemas.microsoft.com/office/drawing/2014/main" id="{10E761E0-3587-4A31-997F-CE8E3A358C6C}"/>
              </a:ext>
            </a:extLst>
          </p:cNvPr>
          <p:cNvSpPr>
            <a:spLocks noGrp="1"/>
          </p:cNvSpPr>
          <p:nvPr>
            <p:ph type="sldNum" sz="quarter" idx="11"/>
          </p:nvPr>
        </p:nvSpPr>
        <p:spPr>
          <a:xfrm>
            <a:off x="9984296" y="6492240"/>
            <a:ext cx="1764792" cy="137160"/>
          </a:xfrm>
        </p:spPr>
        <p:txBody>
          <a:bodyPr/>
          <a:lstStyle>
            <a:lvl1pPr>
              <a:defRPr>
                <a:solidFill>
                  <a:schemeClr val="bg1"/>
                </a:solidFill>
              </a:defRPr>
            </a:lvl1p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1556111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42913" y="432000"/>
            <a:ext cx="11306175" cy="1387275"/>
          </a:xfrm>
        </p:spPr>
        <p:txBody>
          <a:bodyPr/>
          <a:lstStyle>
            <a:lvl1pPr>
              <a:defRPr/>
            </a:lvl1pPr>
          </a:lstStyle>
          <a:p>
            <a:r>
              <a:rPr lang="fr-FR"/>
              <a:t>[Slide title]</a:t>
            </a:r>
            <a:endParaRPr lang="fr-FR" dirty="0"/>
          </a:p>
        </p:txBody>
      </p:sp>
      <p:sp>
        <p:nvSpPr>
          <p:cNvPr id="3" name="Content Placeholder 2"/>
          <p:cNvSpPr>
            <a:spLocks noGrp="1"/>
          </p:cNvSpPr>
          <p:nvPr>
            <p:ph sz="half" idx="1" hasCustomPrompt="1"/>
          </p:nvPr>
        </p:nvSpPr>
        <p:spPr>
          <a:xfrm>
            <a:off x="442913" y="2103438"/>
            <a:ext cx="3529012"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4" name="Content Placeholder 3"/>
          <p:cNvSpPr>
            <a:spLocks noGrp="1"/>
          </p:cNvSpPr>
          <p:nvPr>
            <p:ph sz="half" idx="2" hasCustomPrompt="1"/>
          </p:nvPr>
        </p:nvSpPr>
        <p:spPr>
          <a:xfrm>
            <a:off x="4332288" y="2103438"/>
            <a:ext cx="3529012"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2" name="Content Placeholder 4"/>
          <p:cNvSpPr>
            <a:spLocks noGrp="1"/>
          </p:cNvSpPr>
          <p:nvPr>
            <p:ph sz="half" idx="13" hasCustomPrompt="1"/>
          </p:nvPr>
        </p:nvSpPr>
        <p:spPr>
          <a:xfrm>
            <a:off x="8220076" y="2103438"/>
            <a:ext cx="3529012"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3" name="Presentation Footer">
            <a:extLst>
              <a:ext uri="{FF2B5EF4-FFF2-40B4-BE49-F238E27FC236}">
                <a16:creationId xmlns:a16="http://schemas.microsoft.com/office/drawing/2014/main" id="{6C53AB53-6653-42B1-B9D6-EB2EFF4B49D5}"/>
              </a:ext>
            </a:extLst>
          </p:cNvPr>
          <p:cNvSpPr>
            <a:spLocks noGrp="1"/>
          </p:cNvSpPr>
          <p:nvPr>
            <p:ph type="ftr" sz="quarter" idx="14"/>
          </p:nvPr>
        </p:nvSpPr>
        <p:spPr>
          <a:xfrm>
            <a:off x="442912" y="6355080"/>
            <a:ext cx="5473701" cy="137160"/>
          </a:xfrm>
        </p:spPr>
        <p:txBody>
          <a:bodyPr/>
          <a:lstStyle/>
          <a:p>
            <a:pPr algn="l"/>
            <a:r>
              <a:rPr lang="en-US"/>
              <a:t>GCCA GNR Concrete Pilot Project</a:t>
            </a:r>
            <a:endParaRPr lang="fr-FR" dirty="0"/>
          </a:p>
        </p:txBody>
      </p:sp>
      <p:sp>
        <p:nvSpPr>
          <p:cNvPr id="14" name="Date">
            <a:extLst>
              <a:ext uri="{FF2B5EF4-FFF2-40B4-BE49-F238E27FC236}">
                <a16:creationId xmlns:a16="http://schemas.microsoft.com/office/drawing/2014/main" id="{76E638A8-EB6B-4563-B520-8A8A6A3E6642}"/>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5" name="Slide Number">
            <a:extLst>
              <a:ext uri="{FF2B5EF4-FFF2-40B4-BE49-F238E27FC236}">
                <a16:creationId xmlns:a16="http://schemas.microsoft.com/office/drawing/2014/main" id="{6013A4E0-8BC8-43BD-AE29-7D448DF33DB5}"/>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23230190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 Subtitle">
    <p:spTree>
      <p:nvGrpSpPr>
        <p:cNvPr id="1" name=""/>
        <p:cNvGrpSpPr/>
        <p:nvPr/>
      </p:nvGrpSpPr>
      <p:grpSpPr>
        <a:xfrm>
          <a:off x="0" y="0"/>
          <a:ext cx="0" cy="0"/>
          <a:chOff x="0" y="0"/>
          <a:chExt cx="0" cy="0"/>
        </a:xfrm>
      </p:grpSpPr>
      <p:sp>
        <p:nvSpPr>
          <p:cNvPr id="15" name="Title 1"/>
          <p:cNvSpPr>
            <a:spLocks noGrp="1"/>
          </p:cNvSpPr>
          <p:nvPr>
            <p:ph type="title" hasCustomPrompt="1"/>
          </p:nvPr>
        </p:nvSpPr>
        <p:spPr>
          <a:xfrm>
            <a:off x="442913" y="430514"/>
            <a:ext cx="11306175" cy="502920"/>
          </a:xfrm>
        </p:spPr>
        <p:txBody>
          <a:bodyPr/>
          <a:lstStyle>
            <a:lvl1pPr>
              <a:defRPr/>
            </a:lvl1pPr>
          </a:lstStyle>
          <a:p>
            <a:r>
              <a:rPr lang="fr-FR"/>
              <a:t>[Slide title]</a:t>
            </a:r>
            <a:endParaRPr lang="fr-FR" dirty="0"/>
          </a:p>
        </p:txBody>
      </p:sp>
      <p:sp>
        <p:nvSpPr>
          <p:cNvPr id="8" name="Subtitle 2">
            <a:extLst>
              <a:ext uri="{FF2B5EF4-FFF2-40B4-BE49-F238E27FC236}">
                <a16:creationId xmlns:a16="http://schemas.microsoft.com/office/drawing/2014/main" id="{B56B3548-5EB8-714F-93B3-BD8CE8C6C99A}"/>
              </a:ext>
            </a:extLst>
          </p:cNvPr>
          <p:cNvSpPr>
            <a:spLocks noGrp="1"/>
          </p:cNvSpPr>
          <p:nvPr>
            <p:ph type="subTitle" idx="16" hasCustomPrompt="1"/>
          </p:nvPr>
        </p:nvSpPr>
        <p:spPr>
          <a:xfrm>
            <a:off x="442912" y="933433"/>
            <a:ext cx="11306176" cy="885842"/>
          </a:xfrm>
        </p:spPr>
        <p:txBody>
          <a:bodyPr/>
          <a:lstStyle>
            <a:lvl1pPr marL="0" indent="0" algn="l">
              <a:lnSpc>
                <a:spcPct val="85000"/>
              </a:lnSpc>
              <a:spcBef>
                <a:spcPts val="0"/>
              </a:spcBef>
              <a:spcAft>
                <a:spcPts val="0"/>
              </a:spcAft>
              <a:buNone/>
              <a:defRPr sz="2400" b="0">
                <a:solidFill>
                  <a:schemeClr val="tx1"/>
                </a:solidFill>
              </a:defRPr>
            </a:lvl1pPr>
            <a:lvl2pPr marL="0" indent="0" algn="l">
              <a:lnSpc>
                <a:spcPct val="85000"/>
              </a:lnSpc>
              <a:spcBef>
                <a:spcPts val="0"/>
              </a:spcBef>
              <a:spcAft>
                <a:spcPts val="0"/>
              </a:spcAft>
              <a:buNone/>
              <a:defRPr sz="2400"/>
            </a:lvl2pPr>
            <a:lvl3pPr marL="0" indent="0" algn="l">
              <a:lnSpc>
                <a:spcPct val="85000"/>
              </a:lnSpc>
              <a:spcBef>
                <a:spcPts val="0"/>
              </a:spcBef>
              <a:spcAft>
                <a:spcPts val="0"/>
              </a:spcAft>
              <a:buNone/>
              <a:defRPr sz="2400"/>
            </a:lvl3pPr>
            <a:lvl4pPr marL="0" indent="0" algn="l">
              <a:lnSpc>
                <a:spcPct val="85000"/>
              </a:lnSpc>
              <a:spcBef>
                <a:spcPts val="0"/>
              </a:spcBef>
              <a:spcAft>
                <a:spcPts val="0"/>
              </a:spcAft>
              <a:buNone/>
              <a:defRPr sz="2400"/>
            </a:lvl4pPr>
            <a:lvl5pPr marL="0" indent="0" algn="l">
              <a:lnSpc>
                <a:spcPct val="85000"/>
              </a:lnSpc>
              <a:spcBef>
                <a:spcPts val="0"/>
              </a:spcBef>
              <a:spcAft>
                <a:spcPts val="0"/>
              </a:spcAft>
              <a:buNone/>
              <a:defRPr sz="2400"/>
            </a:lvl5pPr>
            <a:lvl6pPr marL="0" indent="0" algn="l">
              <a:lnSpc>
                <a:spcPct val="85000"/>
              </a:lnSpc>
              <a:spcBef>
                <a:spcPts val="0"/>
              </a:spcBef>
              <a:spcAft>
                <a:spcPts val="0"/>
              </a:spcAft>
              <a:buNone/>
              <a:defRPr sz="2400"/>
            </a:lvl6pPr>
            <a:lvl7pPr marL="0" indent="0" algn="l">
              <a:lnSpc>
                <a:spcPct val="85000"/>
              </a:lnSpc>
              <a:spcBef>
                <a:spcPts val="0"/>
              </a:spcBef>
              <a:spcAft>
                <a:spcPts val="0"/>
              </a:spcAft>
              <a:buNone/>
              <a:defRPr sz="2400"/>
            </a:lvl7pPr>
            <a:lvl8pPr marL="0" indent="0" algn="l">
              <a:lnSpc>
                <a:spcPct val="85000"/>
              </a:lnSpc>
              <a:spcBef>
                <a:spcPts val="0"/>
              </a:spcBef>
              <a:spcAft>
                <a:spcPts val="0"/>
              </a:spcAft>
              <a:buNone/>
              <a:defRPr sz="2400"/>
            </a:lvl8pPr>
            <a:lvl9pPr marL="0" indent="0" algn="l">
              <a:lnSpc>
                <a:spcPct val="85000"/>
              </a:lnSpc>
              <a:spcBef>
                <a:spcPts val="0"/>
              </a:spcBef>
              <a:spcAft>
                <a:spcPts val="0"/>
              </a:spcAft>
              <a:buNone/>
              <a:defRPr sz="2400"/>
            </a:lvl9pPr>
          </a:lstStyle>
          <a:p>
            <a:r>
              <a:rPr lang="fr-FR"/>
              <a:t>[Optional slide subtitle]</a:t>
            </a:r>
            <a:endParaRPr lang="fr-FR" dirty="0"/>
          </a:p>
        </p:txBody>
      </p:sp>
      <p:sp>
        <p:nvSpPr>
          <p:cNvPr id="3" name="Content Placeholder 2"/>
          <p:cNvSpPr>
            <a:spLocks noGrp="1"/>
          </p:cNvSpPr>
          <p:nvPr>
            <p:ph sz="half" idx="1" hasCustomPrompt="1"/>
          </p:nvPr>
        </p:nvSpPr>
        <p:spPr>
          <a:xfrm>
            <a:off x="442913" y="2103439"/>
            <a:ext cx="3529012"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4" name="Content Placeholder 3"/>
          <p:cNvSpPr>
            <a:spLocks noGrp="1"/>
          </p:cNvSpPr>
          <p:nvPr>
            <p:ph sz="half" idx="2" hasCustomPrompt="1"/>
          </p:nvPr>
        </p:nvSpPr>
        <p:spPr>
          <a:xfrm>
            <a:off x="4332288" y="2103439"/>
            <a:ext cx="3529012"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2" name="Content Placeholder 4"/>
          <p:cNvSpPr>
            <a:spLocks noGrp="1"/>
          </p:cNvSpPr>
          <p:nvPr>
            <p:ph sz="half" idx="13" hasCustomPrompt="1"/>
          </p:nvPr>
        </p:nvSpPr>
        <p:spPr>
          <a:xfrm>
            <a:off x="8220076" y="2103439"/>
            <a:ext cx="3529012"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4" name="Presentation Footer">
            <a:extLst>
              <a:ext uri="{FF2B5EF4-FFF2-40B4-BE49-F238E27FC236}">
                <a16:creationId xmlns:a16="http://schemas.microsoft.com/office/drawing/2014/main" id="{255A06FB-EE8B-4642-9C1A-40B8F0083D8E}"/>
              </a:ext>
            </a:extLst>
          </p:cNvPr>
          <p:cNvSpPr>
            <a:spLocks noGrp="1"/>
          </p:cNvSpPr>
          <p:nvPr>
            <p:ph type="ftr" sz="quarter" idx="17"/>
          </p:nvPr>
        </p:nvSpPr>
        <p:spPr>
          <a:xfrm>
            <a:off x="442912" y="6355080"/>
            <a:ext cx="5473701" cy="137160"/>
          </a:xfrm>
        </p:spPr>
        <p:txBody>
          <a:bodyPr/>
          <a:lstStyle/>
          <a:p>
            <a:pPr algn="l"/>
            <a:r>
              <a:rPr lang="en-US"/>
              <a:t>GCCA GNR Concrete Pilot Project</a:t>
            </a:r>
            <a:endParaRPr lang="fr-FR" dirty="0"/>
          </a:p>
        </p:txBody>
      </p:sp>
      <p:sp>
        <p:nvSpPr>
          <p:cNvPr id="16" name="Date">
            <a:extLst>
              <a:ext uri="{FF2B5EF4-FFF2-40B4-BE49-F238E27FC236}">
                <a16:creationId xmlns:a16="http://schemas.microsoft.com/office/drawing/2014/main" id="{CB39C188-B397-483D-80EC-B5D9D1384E65}"/>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7" name="Slide Number">
            <a:extLst>
              <a:ext uri="{FF2B5EF4-FFF2-40B4-BE49-F238E27FC236}">
                <a16:creationId xmlns:a16="http://schemas.microsoft.com/office/drawing/2014/main" id="{5CA8159A-8660-4BB5-BFF5-FCB30C41DAD6}"/>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552856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42913" y="432000"/>
            <a:ext cx="11306175" cy="1387275"/>
          </a:xfrm>
        </p:spPr>
        <p:txBody>
          <a:bodyPr/>
          <a:lstStyle>
            <a:lvl1pPr>
              <a:defRPr/>
            </a:lvl1pPr>
          </a:lstStyle>
          <a:p>
            <a:r>
              <a:rPr lang="fr-FR"/>
              <a:t>[Slide title]</a:t>
            </a:r>
            <a:endParaRPr lang="fr-FR" dirty="0"/>
          </a:p>
        </p:txBody>
      </p:sp>
      <p:sp>
        <p:nvSpPr>
          <p:cNvPr id="3" name="Content Placeholder 2"/>
          <p:cNvSpPr>
            <a:spLocks noGrp="1"/>
          </p:cNvSpPr>
          <p:nvPr>
            <p:ph sz="half" idx="1" hasCustomPrompt="1"/>
          </p:nvPr>
        </p:nvSpPr>
        <p:spPr>
          <a:xfrm>
            <a:off x="442913" y="2103438"/>
            <a:ext cx="2556000"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4" name="Content Placeholder 3"/>
          <p:cNvSpPr>
            <a:spLocks noGrp="1"/>
          </p:cNvSpPr>
          <p:nvPr>
            <p:ph sz="half" idx="2" hasCustomPrompt="1"/>
          </p:nvPr>
        </p:nvSpPr>
        <p:spPr>
          <a:xfrm>
            <a:off x="3360613" y="2103438"/>
            <a:ext cx="2556000"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6" name="Content Placeholder 4"/>
          <p:cNvSpPr>
            <a:spLocks noGrp="1"/>
          </p:cNvSpPr>
          <p:nvPr>
            <p:ph sz="half" idx="13" hasCustomPrompt="1"/>
          </p:nvPr>
        </p:nvSpPr>
        <p:spPr>
          <a:xfrm>
            <a:off x="6275388" y="2103438"/>
            <a:ext cx="2556000"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7" name="Content Placeholder 5"/>
          <p:cNvSpPr>
            <a:spLocks noGrp="1"/>
          </p:cNvSpPr>
          <p:nvPr>
            <p:ph sz="half" idx="14" hasCustomPrompt="1"/>
          </p:nvPr>
        </p:nvSpPr>
        <p:spPr>
          <a:xfrm>
            <a:off x="9190163" y="2103438"/>
            <a:ext cx="2556000"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4" name="Presentation Footer">
            <a:extLst>
              <a:ext uri="{FF2B5EF4-FFF2-40B4-BE49-F238E27FC236}">
                <a16:creationId xmlns:a16="http://schemas.microsoft.com/office/drawing/2014/main" id="{EC1E7080-72F9-4244-AFA9-CEE3373F1B7F}"/>
              </a:ext>
            </a:extLst>
          </p:cNvPr>
          <p:cNvSpPr>
            <a:spLocks noGrp="1"/>
          </p:cNvSpPr>
          <p:nvPr>
            <p:ph type="ftr" sz="quarter" idx="15"/>
          </p:nvPr>
        </p:nvSpPr>
        <p:spPr>
          <a:xfrm>
            <a:off x="442912" y="6355080"/>
            <a:ext cx="5473701" cy="137160"/>
          </a:xfrm>
        </p:spPr>
        <p:txBody>
          <a:bodyPr/>
          <a:lstStyle/>
          <a:p>
            <a:pPr algn="l"/>
            <a:r>
              <a:rPr lang="en-US"/>
              <a:t>GCCA GNR Concrete Pilot Project</a:t>
            </a:r>
            <a:endParaRPr lang="fr-FR" dirty="0"/>
          </a:p>
        </p:txBody>
      </p:sp>
      <p:sp>
        <p:nvSpPr>
          <p:cNvPr id="15" name="Date">
            <a:extLst>
              <a:ext uri="{FF2B5EF4-FFF2-40B4-BE49-F238E27FC236}">
                <a16:creationId xmlns:a16="http://schemas.microsoft.com/office/drawing/2014/main" id="{9C15D536-803A-4FDA-96C2-0DD6A243A97F}"/>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6" name="Slide Number">
            <a:extLst>
              <a:ext uri="{FF2B5EF4-FFF2-40B4-BE49-F238E27FC236}">
                <a16:creationId xmlns:a16="http://schemas.microsoft.com/office/drawing/2014/main" id="{766AC7EC-26A9-4359-B160-8DCDEB14FC5C}"/>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11396647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ur Content - Subtitle">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442913" y="430514"/>
            <a:ext cx="11306175" cy="502920"/>
          </a:xfrm>
        </p:spPr>
        <p:txBody>
          <a:bodyPr/>
          <a:lstStyle>
            <a:lvl1pPr>
              <a:defRPr/>
            </a:lvl1pPr>
          </a:lstStyle>
          <a:p>
            <a:r>
              <a:rPr lang="fr-FR"/>
              <a:t>[Slide title]</a:t>
            </a:r>
            <a:endParaRPr lang="fr-FR" dirty="0"/>
          </a:p>
        </p:txBody>
      </p:sp>
      <p:sp>
        <p:nvSpPr>
          <p:cNvPr id="11" name="Subtitle 2">
            <a:extLst>
              <a:ext uri="{FF2B5EF4-FFF2-40B4-BE49-F238E27FC236}">
                <a16:creationId xmlns:a16="http://schemas.microsoft.com/office/drawing/2014/main" id="{42F08066-BCE7-3945-BE4E-1DEA43569B7F}"/>
              </a:ext>
            </a:extLst>
          </p:cNvPr>
          <p:cNvSpPr>
            <a:spLocks noGrp="1"/>
          </p:cNvSpPr>
          <p:nvPr>
            <p:ph type="subTitle" idx="16" hasCustomPrompt="1"/>
          </p:nvPr>
        </p:nvSpPr>
        <p:spPr>
          <a:xfrm>
            <a:off x="442912" y="933433"/>
            <a:ext cx="11306176" cy="885842"/>
          </a:xfrm>
        </p:spPr>
        <p:txBody>
          <a:bodyPr/>
          <a:lstStyle>
            <a:lvl1pPr marL="0" indent="0" algn="l">
              <a:lnSpc>
                <a:spcPct val="85000"/>
              </a:lnSpc>
              <a:spcBef>
                <a:spcPts val="0"/>
              </a:spcBef>
              <a:spcAft>
                <a:spcPts val="0"/>
              </a:spcAft>
              <a:buNone/>
              <a:defRPr sz="2400" b="0">
                <a:solidFill>
                  <a:schemeClr val="tx1"/>
                </a:solidFill>
              </a:defRPr>
            </a:lvl1pPr>
            <a:lvl2pPr marL="0" indent="0" algn="l">
              <a:lnSpc>
                <a:spcPct val="85000"/>
              </a:lnSpc>
              <a:spcBef>
                <a:spcPts val="0"/>
              </a:spcBef>
              <a:spcAft>
                <a:spcPts val="0"/>
              </a:spcAft>
              <a:buNone/>
              <a:defRPr sz="2400"/>
            </a:lvl2pPr>
            <a:lvl3pPr marL="0" indent="0" algn="l">
              <a:lnSpc>
                <a:spcPct val="85000"/>
              </a:lnSpc>
              <a:spcBef>
                <a:spcPts val="0"/>
              </a:spcBef>
              <a:spcAft>
                <a:spcPts val="0"/>
              </a:spcAft>
              <a:buNone/>
              <a:defRPr sz="2400"/>
            </a:lvl3pPr>
            <a:lvl4pPr marL="0" indent="0" algn="l">
              <a:lnSpc>
                <a:spcPct val="85000"/>
              </a:lnSpc>
              <a:spcBef>
                <a:spcPts val="0"/>
              </a:spcBef>
              <a:spcAft>
                <a:spcPts val="0"/>
              </a:spcAft>
              <a:buNone/>
              <a:defRPr sz="2400"/>
            </a:lvl4pPr>
            <a:lvl5pPr marL="0" indent="0" algn="l">
              <a:lnSpc>
                <a:spcPct val="85000"/>
              </a:lnSpc>
              <a:spcBef>
                <a:spcPts val="0"/>
              </a:spcBef>
              <a:spcAft>
                <a:spcPts val="0"/>
              </a:spcAft>
              <a:buNone/>
              <a:defRPr sz="2400"/>
            </a:lvl5pPr>
            <a:lvl6pPr marL="0" indent="0" algn="l">
              <a:lnSpc>
                <a:spcPct val="85000"/>
              </a:lnSpc>
              <a:spcBef>
                <a:spcPts val="0"/>
              </a:spcBef>
              <a:spcAft>
                <a:spcPts val="0"/>
              </a:spcAft>
              <a:buNone/>
              <a:defRPr sz="2400"/>
            </a:lvl6pPr>
            <a:lvl7pPr marL="0" indent="0" algn="l">
              <a:lnSpc>
                <a:spcPct val="85000"/>
              </a:lnSpc>
              <a:spcBef>
                <a:spcPts val="0"/>
              </a:spcBef>
              <a:spcAft>
                <a:spcPts val="0"/>
              </a:spcAft>
              <a:buNone/>
              <a:defRPr sz="2400"/>
            </a:lvl7pPr>
            <a:lvl8pPr marL="0" indent="0" algn="l">
              <a:lnSpc>
                <a:spcPct val="85000"/>
              </a:lnSpc>
              <a:spcBef>
                <a:spcPts val="0"/>
              </a:spcBef>
              <a:spcAft>
                <a:spcPts val="0"/>
              </a:spcAft>
              <a:buNone/>
              <a:defRPr sz="2400"/>
            </a:lvl8pPr>
            <a:lvl9pPr marL="0" indent="0" algn="l">
              <a:lnSpc>
                <a:spcPct val="85000"/>
              </a:lnSpc>
              <a:spcBef>
                <a:spcPts val="0"/>
              </a:spcBef>
              <a:spcAft>
                <a:spcPts val="0"/>
              </a:spcAft>
              <a:buNone/>
              <a:defRPr sz="2400"/>
            </a:lvl9pPr>
          </a:lstStyle>
          <a:p>
            <a:r>
              <a:rPr lang="fr-FR"/>
              <a:t>[Optional slide subtitle]</a:t>
            </a:r>
            <a:endParaRPr lang="fr-FR" dirty="0"/>
          </a:p>
        </p:txBody>
      </p:sp>
      <p:sp>
        <p:nvSpPr>
          <p:cNvPr id="3" name="Content Placeholder 2"/>
          <p:cNvSpPr>
            <a:spLocks noGrp="1"/>
          </p:cNvSpPr>
          <p:nvPr>
            <p:ph sz="half" idx="1" hasCustomPrompt="1"/>
          </p:nvPr>
        </p:nvSpPr>
        <p:spPr>
          <a:xfrm>
            <a:off x="442913" y="2103438"/>
            <a:ext cx="2556000"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4" name="Content Placeholder 3"/>
          <p:cNvSpPr>
            <a:spLocks noGrp="1"/>
          </p:cNvSpPr>
          <p:nvPr>
            <p:ph sz="half" idx="2" hasCustomPrompt="1"/>
          </p:nvPr>
        </p:nvSpPr>
        <p:spPr>
          <a:xfrm>
            <a:off x="3360613" y="2103438"/>
            <a:ext cx="2556000"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6" name="Content Placeholder 4"/>
          <p:cNvSpPr>
            <a:spLocks noGrp="1"/>
          </p:cNvSpPr>
          <p:nvPr>
            <p:ph sz="half" idx="13" hasCustomPrompt="1"/>
          </p:nvPr>
        </p:nvSpPr>
        <p:spPr>
          <a:xfrm>
            <a:off x="6275388" y="2103438"/>
            <a:ext cx="2556000"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7" name="Content Placeholder 5"/>
          <p:cNvSpPr>
            <a:spLocks noGrp="1"/>
          </p:cNvSpPr>
          <p:nvPr>
            <p:ph sz="half" idx="14" hasCustomPrompt="1"/>
          </p:nvPr>
        </p:nvSpPr>
        <p:spPr>
          <a:xfrm>
            <a:off x="9190163" y="2103438"/>
            <a:ext cx="2556000"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5" name="Presentation Footer">
            <a:extLst>
              <a:ext uri="{FF2B5EF4-FFF2-40B4-BE49-F238E27FC236}">
                <a16:creationId xmlns:a16="http://schemas.microsoft.com/office/drawing/2014/main" id="{7A38251C-F0F6-4C4E-90EA-046EBE3900D2}"/>
              </a:ext>
            </a:extLst>
          </p:cNvPr>
          <p:cNvSpPr>
            <a:spLocks noGrp="1"/>
          </p:cNvSpPr>
          <p:nvPr>
            <p:ph type="ftr" sz="quarter" idx="17"/>
          </p:nvPr>
        </p:nvSpPr>
        <p:spPr>
          <a:xfrm>
            <a:off x="442912" y="6355080"/>
            <a:ext cx="5473701" cy="137160"/>
          </a:xfrm>
        </p:spPr>
        <p:txBody>
          <a:bodyPr/>
          <a:lstStyle/>
          <a:p>
            <a:pPr algn="l"/>
            <a:r>
              <a:rPr lang="en-US"/>
              <a:t>GCCA GNR Concrete Pilot Project</a:t>
            </a:r>
            <a:endParaRPr lang="fr-FR" dirty="0"/>
          </a:p>
        </p:txBody>
      </p:sp>
      <p:sp>
        <p:nvSpPr>
          <p:cNvPr id="16" name="Date">
            <a:extLst>
              <a:ext uri="{FF2B5EF4-FFF2-40B4-BE49-F238E27FC236}">
                <a16:creationId xmlns:a16="http://schemas.microsoft.com/office/drawing/2014/main" id="{D1CEFF90-96A0-43B5-A905-C1B1E995A889}"/>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7" name="Slide Number">
            <a:extLst>
              <a:ext uri="{FF2B5EF4-FFF2-40B4-BE49-F238E27FC236}">
                <a16:creationId xmlns:a16="http://schemas.microsoft.com/office/drawing/2014/main" id="{9026E04C-2403-4D04-9506-C1AEDD8BEC5B}"/>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25434793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442913" y="432000"/>
            <a:ext cx="11306175" cy="1387275"/>
          </a:xfrm>
        </p:spPr>
        <p:txBody>
          <a:bodyPr/>
          <a:lstStyle>
            <a:lvl1pPr>
              <a:defRPr/>
            </a:lvl1pPr>
          </a:lstStyle>
          <a:p>
            <a:r>
              <a:rPr lang="fr-FR"/>
              <a:t>[Slide title]</a:t>
            </a:r>
            <a:endParaRPr lang="fr-FR" dirty="0"/>
          </a:p>
        </p:txBody>
      </p:sp>
      <p:sp>
        <p:nvSpPr>
          <p:cNvPr id="3" name="Content Placeholder 2"/>
          <p:cNvSpPr>
            <a:spLocks noGrp="1"/>
          </p:cNvSpPr>
          <p:nvPr>
            <p:ph sz="half" idx="1"/>
          </p:nvPr>
        </p:nvSpPr>
        <p:spPr>
          <a:xfrm>
            <a:off x="442913" y="2103438"/>
            <a:ext cx="1972800" cy="4068762"/>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a:t>Cinquième niveau</a:t>
            </a:r>
            <a:endParaRPr lang="fr-FR" dirty="0"/>
          </a:p>
        </p:txBody>
      </p:sp>
      <p:sp>
        <p:nvSpPr>
          <p:cNvPr id="4" name="Content Placeholder 3"/>
          <p:cNvSpPr>
            <a:spLocks noGrp="1"/>
          </p:cNvSpPr>
          <p:nvPr>
            <p:ph sz="half" idx="2"/>
          </p:nvPr>
        </p:nvSpPr>
        <p:spPr>
          <a:xfrm>
            <a:off x="2777045" y="2103438"/>
            <a:ext cx="1972800" cy="4068762"/>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a:t>Cinquième niveau</a:t>
            </a:r>
            <a:endParaRPr lang="fr-FR" dirty="0"/>
          </a:p>
        </p:txBody>
      </p:sp>
      <p:sp>
        <p:nvSpPr>
          <p:cNvPr id="6" name="Content Placeholder 4"/>
          <p:cNvSpPr>
            <a:spLocks noGrp="1"/>
          </p:cNvSpPr>
          <p:nvPr>
            <p:ph sz="half" idx="13"/>
          </p:nvPr>
        </p:nvSpPr>
        <p:spPr>
          <a:xfrm>
            <a:off x="5111177" y="2103438"/>
            <a:ext cx="1972800" cy="4068762"/>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a:t>Cinquième niveau</a:t>
            </a:r>
            <a:endParaRPr lang="fr-FR" dirty="0"/>
          </a:p>
        </p:txBody>
      </p:sp>
      <p:sp>
        <p:nvSpPr>
          <p:cNvPr id="7" name="Content Placeholder 5"/>
          <p:cNvSpPr>
            <a:spLocks noGrp="1"/>
          </p:cNvSpPr>
          <p:nvPr>
            <p:ph sz="half" idx="14"/>
          </p:nvPr>
        </p:nvSpPr>
        <p:spPr>
          <a:xfrm>
            <a:off x="7445309" y="2103438"/>
            <a:ext cx="1972800" cy="4068762"/>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a:t>Cinquième niveau</a:t>
            </a:r>
            <a:endParaRPr lang="fr-FR" dirty="0"/>
          </a:p>
        </p:txBody>
      </p:sp>
      <p:sp>
        <p:nvSpPr>
          <p:cNvPr id="9" name="Content Placeholder 6"/>
          <p:cNvSpPr>
            <a:spLocks noGrp="1"/>
          </p:cNvSpPr>
          <p:nvPr>
            <p:ph sz="half" idx="15"/>
          </p:nvPr>
        </p:nvSpPr>
        <p:spPr>
          <a:xfrm>
            <a:off x="9779443" y="2103438"/>
            <a:ext cx="1972800" cy="4068762"/>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a:t>Cinquième niveau</a:t>
            </a:r>
            <a:endParaRPr lang="fr-FR" dirty="0"/>
          </a:p>
        </p:txBody>
      </p:sp>
      <p:sp>
        <p:nvSpPr>
          <p:cNvPr id="15" name="Presentation Footer">
            <a:extLst>
              <a:ext uri="{FF2B5EF4-FFF2-40B4-BE49-F238E27FC236}">
                <a16:creationId xmlns:a16="http://schemas.microsoft.com/office/drawing/2014/main" id="{2361EBB0-BC2B-4110-AFF0-9612E9BCBE69}"/>
              </a:ext>
            </a:extLst>
          </p:cNvPr>
          <p:cNvSpPr>
            <a:spLocks noGrp="1"/>
          </p:cNvSpPr>
          <p:nvPr>
            <p:ph type="ftr" sz="quarter" idx="16"/>
          </p:nvPr>
        </p:nvSpPr>
        <p:spPr>
          <a:xfrm>
            <a:off x="442912" y="6355080"/>
            <a:ext cx="5473701" cy="137160"/>
          </a:xfrm>
        </p:spPr>
        <p:txBody>
          <a:bodyPr/>
          <a:lstStyle/>
          <a:p>
            <a:pPr algn="l"/>
            <a:r>
              <a:rPr lang="en-US"/>
              <a:t>GCCA GNR Concrete Pilot Project</a:t>
            </a:r>
            <a:endParaRPr lang="fr-FR" dirty="0"/>
          </a:p>
        </p:txBody>
      </p:sp>
      <p:sp>
        <p:nvSpPr>
          <p:cNvPr id="16" name="Date">
            <a:extLst>
              <a:ext uri="{FF2B5EF4-FFF2-40B4-BE49-F238E27FC236}">
                <a16:creationId xmlns:a16="http://schemas.microsoft.com/office/drawing/2014/main" id="{B2E9937C-7E30-4F8A-B2DC-3CABA59F5C8F}"/>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7" name="Slide Number">
            <a:extLst>
              <a:ext uri="{FF2B5EF4-FFF2-40B4-BE49-F238E27FC236}">
                <a16:creationId xmlns:a16="http://schemas.microsoft.com/office/drawing/2014/main" id="{5289CCE2-B31E-4A52-83B1-71AE544EE294}"/>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10457071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ive Content - Subtitle">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442913" y="430514"/>
            <a:ext cx="11306175" cy="502920"/>
          </a:xfrm>
        </p:spPr>
        <p:txBody>
          <a:bodyPr/>
          <a:lstStyle>
            <a:lvl1pPr>
              <a:defRPr/>
            </a:lvl1pPr>
          </a:lstStyle>
          <a:p>
            <a:r>
              <a:rPr lang="fr-FR"/>
              <a:t>[Slide title]</a:t>
            </a:r>
            <a:endParaRPr lang="fr-FR" dirty="0"/>
          </a:p>
        </p:txBody>
      </p:sp>
      <p:sp>
        <p:nvSpPr>
          <p:cNvPr id="12" name="Subtitle 2">
            <a:extLst>
              <a:ext uri="{FF2B5EF4-FFF2-40B4-BE49-F238E27FC236}">
                <a16:creationId xmlns:a16="http://schemas.microsoft.com/office/drawing/2014/main" id="{BCBFC701-7287-1F4F-B6FA-1BECCBF324C6}"/>
              </a:ext>
            </a:extLst>
          </p:cNvPr>
          <p:cNvSpPr>
            <a:spLocks noGrp="1"/>
          </p:cNvSpPr>
          <p:nvPr>
            <p:ph type="subTitle" idx="16" hasCustomPrompt="1"/>
          </p:nvPr>
        </p:nvSpPr>
        <p:spPr>
          <a:xfrm>
            <a:off x="442912" y="933433"/>
            <a:ext cx="11306176" cy="885842"/>
          </a:xfrm>
        </p:spPr>
        <p:txBody>
          <a:bodyPr/>
          <a:lstStyle>
            <a:lvl1pPr marL="0" indent="0" algn="l">
              <a:lnSpc>
                <a:spcPct val="85000"/>
              </a:lnSpc>
              <a:spcBef>
                <a:spcPts val="0"/>
              </a:spcBef>
              <a:spcAft>
                <a:spcPts val="0"/>
              </a:spcAft>
              <a:buNone/>
              <a:defRPr sz="2400" b="0">
                <a:solidFill>
                  <a:schemeClr val="tx1"/>
                </a:solidFill>
              </a:defRPr>
            </a:lvl1pPr>
            <a:lvl2pPr marL="0" indent="0" algn="l">
              <a:lnSpc>
                <a:spcPct val="85000"/>
              </a:lnSpc>
              <a:spcBef>
                <a:spcPts val="0"/>
              </a:spcBef>
              <a:spcAft>
                <a:spcPts val="0"/>
              </a:spcAft>
              <a:buNone/>
              <a:defRPr sz="2400"/>
            </a:lvl2pPr>
            <a:lvl3pPr marL="0" indent="0" algn="l">
              <a:lnSpc>
                <a:spcPct val="85000"/>
              </a:lnSpc>
              <a:spcBef>
                <a:spcPts val="0"/>
              </a:spcBef>
              <a:spcAft>
                <a:spcPts val="0"/>
              </a:spcAft>
              <a:buNone/>
              <a:defRPr sz="2400"/>
            </a:lvl3pPr>
            <a:lvl4pPr marL="0" indent="0" algn="l">
              <a:lnSpc>
                <a:spcPct val="85000"/>
              </a:lnSpc>
              <a:spcBef>
                <a:spcPts val="0"/>
              </a:spcBef>
              <a:spcAft>
                <a:spcPts val="0"/>
              </a:spcAft>
              <a:buNone/>
              <a:defRPr sz="2400"/>
            </a:lvl4pPr>
            <a:lvl5pPr marL="0" indent="0" algn="l">
              <a:lnSpc>
                <a:spcPct val="85000"/>
              </a:lnSpc>
              <a:spcBef>
                <a:spcPts val="0"/>
              </a:spcBef>
              <a:spcAft>
                <a:spcPts val="0"/>
              </a:spcAft>
              <a:buNone/>
              <a:defRPr sz="2400"/>
            </a:lvl5pPr>
            <a:lvl6pPr marL="0" indent="0" algn="l">
              <a:lnSpc>
                <a:spcPct val="85000"/>
              </a:lnSpc>
              <a:spcBef>
                <a:spcPts val="0"/>
              </a:spcBef>
              <a:spcAft>
                <a:spcPts val="0"/>
              </a:spcAft>
              <a:buNone/>
              <a:defRPr sz="2400"/>
            </a:lvl6pPr>
            <a:lvl7pPr marL="0" indent="0" algn="l">
              <a:lnSpc>
                <a:spcPct val="85000"/>
              </a:lnSpc>
              <a:spcBef>
                <a:spcPts val="0"/>
              </a:spcBef>
              <a:spcAft>
                <a:spcPts val="0"/>
              </a:spcAft>
              <a:buNone/>
              <a:defRPr sz="2400"/>
            </a:lvl7pPr>
            <a:lvl8pPr marL="0" indent="0" algn="l">
              <a:lnSpc>
                <a:spcPct val="85000"/>
              </a:lnSpc>
              <a:spcBef>
                <a:spcPts val="0"/>
              </a:spcBef>
              <a:spcAft>
                <a:spcPts val="0"/>
              </a:spcAft>
              <a:buNone/>
              <a:defRPr sz="2400"/>
            </a:lvl8pPr>
            <a:lvl9pPr marL="0" indent="0" algn="l">
              <a:lnSpc>
                <a:spcPct val="85000"/>
              </a:lnSpc>
              <a:spcBef>
                <a:spcPts val="0"/>
              </a:spcBef>
              <a:spcAft>
                <a:spcPts val="0"/>
              </a:spcAft>
              <a:buNone/>
              <a:defRPr sz="2400"/>
            </a:lvl9pPr>
          </a:lstStyle>
          <a:p>
            <a:r>
              <a:rPr lang="fr-FR"/>
              <a:t>[Optional slide subtitle]</a:t>
            </a:r>
            <a:endParaRPr lang="fr-FR" dirty="0"/>
          </a:p>
        </p:txBody>
      </p:sp>
      <p:sp>
        <p:nvSpPr>
          <p:cNvPr id="3" name="Content Placeholder 2"/>
          <p:cNvSpPr>
            <a:spLocks noGrp="1"/>
          </p:cNvSpPr>
          <p:nvPr>
            <p:ph sz="half" idx="1"/>
          </p:nvPr>
        </p:nvSpPr>
        <p:spPr>
          <a:xfrm>
            <a:off x="442913" y="2103438"/>
            <a:ext cx="1972800" cy="4068762"/>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a:t>Cinquième niveau</a:t>
            </a:r>
            <a:endParaRPr lang="fr-FR" dirty="0"/>
          </a:p>
        </p:txBody>
      </p:sp>
      <p:sp>
        <p:nvSpPr>
          <p:cNvPr id="4" name="Content Placeholder 3"/>
          <p:cNvSpPr>
            <a:spLocks noGrp="1"/>
          </p:cNvSpPr>
          <p:nvPr>
            <p:ph sz="half" idx="2"/>
          </p:nvPr>
        </p:nvSpPr>
        <p:spPr>
          <a:xfrm>
            <a:off x="2777045" y="2103438"/>
            <a:ext cx="1972800" cy="4068762"/>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a:t>Cinquième niveau</a:t>
            </a:r>
            <a:endParaRPr lang="fr-FR" dirty="0"/>
          </a:p>
        </p:txBody>
      </p:sp>
      <p:sp>
        <p:nvSpPr>
          <p:cNvPr id="6" name="Content Placeholder 4"/>
          <p:cNvSpPr>
            <a:spLocks noGrp="1"/>
          </p:cNvSpPr>
          <p:nvPr>
            <p:ph sz="half" idx="13"/>
          </p:nvPr>
        </p:nvSpPr>
        <p:spPr>
          <a:xfrm>
            <a:off x="5111177" y="2103438"/>
            <a:ext cx="1972800" cy="4068762"/>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a:t>Cinquième niveau</a:t>
            </a:r>
            <a:endParaRPr lang="fr-FR" dirty="0"/>
          </a:p>
        </p:txBody>
      </p:sp>
      <p:sp>
        <p:nvSpPr>
          <p:cNvPr id="7" name="Content Placeholder 5"/>
          <p:cNvSpPr>
            <a:spLocks noGrp="1"/>
          </p:cNvSpPr>
          <p:nvPr>
            <p:ph sz="half" idx="14"/>
          </p:nvPr>
        </p:nvSpPr>
        <p:spPr>
          <a:xfrm>
            <a:off x="7445309" y="2103438"/>
            <a:ext cx="1972800" cy="4068762"/>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a:t>Cinquième niveau</a:t>
            </a:r>
            <a:endParaRPr lang="fr-FR" dirty="0"/>
          </a:p>
        </p:txBody>
      </p:sp>
      <p:sp>
        <p:nvSpPr>
          <p:cNvPr id="9" name="Content Placeholder 6"/>
          <p:cNvSpPr>
            <a:spLocks noGrp="1"/>
          </p:cNvSpPr>
          <p:nvPr>
            <p:ph sz="half" idx="15"/>
          </p:nvPr>
        </p:nvSpPr>
        <p:spPr>
          <a:xfrm>
            <a:off x="9779443" y="2103438"/>
            <a:ext cx="1972800" cy="4068762"/>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a:t>Cinquième niveau</a:t>
            </a:r>
            <a:endParaRPr lang="fr-FR" dirty="0"/>
          </a:p>
        </p:txBody>
      </p:sp>
      <p:sp>
        <p:nvSpPr>
          <p:cNvPr id="16" name="Presentation Footer">
            <a:extLst>
              <a:ext uri="{FF2B5EF4-FFF2-40B4-BE49-F238E27FC236}">
                <a16:creationId xmlns:a16="http://schemas.microsoft.com/office/drawing/2014/main" id="{EBE12295-1610-4511-8950-3D9E038E4C95}"/>
              </a:ext>
            </a:extLst>
          </p:cNvPr>
          <p:cNvSpPr>
            <a:spLocks noGrp="1"/>
          </p:cNvSpPr>
          <p:nvPr>
            <p:ph type="ftr" sz="quarter" idx="17"/>
          </p:nvPr>
        </p:nvSpPr>
        <p:spPr>
          <a:xfrm>
            <a:off x="442912" y="6355080"/>
            <a:ext cx="5473701" cy="137160"/>
          </a:xfrm>
        </p:spPr>
        <p:txBody>
          <a:bodyPr/>
          <a:lstStyle/>
          <a:p>
            <a:pPr algn="l"/>
            <a:r>
              <a:rPr lang="en-US"/>
              <a:t>GCCA GNR Concrete Pilot Project</a:t>
            </a:r>
            <a:endParaRPr lang="fr-FR" dirty="0"/>
          </a:p>
        </p:txBody>
      </p:sp>
      <p:sp>
        <p:nvSpPr>
          <p:cNvPr id="17" name="Date">
            <a:extLst>
              <a:ext uri="{FF2B5EF4-FFF2-40B4-BE49-F238E27FC236}">
                <a16:creationId xmlns:a16="http://schemas.microsoft.com/office/drawing/2014/main" id="{6226A18B-2E48-47C8-8231-AE2C5DF4E67A}"/>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8" name="Slide Number">
            <a:extLst>
              <a:ext uri="{FF2B5EF4-FFF2-40B4-BE49-F238E27FC236}">
                <a16:creationId xmlns:a16="http://schemas.microsoft.com/office/drawing/2014/main" id="{9652FBC2-942D-468E-8FFB-4961241D592A}"/>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3129817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442913" y="432000"/>
            <a:ext cx="11306175" cy="1387275"/>
          </a:xfrm>
        </p:spPr>
        <p:txBody>
          <a:bodyPr/>
          <a:lstStyle>
            <a:lvl1pPr>
              <a:defRPr/>
            </a:lvl1pPr>
          </a:lstStyle>
          <a:p>
            <a:r>
              <a:rPr lang="fr-FR"/>
              <a:t>[Slide title]</a:t>
            </a:r>
            <a:endParaRPr lang="fr-FR" dirty="0"/>
          </a:p>
        </p:txBody>
      </p:sp>
      <p:sp>
        <p:nvSpPr>
          <p:cNvPr id="10" name="Picture Placeholder 2"/>
          <p:cNvSpPr>
            <a:spLocks noGrp="1"/>
          </p:cNvSpPr>
          <p:nvPr>
            <p:ph type="pic" sz="quarter" idx="13"/>
          </p:nvPr>
        </p:nvSpPr>
        <p:spPr>
          <a:xfrm>
            <a:off x="442912" y="2100263"/>
            <a:ext cx="3529013" cy="3017520"/>
          </a:xfrm>
          <a:solidFill>
            <a:srgbClr val="DEDEDE"/>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16" name="Picture Placeholder 3"/>
          <p:cNvSpPr>
            <a:spLocks noGrp="1"/>
          </p:cNvSpPr>
          <p:nvPr>
            <p:ph type="pic" sz="quarter" idx="15"/>
          </p:nvPr>
        </p:nvSpPr>
        <p:spPr>
          <a:xfrm>
            <a:off x="4331494" y="2100263"/>
            <a:ext cx="3529013" cy="3017520"/>
          </a:xfrm>
          <a:solidFill>
            <a:srgbClr val="DEDEDE"/>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18" name="Picture Placeholder 4"/>
          <p:cNvSpPr>
            <a:spLocks noGrp="1"/>
          </p:cNvSpPr>
          <p:nvPr>
            <p:ph type="pic" sz="quarter" idx="17"/>
          </p:nvPr>
        </p:nvSpPr>
        <p:spPr>
          <a:xfrm>
            <a:off x="8220075" y="2100263"/>
            <a:ext cx="3529013" cy="3017520"/>
          </a:xfrm>
          <a:solidFill>
            <a:srgbClr val="DEDEDE"/>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7" name="Content Placeholder 2">
            <a:extLst>
              <a:ext uri="{FF2B5EF4-FFF2-40B4-BE49-F238E27FC236}">
                <a16:creationId xmlns:a16="http://schemas.microsoft.com/office/drawing/2014/main" id="{CF36C29E-E542-4CF8-8350-7B2993AB9F11}"/>
              </a:ext>
            </a:extLst>
          </p:cNvPr>
          <p:cNvSpPr>
            <a:spLocks noGrp="1"/>
          </p:cNvSpPr>
          <p:nvPr>
            <p:ph sz="quarter" idx="20"/>
          </p:nvPr>
        </p:nvSpPr>
        <p:spPr>
          <a:xfrm>
            <a:off x="442913" y="5280025"/>
            <a:ext cx="3529012" cy="892175"/>
          </a:xfrm>
        </p:spPr>
        <p:txBody>
          <a:bodyPr/>
          <a:lstStyle>
            <a:lvl1pPr>
              <a:defRPr sz="1200"/>
            </a:lvl1pPr>
            <a:lvl2pPr>
              <a:defRPr sz="1600"/>
            </a:lvl2pPr>
            <a:lvl3pPr marL="0" indent="0">
              <a:buNone/>
              <a:defRPr/>
            </a:lvl3pPr>
          </a:lstStyle>
          <a:p>
            <a:pPr lvl="0"/>
            <a:r>
              <a:rPr lang="fr-FR" dirty="0"/>
              <a:t>Cliquez pour modifier les styles du texte du masque</a:t>
            </a:r>
          </a:p>
          <a:p>
            <a:pPr lvl="1"/>
            <a:r>
              <a:rPr lang="fr-FR" dirty="0"/>
              <a:t>Deuxième niveau</a:t>
            </a:r>
          </a:p>
        </p:txBody>
      </p:sp>
      <p:sp>
        <p:nvSpPr>
          <p:cNvPr id="23" name="Content Placeholder 3">
            <a:extLst>
              <a:ext uri="{FF2B5EF4-FFF2-40B4-BE49-F238E27FC236}">
                <a16:creationId xmlns:a16="http://schemas.microsoft.com/office/drawing/2014/main" id="{5E49564D-E876-4F96-AA36-94443DF6A6B4}"/>
              </a:ext>
            </a:extLst>
          </p:cNvPr>
          <p:cNvSpPr>
            <a:spLocks noGrp="1"/>
          </p:cNvSpPr>
          <p:nvPr>
            <p:ph sz="quarter" idx="21"/>
          </p:nvPr>
        </p:nvSpPr>
        <p:spPr>
          <a:xfrm>
            <a:off x="4331495" y="5280025"/>
            <a:ext cx="3529012" cy="892175"/>
          </a:xfrm>
        </p:spPr>
        <p:txBody>
          <a:bodyPr/>
          <a:lstStyle>
            <a:lvl1pPr>
              <a:defRPr sz="1200"/>
            </a:lvl1pPr>
            <a:lvl2pPr>
              <a:defRPr sz="1600"/>
            </a:lvl2pPr>
            <a:lvl3pPr marL="0" indent="0">
              <a:buNone/>
              <a:defRPr/>
            </a:lvl3pPr>
          </a:lstStyle>
          <a:p>
            <a:pPr lvl="0"/>
            <a:r>
              <a:rPr lang="fr-FR" dirty="0"/>
              <a:t>Cliquez pour modifier les styles du texte du masque</a:t>
            </a:r>
          </a:p>
          <a:p>
            <a:pPr lvl="1"/>
            <a:r>
              <a:rPr lang="fr-FR" dirty="0"/>
              <a:t>Deuxième niveau</a:t>
            </a:r>
          </a:p>
        </p:txBody>
      </p:sp>
      <p:sp>
        <p:nvSpPr>
          <p:cNvPr id="24" name="Content Placeholder 4">
            <a:extLst>
              <a:ext uri="{FF2B5EF4-FFF2-40B4-BE49-F238E27FC236}">
                <a16:creationId xmlns:a16="http://schemas.microsoft.com/office/drawing/2014/main" id="{D1C35B22-67CB-4342-8F23-814ABE95E981}"/>
              </a:ext>
            </a:extLst>
          </p:cNvPr>
          <p:cNvSpPr>
            <a:spLocks noGrp="1"/>
          </p:cNvSpPr>
          <p:nvPr>
            <p:ph sz="quarter" idx="22"/>
          </p:nvPr>
        </p:nvSpPr>
        <p:spPr>
          <a:xfrm>
            <a:off x="8220076" y="5280025"/>
            <a:ext cx="3529012" cy="892175"/>
          </a:xfrm>
        </p:spPr>
        <p:txBody>
          <a:bodyPr/>
          <a:lstStyle>
            <a:lvl1pPr>
              <a:defRPr sz="1200"/>
            </a:lvl1pPr>
            <a:lvl2pPr>
              <a:defRPr sz="1600"/>
            </a:lvl2pPr>
            <a:lvl3pPr marL="0" indent="0">
              <a:buNone/>
              <a:defRPr/>
            </a:lvl3pPr>
          </a:lstStyle>
          <a:p>
            <a:pPr lvl="0"/>
            <a:r>
              <a:rPr lang="fr-FR" dirty="0"/>
              <a:t>Cliquez pour modifier les styles du texte du masque</a:t>
            </a:r>
          </a:p>
          <a:p>
            <a:pPr lvl="1"/>
            <a:r>
              <a:rPr lang="fr-FR" dirty="0"/>
              <a:t>Deuxième niveau</a:t>
            </a:r>
          </a:p>
        </p:txBody>
      </p:sp>
      <p:sp>
        <p:nvSpPr>
          <p:cNvPr id="20" name="Presentation Footer">
            <a:extLst>
              <a:ext uri="{FF2B5EF4-FFF2-40B4-BE49-F238E27FC236}">
                <a16:creationId xmlns:a16="http://schemas.microsoft.com/office/drawing/2014/main" id="{143150FA-7ADA-4D3B-8D83-185C5B9627F8}"/>
              </a:ext>
            </a:extLst>
          </p:cNvPr>
          <p:cNvSpPr>
            <a:spLocks noGrp="1"/>
          </p:cNvSpPr>
          <p:nvPr>
            <p:ph type="ftr" sz="quarter" idx="19"/>
          </p:nvPr>
        </p:nvSpPr>
        <p:spPr>
          <a:xfrm>
            <a:off x="442912" y="6355080"/>
            <a:ext cx="5473701" cy="137160"/>
          </a:xfrm>
        </p:spPr>
        <p:txBody>
          <a:bodyPr/>
          <a:lstStyle/>
          <a:p>
            <a:pPr algn="l"/>
            <a:r>
              <a:rPr lang="en-US"/>
              <a:t>GCCA GNR Concrete Pilot Project</a:t>
            </a:r>
            <a:endParaRPr lang="fr-FR" dirty="0"/>
          </a:p>
        </p:txBody>
      </p:sp>
      <p:sp>
        <p:nvSpPr>
          <p:cNvPr id="21" name="Date">
            <a:extLst>
              <a:ext uri="{FF2B5EF4-FFF2-40B4-BE49-F238E27FC236}">
                <a16:creationId xmlns:a16="http://schemas.microsoft.com/office/drawing/2014/main" id="{654B51D6-1525-4D38-B225-69AC562201DD}"/>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22" name="Slide Number">
            <a:extLst>
              <a:ext uri="{FF2B5EF4-FFF2-40B4-BE49-F238E27FC236}">
                <a16:creationId xmlns:a16="http://schemas.microsoft.com/office/drawing/2014/main" id="{9CE3AF0A-026B-4716-8B65-D5F631540C49}"/>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23353270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Images - Subtitle">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442913" y="430514"/>
            <a:ext cx="11306175" cy="502920"/>
          </a:xfrm>
        </p:spPr>
        <p:txBody>
          <a:bodyPr/>
          <a:lstStyle>
            <a:lvl1pPr>
              <a:defRPr/>
            </a:lvl1pPr>
          </a:lstStyle>
          <a:p>
            <a:r>
              <a:rPr lang="fr-FR"/>
              <a:t>[Slide title]</a:t>
            </a:r>
            <a:endParaRPr lang="fr-FR" dirty="0"/>
          </a:p>
        </p:txBody>
      </p:sp>
      <p:sp>
        <p:nvSpPr>
          <p:cNvPr id="11" name="Subtitle 2">
            <a:extLst>
              <a:ext uri="{FF2B5EF4-FFF2-40B4-BE49-F238E27FC236}">
                <a16:creationId xmlns:a16="http://schemas.microsoft.com/office/drawing/2014/main" id="{5CE153FD-285A-D647-ADE4-833E86A9CF52}"/>
              </a:ext>
            </a:extLst>
          </p:cNvPr>
          <p:cNvSpPr>
            <a:spLocks noGrp="1"/>
          </p:cNvSpPr>
          <p:nvPr>
            <p:ph type="subTitle" idx="24" hasCustomPrompt="1"/>
          </p:nvPr>
        </p:nvSpPr>
        <p:spPr>
          <a:xfrm>
            <a:off x="442912" y="933433"/>
            <a:ext cx="11306176" cy="885842"/>
          </a:xfrm>
        </p:spPr>
        <p:txBody>
          <a:bodyPr/>
          <a:lstStyle>
            <a:lvl1pPr marL="0" indent="0" algn="l">
              <a:lnSpc>
                <a:spcPct val="85000"/>
              </a:lnSpc>
              <a:spcBef>
                <a:spcPts val="0"/>
              </a:spcBef>
              <a:spcAft>
                <a:spcPts val="0"/>
              </a:spcAft>
              <a:buNone/>
              <a:defRPr sz="2400" b="0">
                <a:solidFill>
                  <a:schemeClr val="tx1"/>
                </a:solidFill>
              </a:defRPr>
            </a:lvl1pPr>
            <a:lvl2pPr marL="0" indent="0" algn="l">
              <a:lnSpc>
                <a:spcPct val="85000"/>
              </a:lnSpc>
              <a:spcBef>
                <a:spcPts val="0"/>
              </a:spcBef>
              <a:spcAft>
                <a:spcPts val="0"/>
              </a:spcAft>
              <a:buNone/>
              <a:defRPr sz="2400"/>
            </a:lvl2pPr>
            <a:lvl3pPr marL="0" indent="0" algn="l">
              <a:lnSpc>
                <a:spcPct val="85000"/>
              </a:lnSpc>
              <a:spcBef>
                <a:spcPts val="0"/>
              </a:spcBef>
              <a:spcAft>
                <a:spcPts val="0"/>
              </a:spcAft>
              <a:buNone/>
              <a:defRPr sz="2400"/>
            </a:lvl3pPr>
            <a:lvl4pPr marL="0" indent="0" algn="l">
              <a:lnSpc>
                <a:spcPct val="85000"/>
              </a:lnSpc>
              <a:spcBef>
                <a:spcPts val="0"/>
              </a:spcBef>
              <a:spcAft>
                <a:spcPts val="0"/>
              </a:spcAft>
              <a:buNone/>
              <a:defRPr sz="2400"/>
            </a:lvl4pPr>
            <a:lvl5pPr marL="0" indent="0" algn="l">
              <a:lnSpc>
                <a:spcPct val="85000"/>
              </a:lnSpc>
              <a:spcBef>
                <a:spcPts val="0"/>
              </a:spcBef>
              <a:spcAft>
                <a:spcPts val="0"/>
              </a:spcAft>
              <a:buNone/>
              <a:defRPr sz="2400"/>
            </a:lvl5pPr>
            <a:lvl6pPr marL="0" indent="0" algn="l">
              <a:lnSpc>
                <a:spcPct val="85000"/>
              </a:lnSpc>
              <a:spcBef>
                <a:spcPts val="0"/>
              </a:spcBef>
              <a:spcAft>
                <a:spcPts val="0"/>
              </a:spcAft>
              <a:buNone/>
              <a:defRPr sz="2400"/>
            </a:lvl6pPr>
            <a:lvl7pPr marL="0" indent="0" algn="l">
              <a:lnSpc>
                <a:spcPct val="85000"/>
              </a:lnSpc>
              <a:spcBef>
                <a:spcPts val="0"/>
              </a:spcBef>
              <a:spcAft>
                <a:spcPts val="0"/>
              </a:spcAft>
              <a:buNone/>
              <a:defRPr sz="2400"/>
            </a:lvl7pPr>
            <a:lvl8pPr marL="0" indent="0" algn="l">
              <a:lnSpc>
                <a:spcPct val="85000"/>
              </a:lnSpc>
              <a:spcBef>
                <a:spcPts val="0"/>
              </a:spcBef>
              <a:spcAft>
                <a:spcPts val="0"/>
              </a:spcAft>
              <a:buNone/>
              <a:defRPr sz="2400"/>
            </a:lvl8pPr>
            <a:lvl9pPr marL="0" indent="0" algn="l">
              <a:lnSpc>
                <a:spcPct val="85000"/>
              </a:lnSpc>
              <a:spcBef>
                <a:spcPts val="0"/>
              </a:spcBef>
              <a:spcAft>
                <a:spcPts val="0"/>
              </a:spcAft>
              <a:buNone/>
              <a:defRPr sz="2400"/>
            </a:lvl9pPr>
          </a:lstStyle>
          <a:p>
            <a:r>
              <a:rPr lang="fr-FR"/>
              <a:t>[Optional slide subtitle]</a:t>
            </a:r>
            <a:endParaRPr lang="fr-FR" dirty="0"/>
          </a:p>
        </p:txBody>
      </p:sp>
      <p:sp>
        <p:nvSpPr>
          <p:cNvPr id="10" name="Picture Placeholder 2"/>
          <p:cNvSpPr>
            <a:spLocks noGrp="1"/>
          </p:cNvSpPr>
          <p:nvPr>
            <p:ph type="pic" sz="quarter" idx="13"/>
          </p:nvPr>
        </p:nvSpPr>
        <p:spPr>
          <a:xfrm>
            <a:off x="442912" y="2100263"/>
            <a:ext cx="3529013" cy="3017520"/>
          </a:xfrm>
          <a:solidFill>
            <a:srgbClr val="DEDEDE"/>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16" name="Picture Placeholder 3"/>
          <p:cNvSpPr>
            <a:spLocks noGrp="1"/>
          </p:cNvSpPr>
          <p:nvPr>
            <p:ph type="pic" sz="quarter" idx="15"/>
          </p:nvPr>
        </p:nvSpPr>
        <p:spPr>
          <a:xfrm>
            <a:off x="4331494" y="2100263"/>
            <a:ext cx="3529013" cy="3017520"/>
          </a:xfrm>
          <a:solidFill>
            <a:srgbClr val="DEDEDE"/>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18" name="Picture Placeholder 4"/>
          <p:cNvSpPr>
            <a:spLocks noGrp="1"/>
          </p:cNvSpPr>
          <p:nvPr>
            <p:ph type="pic" sz="quarter" idx="17"/>
          </p:nvPr>
        </p:nvSpPr>
        <p:spPr>
          <a:xfrm>
            <a:off x="8220075" y="2100263"/>
            <a:ext cx="3529013" cy="3017520"/>
          </a:xfrm>
          <a:solidFill>
            <a:srgbClr val="DEDEDE"/>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25" name="Content Placeholder 2">
            <a:extLst>
              <a:ext uri="{FF2B5EF4-FFF2-40B4-BE49-F238E27FC236}">
                <a16:creationId xmlns:a16="http://schemas.microsoft.com/office/drawing/2014/main" id="{DF41A2FF-FB3D-4971-8B6D-3BD731DE5053}"/>
              </a:ext>
            </a:extLst>
          </p:cNvPr>
          <p:cNvSpPr>
            <a:spLocks noGrp="1"/>
          </p:cNvSpPr>
          <p:nvPr>
            <p:ph sz="quarter" idx="20"/>
          </p:nvPr>
        </p:nvSpPr>
        <p:spPr>
          <a:xfrm>
            <a:off x="442913" y="5280025"/>
            <a:ext cx="3529012" cy="892175"/>
          </a:xfrm>
        </p:spPr>
        <p:txBody>
          <a:bodyPr/>
          <a:lstStyle>
            <a:lvl1pPr>
              <a:defRPr sz="1200"/>
            </a:lvl1pPr>
            <a:lvl2pPr>
              <a:defRPr sz="1600"/>
            </a:lvl2pPr>
            <a:lvl3pPr marL="0" indent="0">
              <a:buNone/>
              <a:defRPr/>
            </a:lvl3pPr>
          </a:lstStyle>
          <a:p>
            <a:pPr lvl="0"/>
            <a:r>
              <a:rPr lang="fr-FR" dirty="0"/>
              <a:t>Cliquez pour modifier les styles du texte du masque</a:t>
            </a:r>
          </a:p>
          <a:p>
            <a:pPr lvl="1"/>
            <a:r>
              <a:rPr lang="fr-FR" dirty="0"/>
              <a:t>Deuxième niveau</a:t>
            </a:r>
          </a:p>
        </p:txBody>
      </p:sp>
      <p:sp>
        <p:nvSpPr>
          <p:cNvPr id="26" name="Content Placeholder 3">
            <a:extLst>
              <a:ext uri="{FF2B5EF4-FFF2-40B4-BE49-F238E27FC236}">
                <a16:creationId xmlns:a16="http://schemas.microsoft.com/office/drawing/2014/main" id="{7662A741-222C-4F6F-9366-53AED64CAC17}"/>
              </a:ext>
            </a:extLst>
          </p:cNvPr>
          <p:cNvSpPr>
            <a:spLocks noGrp="1"/>
          </p:cNvSpPr>
          <p:nvPr>
            <p:ph sz="quarter" idx="21"/>
          </p:nvPr>
        </p:nvSpPr>
        <p:spPr>
          <a:xfrm>
            <a:off x="4331495" y="5280025"/>
            <a:ext cx="3529012" cy="892175"/>
          </a:xfrm>
        </p:spPr>
        <p:txBody>
          <a:bodyPr/>
          <a:lstStyle>
            <a:lvl1pPr>
              <a:defRPr sz="1200"/>
            </a:lvl1pPr>
            <a:lvl2pPr>
              <a:defRPr sz="1600"/>
            </a:lvl2pPr>
            <a:lvl3pPr marL="0" indent="0">
              <a:buNone/>
              <a:defRPr/>
            </a:lvl3pPr>
          </a:lstStyle>
          <a:p>
            <a:pPr lvl="0"/>
            <a:r>
              <a:rPr lang="fr-FR" dirty="0"/>
              <a:t>Cliquez pour modifier les styles du texte du masque</a:t>
            </a:r>
          </a:p>
          <a:p>
            <a:pPr lvl="1"/>
            <a:r>
              <a:rPr lang="fr-FR" dirty="0"/>
              <a:t>Deuxième niveau</a:t>
            </a:r>
          </a:p>
        </p:txBody>
      </p:sp>
      <p:sp>
        <p:nvSpPr>
          <p:cNvPr id="27" name="Content Placeholder 4">
            <a:extLst>
              <a:ext uri="{FF2B5EF4-FFF2-40B4-BE49-F238E27FC236}">
                <a16:creationId xmlns:a16="http://schemas.microsoft.com/office/drawing/2014/main" id="{2C7502DD-886C-4B7F-ACDF-7765ADE3972C}"/>
              </a:ext>
            </a:extLst>
          </p:cNvPr>
          <p:cNvSpPr>
            <a:spLocks noGrp="1"/>
          </p:cNvSpPr>
          <p:nvPr>
            <p:ph sz="quarter" idx="22"/>
          </p:nvPr>
        </p:nvSpPr>
        <p:spPr>
          <a:xfrm>
            <a:off x="8220076" y="5280025"/>
            <a:ext cx="3529012" cy="892175"/>
          </a:xfrm>
        </p:spPr>
        <p:txBody>
          <a:bodyPr/>
          <a:lstStyle>
            <a:lvl1pPr>
              <a:defRPr sz="1200"/>
            </a:lvl1pPr>
            <a:lvl2pPr>
              <a:defRPr sz="1600"/>
            </a:lvl2pPr>
            <a:lvl3pPr marL="0" indent="0">
              <a:buNone/>
              <a:defRPr/>
            </a:lvl3pPr>
          </a:lstStyle>
          <a:p>
            <a:pPr lvl="0"/>
            <a:r>
              <a:rPr lang="fr-FR" dirty="0"/>
              <a:t>Cliquez pour modifier les styles du texte du masque</a:t>
            </a:r>
          </a:p>
          <a:p>
            <a:pPr lvl="1"/>
            <a:r>
              <a:rPr lang="fr-FR" dirty="0"/>
              <a:t>Deuxième niveau</a:t>
            </a:r>
          </a:p>
        </p:txBody>
      </p:sp>
      <p:sp>
        <p:nvSpPr>
          <p:cNvPr id="22" name="Presentation Footer">
            <a:extLst>
              <a:ext uri="{FF2B5EF4-FFF2-40B4-BE49-F238E27FC236}">
                <a16:creationId xmlns:a16="http://schemas.microsoft.com/office/drawing/2014/main" id="{E528D06F-5262-4849-B168-CAB133AE792E}"/>
              </a:ext>
            </a:extLst>
          </p:cNvPr>
          <p:cNvSpPr>
            <a:spLocks noGrp="1"/>
          </p:cNvSpPr>
          <p:nvPr>
            <p:ph type="ftr" sz="quarter" idx="25"/>
          </p:nvPr>
        </p:nvSpPr>
        <p:spPr>
          <a:xfrm>
            <a:off x="442912" y="6355080"/>
            <a:ext cx="5473701" cy="137160"/>
          </a:xfrm>
        </p:spPr>
        <p:txBody>
          <a:bodyPr/>
          <a:lstStyle/>
          <a:p>
            <a:pPr algn="l"/>
            <a:r>
              <a:rPr lang="en-US"/>
              <a:t>GCCA GNR Concrete Pilot Project</a:t>
            </a:r>
            <a:endParaRPr lang="fr-FR" dirty="0"/>
          </a:p>
        </p:txBody>
      </p:sp>
      <p:sp>
        <p:nvSpPr>
          <p:cNvPr id="23" name="Date">
            <a:extLst>
              <a:ext uri="{FF2B5EF4-FFF2-40B4-BE49-F238E27FC236}">
                <a16:creationId xmlns:a16="http://schemas.microsoft.com/office/drawing/2014/main" id="{8844EFB6-E1C5-4C39-8ECF-FB91260B5DAB}"/>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24" name="Slide Number">
            <a:extLst>
              <a:ext uri="{FF2B5EF4-FFF2-40B4-BE49-F238E27FC236}">
                <a16:creationId xmlns:a16="http://schemas.microsoft.com/office/drawing/2014/main" id="{238FF94D-6991-41E6-8DF6-656C300803A7}"/>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11274660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Text Boxes for Icons">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442913" y="432000"/>
            <a:ext cx="11306175" cy="1387275"/>
          </a:xfrm>
        </p:spPr>
        <p:txBody>
          <a:bodyPr/>
          <a:lstStyle>
            <a:lvl1pPr>
              <a:defRPr/>
            </a:lvl1pPr>
          </a:lstStyle>
          <a:p>
            <a:r>
              <a:rPr lang="fr-FR"/>
              <a:t>[Slide title]</a:t>
            </a:r>
            <a:endParaRPr lang="fr-FR" dirty="0"/>
          </a:p>
        </p:txBody>
      </p:sp>
      <p:sp>
        <p:nvSpPr>
          <p:cNvPr id="20" name="Content Placeholder 2">
            <a:extLst>
              <a:ext uri="{FF2B5EF4-FFF2-40B4-BE49-F238E27FC236}">
                <a16:creationId xmlns:a16="http://schemas.microsoft.com/office/drawing/2014/main" id="{5647D158-444C-4C82-ACB0-9AB0A3521F0D}"/>
              </a:ext>
            </a:extLst>
          </p:cNvPr>
          <p:cNvSpPr>
            <a:spLocks noGrp="1"/>
          </p:cNvSpPr>
          <p:nvPr>
            <p:ph sz="quarter" idx="21" hasCustomPrompt="1"/>
          </p:nvPr>
        </p:nvSpPr>
        <p:spPr>
          <a:xfrm>
            <a:off x="447233" y="3429000"/>
            <a:ext cx="2560320" cy="2743200"/>
          </a:xfrm>
        </p:spPr>
        <p:txBody>
          <a:bodyPr/>
          <a:lstStyle>
            <a:lvl1pPr>
              <a:defRPr sz="1200"/>
            </a:lvl1pPr>
            <a:lvl2pPr>
              <a:defRPr sz="1600"/>
            </a:lvl2pPr>
            <a:lvl3pPr marL="0" indent="0">
              <a:buNone/>
              <a:defRPr sz="16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21" name="Content Placeholder 3">
            <a:extLst>
              <a:ext uri="{FF2B5EF4-FFF2-40B4-BE49-F238E27FC236}">
                <a16:creationId xmlns:a16="http://schemas.microsoft.com/office/drawing/2014/main" id="{09E9185D-B5E2-42D8-B0BB-64A240642503}"/>
              </a:ext>
            </a:extLst>
          </p:cNvPr>
          <p:cNvSpPr>
            <a:spLocks noGrp="1"/>
          </p:cNvSpPr>
          <p:nvPr>
            <p:ph sz="quarter" idx="22" hasCustomPrompt="1"/>
          </p:nvPr>
        </p:nvSpPr>
        <p:spPr>
          <a:xfrm>
            <a:off x="3359638" y="3429000"/>
            <a:ext cx="2560320" cy="2743200"/>
          </a:xfrm>
        </p:spPr>
        <p:txBody>
          <a:bodyPr/>
          <a:lstStyle>
            <a:lvl1pPr>
              <a:defRPr sz="1200"/>
            </a:lvl1pPr>
            <a:lvl2pPr>
              <a:defRPr sz="1600"/>
            </a:lvl2pPr>
            <a:lvl3pPr marL="0" indent="0">
              <a:buNone/>
              <a:defRPr sz="16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22" name="Content Placeholder 4">
            <a:extLst>
              <a:ext uri="{FF2B5EF4-FFF2-40B4-BE49-F238E27FC236}">
                <a16:creationId xmlns:a16="http://schemas.microsoft.com/office/drawing/2014/main" id="{4EDDB54A-2316-4869-8165-5986C6003418}"/>
              </a:ext>
            </a:extLst>
          </p:cNvPr>
          <p:cNvSpPr>
            <a:spLocks noGrp="1"/>
          </p:cNvSpPr>
          <p:nvPr>
            <p:ph sz="quarter" idx="23" hasCustomPrompt="1"/>
          </p:nvPr>
        </p:nvSpPr>
        <p:spPr>
          <a:xfrm>
            <a:off x="6276363" y="3429000"/>
            <a:ext cx="2560320" cy="2743200"/>
          </a:xfrm>
        </p:spPr>
        <p:txBody>
          <a:bodyPr/>
          <a:lstStyle>
            <a:lvl1pPr>
              <a:defRPr sz="1200"/>
            </a:lvl1pPr>
            <a:lvl2pPr>
              <a:defRPr sz="1600"/>
            </a:lvl2pPr>
            <a:lvl3pPr marL="0" indent="0">
              <a:buNone/>
              <a:defRPr sz="16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23" name="Content Placeholder 5">
            <a:extLst>
              <a:ext uri="{FF2B5EF4-FFF2-40B4-BE49-F238E27FC236}">
                <a16:creationId xmlns:a16="http://schemas.microsoft.com/office/drawing/2014/main" id="{C944BFAA-989E-4744-AC4B-DF3B93FF7EF7}"/>
              </a:ext>
            </a:extLst>
          </p:cNvPr>
          <p:cNvSpPr>
            <a:spLocks noGrp="1"/>
          </p:cNvSpPr>
          <p:nvPr>
            <p:ph sz="quarter" idx="24" hasCustomPrompt="1"/>
          </p:nvPr>
        </p:nvSpPr>
        <p:spPr>
          <a:xfrm>
            <a:off x="9193088" y="3429000"/>
            <a:ext cx="2560320" cy="2743200"/>
          </a:xfrm>
        </p:spPr>
        <p:txBody>
          <a:bodyPr/>
          <a:lstStyle>
            <a:lvl1pPr>
              <a:defRPr sz="1200"/>
            </a:lvl1pPr>
            <a:lvl2pPr>
              <a:defRPr sz="1600"/>
            </a:lvl2pPr>
            <a:lvl3pPr marL="0" indent="0">
              <a:buNone/>
              <a:defRPr sz="16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4" name="Presentation Footer">
            <a:extLst>
              <a:ext uri="{FF2B5EF4-FFF2-40B4-BE49-F238E27FC236}">
                <a16:creationId xmlns:a16="http://schemas.microsoft.com/office/drawing/2014/main" id="{B9DDE53E-9EDD-4F33-A597-8A2E4C6CBC9C}"/>
              </a:ext>
            </a:extLst>
          </p:cNvPr>
          <p:cNvSpPr>
            <a:spLocks noGrp="1"/>
          </p:cNvSpPr>
          <p:nvPr>
            <p:ph type="ftr" sz="quarter" idx="13"/>
          </p:nvPr>
        </p:nvSpPr>
        <p:spPr>
          <a:xfrm>
            <a:off x="442912" y="6355080"/>
            <a:ext cx="5473701" cy="137160"/>
          </a:xfrm>
        </p:spPr>
        <p:txBody>
          <a:bodyPr/>
          <a:lstStyle/>
          <a:p>
            <a:pPr algn="l"/>
            <a:r>
              <a:rPr lang="en-US"/>
              <a:t>GCCA GNR Concrete Pilot Project</a:t>
            </a:r>
            <a:endParaRPr lang="fr-FR" dirty="0"/>
          </a:p>
        </p:txBody>
      </p:sp>
      <p:sp>
        <p:nvSpPr>
          <p:cNvPr id="16" name="Date">
            <a:extLst>
              <a:ext uri="{FF2B5EF4-FFF2-40B4-BE49-F238E27FC236}">
                <a16:creationId xmlns:a16="http://schemas.microsoft.com/office/drawing/2014/main" id="{1C6AF745-C28E-4CFB-995D-464989BC2E66}"/>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8" name="Slide Number">
            <a:extLst>
              <a:ext uri="{FF2B5EF4-FFF2-40B4-BE49-F238E27FC236}">
                <a16:creationId xmlns:a16="http://schemas.microsoft.com/office/drawing/2014/main" id="{E93105BA-6858-4899-BF66-66DC46BAE1D7}"/>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1593770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Text Boxes for Icons - Subtitle">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442913" y="430514"/>
            <a:ext cx="11306175" cy="502920"/>
          </a:xfrm>
        </p:spPr>
        <p:txBody>
          <a:bodyPr/>
          <a:lstStyle>
            <a:lvl1pPr>
              <a:defRPr/>
            </a:lvl1pPr>
          </a:lstStyle>
          <a:p>
            <a:r>
              <a:rPr lang="fr-FR"/>
              <a:t>[Slide title]</a:t>
            </a:r>
            <a:endParaRPr lang="fr-FR" dirty="0"/>
          </a:p>
        </p:txBody>
      </p:sp>
      <p:sp>
        <p:nvSpPr>
          <p:cNvPr id="9" name="Subtitle 2">
            <a:extLst>
              <a:ext uri="{FF2B5EF4-FFF2-40B4-BE49-F238E27FC236}">
                <a16:creationId xmlns:a16="http://schemas.microsoft.com/office/drawing/2014/main" id="{DA3591F7-EFF5-C649-BCF8-906639EFF4C9}"/>
              </a:ext>
            </a:extLst>
          </p:cNvPr>
          <p:cNvSpPr>
            <a:spLocks noGrp="1"/>
          </p:cNvSpPr>
          <p:nvPr>
            <p:ph type="subTitle" idx="23" hasCustomPrompt="1"/>
          </p:nvPr>
        </p:nvSpPr>
        <p:spPr>
          <a:xfrm>
            <a:off x="442912" y="933433"/>
            <a:ext cx="11306176" cy="885842"/>
          </a:xfrm>
        </p:spPr>
        <p:txBody>
          <a:bodyPr/>
          <a:lstStyle>
            <a:lvl1pPr marL="0" indent="0" algn="l">
              <a:lnSpc>
                <a:spcPct val="85000"/>
              </a:lnSpc>
              <a:spcBef>
                <a:spcPts val="0"/>
              </a:spcBef>
              <a:spcAft>
                <a:spcPts val="0"/>
              </a:spcAft>
              <a:buNone/>
              <a:defRPr sz="2400" b="0">
                <a:solidFill>
                  <a:schemeClr val="tx1"/>
                </a:solidFill>
              </a:defRPr>
            </a:lvl1pPr>
            <a:lvl2pPr marL="0" indent="0" algn="l">
              <a:lnSpc>
                <a:spcPct val="85000"/>
              </a:lnSpc>
              <a:spcBef>
                <a:spcPts val="0"/>
              </a:spcBef>
              <a:spcAft>
                <a:spcPts val="0"/>
              </a:spcAft>
              <a:buNone/>
              <a:defRPr sz="2400"/>
            </a:lvl2pPr>
            <a:lvl3pPr marL="0" indent="0" algn="l">
              <a:lnSpc>
                <a:spcPct val="85000"/>
              </a:lnSpc>
              <a:spcBef>
                <a:spcPts val="0"/>
              </a:spcBef>
              <a:spcAft>
                <a:spcPts val="0"/>
              </a:spcAft>
              <a:buNone/>
              <a:defRPr sz="2400"/>
            </a:lvl3pPr>
            <a:lvl4pPr marL="0" indent="0" algn="l">
              <a:lnSpc>
                <a:spcPct val="85000"/>
              </a:lnSpc>
              <a:spcBef>
                <a:spcPts val="0"/>
              </a:spcBef>
              <a:spcAft>
                <a:spcPts val="0"/>
              </a:spcAft>
              <a:buNone/>
              <a:defRPr sz="2400"/>
            </a:lvl4pPr>
            <a:lvl5pPr marL="0" indent="0" algn="l">
              <a:lnSpc>
                <a:spcPct val="85000"/>
              </a:lnSpc>
              <a:spcBef>
                <a:spcPts val="0"/>
              </a:spcBef>
              <a:spcAft>
                <a:spcPts val="0"/>
              </a:spcAft>
              <a:buNone/>
              <a:defRPr sz="2400"/>
            </a:lvl5pPr>
            <a:lvl6pPr marL="0" indent="0" algn="l">
              <a:lnSpc>
                <a:spcPct val="85000"/>
              </a:lnSpc>
              <a:spcBef>
                <a:spcPts val="0"/>
              </a:spcBef>
              <a:spcAft>
                <a:spcPts val="0"/>
              </a:spcAft>
              <a:buNone/>
              <a:defRPr sz="2400"/>
            </a:lvl6pPr>
            <a:lvl7pPr marL="0" indent="0" algn="l">
              <a:lnSpc>
                <a:spcPct val="85000"/>
              </a:lnSpc>
              <a:spcBef>
                <a:spcPts val="0"/>
              </a:spcBef>
              <a:spcAft>
                <a:spcPts val="0"/>
              </a:spcAft>
              <a:buNone/>
              <a:defRPr sz="2400"/>
            </a:lvl7pPr>
            <a:lvl8pPr marL="0" indent="0" algn="l">
              <a:lnSpc>
                <a:spcPct val="85000"/>
              </a:lnSpc>
              <a:spcBef>
                <a:spcPts val="0"/>
              </a:spcBef>
              <a:spcAft>
                <a:spcPts val="0"/>
              </a:spcAft>
              <a:buNone/>
              <a:defRPr sz="2400"/>
            </a:lvl8pPr>
            <a:lvl9pPr marL="0" indent="0" algn="l">
              <a:lnSpc>
                <a:spcPct val="85000"/>
              </a:lnSpc>
              <a:spcBef>
                <a:spcPts val="0"/>
              </a:spcBef>
              <a:spcAft>
                <a:spcPts val="0"/>
              </a:spcAft>
              <a:buNone/>
              <a:defRPr sz="2400"/>
            </a:lvl9pPr>
          </a:lstStyle>
          <a:p>
            <a:r>
              <a:rPr lang="fr-FR"/>
              <a:t>[Optional slide subtitle]</a:t>
            </a:r>
            <a:endParaRPr lang="fr-FR" dirty="0"/>
          </a:p>
        </p:txBody>
      </p:sp>
      <p:sp>
        <p:nvSpPr>
          <p:cNvPr id="22" name="Content Placeholder 2">
            <a:extLst>
              <a:ext uri="{FF2B5EF4-FFF2-40B4-BE49-F238E27FC236}">
                <a16:creationId xmlns:a16="http://schemas.microsoft.com/office/drawing/2014/main" id="{14F44128-4414-43CF-8270-05DD5E559019}"/>
              </a:ext>
            </a:extLst>
          </p:cNvPr>
          <p:cNvSpPr>
            <a:spLocks noGrp="1"/>
          </p:cNvSpPr>
          <p:nvPr>
            <p:ph sz="quarter" idx="21" hasCustomPrompt="1"/>
          </p:nvPr>
        </p:nvSpPr>
        <p:spPr>
          <a:xfrm>
            <a:off x="447233" y="3429000"/>
            <a:ext cx="2560320" cy="2743200"/>
          </a:xfrm>
        </p:spPr>
        <p:txBody>
          <a:bodyPr/>
          <a:lstStyle>
            <a:lvl1pPr>
              <a:defRPr sz="1200"/>
            </a:lvl1pPr>
            <a:lvl2pPr>
              <a:defRPr sz="1600"/>
            </a:lvl2pPr>
            <a:lvl3pPr marL="0" indent="0">
              <a:buNone/>
              <a:defRPr sz="16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23" name="Content Placeholder 3">
            <a:extLst>
              <a:ext uri="{FF2B5EF4-FFF2-40B4-BE49-F238E27FC236}">
                <a16:creationId xmlns:a16="http://schemas.microsoft.com/office/drawing/2014/main" id="{5550B7EC-9A89-4137-AC2C-8E055967FFC7}"/>
              </a:ext>
            </a:extLst>
          </p:cNvPr>
          <p:cNvSpPr>
            <a:spLocks noGrp="1"/>
          </p:cNvSpPr>
          <p:nvPr>
            <p:ph sz="quarter" idx="22" hasCustomPrompt="1"/>
          </p:nvPr>
        </p:nvSpPr>
        <p:spPr>
          <a:xfrm>
            <a:off x="3359638" y="3429000"/>
            <a:ext cx="2560320" cy="2743200"/>
          </a:xfrm>
        </p:spPr>
        <p:txBody>
          <a:bodyPr/>
          <a:lstStyle>
            <a:lvl1pPr>
              <a:defRPr sz="1200"/>
            </a:lvl1pPr>
            <a:lvl2pPr>
              <a:defRPr sz="1600"/>
            </a:lvl2pPr>
            <a:lvl3pPr marL="0" indent="0">
              <a:buNone/>
              <a:defRPr sz="16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24" name="Content Placeholder 4">
            <a:extLst>
              <a:ext uri="{FF2B5EF4-FFF2-40B4-BE49-F238E27FC236}">
                <a16:creationId xmlns:a16="http://schemas.microsoft.com/office/drawing/2014/main" id="{CAE92F97-7ADC-46A9-8EB2-EF00E7B8C3B0}"/>
              </a:ext>
            </a:extLst>
          </p:cNvPr>
          <p:cNvSpPr>
            <a:spLocks noGrp="1"/>
          </p:cNvSpPr>
          <p:nvPr>
            <p:ph sz="quarter" idx="24" hasCustomPrompt="1"/>
          </p:nvPr>
        </p:nvSpPr>
        <p:spPr>
          <a:xfrm>
            <a:off x="6276363" y="3429000"/>
            <a:ext cx="2560320" cy="2743200"/>
          </a:xfrm>
        </p:spPr>
        <p:txBody>
          <a:bodyPr/>
          <a:lstStyle>
            <a:lvl1pPr>
              <a:defRPr sz="1200"/>
            </a:lvl1pPr>
            <a:lvl2pPr>
              <a:defRPr sz="1600"/>
            </a:lvl2pPr>
            <a:lvl3pPr marL="0" indent="0">
              <a:buNone/>
              <a:defRPr sz="16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25" name="Content Placeholder 5">
            <a:extLst>
              <a:ext uri="{FF2B5EF4-FFF2-40B4-BE49-F238E27FC236}">
                <a16:creationId xmlns:a16="http://schemas.microsoft.com/office/drawing/2014/main" id="{F0AE013A-6661-47CF-A7AF-4541D1BE18D6}"/>
              </a:ext>
            </a:extLst>
          </p:cNvPr>
          <p:cNvSpPr>
            <a:spLocks noGrp="1"/>
          </p:cNvSpPr>
          <p:nvPr>
            <p:ph sz="quarter" idx="25" hasCustomPrompt="1"/>
          </p:nvPr>
        </p:nvSpPr>
        <p:spPr>
          <a:xfrm>
            <a:off x="9193088" y="3429000"/>
            <a:ext cx="2560320" cy="2743200"/>
          </a:xfrm>
        </p:spPr>
        <p:txBody>
          <a:bodyPr/>
          <a:lstStyle>
            <a:lvl1pPr>
              <a:defRPr sz="1200"/>
            </a:lvl1pPr>
            <a:lvl2pPr>
              <a:defRPr sz="1600"/>
            </a:lvl2pPr>
            <a:lvl3pPr marL="0" indent="0">
              <a:buNone/>
              <a:defRPr sz="16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8" name="Presentation Footer">
            <a:extLst>
              <a:ext uri="{FF2B5EF4-FFF2-40B4-BE49-F238E27FC236}">
                <a16:creationId xmlns:a16="http://schemas.microsoft.com/office/drawing/2014/main" id="{476632F6-66EA-4654-B66C-2F08C8E1CEB5}"/>
              </a:ext>
            </a:extLst>
          </p:cNvPr>
          <p:cNvSpPr>
            <a:spLocks noGrp="1"/>
          </p:cNvSpPr>
          <p:nvPr>
            <p:ph type="ftr" sz="quarter" idx="13"/>
          </p:nvPr>
        </p:nvSpPr>
        <p:spPr>
          <a:xfrm>
            <a:off x="442912" y="6355080"/>
            <a:ext cx="5473701" cy="137160"/>
          </a:xfrm>
        </p:spPr>
        <p:txBody>
          <a:bodyPr/>
          <a:lstStyle/>
          <a:p>
            <a:pPr algn="l"/>
            <a:r>
              <a:rPr lang="en-US"/>
              <a:t>GCCA GNR Concrete Pilot Project</a:t>
            </a:r>
            <a:endParaRPr lang="fr-FR" dirty="0"/>
          </a:p>
        </p:txBody>
      </p:sp>
      <p:sp>
        <p:nvSpPr>
          <p:cNvPr id="20" name="Date">
            <a:extLst>
              <a:ext uri="{FF2B5EF4-FFF2-40B4-BE49-F238E27FC236}">
                <a16:creationId xmlns:a16="http://schemas.microsoft.com/office/drawing/2014/main" id="{8B148D9B-4228-4F7F-B491-CFE84F85C04A}"/>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21" name="Slide Number">
            <a:extLst>
              <a:ext uri="{FF2B5EF4-FFF2-40B4-BE49-F238E27FC236}">
                <a16:creationId xmlns:a16="http://schemas.microsoft.com/office/drawing/2014/main" id="{309E4F0E-DE98-4D2A-9BFB-DA7217D32733}"/>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7269704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ur Team Images">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442913" y="432000"/>
            <a:ext cx="11306175" cy="1387275"/>
          </a:xfrm>
        </p:spPr>
        <p:txBody>
          <a:bodyPr/>
          <a:lstStyle>
            <a:lvl1pPr>
              <a:defRPr/>
            </a:lvl1pPr>
          </a:lstStyle>
          <a:p>
            <a:r>
              <a:rPr lang="fr-FR"/>
              <a:t>[Slide title]</a:t>
            </a:r>
            <a:endParaRPr lang="fr-FR" dirty="0"/>
          </a:p>
        </p:txBody>
      </p:sp>
      <p:sp>
        <p:nvSpPr>
          <p:cNvPr id="10" name="Picture Placeholder 2"/>
          <p:cNvSpPr>
            <a:spLocks noGrp="1" noChangeAspect="1"/>
          </p:cNvSpPr>
          <p:nvPr>
            <p:ph type="pic" sz="quarter" idx="13"/>
          </p:nvPr>
        </p:nvSpPr>
        <p:spPr>
          <a:xfrm>
            <a:off x="442911" y="2103120"/>
            <a:ext cx="1325880" cy="1325880"/>
          </a:xfrm>
          <a:solidFill>
            <a:srgbClr val="DEDEDE"/>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16" name="Picture Placeholder 3"/>
          <p:cNvSpPr>
            <a:spLocks noGrp="1" noChangeAspect="1"/>
          </p:cNvSpPr>
          <p:nvPr>
            <p:ph type="pic" sz="quarter" idx="15"/>
          </p:nvPr>
        </p:nvSpPr>
        <p:spPr>
          <a:xfrm>
            <a:off x="3359638" y="2103120"/>
            <a:ext cx="1325880" cy="1325880"/>
          </a:xfrm>
          <a:solidFill>
            <a:srgbClr val="DEDEDE"/>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18" name="Picture Placeholder 4"/>
          <p:cNvSpPr>
            <a:spLocks noGrp="1" noChangeAspect="1"/>
          </p:cNvSpPr>
          <p:nvPr>
            <p:ph type="pic" sz="quarter" idx="17"/>
          </p:nvPr>
        </p:nvSpPr>
        <p:spPr>
          <a:xfrm>
            <a:off x="6276363" y="2103120"/>
            <a:ext cx="1325880" cy="1325880"/>
          </a:xfrm>
          <a:solidFill>
            <a:srgbClr val="DEDEDE"/>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14" name="Picture Placeholder 5"/>
          <p:cNvSpPr>
            <a:spLocks noGrp="1" noChangeAspect="1"/>
          </p:cNvSpPr>
          <p:nvPr>
            <p:ph type="pic" sz="quarter" idx="19"/>
          </p:nvPr>
        </p:nvSpPr>
        <p:spPr>
          <a:xfrm>
            <a:off x="9193088" y="2103120"/>
            <a:ext cx="1325880" cy="1325880"/>
          </a:xfrm>
          <a:solidFill>
            <a:srgbClr val="DEDEDE"/>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30" name="Content Placeholder 2">
            <a:extLst>
              <a:ext uri="{FF2B5EF4-FFF2-40B4-BE49-F238E27FC236}">
                <a16:creationId xmlns:a16="http://schemas.microsoft.com/office/drawing/2014/main" id="{A7BDE18C-B6F5-4F07-92F2-88EB0F06DA80}"/>
              </a:ext>
            </a:extLst>
          </p:cNvPr>
          <p:cNvSpPr>
            <a:spLocks noGrp="1"/>
          </p:cNvSpPr>
          <p:nvPr>
            <p:ph sz="quarter" idx="22" hasCustomPrompt="1"/>
          </p:nvPr>
        </p:nvSpPr>
        <p:spPr>
          <a:xfrm>
            <a:off x="447233" y="3657600"/>
            <a:ext cx="2560320" cy="2514600"/>
          </a:xfrm>
        </p:spPr>
        <p:txBody>
          <a:bodyPr/>
          <a:lstStyle>
            <a:lvl1pPr>
              <a:defRPr sz="1600"/>
            </a:lvl1pPr>
            <a:lvl2pPr>
              <a:defRPr sz="1600"/>
            </a:lvl2pPr>
            <a:lvl3pPr marL="0" indent="0">
              <a:buNone/>
              <a:defRPr sz="16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31" name="Content Placeholder 3">
            <a:extLst>
              <a:ext uri="{FF2B5EF4-FFF2-40B4-BE49-F238E27FC236}">
                <a16:creationId xmlns:a16="http://schemas.microsoft.com/office/drawing/2014/main" id="{EAB83E31-ADC6-4472-8BCC-A5123751071B}"/>
              </a:ext>
            </a:extLst>
          </p:cNvPr>
          <p:cNvSpPr>
            <a:spLocks noGrp="1"/>
          </p:cNvSpPr>
          <p:nvPr>
            <p:ph sz="quarter" idx="23" hasCustomPrompt="1"/>
          </p:nvPr>
        </p:nvSpPr>
        <p:spPr>
          <a:xfrm>
            <a:off x="3359638" y="3657600"/>
            <a:ext cx="2560320" cy="2514600"/>
          </a:xfrm>
        </p:spPr>
        <p:txBody>
          <a:bodyPr/>
          <a:lstStyle>
            <a:lvl1pPr>
              <a:defRPr sz="1600"/>
            </a:lvl1pPr>
            <a:lvl2pPr>
              <a:defRPr sz="1600"/>
            </a:lvl2pPr>
            <a:lvl3pPr marL="0" indent="0">
              <a:buNone/>
              <a:defRPr sz="16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32" name="Content Placeholder 4">
            <a:extLst>
              <a:ext uri="{FF2B5EF4-FFF2-40B4-BE49-F238E27FC236}">
                <a16:creationId xmlns:a16="http://schemas.microsoft.com/office/drawing/2014/main" id="{2C9889D5-4B26-4E63-BD3D-E58AF8BFA96E}"/>
              </a:ext>
            </a:extLst>
          </p:cNvPr>
          <p:cNvSpPr>
            <a:spLocks noGrp="1"/>
          </p:cNvSpPr>
          <p:nvPr>
            <p:ph sz="quarter" idx="24" hasCustomPrompt="1"/>
          </p:nvPr>
        </p:nvSpPr>
        <p:spPr>
          <a:xfrm>
            <a:off x="6276363" y="3657600"/>
            <a:ext cx="2560320" cy="2514600"/>
          </a:xfrm>
        </p:spPr>
        <p:txBody>
          <a:bodyPr/>
          <a:lstStyle>
            <a:lvl1pPr>
              <a:defRPr sz="1600"/>
            </a:lvl1pPr>
            <a:lvl2pPr>
              <a:defRPr sz="1600"/>
            </a:lvl2pPr>
            <a:lvl3pPr marL="0" indent="0">
              <a:buNone/>
              <a:defRPr sz="16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33" name="Content Placeholder 5">
            <a:extLst>
              <a:ext uri="{FF2B5EF4-FFF2-40B4-BE49-F238E27FC236}">
                <a16:creationId xmlns:a16="http://schemas.microsoft.com/office/drawing/2014/main" id="{D4154D0B-36B2-465C-8CF8-5F641F04607D}"/>
              </a:ext>
            </a:extLst>
          </p:cNvPr>
          <p:cNvSpPr>
            <a:spLocks noGrp="1"/>
          </p:cNvSpPr>
          <p:nvPr>
            <p:ph sz="quarter" idx="25" hasCustomPrompt="1"/>
          </p:nvPr>
        </p:nvSpPr>
        <p:spPr>
          <a:xfrm>
            <a:off x="9193088" y="3657600"/>
            <a:ext cx="2560320" cy="2514600"/>
          </a:xfrm>
        </p:spPr>
        <p:txBody>
          <a:bodyPr/>
          <a:lstStyle>
            <a:lvl1pPr>
              <a:defRPr sz="1600"/>
            </a:lvl1pPr>
            <a:lvl2pPr>
              <a:defRPr sz="1600"/>
            </a:lvl2pPr>
            <a:lvl3pPr marL="0" indent="0">
              <a:buNone/>
              <a:defRPr sz="16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23" name="Presentation Footer">
            <a:extLst>
              <a:ext uri="{FF2B5EF4-FFF2-40B4-BE49-F238E27FC236}">
                <a16:creationId xmlns:a16="http://schemas.microsoft.com/office/drawing/2014/main" id="{8DCF3834-7D5F-40E8-8AF6-4F88731AE168}"/>
              </a:ext>
            </a:extLst>
          </p:cNvPr>
          <p:cNvSpPr>
            <a:spLocks noGrp="1"/>
          </p:cNvSpPr>
          <p:nvPr>
            <p:ph type="ftr" sz="quarter" idx="21"/>
          </p:nvPr>
        </p:nvSpPr>
        <p:spPr>
          <a:xfrm>
            <a:off x="442912" y="6355080"/>
            <a:ext cx="5473701" cy="137160"/>
          </a:xfrm>
        </p:spPr>
        <p:txBody>
          <a:bodyPr/>
          <a:lstStyle/>
          <a:p>
            <a:pPr algn="l"/>
            <a:r>
              <a:rPr lang="en-US"/>
              <a:t>GCCA GNR Concrete Pilot Project</a:t>
            </a:r>
            <a:endParaRPr lang="fr-FR" dirty="0"/>
          </a:p>
        </p:txBody>
      </p:sp>
      <p:sp>
        <p:nvSpPr>
          <p:cNvPr id="24" name="Date">
            <a:extLst>
              <a:ext uri="{FF2B5EF4-FFF2-40B4-BE49-F238E27FC236}">
                <a16:creationId xmlns:a16="http://schemas.microsoft.com/office/drawing/2014/main" id="{29A7CEAD-580B-4DE6-A2E0-E3DAE79DE6F0}"/>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25" name="Slide Number">
            <a:extLst>
              <a:ext uri="{FF2B5EF4-FFF2-40B4-BE49-F238E27FC236}">
                <a16:creationId xmlns:a16="http://schemas.microsoft.com/office/drawing/2014/main" id="{9F5E421A-2098-44B9-874B-993CE3B5FAB2}"/>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35322008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our Team Images - Subtitle">
    <p:spTree>
      <p:nvGrpSpPr>
        <p:cNvPr id="1" name=""/>
        <p:cNvGrpSpPr/>
        <p:nvPr/>
      </p:nvGrpSpPr>
      <p:grpSpPr>
        <a:xfrm>
          <a:off x="0" y="0"/>
          <a:ext cx="0" cy="0"/>
          <a:chOff x="0" y="0"/>
          <a:chExt cx="0" cy="0"/>
        </a:xfrm>
      </p:grpSpPr>
      <p:sp>
        <p:nvSpPr>
          <p:cNvPr id="21" name="Title 1"/>
          <p:cNvSpPr>
            <a:spLocks noGrp="1"/>
          </p:cNvSpPr>
          <p:nvPr>
            <p:ph type="title" hasCustomPrompt="1"/>
          </p:nvPr>
        </p:nvSpPr>
        <p:spPr>
          <a:xfrm>
            <a:off x="442913" y="430514"/>
            <a:ext cx="11306175" cy="502920"/>
          </a:xfrm>
        </p:spPr>
        <p:txBody>
          <a:bodyPr/>
          <a:lstStyle>
            <a:lvl1pPr>
              <a:defRPr/>
            </a:lvl1pPr>
          </a:lstStyle>
          <a:p>
            <a:r>
              <a:rPr lang="fr-FR"/>
              <a:t>[Slide title]</a:t>
            </a:r>
            <a:endParaRPr lang="fr-FR" dirty="0"/>
          </a:p>
        </p:txBody>
      </p:sp>
      <p:sp>
        <p:nvSpPr>
          <p:cNvPr id="20" name="Subtitle 2">
            <a:extLst>
              <a:ext uri="{FF2B5EF4-FFF2-40B4-BE49-F238E27FC236}">
                <a16:creationId xmlns:a16="http://schemas.microsoft.com/office/drawing/2014/main" id="{5194D818-D8E8-5342-BDE8-319BC1FCE4A9}"/>
              </a:ext>
            </a:extLst>
          </p:cNvPr>
          <p:cNvSpPr>
            <a:spLocks noGrp="1"/>
          </p:cNvSpPr>
          <p:nvPr>
            <p:ph type="subTitle" idx="26" hasCustomPrompt="1"/>
          </p:nvPr>
        </p:nvSpPr>
        <p:spPr>
          <a:xfrm>
            <a:off x="442912" y="933433"/>
            <a:ext cx="11306176" cy="885842"/>
          </a:xfrm>
        </p:spPr>
        <p:txBody>
          <a:bodyPr/>
          <a:lstStyle>
            <a:lvl1pPr marL="0" indent="0" algn="l">
              <a:lnSpc>
                <a:spcPct val="85000"/>
              </a:lnSpc>
              <a:spcBef>
                <a:spcPts val="0"/>
              </a:spcBef>
              <a:spcAft>
                <a:spcPts val="0"/>
              </a:spcAft>
              <a:buNone/>
              <a:defRPr sz="2400" b="0">
                <a:solidFill>
                  <a:schemeClr val="tx1"/>
                </a:solidFill>
              </a:defRPr>
            </a:lvl1pPr>
            <a:lvl2pPr marL="0" indent="0" algn="l">
              <a:lnSpc>
                <a:spcPct val="85000"/>
              </a:lnSpc>
              <a:spcBef>
                <a:spcPts val="0"/>
              </a:spcBef>
              <a:spcAft>
                <a:spcPts val="0"/>
              </a:spcAft>
              <a:buNone/>
              <a:defRPr sz="2400"/>
            </a:lvl2pPr>
            <a:lvl3pPr marL="0" indent="0" algn="l">
              <a:lnSpc>
                <a:spcPct val="85000"/>
              </a:lnSpc>
              <a:spcBef>
                <a:spcPts val="0"/>
              </a:spcBef>
              <a:spcAft>
                <a:spcPts val="0"/>
              </a:spcAft>
              <a:buNone/>
              <a:defRPr sz="2400"/>
            </a:lvl3pPr>
            <a:lvl4pPr marL="0" indent="0" algn="l">
              <a:lnSpc>
                <a:spcPct val="85000"/>
              </a:lnSpc>
              <a:spcBef>
                <a:spcPts val="0"/>
              </a:spcBef>
              <a:spcAft>
                <a:spcPts val="0"/>
              </a:spcAft>
              <a:buNone/>
              <a:defRPr sz="2400"/>
            </a:lvl4pPr>
            <a:lvl5pPr marL="0" indent="0" algn="l">
              <a:lnSpc>
                <a:spcPct val="85000"/>
              </a:lnSpc>
              <a:spcBef>
                <a:spcPts val="0"/>
              </a:spcBef>
              <a:spcAft>
                <a:spcPts val="0"/>
              </a:spcAft>
              <a:buNone/>
              <a:defRPr sz="2400"/>
            </a:lvl5pPr>
            <a:lvl6pPr marL="0" indent="0" algn="l">
              <a:lnSpc>
                <a:spcPct val="85000"/>
              </a:lnSpc>
              <a:spcBef>
                <a:spcPts val="0"/>
              </a:spcBef>
              <a:spcAft>
                <a:spcPts val="0"/>
              </a:spcAft>
              <a:buNone/>
              <a:defRPr sz="2400"/>
            </a:lvl6pPr>
            <a:lvl7pPr marL="0" indent="0" algn="l">
              <a:lnSpc>
                <a:spcPct val="85000"/>
              </a:lnSpc>
              <a:spcBef>
                <a:spcPts val="0"/>
              </a:spcBef>
              <a:spcAft>
                <a:spcPts val="0"/>
              </a:spcAft>
              <a:buNone/>
              <a:defRPr sz="2400"/>
            </a:lvl7pPr>
            <a:lvl8pPr marL="0" indent="0" algn="l">
              <a:lnSpc>
                <a:spcPct val="85000"/>
              </a:lnSpc>
              <a:spcBef>
                <a:spcPts val="0"/>
              </a:spcBef>
              <a:spcAft>
                <a:spcPts val="0"/>
              </a:spcAft>
              <a:buNone/>
              <a:defRPr sz="2400"/>
            </a:lvl8pPr>
            <a:lvl9pPr marL="0" indent="0" algn="l">
              <a:lnSpc>
                <a:spcPct val="85000"/>
              </a:lnSpc>
              <a:spcBef>
                <a:spcPts val="0"/>
              </a:spcBef>
              <a:spcAft>
                <a:spcPts val="0"/>
              </a:spcAft>
              <a:buNone/>
              <a:defRPr sz="2400"/>
            </a:lvl9pPr>
          </a:lstStyle>
          <a:p>
            <a:r>
              <a:rPr lang="fr-FR"/>
              <a:t>[Optional slide subtitle]</a:t>
            </a:r>
            <a:endParaRPr lang="fr-FR" dirty="0"/>
          </a:p>
        </p:txBody>
      </p:sp>
      <p:sp>
        <p:nvSpPr>
          <p:cNvPr id="28" name="Picture Placeholder 2">
            <a:extLst>
              <a:ext uri="{FF2B5EF4-FFF2-40B4-BE49-F238E27FC236}">
                <a16:creationId xmlns:a16="http://schemas.microsoft.com/office/drawing/2014/main" id="{136A12B2-03B5-4BC2-942B-CDF222899B39}"/>
              </a:ext>
            </a:extLst>
          </p:cNvPr>
          <p:cNvSpPr>
            <a:spLocks noGrp="1" noChangeAspect="1"/>
          </p:cNvSpPr>
          <p:nvPr>
            <p:ph type="pic" sz="quarter" idx="13"/>
          </p:nvPr>
        </p:nvSpPr>
        <p:spPr>
          <a:xfrm>
            <a:off x="442911" y="2103120"/>
            <a:ext cx="1325880" cy="1325880"/>
          </a:xfrm>
          <a:solidFill>
            <a:srgbClr val="DEDEDE"/>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29" name="Picture Placeholder 3">
            <a:extLst>
              <a:ext uri="{FF2B5EF4-FFF2-40B4-BE49-F238E27FC236}">
                <a16:creationId xmlns:a16="http://schemas.microsoft.com/office/drawing/2014/main" id="{19698F39-9E08-4628-9EAA-9DFB91AB41F4}"/>
              </a:ext>
            </a:extLst>
          </p:cNvPr>
          <p:cNvSpPr>
            <a:spLocks noGrp="1" noChangeAspect="1"/>
          </p:cNvSpPr>
          <p:nvPr>
            <p:ph type="pic" sz="quarter" idx="15"/>
          </p:nvPr>
        </p:nvSpPr>
        <p:spPr>
          <a:xfrm>
            <a:off x="3359638" y="2103120"/>
            <a:ext cx="1325880" cy="1325880"/>
          </a:xfrm>
          <a:solidFill>
            <a:srgbClr val="DEDEDE"/>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30" name="Picture Placeholder 4">
            <a:extLst>
              <a:ext uri="{FF2B5EF4-FFF2-40B4-BE49-F238E27FC236}">
                <a16:creationId xmlns:a16="http://schemas.microsoft.com/office/drawing/2014/main" id="{19DD7D57-3E24-4739-9180-648AACAD80CD}"/>
              </a:ext>
            </a:extLst>
          </p:cNvPr>
          <p:cNvSpPr>
            <a:spLocks noGrp="1" noChangeAspect="1"/>
          </p:cNvSpPr>
          <p:nvPr>
            <p:ph type="pic" sz="quarter" idx="17"/>
          </p:nvPr>
        </p:nvSpPr>
        <p:spPr>
          <a:xfrm>
            <a:off x="6276363" y="2103120"/>
            <a:ext cx="1325880" cy="1325880"/>
          </a:xfrm>
          <a:solidFill>
            <a:srgbClr val="DEDEDE"/>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31" name="Picture Placeholder 5">
            <a:extLst>
              <a:ext uri="{FF2B5EF4-FFF2-40B4-BE49-F238E27FC236}">
                <a16:creationId xmlns:a16="http://schemas.microsoft.com/office/drawing/2014/main" id="{C238DBFC-D359-4AE7-953F-513D1249339E}"/>
              </a:ext>
            </a:extLst>
          </p:cNvPr>
          <p:cNvSpPr>
            <a:spLocks noGrp="1" noChangeAspect="1"/>
          </p:cNvSpPr>
          <p:nvPr>
            <p:ph type="pic" sz="quarter" idx="19"/>
          </p:nvPr>
        </p:nvSpPr>
        <p:spPr>
          <a:xfrm>
            <a:off x="9193088" y="2103120"/>
            <a:ext cx="1325880" cy="1325880"/>
          </a:xfrm>
          <a:solidFill>
            <a:srgbClr val="DEDEDE"/>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32" name="Content Placeholder 2">
            <a:extLst>
              <a:ext uri="{FF2B5EF4-FFF2-40B4-BE49-F238E27FC236}">
                <a16:creationId xmlns:a16="http://schemas.microsoft.com/office/drawing/2014/main" id="{F75EAC27-A3D9-42D2-B8B6-307439DE0C9C}"/>
              </a:ext>
            </a:extLst>
          </p:cNvPr>
          <p:cNvSpPr>
            <a:spLocks noGrp="1"/>
          </p:cNvSpPr>
          <p:nvPr>
            <p:ph sz="quarter" idx="22" hasCustomPrompt="1"/>
          </p:nvPr>
        </p:nvSpPr>
        <p:spPr>
          <a:xfrm>
            <a:off x="447233" y="3657600"/>
            <a:ext cx="2560320" cy="2514600"/>
          </a:xfrm>
        </p:spPr>
        <p:txBody>
          <a:bodyPr/>
          <a:lstStyle>
            <a:lvl1pPr>
              <a:defRPr sz="1600"/>
            </a:lvl1pPr>
            <a:lvl2pPr>
              <a:defRPr sz="1600"/>
            </a:lvl2pPr>
            <a:lvl3pPr marL="0" indent="0">
              <a:buNone/>
              <a:defRPr sz="16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33" name="Content Placeholder 3">
            <a:extLst>
              <a:ext uri="{FF2B5EF4-FFF2-40B4-BE49-F238E27FC236}">
                <a16:creationId xmlns:a16="http://schemas.microsoft.com/office/drawing/2014/main" id="{8B897F92-3121-4E86-B159-DB3A78790D25}"/>
              </a:ext>
            </a:extLst>
          </p:cNvPr>
          <p:cNvSpPr>
            <a:spLocks noGrp="1"/>
          </p:cNvSpPr>
          <p:nvPr>
            <p:ph sz="quarter" idx="23" hasCustomPrompt="1"/>
          </p:nvPr>
        </p:nvSpPr>
        <p:spPr>
          <a:xfrm>
            <a:off x="3359638" y="3657600"/>
            <a:ext cx="2560320" cy="2514600"/>
          </a:xfrm>
        </p:spPr>
        <p:txBody>
          <a:bodyPr/>
          <a:lstStyle>
            <a:lvl1pPr>
              <a:defRPr sz="1600"/>
            </a:lvl1pPr>
            <a:lvl2pPr>
              <a:defRPr sz="1600"/>
            </a:lvl2pPr>
            <a:lvl3pPr marL="0" indent="0">
              <a:buNone/>
              <a:defRPr sz="16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34" name="Content Placeholder 4">
            <a:extLst>
              <a:ext uri="{FF2B5EF4-FFF2-40B4-BE49-F238E27FC236}">
                <a16:creationId xmlns:a16="http://schemas.microsoft.com/office/drawing/2014/main" id="{91ECA7E9-EB6F-4C5F-9E75-057DD0429E43}"/>
              </a:ext>
            </a:extLst>
          </p:cNvPr>
          <p:cNvSpPr>
            <a:spLocks noGrp="1"/>
          </p:cNvSpPr>
          <p:nvPr>
            <p:ph sz="quarter" idx="24" hasCustomPrompt="1"/>
          </p:nvPr>
        </p:nvSpPr>
        <p:spPr>
          <a:xfrm>
            <a:off x="6276363" y="3657600"/>
            <a:ext cx="2560320" cy="2514600"/>
          </a:xfrm>
        </p:spPr>
        <p:txBody>
          <a:bodyPr/>
          <a:lstStyle>
            <a:lvl1pPr>
              <a:defRPr sz="1600"/>
            </a:lvl1pPr>
            <a:lvl2pPr>
              <a:defRPr sz="1600"/>
            </a:lvl2pPr>
            <a:lvl3pPr marL="0" indent="0">
              <a:buNone/>
              <a:defRPr sz="16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35" name="Content Placeholder 5">
            <a:extLst>
              <a:ext uri="{FF2B5EF4-FFF2-40B4-BE49-F238E27FC236}">
                <a16:creationId xmlns:a16="http://schemas.microsoft.com/office/drawing/2014/main" id="{364D15F8-8EEC-45CD-98E7-4DEE5949D11A}"/>
              </a:ext>
            </a:extLst>
          </p:cNvPr>
          <p:cNvSpPr>
            <a:spLocks noGrp="1"/>
          </p:cNvSpPr>
          <p:nvPr>
            <p:ph sz="quarter" idx="25" hasCustomPrompt="1"/>
          </p:nvPr>
        </p:nvSpPr>
        <p:spPr>
          <a:xfrm>
            <a:off x="9193088" y="3657600"/>
            <a:ext cx="2560320" cy="2514600"/>
          </a:xfrm>
        </p:spPr>
        <p:txBody>
          <a:bodyPr/>
          <a:lstStyle>
            <a:lvl1pPr>
              <a:defRPr sz="1600"/>
            </a:lvl1pPr>
            <a:lvl2pPr>
              <a:defRPr sz="1600"/>
            </a:lvl2pPr>
            <a:lvl3pPr marL="0" indent="0">
              <a:buNone/>
              <a:defRPr sz="1600"/>
            </a:lvl3pPr>
            <a:lvl4pPr>
              <a:defRPr sz="1600"/>
            </a:lvl4pPr>
            <a:lvl5pPr>
              <a:defRPr sz="1600"/>
            </a:lvl5pPr>
            <a:lvl6pPr>
              <a:defRPr sz="1600"/>
            </a:lvl6pPr>
            <a:lvl7pPr>
              <a:defRPr sz="1600"/>
            </a:lvl7pPr>
            <a:lvl8pPr>
              <a:defRPr sz="1600"/>
            </a:lvl8pPr>
            <a:lvl9pPr>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25" name="Presentation Footer">
            <a:extLst>
              <a:ext uri="{FF2B5EF4-FFF2-40B4-BE49-F238E27FC236}">
                <a16:creationId xmlns:a16="http://schemas.microsoft.com/office/drawing/2014/main" id="{292FBB13-99BA-4730-97DD-6B927BAB2B93}"/>
              </a:ext>
            </a:extLst>
          </p:cNvPr>
          <p:cNvSpPr>
            <a:spLocks noGrp="1"/>
          </p:cNvSpPr>
          <p:nvPr>
            <p:ph type="ftr" sz="quarter" idx="27"/>
          </p:nvPr>
        </p:nvSpPr>
        <p:spPr>
          <a:xfrm>
            <a:off x="442912" y="6355080"/>
            <a:ext cx="5473701" cy="137160"/>
          </a:xfrm>
        </p:spPr>
        <p:txBody>
          <a:bodyPr/>
          <a:lstStyle/>
          <a:p>
            <a:pPr algn="l"/>
            <a:r>
              <a:rPr lang="en-US"/>
              <a:t>GCCA GNR Concrete Pilot Project</a:t>
            </a:r>
            <a:endParaRPr lang="fr-FR" dirty="0"/>
          </a:p>
        </p:txBody>
      </p:sp>
      <p:sp>
        <p:nvSpPr>
          <p:cNvPr id="26" name="Date">
            <a:extLst>
              <a:ext uri="{FF2B5EF4-FFF2-40B4-BE49-F238E27FC236}">
                <a16:creationId xmlns:a16="http://schemas.microsoft.com/office/drawing/2014/main" id="{2CE8D507-C7DC-4A8C-AC5D-5AA897162AEA}"/>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27" name="Slide Number">
            <a:extLst>
              <a:ext uri="{FF2B5EF4-FFF2-40B4-BE49-F238E27FC236}">
                <a16:creationId xmlns:a16="http://schemas.microsoft.com/office/drawing/2014/main" id="{C5452FF6-710C-4162-87A0-D32E3D9ED22F}"/>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15121429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42913" y="432000"/>
            <a:ext cx="11306175" cy="1387275"/>
          </a:xfrm>
        </p:spPr>
        <p:txBody>
          <a:bodyPr/>
          <a:lstStyle>
            <a:lvl1pPr>
              <a:defRPr/>
            </a:lvl1pPr>
          </a:lstStyle>
          <a:p>
            <a:r>
              <a:rPr lang="fr-FR"/>
              <a:t>[Slide title]</a:t>
            </a:r>
            <a:endParaRPr lang="fr-FR" dirty="0"/>
          </a:p>
        </p:txBody>
      </p:sp>
      <p:sp>
        <p:nvSpPr>
          <p:cNvPr id="3" name="Content Placeholder 2"/>
          <p:cNvSpPr>
            <a:spLocks noGrp="1"/>
          </p:cNvSpPr>
          <p:nvPr>
            <p:ph idx="1" hasCustomPrompt="1"/>
          </p:nvPr>
        </p:nvSpPr>
        <p:spPr>
          <a:xfrm>
            <a:off x="442914" y="2103438"/>
            <a:ext cx="3529012"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9" name="Chart Placeholder 2"/>
          <p:cNvSpPr>
            <a:spLocks noGrp="1"/>
          </p:cNvSpPr>
          <p:nvPr>
            <p:ph type="chart" sz="quarter" idx="13"/>
          </p:nvPr>
        </p:nvSpPr>
        <p:spPr>
          <a:xfrm>
            <a:off x="5600701" y="1428750"/>
            <a:ext cx="6148387" cy="4743450"/>
          </a:xfrm>
        </p:spPr>
        <p:txBody>
          <a:bodyPr anchor="ctr" anchorCtr="0"/>
          <a:lstStyle>
            <a:lvl1pPr algn="ctr">
              <a:defRPr sz="1200" b="0">
                <a:solidFill>
                  <a:schemeClr val="tx1"/>
                </a:solidFill>
              </a:defRPr>
            </a:lvl1pPr>
          </a:lstStyle>
          <a:p>
            <a:r>
              <a:rPr lang="fr-FR" dirty="0"/>
              <a:t>Cliquez sur l'icône pour ajouter </a:t>
            </a:r>
            <a:r>
              <a:rPr lang="fr-FR"/>
              <a:t>un graphique</a:t>
            </a:r>
            <a:endParaRPr lang="fr-FR" dirty="0"/>
          </a:p>
        </p:txBody>
      </p:sp>
      <p:sp>
        <p:nvSpPr>
          <p:cNvPr id="12" name="Presentation Footer">
            <a:extLst>
              <a:ext uri="{FF2B5EF4-FFF2-40B4-BE49-F238E27FC236}">
                <a16:creationId xmlns:a16="http://schemas.microsoft.com/office/drawing/2014/main" id="{B3707D2C-7DF3-4EFE-9DD4-E8C7AA8B5452}"/>
              </a:ext>
            </a:extLst>
          </p:cNvPr>
          <p:cNvSpPr>
            <a:spLocks noGrp="1"/>
          </p:cNvSpPr>
          <p:nvPr>
            <p:ph type="ftr" sz="quarter" idx="14"/>
          </p:nvPr>
        </p:nvSpPr>
        <p:spPr>
          <a:xfrm>
            <a:off x="442912" y="6355080"/>
            <a:ext cx="5473701" cy="137160"/>
          </a:xfrm>
        </p:spPr>
        <p:txBody>
          <a:bodyPr/>
          <a:lstStyle/>
          <a:p>
            <a:pPr algn="l"/>
            <a:r>
              <a:rPr lang="en-US"/>
              <a:t>GCCA GNR Concrete Pilot Project</a:t>
            </a:r>
            <a:endParaRPr lang="fr-FR" dirty="0"/>
          </a:p>
        </p:txBody>
      </p:sp>
      <p:sp>
        <p:nvSpPr>
          <p:cNvPr id="13" name="Date">
            <a:extLst>
              <a:ext uri="{FF2B5EF4-FFF2-40B4-BE49-F238E27FC236}">
                <a16:creationId xmlns:a16="http://schemas.microsoft.com/office/drawing/2014/main" id="{83D88E3C-7EF7-4B3C-9713-6E89C69AC6B9}"/>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4" name="Slide Number">
            <a:extLst>
              <a:ext uri="{FF2B5EF4-FFF2-40B4-BE49-F238E27FC236}">
                <a16:creationId xmlns:a16="http://schemas.microsoft.com/office/drawing/2014/main" id="{10842AC8-8412-4D65-BC9D-953648FAE48A}"/>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10348175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ne Column Chart - Subtitle">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442913" y="430514"/>
            <a:ext cx="11306175" cy="502920"/>
          </a:xfrm>
        </p:spPr>
        <p:txBody>
          <a:bodyPr/>
          <a:lstStyle>
            <a:lvl1pPr>
              <a:defRPr/>
            </a:lvl1pPr>
          </a:lstStyle>
          <a:p>
            <a:r>
              <a:rPr lang="fr-FR"/>
              <a:t>[Slide title]</a:t>
            </a:r>
            <a:endParaRPr lang="fr-FR" dirty="0"/>
          </a:p>
        </p:txBody>
      </p:sp>
      <p:sp>
        <p:nvSpPr>
          <p:cNvPr id="7" name="Subtitle 2">
            <a:extLst>
              <a:ext uri="{FF2B5EF4-FFF2-40B4-BE49-F238E27FC236}">
                <a16:creationId xmlns:a16="http://schemas.microsoft.com/office/drawing/2014/main" id="{E168D6DA-542B-6F48-A3F4-9AAC02852C7A}"/>
              </a:ext>
            </a:extLst>
          </p:cNvPr>
          <p:cNvSpPr>
            <a:spLocks noGrp="1"/>
          </p:cNvSpPr>
          <p:nvPr>
            <p:ph type="subTitle" idx="16" hasCustomPrompt="1"/>
          </p:nvPr>
        </p:nvSpPr>
        <p:spPr>
          <a:xfrm>
            <a:off x="442912" y="933433"/>
            <a:ext cx="11306176" cy="885842"/>
          </a:xfrm>
        </p:spPr>
        <p:txBody>
          <a:bodyPr/>
          <a:lstStyle>
            <a:lvl1pPr marL="0" indent="0" algn="l">
              <a:lnSpc>
                <a:spcPct val="85000"/>
              </a:lnSpc>
              <a:spcBef>
                <a:spcPts val="0"/>
              </a:spcBef>
              <a:spcAft>
                <a:spcPts val="0"/>
              </a:spcAft>
              <a:buNone/>
              <a:defRPr sz="2400" b="0">
                <a:solidFill>
                  <a:schemeClr val="tx1"/>
                </a:solidFill>
              </a:defRPr>
            </a:lvl1pPr>
            <a:lvl2pPr marL="0" indent="0" algn="l">
              <a:lnSpc>
                <a:spcPct val="85000"/>
              </a:lnSpc>
              <a:spcBef>
                <a:spcPts val="0"/>
              </a:spcBef>
              <a:spcAft>
                <a:spcPts val="0"/>
              </a:spcAft>
              <a:buNone/>
              <a:defRPr sz="2400"/>
            </a:lvl2pPr>
            <a:lvl3pPr marL="0" indent="0" algn="l">
              <a:lnSpc>
                <a:spcPct val="85000"/>
              </a:lnSpc>
              <a:spcBef>
                <a:spcPts val="0"/>
              </a:spcBef>
              <a:spcAft>
                <a:spcPts val="0"/>
              </a:spcAft>
              <a:buNone/>
              <a:defRPr sz="2400"/>
            </a:lvl3pPr>
            <a:lvl4pPr marL="0" indent="0" algn="l">
              <a:lnSpc>
                <a:spcPct val="85000"/>
              </a:lnSpc>
              <a:spcBef>
                <a:spcPts val="0"/>
              </a:spcBef>
              <a:spcAft>
                <a:spcPts val="0"/>
              </a:spcAft>
              <a:buNone/>
              <a:defRPr sz="2400"/>
            </a:lvl4pPr>
            <a:lvl5pPr marL="0" indent="0" algn="l">
              <a:lnSpc>
                <a:spcPct val="85000"/>
              </a:lnSpc>
              <a:spcBef>
                <a:spcPts val="0"/>
              </a:spcBef>
              <a:spcAft>
                <a:spcPts val="0"/>
              </a:spcAft>
              <a:buNone/>
              <a:defRPr sz="2400"/>
            </a:lvl5pPr>
            <a:lvl6pPr marL="0" indent="0" algn="l">
              <a:lnSpc>
                <a:spcPct val="85000"/>
              </a:lnSpc>
              <a:spcBef>
                <a:spcPts val="0"/>
              </a:spcBef>
              <a:spcAft>
                <a:spcPts val="0"/>
              </a:spcAft>
              <a:buNone/>
              <a:defRPr sz="2400"/>
            </a:lvl6pPr>
            <a:lvl7pPr marL="0" indent="0" algn="l">
              <a:lnSpc>
                <a:spcPct val="85000"/>
              </a:lnSpc>
              <a:spcBef>
                <a:spcPts val="0"/>
              </a:spcBef>
              <a:spcAft>
                <a:spcPts val="0"/>
              </a:spcAft>
              <a:buNone/>
              <a:defRPr sz="2400"/>
            </a:lvl7pPr>
            <a:lvl8pPr marL="0" indent="0" algn="l">
              <a:lnSpc>
                <a:spcPct val="85000"/>
              </a:lnSpc>
              <a:spcBef>
                <a:spcPts val="0"/>
              </a:spcBef>
              <a:spcAft>
                <a:spcPts val="0"/>
              </a:spcAft>
              <a:buNone/>
              <a:defRPr sz="2400"/>
            </a:lvl8pPr>
            <a:lvl9pPr marL="0" indent="0" algn="l">
              <a:lnSpc>
                <a:spcPct val="85000"/>
              </a:lnSpc>
              <a:spcBef>
                <a:spcPts val="0"/>
              </a:spcBef>
              <a:spcAft>
                <a:spcPts val="0"/>
              </a:spcAft>
              <a:buNone/>
              <a:defRPr sz="2400"/>
            </a:lvl9pPr>
          </a:lstStyle>
          <a:p>
            <a:r>
              <a:rPr lang="fr-FR"/>
              <a:t>[Optional slide subtitle]</a:t>
            </a:r>
            <a:endParaRPr lang="fr-FR" dirty="0"/>
          </a:p>
        </p:txBody>
      </p:sp>
      <p:sp>
        <p:nvSpPr>
          <p:cNvPr id="3" name="Content Placeholder 2"/>
          <p:cNvSpPr>
            <a:spLocks noGrp="1"/>
          </p:cNvSpPr>
          <p:nvPr>
            <p:ph idx="1" hasCustomPrompt="1"/>
          </p:nvPr>
        </p:nvSpPr>
        <p:spPr>
          <a:xfrm>
            <a:off x="442914" y="2103438"/>
            <a:ext cx="3529012" cy="4068762"/>
          </a:xfrm>
        </p:spPr>
        <p:txBody>
          <a:bodyPr/>
          <a:lstStyle>
            <a:lvl5pPr>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9" name="Chart Placeholder 2"/>
          <p:cNvSpPr>
            <a:spLocks noGrp="1"/>
          </p:cNvSpPr>
          <p:nvPr>
            <p:ph type="chart" sz="quarter" idx="13"/>
          </p:nvPr>
        </p:nvSpPr>
        <p:spPr>
          <a:xfrm>
            <a:off x="5600701" y="1428750"/>
            <a:ext cx="6148387" cy="4743450"/>
          </a:xfrm>
        </p:spPr>
        <p:txBody>
          <a:bodyPr anchor="ctr" anchorCtr="0"/>
          <a:lstStyle>
            <a:lvl1pPr algn="ctr">
              <a:defRPr sz="1200" b="0">
                <a:solidFill>
                  <a:schemeClr val="tx1"/>
                </a:solidFill>
              </a:defRPr>
            </a:lvl1pPr>
          </a:lstStyle>
          <a:p>
            <a:r>
              <a:rPr lang="fr-FR" dirty="0"/>
              <a:t>Cliquez sur l'icône pour ajouter </a:t>
            </a:r>
            <a:r>
              <a:rPr lang="fr-FR"/>
              <a:t>un graphique</a:t>
            </a:r>
            <a:endParaRPr lang="fr-FR" dirty="0"/>
          </a:p>
        </p:txBody>
      </p:sp>
      <p:sp>
        <p:nvSpPr>
          <p:cNvPr id="14" name="Presentation Footer">
            <a:extLst>
              <a:ext uri="{FF2B5EF4-FFF2-40B4-BE49-F238E27FC236}">
                <a16:creationId xmlns:a16="http://schemas.microsoft.com/office/drawing/2014/main" id="{8D9C67B1-50E6-4DEF-9BFF-7719E52635D4}"/>
              </a:ext>
            </a:extLst>
          </p:cNvPr>
          <p:cNvSpPr>
            <a:spLocks noGrp="1"/>
          </p:cNvSpPr>
          <p:nvPr>
            <p:ph type="ftr" sz="quarter" idx="17"/>
          </p:nvPr>
        </p:nvSpPr>
        <p:spPr>
          <a:xfrm>
            <a:off x="442912" y="6355080"/>
            <a:ext cx="5473701" cy="137160"/>
          </a:xfrm>
        </p:spPr>
        <p:txBody>
          <a:bodyPr/>
          <a:lstStyle/>
          <a:p>
            <a:pPr algn="l"/>
            <a:r>
              <a:rPr lang="en-US"/>
              <a:t>GCCA GNR Concrete Pilot Project</a:t>
            </a:r>
            <a:endParaRPr lang="fr-FR" dirty="0"/>
          </a:p>
        </p:txBody>
      </p:sp>
      <p:sp>
        <p:nvSpPr>
          <p:cNvPr id="15" name="Date">
            <a:extLst>
              <a:ext uri="{FF2B5EF4-FFF2-40B4-BE49-F238E27FC236}">
                <a16:creationId xmlns:a16="http://schemas.microsoft.com/office/drawing/2014/main" id="{FCC2D15B-C84F-4D88-A2DE-44282445E10F}"/>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6" name="Slide Number">
            <a:extLst>
              <a:ext uri="{FF2B5EF4-FFF2-40B4-BE49-F238E27FC236}">
                <a16:creationId xmlns:a16="http://schemas.microsoft.com/office/drawing/2014/main" id="{34B491E1-3607-4463-BA21-5BF30F965781}"/>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9113749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One Column Chart Dark">
    <p:bg>
      <p:bgPr>
        <a:solidFill>
          <a:srgbClr val="464646"/>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p:txBody>
          <a:bodyPr/>
          <a:lstStyle>
            <a:lvl1pPr>
              <a:defRPr>
                <a:solidFill>
                  <a:schemeClr val="tx1"/>
                </a:solidFill>
              </a:defRPr>
            </a:lvl1pPr>
          </a:lstStyle>
          <a:p>
            <a:r>
              <a:rPr lang="fr-FR"/>
              <a:t>[Slide title]</a:t>
            </a:r>
            <a:endParaRPr lang="fr-FR" dirty="0"/>
          </a:p>
        </p:txBody>
      </p:sp>
      <p:sp>
        <p:nvSpPr>
          <p:cNvPr id="3" name="Content Placeholder 2"/>
          <p:cNvSpPr>
            <a:spLocks noGrp="1"/>
          </p:cNvSpPr>
          <p:nvPr>
            <p:ph idx="1" hasCustomPrompt="1"/>
          </p:nvPr>
        </p:nvSpPr>
        <p:spPr>
          <a:xfrm>
            <a:off x="442914" y="2103438"/>
            <a:ext cx="3529012" cy="40687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9" name="Chart Placeholder 2"/>
          <p:cNvSpPr>
            <a:spLocks noGrp="1"/>
          </p:cNvSpPr>
          <p:nvPr>
            <p:ph type="chart" sz="quarter" idx="13"/>
          </p:nvPr>
        </p:nvSpPr>
        <p:spPr>
          <a:xfrm>
            <a:off x="5600701" y="1428750"/>
            <a:ext cx="6148387" cy="4743450"/>
          </a:xfrm>
        </p:spPr>
        <p:txBody>
          <a:bodyPr anchor="ctr" anchorCtr="0"/>
          <a:lstStyle>
            <a:lvl1pPr algn="ctr">
              <a:defRPr sz="1200" b="0">
                <a:solidFill>
                  <a:schemeClr val="tx1"/>
                </a:solidFill>
              </a:defRPr>
            </a:lvl1pPr>
          </a:lstStyle>
          <a:p>
            <a:r>
              <a:rPr lang="fr-FR" dirty="0"/>
              <a:t>Cliquez sur l'icône pour ajouter </a:t>
            </a:r>
            <a:r>
              <a:rPr lang="fr-FR"/>
              <a:t>un graphique</a:t>
            </a:r>
            <a:endParaRPr lang="fr-FR" dirty="0"/>
          </a:p>
        </p:txBody>
      </p:sp>
      <p:sp>
        <p:nvSpPr>
          <p:cNvPr id="8" name="Presentation Footer">
            <a:extLst>
              <a:ext uri="{FF2B5EF4-FFF2-40B4-BE49-F238E27FC236}">
                <a16:creationId xmlns:a16="http://schemas.microsoft.com/office/drawing/2014/main" id="{A2808A79-2905-41A1-B99C-1D393D6CBBBF}"/>
              </a:ext>
            </a:extLst>
          </p:cNvPr>
          <p:cNvSpPr>
            <a:spLocks noGrp="1"/>
          </p:cNvSpPr>
          <p:nvPr>
            <p:ph type="ftr" sz="quarter" idx="14"/>
          </p:nvPr>
        </p:nvSpPr>
        <p:spPr>
          <a:xfrm>
            <a:off x="442912" y="6355080"/>
            <a:ext cx="5473701" cy="137160"/>
          </a:xfrm>
        </p:spPr>
        <p:txBody>
          <a:bodyPr/>
          <a:lstStyle/>
          <a:p>
            <a:pPr algn="l"/>
            <a:r>
              <a:rPr lang="en-US"/>
              <a:t>GCCA GNR Concrete Pilot Project</a:t>
            </a:r>
            <a:endParaRPr lang="fr-FR" dirty="0"/>
          </a:p>
        </p:txBody>
      </p:sp>
      <p:sp>
        <p:nvSpPr>
          <p:cNvPr id="11" name="Date">
            <a:extLst>
              <a:ext uri="{FF2B5EF4-FFF2-40B4-BE49-F238E27FC236}">
                <a16:creationId xmlns:a16="http://schemas.microsoft.com/office/drawing/2014/main" id="{6423CBA3-567A-4416-8DCF-ACBDBFE4FA84}"/>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2" name="Slide Number">
            <a:extLst>
              <a:ext uri="{FF2B5EF4-FFF2-40B4-BE49-F238E27FC236}">
                <a16:creationId xmlns:a16="http://schemas.microsoft.com/office/drawing/2014/main" id="{9B4165E1-39E1-4A48-8ED6-9C3A96357709}"/>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358168160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fr-FR"/>
              <a:t>[Slide title]</a:t>
            </a:r>
            <a:endParaRPr lang="fr-FR" dirty="0"/>
          </a:p>
        </p:txBody>
      </p:sp>
      <p:sp>
        <p:nvSpPr>
          <p:cNvPr id="9" name="Presentation Footer">
            <a:extLst>
              <a:ext uri="{FF2B5EF4-FFF2-40B4-BE49-F238E27FC236}">
                <a16:creationId xmlns:a16="http://schemas.microsoft.com/office/drawing/2014/main" id="{F2288642-D6A8-4716-B5EF-36D68817E020}"/>
              </a:ext>
            </a:extLst>
          </p:cNvPr>
          <p:cNvSpPr>
            <a:spLocks noGrp="1"/>
          </p:cNvSpPr>
          <p:nvPr>
            <p:ph type="ftr" sz="quarter" idx="13"/>
          </p:nvPr>
        </p:nvSpPr>
        <p:spPr>
          <a:xfrm>
            <a:off x="442912" y="6355080"/>
            <a:ext cx="5473701" cy="137160"/>
          </a:xfrm>
        </p:spPr>
        <p:txBody>
          <a:bodyPr/>
          <a:lstStyle/>
          <a:p>
            <a:pPr algn="l"/>
            <a:r>
              <a:rPr lang="en-US"/>
              <a:t>GCCA GNR Concrete Pilot Project</a:t>
            </a:r>
            <a:endParaRPr lang="fr-FR" dirty="0"/>
          </a:p>
        </p:txBody>
      </p:sp>
      <p:sp>
        <p:nvSpPr>
          <p:cNvPr id="10" name="Date">
            <a:extLst>
              <a:ext uri="{FF2B5EF4-FFF2-40B4-BE49-F238E27FC236}">
                <a16:creationId xmlns:a16="http://schemas.microsoft.com/office/drawing/2014/main" id="{76E9A6AC-3A56-4D69-B8B6-5E24CE0B75A8}"/>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1" name="Slide Number">
            <a:extLst>
              <a:ext uri="{FF2B5EF4-FFF2-40B4-BE49-F238E27FC236}">
                <a16:creationId xmlns:a16="http://schemas.microsoft.com/office/drawing/2014/main" id="{AAC6746E-625A-44F1-923D-85D1DDF84168}"/>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15315883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8" name="Presentation Footer">
            <a:extLst>
              <a:ext uri="{FF2B5EF4-FFF2-40B4-BE49-F238E27FC236}">
                <a16:creationId xmlns:a16="http://schemas.microsoft.com/office/drawing/2014/main" id="{99A7B0C4-BC7D-457C-B648-F1FE808CD662}"/>
              </a:ext>
            </a:extLst>
          </p:cNvPr>
          <p:cNvSpPr>
            <a:spLocks noGrp="1"/>
          </p:cNvSpPr>
          <p:nvPr>
            <p:ph type="ftr" sz="quarter" idx="13"/>
          </p:nvPr>
        </p:nvSpPr>
        <p:spPr>
          <a:xfrm>
            <a:off x="442912" y="6355080"/>
            <a:ext cx="5473701" cy="137160"/>
          </a:xfrm>
        </p:spPr>
        <p:txBody>
          <a:bodyPr/>
          <a:lstStyle/>
          <a:p>
            <a:pPr algn="l"/>
            <a:r>
              <a:rPr lang="en-US"/>
              <a:t>GCCA GNR Concrete Pilot Project</a:t>
            </a:r>
            <a:endParaRPr lang="fr-FR" dirty="0"/>
          </a:p>
        </p:txBody>
      </p:sp>
      <p:sp>
        <p:nvSpPr>
          <p:cNvPr id="9" name="Date">
            <a:extLst>
              <a:ext uri="{FF2B5EF4-FFF2-40B4-BE49-F238E27FC236}">
                <a16:creationId xmlns:a16="http://schemas.microsoft.com/office/drawing/2014/main" id="{CD72F5B7-8C3E-4398-BD4E-B469E5219816}"/>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0" name="Slide Number">
            <a:extLst>
              <a:ext uri="{FF2B5EF4-FFF2-40B4-BE49-F238E27FC236}">
                <a16:creationId xmlns:a16="http://schemas.microsoft.com/office/drawing/2014/main" id="{74363D4C-937A-4BA3-973F-C587E7E9FF03}"/>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30795797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44202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fographic and Chart">
    <p:spTree>
      <p:nvGrpSpPr>
        <p:cNvPr id="1" name=""/>
        <p:cNvGrpSpPr/>
        <p:nvPr/>
      </p:nvGrpSpPr>
      <p:grpSpPr>
        <a:xfrm>
          <a:off x="0" y="0"/>
          <a:ext cx="0" cy="0"/>
          <a:chOff x="0" y="0"/>
          <a:chExt cx="0" cy="0"/>
        </a:xfrm>
      </p:grpSpPr>
      <p:sp>
        <p:nvSpPr>
          <p:cNvPr id="5" name="Title 1"/>
          <p:cNvSpPr>
            <a:spLocks noGrp="1"/>
          </p:cNvSpPr>
          <p:nvPr>
            <p:ph type="title" hasCustomPrompt="1"/>
          </p:nvPr>
        </p:nvSpPr>
        <p:spPr/>
        <p:txBody>
          <a:bodyPr/>
          <a:lstStyle>
            <a:lvl1pPr>
              <a:defRPr/>
            </a:lvl1pPr>
          </a:lstStyle>
          <a:p>
            <a:r>
              <a:rPr lang="fr-FR"/>
              <a:t>[Slide title]</a:t>
            </a:r>
            <a:endParaRPr lang="fr-FR" dirty="0"/>
          </a:p>
        </p:txBody>
      </p:sp>
      <p:sp>
        <p:nvSpPr>
          <p:cNvPr id="8" name="Rectangle 7"/>
          <p:cNvSpPr/>
          <p:nvPr/>
        </p:nvSpPr>
        <p:spPr bwMode="hidden">
          <a:xfrm>
            <a:off x="0" y="2103438"/>
            <a:ext cx="3971925" cy="4068762"/>
          </a:xfrm>
          <a:prstGeom prst="rect">
            <a:avLst/>
          </a:prstGeom>
          <a:solidFill>
            <a:srgbClr val="D04A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0" name="Text Placeholder 9"/>
          <p:cNvSpPr>
            <a:spLocks noGrp="1"/>
          </p:cNvSpPr>
          <p:nvPr>
            <p:ph type="body" sz="quarter" idx="14" hasCustomPrompt="1"/>
          </p:nvPr>
        </p:nvSpPr>
        <p:spPr>
          <a:xfrm>
            <a:off x="360370" y="2377440"/>
            <a:ext cx="3611880" cy="1737360"/>
          </a:xfrm>
        </p:spPr>
        <p:txBody>
          <a:bodyPr tIns="0" bIns="0" anchor="t" anchorCtr="0"/>
          <a:lstStyle>
            <a:lvl1pPr>
              <a:lnSpc>
                <a:spcPct val="80000"/>
              </a:lnSpc>
              <a:spcBef>
                <a:spcPts val="0"/>
              </a:spcBef>
              <a:spcAft>
                <a:spcPts val="0"/>
              </a:spcAft>
              <a:defRPr sz="13600" b="1" spc="-100" baseline="0">
                <a:solidFill>
                  <a:schemeClr val="bg1"/>
                </a:solidFill>
              </a:defRPr>
            </a:lvl1pPr>
          </a:lstStyle>
          <a:p>
            <a:pPr lvl="0"/>
            <a:r>
              <a:rPr lang="fr-FR"/>
              <a:t>00%</a:t>
            </a:r>
            <a:endParaRPr lang="fr-FR" dirty="0"/>
          </a:p>
        </p:txBody>
      </p:sp>
      <p:sp>
        <p:nvSpPr>
          <p:cNvPr id="3" name="Content Placeholder 2"/>
          <p:cNvSpPr>
            <a:spLocks noGrp="1"/>
          </p:cNvSpPr>
          <p:nvPr>
            <p:ph idx="1" hasCustomPrompt="1"/>
          </p:nvPr>
        </p:nvSpPr>
        <p:spPr>
          <a:xfrm>
            <a:off x="442914" y="3931920"/>
            <a:ext cx="3328986" cy="2061784"/>
          </a:xfrm>
        </p:spPr>
        <p:txBody>
          <a:bodyPr/>
          <a:lstStyle>
            <a:lvl1pPr>
              <a:lnSpc>
                <a:spcPct val="100000"/>
              </a:lnSpc>
              <a:spcBef>
                <a:spcPts val="0"/>
              </a:spcBef>
              <a:spcAft>
                <a:spcPts val="0"/>
              </a:spcAft>
              <a:defRPr sz="1600" b="0">
                <a:solidFill>
                  <a:schemeClr val="bg1"/>
                </a:solidFill>
              </a:defRPr>
            </a:lvl1pPr>
            <a:lvl2pPr marL="182880" indent="-182880">
              <a:lnSpc>
                <a:spcPct val="100000"/>
              </a:lnSpc>
              <a:spcBef>
                <a:spcPts val="0"/>
              </a:spcBef>
              <a:spcAft>
                <a:spcPts val="0"/>
              </a:spcAft>
              <a:buFont typeface="Arial" panose="020B0604020202020204" pitchFamily="34" charset="0"/>
              <a:buChar char="•"/>
              <a:defRPr b="0">
                <a:solidFill>
                  <a:schemeClr val="bg1"/>
                </a:solidFill>
              </a:defRPr>
            </a:lvl2pPr>
            <a:lvl3pPr marL="365760" indent="-182880">
              <a:lnSpc>
                <a:spcPct val="100000"/>
              </a:lnSpc>
              <a:spcBef>
                <a:spcPts val="0"/>
              </a:spcBef>
              <a:spcAft>
                <a:spcPts val="0"/>
              </a:spcAft>
              <a:buFont typeface="Arial" panose="020B0604020202020204" pitchFamily="34" charset="0"/>
              <a:buChar char="–"/>
              <a:defRPr b="0">
                <a:solidFill>
                  <a:schemeClr val="bg1"/>
                </a:solidFill>
              </a:defRPr>
            </a:lvl3pPr>
            <a:lvl4pPr marL="548640" indent="-182880">
              <a:lnSpc>
                <a:spcPct val="100000"/>
              </a:lnSpc>
              <a:spcBef>
                <a:spcPts val="0"/>
              </a:spcBef>
              <a:spcAft>
                <a:spcPts val="0"/>
              </a:spcAft>
              <a:buFont typeface="Arial" panose="020B0604020202020204" pitchFamily="34" charset="0"/>
              <a:buChar char="•"/>
              <a:defRPr b="0">
                <a:solidFill>
                  <a:schemeClr val="bg1"/>
                </a:solidFill>
              </a:defRPr>
            </a:lvl4pPr>
            <a:lvl5pPr marL="731520" indent="-182880">
              <a:lnSpc>
                <a:spcPct val="100000"/>
              </a:lnSpc>
              <a:spcBef>
                <a:spcPts val="0"/>
              </a:spcBef>
              <a:spcAft>
                <a:spcPts val="0"/>
              </a:spcAft>
              <a:buFont typeface="Arial" panose="020B0604020202020204" pitchFamily="34" charset="0"/>
              <a:buChar char="–"/>
              <a:defRPr b="0">
                <a:solidFill>
                  <a:schemeClr val="bg1"/>
                </a:solidFill>
              </a:defRPr>
            </a:lvl5pPr>
            <a:lvl6pPr marL="914400" indent="-182880">
              <a:spcBef>
                <a:spcPts val="0"/>
              </a:spcBef>
              <a:buFont typeface="Arial" panose="020B0604020202020204" pitchFamily="34" charset="0"/>
              <a:buChar char="•"/>
              <a:defRPr>
                <a:solidFill>
                  <a:schemeClr val="bg1"/>
                </a:solidFill>
              </a:defRPr>
            </a:lvl6pPr>
            <a:lvl7pPr marL="1097280" indent="-182880">
              <a:spcBef>
                <a:spcPts val="0"/>
              </a:spcBef>
              <a:buFont typeface="Arial" panose="020B0604020202020204" pitchFamily="34" charset="0"/>
              <a:buChar char="–"/>
              <a:defRPr>
                <a:solidFill>
                  <a:schemeClr val="bg1"/>
                </a:solidFill>
              </a:defRPr>
            </a:lvl7pPr>
            <a:lvl8pPr marL="1280160" indent="-182880">
              <a:spcBef>
                <a:spcPts val="0"/>
              </a:spcBef>
              <a:buFont typeface="Arial" panose="020B0604020202020204" pitchFamily="34" charset="0"/>
              <a:buChar char="•"/>
              <a:defRPr>
                <a:solidFill>
                  <a:schemeClr val="bg1"/>
                </a:solidFill>
              </a:defRPr>
            </a:lvl8pPr>
            <a:lvl9pPr marL="1463040" indent="-182880">
              <a:spcBef>
                <a:spcPts val="0"/>
              </a:spcBef>
              <a:buFont typeface="Arial" panose="020B0604020202020204" pitchFamily="34" charset="0"/>
              <a:buChar char="–"/>
              <a:defRPr>
                <a:solidFill>
                  <a:schemeClr val="bg1"/>
                </a:solidFill>
              </a:defRPr>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
        <p:nvSpPr>
          <p:cNvPr id="9" name="Chart Placeholder 8"/>
          <p:cNvSpPr>
            <a:spLocks noGrp="1"/>
          </p:cNvSpPr>
          <p:nvPr>
            <p:ph type="chart" sz="quarter" idx="13"/>
          </p:nvPr>
        </p:nvSpPr>
        <p:spPr>
          <a:xfrm>
            <a:off x="4327525" y="2095500"/>
            <a:ext cx="7421563" cy="4076699"/>
          </a:xfrm>
        </p:spPr>
        <p:txBody>
          <a:bodyPr anchor="ctr" anchorCtr="0"/>
          <a:lstStyle>
            <a:lvl1pPr algn="ctr">
              <a:defRPr sz="1200" b="0">
                <a:solidFill>
                  <a:schemeClr val="tx1"/>
                </a:solidFill>
              </a:defRPr>
            </a:lvl1pPr>
          </a:lstStyle>
          <a:p>
            <a:r>
              <a:rPr lang="fr-FR" dirty="0"/>
              <a:t>Cliquez sur l'icône pour ajouter </a:t>
            </a:r>
            <a:r>
              <a:rPr lang="fr-FR"/>
              <a:t>un graphique</a:t>
            </a:r>
            <a:endParaRPr lang="fr-FR" dirty="0"/>
          </a:p>
        </p:txBody>
      </p:sp>
      <p:sp>
        <p:nvSpPr>
          <p:cNvPr id="14" name="Presentation Footer">
            <a:extLst>
              <a:ext uri="{FF2B5EF4-FFF2-40B4-BE49-F238E27FC236}">
                <a16:creationId xmlns:a16="http://schemas.microsoft.com/office/drawing/2014/main" id="{22E99923-0EF3-4147-8318-0DCE770AA4F3}"/>
              </a:ext>
            </a:extLst>
          </p:cNvPr>
          <p:cNvSpPr>
            <a:spLocks noGrp="1"/>
          </p:cNvSpPr>
          <p:nvPr>
            <p:ph type="ftr" sz="quarter" idx="15"/>
          </p:nvPr>
        </p:nvSpPr>
        <p:spPr>
          <a:xfrm>
            <a:off x="442912" y="6355080"/>
            <a:ext cx="5473701" cy="137160"/>
          </a:xfrm>
        </p:spPr>
        <p:txBody>
          <a:bodyPr/>
          <a:lstStyle/>
          <a:p>
            <a:pPr algn="l"/>
            <a:r>
              <a:rPr lang="en-US"/>
              <a:t>GCCA GNR Concrete Pilot Project</a:t>
            </a:r>
            <a:endParaRPr lang="fr-FR" dirty="0"/>
          </a:p>
        </p:txBody>
      </p:sp>
      <p:sp>
        <p:nvSpPr>
          <p:cNvPr id="15" name="Date">
            <a:extLst>
              <a:ext uri="{FF2B5EF4-FFF2-40B4-BE49-F238E27FC236}">
                <a16:creationId xmlns:a16="http://schemas.microsoft.com/office/drawing/2014/main" id="{E63AAD15-CC4C-4F4E-A7D4-8BDF4A9C4656}"/>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6" name="Slide Number">
            <a:extLst>
              <a:ext uri="{FF2B5EF4-FFF2-40B4-BE49-F238E27FC236}">
                <a16:creationId xmlns:a16="http://schemas.microsoft.com/office/drawing/2014/main" id="{F704AF40-9537-48E1-AA82-98F733AB70B4}"/>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14444185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Content Infographic">
    <p:spTree>
      <p:nvGrpSpPr>
        <p:cNvPr id="1" name=""/>
        <p:cNvGrpSpPr/>
        <p:nvPr/>
      </p:nvGrpSpPr>
      <p:grpSpPr>
        <a:xfrm>
          <a:off x="0" y="0"/>
          <a:ext cx="0" cy="0"/>
          <a:chOff x="0" y="0"/>
          <a:chExt cx="0" cy="0"/>
        </a:xfrm>
      </p:grpSpPr>
      <p:sp>
        <p:nvSpPr>
          <p:cNvPr id="6" name="Title 1"/>
          <p:cNvSpPr>
            <a:spLocks noGrp="1"/>
          </p:cNvSpPr>
          <p:nvPr>
            <p:ph type="title" hasCustomPrompt="1"/>
          </p:nvPr>
        </p:nvSpPr>
        <p:spPr/>
        <p:txBody>
          <a:bodyPr/>
          <a:lstStyle>
            <a:lvl1pPr>
              <a:defRPr/>
            </a:lvl1pPr>
          </a:lstStyle>
          <a:p>
            <a:r>
              <a:rPr lang="fr-FR"/>
              <a:t>[Slide title]</a:t>
            </a:r>
            <a:endParaRPr lang="fr-FR" dirty="0"/>
          </a:p>
        </p:txBody>
      </p:sp>
      <p:sp>
        <p:nvSpPr>
          <p:cNvPr id="10" name="Text Placeholder 2"/>
          <p:cNvSpPr>
            <a:spLocks noGrp="1"/>
          </p:cNvSpPr>
          <p:nvPr>
            <p:ph type="body" sz="quarter" idx="14" hasCustomPrompt="1"/>
          </p:nvPr>
        </p:nvSpPr>
        <p:spPr>
          <a:xfrm>
            <a:off x="442913" y="2095500"/>
            <a:ext cx="3529012" cy="1333500"/>
          </a:xfrm>
        </p:spPr>
        <p:txBody>
          <a:bodyPr anchor="ctr" anchorCtr="0"/>
          <a:lstStyle>
            <a:lvl1pPr>
              <a:lnSpc>
                <a:spcPct val="100000"/>
              </a:lnSpc>
              <a:defRPr sz="8500" b="0" spc="-100" baseline="0">
                <a:solidFill>
                  <a:schemeClr val="accent3"/>
                </a:solidFill>
              </a:defRPr>
            </a:lvl1pPr>
          </a:lstStyle>
          <a:p>
            <a:pPr lvl="0"/>
            <a:r>
              <a:rPr lang="fr-FR"/>
              <a:t>00%</a:t>
            </a:r>
            <a:endParaRPr lang="fr-FR" dirty="0"/>
          </a:p>
        </p:txBody>
      </p:sp>
      <p:sp>
        <p:nvSpPr>
          <p:cNvPr id="13" name="Text Placeholder 3"/>
          <p:cNvSpPr>
            <a:spLocks noGrp="1"/>
          </p:cNvSpPr>
          <p:nvPr>
            <p:ph type="body" sz="quarter" idx="15" hasCustomPrompt="1"/>
          </p:nvPr>
        </p:nvSpPr>
        <p:spPr>
          <a:xfrm>
            <a:off x="4327524" y="2095500"/>
            <a:ext cx="3533775" cy="1333500"/>
          </a:xfrm>
        </p:spPr>
        <p:txBody>
          <a:bodyPr anchor="ctr" anchorCtr="0"/>
          <a:lstStyle>
            <a:lvl1pPr>
              <a:lnSpc>
                <a:spcPct val="100000"/>
              </a:lnSpc>
              <a:defRPr sz="8500" b="0" spc="-100" baseline="0">
                <a:solidFill>
                  <a:schemeClr val="tx2"/>
                </a:solidFill>
              </a:defRPr>
            </a:lvl1pPr>
          </a:lstStyle>
          <a:p>
            <a:pPr lvl="0"/>
            <a:r>
              <a:rPr lang="fr-FR"/>
              <a:t>00%</a:t>
            </a:r>
            <a:endParaRPr lang="fr-FR" dirty="0"/>
          </a:p>
        </p:txBody>
      </p:sp>
      <p:sp>
        <p:nvSpPr>
          <p:cNvPr id="14" name="Text Placeholder 4"/>
          <p:cNvSpPr>
            <a:spLocks noGrp="1"/>
          </p:cNvSpPr>
          <p:nvPr>
            <p:ph type="body" sz="quarter" idx="16" hasCustomPrompt="1"/>
          </p:nvPr>
        </p:nvSpPr>
        <p:spPr>
          <a:xfrm>
            <a:off x="8222571" y="2095500"/>
            <a:ext cx="3529012" cy="1333500"/>
          </a:xfrm>
        </p:spPr>
        <p:txBody>
          <a:bodyPr anchor="ctr" anchorCtr="0"/>
          <a:lstStyle>
            <a:lvl1pPr>
              <a:lnSpc>
                <a:spcPct val="100000"/>
              </a:lnSpc>
              <a:defRPr sz="8500" b="0" spc="-100" baseline="0">
                <a:solidFill>
                  <a:schemeClr val="accent1"/>
                </a:solidFill>
              </a:defRPr>
            </a:lvl1pPr>
          </a:lstStyle>
          <a:p>
            <a:pPr lvl="0"/>
            <a:r>
              <a:rPr lang="fr-FR"/>
              <a:t>00%</a:t>
            </a:r>
            <a:endParaRPr lang="fr-FR" dirty="0"/>
          </a:p>
        </p:txBody>
      </p:sp>
      <p:sp>
        <p:nvSpPr>
          <p:cNvPr id="3" name="Content Placeholder 2"/>
          <p:cNvSpPr>
            <a:spLocks noGrp="1"/>
          </p:cNvSpPr>
          <p:nvPr>
            <p:ph sz="half" idx="1" hasCustomPrompt="1"/>
          </p:nvPr>
        </p:nvSpPr>
        <p:spPr>
          <a:xfrm>
            <a:off x="442913" y="3599542"/>
            <a:ext cx="3529012" cy="2578057"/>
          </a:xfrm>
        </p:spPr>
        <p:txBody>
          <a:bodyPr/>
          <a:lstStyle>
            <a:lvl1pPr>
              <a:spcBef>
                <a:spcPts val="0"/>
              </a:spcBef>
              <a:spcAft>
                <a:spcPts val="600"/>
              </a:spcAft>
              <a:defRPr>
                <a:solidFill>
                  <a:schemeClr val="accent3"/>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
        <p:nvSpPr>
          <p:cNvPr id="15" name="Content Placeholder 3">
            <a:extLst>
              <a:ext uri="{FF2B5EF4-FFF2-40B4-BE49-F238E27FC236}">
                <a16:creationId xmlns:a16="http://schemas.microsoft.com/office/drawing/2014/main" id="{904FBFED-85D0-8C43-84C6-BADD19241EDC}"/>
              </a:ext>
            </a:extLst>
          </p:cNvPr>
          <p:cNvSpPr>
            <a:spLocks noGrp="1"/>
          </p:cNvSpPr>
          <p:nvPr>
            <p:ph sz="half" idx="19" hasCustomPrompt="1"/>
          </p:nvPr>
        </p:nvSpPr>
        <p:spPr>
          <a:xfrm>
            <a:off x="4327525" y="3599542"/>
            <a:ext cx="3533775" cy="2578057"/>
          </a:xfrm>
        </p:spPr>
        <p:txBody>
          <a:bodyPr/>
          <a:lstStyle>
            <a:lvl1pPr>
              <a:spcBef>
                <a:spcPts val="0"/>
              </a:spcBef>
              <a:spcAft>
                <a:spcPts val="600"/>
              </a:spcAft>
              <a:defRPr>
                <a:solidFill>
                  <a:schemeClr val="tx2"/>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
        <p:nvSpPr>
          <p:cNvPr id="16" name="Content Placeholder 4">
            <a:extLst>
              <a:ext uri="{FF2B5EF4-FFF2-40B4-BE49-F238E27FC236}">
                <a16:creationId xmlns:a16="http://schemas.microsoft.com/office/drawing/2014/main" id="{C7D43B0B-6C29-D449-BC95-219F98DA27E0}"/>
              </a:ext>
            </a:extLst>
          </p:cNvPr>
          <p:cNvSpPr>
            <a:spLocks noGrp="1"/>
          </p:cNvSpPr>
          <p:nvPr>
            <p:ph sz="half" idx="20" hasCustomPrompt="1"/>
          </p:nvPr>
        </p:nvSpPr>
        <p:spPr>
          <a:xfrm>
            <a:off x="8222571" y="3599542"/>
            <a:ext cx="3529012" cy="2578057"/>
          </a:xfrm>
        </p:spPr>
        <p:txBody>
          <a:bodyPr/>
          <a:lstStyle>
            <a:lvl1pPr>
              <a:spcBef>
                <a:spcPts val="0"/>
              </a:spcBef>
              <a:spcAft>
                <a:spcPts val="600"/>
              </a:spcAft>
              <a:defRPr>
                <a:solidFill>
                  <a:schemeClr val="accent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endParaRPr lang="fr-FR" dirty="0"/>
          </a:p>
        </p:txBody>
      </p:sp>
      <p:sp>
        <p:nvSpPr>
          <p:cNvPr id="19" name="Presentation Footer">
            <a:extLst>
              <a:ext uri="{FF2B5EF4-FFF2-40B4-BE49-F238E27FC236}">
                <a16:creationId xmlns:a16="http://schemas.microsoft.com/office/drawing/2014/main" id="{488ECE07-0F56-4D42-88E7-9EE4A6875AEC}"/>
              </a:ext>
            </a:extLst>
          </p:cNvPr>
          <p:cNvSpPr>
            <a:spLocks noGrp="1"/>
          </p:cNvSpPr>
          <p:nvPr>
            <p:ph type="ftr" sz="quarter" idx="13"/>
          </p:nvPr>
        </p:nvSpPr>
        <p:spPr>
          <a:xfrm>
            <a:off x="442912" y="6355080"/>
            <a:ext cx="5473701" cy="137160"/>
          </a:xfrm>
        </p:spPr>
        <p:txBody>
          <a:bodyPr/>
          <a:lstStyle/>
          <a:p>
            <a:pPr algn="l"/>
            <a:r>
              <a:rPr lang="en-US"/>
              <a:t>GCCA GNR Concrete Pilot Project</a:t>
            </a:r>
            <a:endParaRPr lang="fr-FR" dirty="0"/>
          </a:p>
        </p:txBody>
      </p:sp>
      <p:sp>
        <p:nvSpPr>
          <p:cNvPr id="20" name="Date">
            <a:extLst>
              <a:ext uri="{FF2B5EF4-FFF2-40B4-BE49-F238E27FC236}">
                <a16:creationId xmlns:a16="http://schemas.microsoft.com/office/drawing/2014/main" id="{92A20B44-BAC5-421A-834E-C0336D10C99A}"/>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21" name="Slide Number">
            <a:extLst>
              <a:ext uri="{FF2B5EF4-FFF2-40B4-BE49-F238E27FC236}">
                <a16:creationId xmlns:a16="http://schemas.microsoft.com/office/drawing/2014/main" id="{33099B9F-B5BB-4BD7-90DF-E6FE03CA959F}"/>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6266351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hart Dark">
    <p:bg>
      <p:bgPr>
        <a:solidFill>
          <a:srgbClr val="464646"/>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p:txBody>
          <a:bodyPr/>
          <a:lstStyle>
            <a:lvl1pPr>
              <a:defRPr>
                <a:solidFill>
                  <a:schemeClr val="tx1"/>
                </a:solidFill>
              </a:defRPr>
            </a:lvl1pPr>
          </a:lstStyle>
          <a:p>
            <a:r>
              <a:rPr lang="fr-FR"/>
              <a:t>[Slide title]</a:t>
            </a:r>
            <a:endParaRPr lang="fr-FR" dirty="0"/>
          </a:p>
        </p:txBody>
      </p:sp>
      <p:sp>
        <p:nvSpPr>
          <p:cNvPr id="8" name="Chart Placeholder 2"/>
          <p:cNvSpPr>
            <a:spLocks noGrp="1"/>
          </p:cNvSpPr>
          <p:nvPr>
            <p:ph type="chart" sz="quarter" idx="13"/>
          </p:nvPr>
        </p:nvSpPr>
        <p:spPr>
          <a:xfrm>
            <a:off x="442913" y="2103438"/>
            <a:ext cx="11306175" cy="4068762"/>
          </a:xfrm>
        </p:spPr>
        <p:txBody>
          <a:bodyPr anchor="ctr" anchorCtr="0"/>
          <a:lstStyle>
            <a:lvl1pPr algn="ctr">
              <a:defRPr sz="1200" b="0">
                <a:solidFill>
                  <a:schemeClr val="tx1"/>
                </a:solidFill>
              </a:defRPr>
            </a:lvl1pPr>
          </a:lstStyle>
          <a:p>
            <a:r>
              <a:rPr lang="fr-FR" dirty="0"/>
              <a:t>Cliquez sur l'icône pour ajouter </a:t>
            </a:r>
            <a:r>
              <a:rPr lang="fr-FR"/>
              <a:t>un graphique</a:t>
            </a:r>
            <a:endParaRPr lang="fr-FR" dirty="0"/>
          </a:p>
        </p:txBody>
      </p:sp>
      <p:sp>
        <p:nvSpPr>
          <p:cNvPr id="12" name="Presentation Footer">
            <a:extLst>
              <a:ext uri="{FF2B5EF4-FFF2-40B4-BE49-F238E27FC236}">
                <a16:creationId xmlns:a16="http://schemas.microsoft.com/office/drawing/2014/main" id="{C65B6F41-E802-4CF5-8B9F-07044F8CB1EF}"/>
              </a:ext>
            </a:extLst>
          </p:cNvPr>
          <p:cNvSpPr>
            <a:spLocks noGrp="1"/>
          </p:cNvSpPr>
          <p:nvPr>
            <p:ph type="ftr" sz="quarter" idx="14"/>
          </p:nvPr>
        </p:nvSpPr>
        <p:spPr>
          <a:xfrm>
            <a:off x="442912" y="6355080"/>
            <a:ext cx="5473701" cy="137160"/>
          </a:xfrm>
        </p:spPr>
        <p:txBody>
          <a:bodyPr/>
          <a:lstStyle/>
          <a:p>
            <a:pPr algn="l"/>
            <a:r>
              <a:rPr lang="en-US"/>
              <a:t>GCCA GNR Concrete Pilot Project</a:t>
            </a:r>
            <a:endParaRPr lang="fr-FR" dirty="0"/>
          </a:p>
        </p:txBody>
      </p:sp>
      <p:sp>
        <p:nvSpPr>
          <p:cNvPr id="13" name="Date">
            <a:extLst>
              <a:ext uri="{FF2B5EF4-FFF2-40B4-BE49-F238E27FC236}">
                <a16:creationId xmlns:a16="http://schemas.microsoft.com/office/drawing/2014/main" id="{3213A3B9-A059-4CBD-8F51-BA0FDCD9A0FA}"/>
              </a:ext>
            </a:extLst>
          </p:cNvPr>
          <p:cNvSpPr>
            <a:spLocks noGrp="1"/>
          </p:cNvSpPr>
          <p:nvPr>
            <p:ph type="dt" sz="half" idx="12"/>
          </p:nvPr>
        </p:nvSpPr>
        <p:spPr>
          <a:xfrm>
            <a:off x="9984296" y="6355080"/>
            <a:ext cx="1764792" cy="137160"/>
          </a:xfrm>
        </p:spPr>
        <p:txBody>
          <a:bodyPr/>
          <a:lstStyle/>
          <a:p>
            <a:r>
              <a:rPr lang="fr-FR"/>
              <a:t>July 2020</a:t>
            </a:r>
            <a:endParaRPr lang="fr-FR" dirty="0"/>
          </a:p>
        </p:txBody>
      </p:sp>
      <p:sp>
        <p:nvSpPr>
          <p:cNvPr id="14" name="Slide Number">
            <a:extLst>
              <a:ext uri="{FF2B5EF4-FFF2-40B4-BE49-F238E27FC236}">
                <a16:creationId xmlns:a16="http://schemas.microsoft.com/office/drawing/2014/main" id="{BD55E6CB-0F32-42F1-A94F-C799A281C5A9}"/>
              </a:ext>
            </a:extLst>
          </p:cNvPr>
          <p:cNvSpPr>
            <a:spLocks noGrp="1"/>
          </p:cNvSpPr>
          <p:nvPr>
            <p:ph type="sldNum" sz="quarter" idx="11"/>
          </p:nvPr>
        </p:nvSpPr>
        <p:spPr>
          <a:xfrm>
            <a:off x="9984296" y="6492240"/>
            <a:ext cx="1764792" cy="137160"/>
          </a:xfrm>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1735232353"/>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hank You Ligh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2914" y="428625"/>
            <a:ext cx="5473699" cy="2428874"/>
          </a:xfrm>
        </p:spPr>
        <p:txBody>
          <a:bodyPr anchor="b" anchorCtr="0"/>
          <a:lstStyle>
            <a:lvl1pPr algn="l">
              <a:lnSpc>
                <a:spcPct val="85000"/>
              </a:lnSpc>
              <a:defRPr sz="5800">
                <a:solidFill>
                  <a:schemeClr val="tx1"/>
                </a:solidFill>
              </a:defRPr>
            </a:lvl1pPr>
          </a:lstStyle>
          <a:p>
            <a:r>
              <a:rPr lang="fr-FR"/>
              <a:t>Thank you</a:t>
            </a:r>
            <a:endParaRPr lang="fr-FR" dirty="0"/>
          </a:p>
        </p:txBody>
      </p:sp>
      <p:sp>
        <p:nvSpPr>
          <p:cNvPr id="8" name="TextBox 7">
            <a:extLst>
              <a:ext uri="{FF2B5EF4-FFF2-40B4-BE49-F238E27FC236}">
                <a16:creationId xmlns:a16="http://schemas.microsoft.com/office/drawing/2014/main" id="{3745B5A1-1961-2549-9AC7-6FB51905A5F2}"/>
              </a:ext>
            </a:extLst>
          </p:cNvPr>
          <p:cNvSpPr txBox="1"/>
          <p:nvPr userDrawn="1"/>
        </p:nvSpPr>
        <p:spPr>
          <a:xfrm>
            <a:off x="442913" y="4400548"/>
            <a:ext cx="5473699" cy="340493"/>
          </a:xfrm>
          <a:prstGeom prst="rect">
            <a:avLst/>
          </a:prstGeom>
          <a:noFill/>
        </p:spPr>
        <p:txBody>
          <a:bodyPr wrap="square" lIns="0" tIns="0" rIns="0" bIns="0" rtlCol="0">
            <a:noAutofit/>
          </a:bodyPr>
          <a:lstStyle/>
          <a:p>
            <a:pPr marL="0" indent="0">
              <a:lnSpc>
                <a:spcPct val="100000"/>
              </a:lnSpc>
              <a:spcBef>
                <a:spcPts val="0"/>
              </a:spcBef>
              <a:buSzPct val="100000"/>
              <a:buFont typeface="Arial"/>
              <a:buNone/>
            </a:pPr>
            <a:r>
              <a:rPr lang="fr-FR" sz="1200">
                <a:solidFill>
                  <a:schemeClr val="tx1"/>
                </a:solidFill>
              </a:rPr>
              <a:t>pwc.com</a:t>
            </a:r>
            <a:endParaRPr lang="fr-FR" sz="1200" dirty="0">
              <a:solidFill>
                <a:schemeClr val="tx1"/>
              </a:solidFill>
            </a:endParaRPr>
          </a:p>
        </p:txBody>
      </p:sp>
      <p:sp>
        <p:nvSpPr>
          <p:cNvPr id="14" name="Rectangle 13"/>
          <p:cNvSpPr/>
          <p:nvPr/>
        </p:nvSpPr>
        <p:spPr bwMode="hidden">
          <a:xfrm>
            <a:off x="0" y="4940854"/>
            <a:ext cx="12192000" cy="1917146"/>
          </a:xfrm>
          <a:prstGeom prst="rect">
            <a:avLst/>
          </a:prstGeom>
          <a:solidFill>
            <a:srgbClr val="D04A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Text Placeholder 5"/>
          <p:cNvSpPr>
            <a:spLocks noGrp="1"/>
          </p:cNvSpPr>
          <p:nvPr>
            <p:ph type="body" sz="quarter" idx="10" hasCustomPrompt="1"/>
          </p:nvPr>
        </p:nvSpPr>
        <p:spPr>
          <a:xfrm>
            <a:off x="442912" y="5259600"/>
            <a:ext cx="11306176" cy="1451610"/>
          </a:xfrm>
        </p:spPr>
        <p:txBody>
          <a:bodyPr/>
          <a:lstStyle>
            <a:lvl1pPr marL="0">
              <a:lnSpc>
                <a:spcPct val="100000"/>
              </a:lnSpc>
              <a:spcBef>
                <a:spcPts val="0"/>
              </a:spcBef>
              <a:spcAft>
                <a:spcPts val="0"/>
              </a:spcAft>
              <a:buFontTx/>
              <a:buNone/>
              <a:defRPr sz="1200" b="0">
                <a:solidFill>
                  <a:schemeClr val="bg1"/>
                </a:solidFill>
              </a:defRPr>
            </a:lvl1pPr>
            <a:lvl2pPr marL="0">
              <a:lnSpc>
                <a:spcPct val="100000"/>
              </a:lnSpc>
              <a:spcBef>
                <a:spcPts val="0"/>
              </a:spcBef>
              <a:spcAft>
                <a:spcPts val="0"/>
              </a:spcAft>
              <a:buFontTx/>
              <a:buNone/>
              <a:defRPr sz="1200" b="0">
                <a:solidFill>
                  <a:schemeClr val="bg1"/>
                </a:solidFill>
              </a:defRPr>
            </a:lvl2pPr>
            <a:lvl3pPr marL="0" indent="0">
              <a:lnSpc>
                <a:spcPct val="100000"/>
              </a:lnSpc>
              <a:spcBef>
                <a:spcPts val="0"/>
              </a:spcBef>
              <a:spcAft>
                <a:spcPts val="0"/>
              </a:spcAft>
              <a:buFontTx/>
              <a:buNone/>
              <a:defRPr sz="1200" b="0">
                <a:solidFill>
                  <a:schemeClr val="bg1"/>
                </a:solidFill>
              </a:defRPr>
            </a:lvl3pPr>
            <a:lvl4pPr marL="0" indent="0">
              <a:lnSpc>
                <a:spcPct val="100000"/>
              </a:lnSpc>
              <a:spcBef>
                <a:spcPts val="0"/>
              </a:spcBef>
              <a:spcAft>
                <a:spcPts val="0"/>
              </a:spcAft>
              <a:buFontTx/>
              <a:buNone/>
              <a:defRPr sz="1200" b="0">
                <a:solidFill>
                  <a:schemeClr val="bg1"/>
                </a:solidFill>
              </a:defRPr>
            </a:lvl4pPr>
            <a:lvl5pPr marL="0" indent="0">
              <a:lnSpc>
                <a:spcPct val="100000"/>
              </a:lnSpc>
              <a:spcBef>
                <a:spcPts val="0"/>
              </a:spcBef>
              <a:spcAft>
                <a:spcPts val="0"/>
              </a:spcAft>
              <a:buFontTx/>
              <a:buNone/>
              <a:defRPr sz="1200" b="0">
                <a:solidFill>
                  <a:schemeClr val="bg1"/>
                </a:solidFill>
              </a:defRPr>
            </a:lvl5pPr>
            <a:lvl6pPr marL="0" indent="0">
              <a:lnSpc>
                <a:spcPct val="100000"/>
              </a:lnSpc>
              <a:spcBef>
                <a:spcPts val="0"/>
              </a:spcBef>
              <a:spcAft>
                <a:spcPts val="0"/>
              </a:spcAft>
              <a:buFontTx/>
              <a:buNone/>
              <a:defRPr sz="1200">
                <a:solidFill>
                  <a:schemeClr val="bg1"/>
                </a:solidFill>
              </a:defRPr>
            </a:lvl6pPr>
            <a:lvl7pPr marL="0" indent="0">
              <a:lnSpc>
                <a:spcPct val="100000"/>
              </a:lnSpc>
              <a:spcBef>
                <a:spcPts val="0"/>
              </a:spcBef>
              <a:spcAft>
                <a:spcPts val="0"/>
              </a:spcAft>
              <a:buFontTx/>
              <a:buNone/>
              <a:defRPr sz="1200">
                <a:solidFill>
                  <a:schemeClr val="bg1"/>
                </a:solidFill>
              </a:defRPr>
            </a:lvl7pPr>
            <a:lvl8pPr marL="0" indent="0">
              <a:lnSpc>
                <a:spcPct val="100000"/>
              </a:lnSpc>
              <a:spcBef>
                <a:spcPts val="0"/>
              </a:spcBef>
              <a:spcAft>
                <a:spcPts val="0"/>
              </a:spcAft>
              <a:buFontTx/>
              <a:buNone/>
              <a:defRPr sz="1200">
                <a:solidFill>
                  <a:schemeClr val="bg1"/>
                </a:solidFill>
              </a:defRPr>
            </a:lvl8pPr>
            <a:lvl9pPr marL="0" indent="0">
              <a:lnSpc>
                <a:spcPct val="100000"/>
              </a:lnSpc>
              <a:spcBef>
                <a:spcPts val="0"/>
              </a:spcBef>
              <a:spcAft>
                <a:spcPts val="0"/>
              </a:spcAft>
              <a:buFontTx/>
              <a:buNone/>
              <a:defRPr sz="1200">
                <a:solidFill>
                  <a:schemeClr val="bg1"/>
                </a:solidFill>
              </a:defRPr>
            </a:lvl9pPr>
          </a:lstStyle>
          <a:p>
            <a:pPr lvl="0"/>
            <a:r>
              <a:rPr lang="fr-FR"/>
              <a:t>[Legal]</a:t>
            </a:r>
            <a:endParaRPr lang="fr-FR" dirty="0"/>
          </a:p>
        </p:txBody>
      </p:sp>
      <p:sp>
        <p:nvSpPr>
          <p:cNvPr id="9" name="AutoShape 3"/>
          <p:cNvSpPr>
            <a:spLocks noChangeAspect="1" noChangeArrowheads="1" noTextEdit="1"/>
          </p:cNvSpPr>
          <p:nvPr userDrawn="1"/>
        </p:nvSpPr>
        <p:spPr bwMode="auto">
          <a:xfrm>
            <a:off x="533400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dirty="0"/>
          </a:p>
        </p:txBody>
      </p:sp>
    </p:spTree>
    <p:extLst>
      <p:ext uri="{BB962C8B-B14F-4D97-AF65-F5344CB8AC3E}">
        <p14:creationId xmlns:p14="http://schemas.microsoft.com/office/powerpoint/2010/main" val="327065129"/>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Section Header Orange">
    <p:bg>
      <p:bgPr>
        <a:solidFill>
          <a:srgbClr val="D04A0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1413" y="2103438"/>
            <a:ext cx="4936658" cy="2564265"/>
          </a:xfrm>
        </p:spPr>
        <p:txBody>
          <a:bodyPr anchor="t" anchorCtr="0">
            <a:noAutofit/>
          </a:bodyPr>
          <a:lstStyle>
            <a:lvl1pPr>
              <a:lnSpc>
                <a:spcPct val="85000"/>
              </a:lnSpc>
              <a:defRPr sz="4000" b="0">
                <a:solidFill>
                  <a:schemeClr val="bg1"/>
                </a:solidFill>
                <a:latin typeface="+mn-lt"/>
              </a:defRPr>
            </a:lvl1pPr>
          </a:lstStyle>
          <a:p>
            <a:r>
              <a:rPr lang="fr-FR"/>
              <a:t>[Section header title]</a:t>
            </a:r>
            <a:endParaRPr lang="fr-FR" dirty="0"/>
          </a:p>
        </p:txBody>
      </p:sp>
      <p:sp>
        <p:nvSpPr>
          <p:cNvPr id="4" name="Subtitle 2">
            <a:extLst>
              <a:ext uri="{FF2B5EF4-FFF2-40B4-BE49-F238E27FC236}">
                <a16:creationId xmlns:a16="http://schemas.microsoft.com/office/drawing/2014/main" id="{A1971A9E-1347-2E4A-8F01-32BA5D5488B1}"/>
              </a:ext>
            </a:extLst>
          </p:cNvPr>
          <p:cNvSpPr>
            <a:spLocks noGrp="1"/>
          </p:cNvSpPr>
          <p:nvPr>
            <p:ph type="subTitle" idx="1" hasCustomPrompt="1"/>
          </p:nvPr>
        </p:nvSpPr>
        <p:spPr>
          <a:xfrm>
            <a:off x="442912" y="0"/>
            <a:ext cx="4344987" cy="6858000"/>
          </a:xfrm>
          <a:noFill/>
        </p:spPr>
        <p:txBody>
          <a:bodyPr anchor="ctr" anchorCtr="0"/>
          <a:lstStyle>
            <a:lvl1pPr marL="0" indent="0" algn="l">
              <a:lnSpc>
                <a:spcPct val="95000"/>
              </a:lnSpc>
              <a:spcBef>
                <a:spcPts val="0"/>
              </a:spcBef>
              <a:spcAft>
                <a:spcPts val="0"/>
              </a:spcAft>
              <a:buNone/>
              <a:defRPr sz="65000" b="0">
                <a:solidFill>
                  <a:schemeClr val="bg1"/>
                </a:solidFill>
              </a:defRPr>
            </a:lvl1pPr>
            <a:lvl2pPr marL="0" indent="0" algn="l">
              <a:lnSpc>
                <a:spcPct val="95000"/>
              </a:lnSpc>
              <a:spcBef>
                <a:spcPts val="0"/>
              </a:spcBef>
              <a:spcAft>
                <a:spcPts val="0"/>
              </a:spcAft>
              <a:buNone/>
              <a:defRPr sz="65000">
                <a:solidFill>
                  <a:schemeClr val="bg1"/>
                </a:solidFill>
              </a:defRPr>
            </a:lvl2pPr>
            <a:lvl3pPr marL="0" indent="0" algn="l">
              <a:lnSpc>
                <a:spcPct val="95000"/>
              </a:lnSpc>
              <a:spcBef>
                <a:spcPts val="0"/>
              </a:spcBef>
              <a:spcAft>
                <a:spcPts val="0"/>
              </a:spcAft>
              <a:buNone/>
              <a:defRPr sz="65000">
                <a:solidFill>
                  <a:schemeClr val="bg1"/>
                </a:solidFill>
              </a:defRPr>
            </a:lvl3pPr>
            <a:lvl4pPr marL="0" indent="0" algn="l">
              <a:lnSpc>
                <a:spcPct val="95000"/>
              </a:lnSpc>
              <a:spcBef>
                <a:spcPts val="0"/>
              </a:spcBef>
              <a:spcAft>
                <a:spcPts val="0"/>
              </a:spcAft>
              <a:buNone/>
              <a:defRPr sz="65000">
                <a:solidFill>
                  <a:schemeClr val="bg1"/>
                </a:solidFill>
              </a:defRPr>
            </a:lvl4pPr>
            <a:lvl5pPr marL="0" indent="0" algn="l">
              <a:lnSpc>
                <a:spcPct val="95000"/>
              </a:lnSpc>
              <a:spcBef>
                <a:spcPts val="0"/>
              </a:spcBef>
              <a:spcAft>
                <a:spcPts val="0"/>
              </a:spcAft>
              <a:buNone/>
              <a:defRPr sz="65000">
                <a:solidFill>
                  <a:schemeClr val="bg1"/>
                </a:solidFill>
              </a:defRPr>
            </a:lvl5pPr>
            <a:lvl6pPr marL="0" indent="0" algn="l">
              <a:lnSpc>
                <a:spcPct val="95000"/>
              </a:lnSpc>
              <a:spcBef>
                <a:spcPts val="0"/>
              </a:spcBef>
              <a:spcAft>
                <a:spcPts val="0"/>
              </a:spcAft>
              <a:buNone/>
              <a:defRPr sz="65000">
                <a:solidFill>
                  <a:schemeClr val="bg1"/>
                </a:solidFill>
              </a:defRPr>
            </a:lvl6pPr>
            <a:lvl7pPr marL="0" indent="0" algn="l">
              <a:lnSpc>
                <a:spcPct val="95000"/>
              </a:lnSpc>
              <a:spcBef>
                <a:spcPts val="0"/>
              </a:spcBef>
              <a:spcAft>
                <a:spcPts val="0"/>
              </a:spcAft>
              <a:buNone/>
              <a:defRPr sz="65000">
                <a:solidFill>
                  <a:schemeClr val="bg1"/>
                </a:solidFill>
              </a:defRPr>
            </a:lvl7pPr>
            <a:lvl8pPr marL="0" indent="0" algn="l">
              <a:lnSpc>
                <a:spcPct val="95000"/>
              </a:lnSpc>
              <a:spcBef>
                <a:spcPts val="0"/>
              </a:spcBef>
              <a:spcAft>
                <a:spcPts val="0"/>
              </a:spcAft>
              <a:buNone/>
              <a:defRPr sz="65000">
                <a:solidFill>
                  <a:schemeClr val="bg1"/>
                </a:solidFill>
              </a:defRPr>
            </a:lvl8pPr>
            <a:lvl9pPr marL="0" indent="0" algn="l">
              <a:lnSpc>
                <a:spcPct val="95000"/>
              </a:lnSpc>
              <a:spcBef>
                <a:spcPts val="0"/>
              </a:spcBef>
              <a:spcAft>
                <a:spcPts val="0"/>
              </a:spcAft>
              <a:buNone/>
              <a:defRPr sz="65000">
                <a:solidFill>
                  <a:schemeClr val="bg1"/>
                </a:solidFill>
              </a:defRPr>
            </a:lvl9pPr>
          </a:lstStyle>
          <a:p>
            <a:r>
              <a:rPr lang="fr-FR"/>
              <a:t>1</a:t>
            </a:r>
            <a:endParaRPr lang="fr-FR" dirty="0"/>
          </a:p>
        </p:txBody>
      </p:sp>
    </p:spTree>
    <p:extLst>
      <p:ext uri="{BB962C8B-B14F-4D97-AF65-F5344CB8AC3E}">
        <p14:creationId xmlns:p14="http://schemas.microsoft.com/office/powerpoint/2010/main" val="1498670770"/>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Section Header Red">
    <p:bg>
      <p:bgPr>
        <a:solidFill>
          <a:srgbClr val="E0301E"/>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4951413" y="2103438"/>
            <a:ext cx="4936658" cy="2564265"/>
          </a:xfrm>
        </p:spPr>
        <p:txBody>
          <a:bodyPr anchor="t" anchorCtr="0">
            <a:noAutofit/>
          </a:bodyPr>
          <a:lstStyle>
            <a:lvl1pPr>
              <a:lnSpc>
                <a:spcPct val="85000"/>
              </a:lnSpc>
              <a:defRPr sz="4000" b="0">
                <a:solidFill>
                  <a:schemeClr val="bg1"/>
                </a:solidFill>
                <a:latin typeface="+mn-lt"/>
              </a:defRPr>
            </a:lvl1pPr>
          </a:lstStyle>
          <a:p>
            <a:r>
              <a:rPr lang="fr-FR"/>
              <a:t>[Section header title]</a:t>
            </a:r>
            <a:endParaRPr lang="fr-FR" dirty="0"/>
          </a:p>
        </p:txBody>
      </p:sp>
      <p:sp>
        <p:nvSpPr>
          <p:cNvPr id="5" name="Subtitle 2">
            <a:extLst>
              <a:ext uri="{FF2B5EF4-FFF2-40B4-BE49-F238E27FC236}">
                <a16:creationId xmlns:a16="http://schemas.microsoft.com/office/drawing/2014/main" id="{C60A2100-6DF1-414A-91DA-B6027C61BAAC}"/>
              </a:ext>
            </a:extLst>
          </p:cNvPr>
          <p:cNvSpPr>
            <a:spLocks noGrp="1"/>
          </p:cNvSpPr>
          <p:nvPr>
            <p:ph type="subTitle" idx="1" hasCustomPrompt="1"/>
          </p:nvPr>
        </p:nvSpPr>
        <p:spPr>
          <a:xfrm>
            <a:off x="442912" y="0"/>
            <a:ext cx="4344987" cy="6858000"/>
          </a:xfrm>
          <a:noFill/>
        </p:spPr>
        <p:txBody>
          <a:bodyPr anchor="ctr" anchorCtr="0"/>
          <a:lstStyle>
            <a:lvl1pPr marL="0" indent="0" algn="l">
              <a:lnSpc>
                <a:spcPct val="95000"/>
              </a:lnSpc>
              <a:spcBef>
                <a:spcPts val="0"/>
              </a:spcBef>
              <a:spcAft>
                <a:spcPts val="0"/>
              </a:spcAft>
              <a:buNone/>
              <a:defRPr sz="65000" b="0">
                <a:solidFill>
                  <a:schemeClr val="bg1"/>
                </a:solidFill>
              </a:defRPr>
            </a:lvl1pPr>
            <a:lvl2pPr marL="0" indent="0" algn="l">
              <a:lnSpc>
                <a:spcPct val="95000"/>
              </a:lnSpc>
              <a:spcBef>
                <a:spcPts val="0"/>
              </a:spcBef>
              <a:spcAft>
                <a:spcPts val="0"/>
              </a:spcAft>
              <a:buNone/>
              <a:defRPr sz="65000">
                <a:solidFill>
                  <a:schemeClr val="bg1"/>
                </a:solidFill>
              </a:defRPr>
            </a:lvl2pPr>
            <a:lvl3pPr marL="0" indent="0" algn="l">
              <a:lnSpc>
                <a:spcPct val="95000"/>
              </a:lnSpc>
              <a:spcBef>
                <a:spcPts val="0"/>
              </a:spcBef>
              <a:spcAft>
                <a:spcPts val="0"/>
              </a:spcAft>
              <a:buNone/>
              <a:defRPr sz="65000">
                <a:solidFill>
                  <a:schemeClr val="bg1"/>
                </a:solidFill>
              </a:defRPr>
            </a:lvl3pPr>
            <a:lvl4pPr marL="0" indent="0" algn="l">
              <a:lnSpc>
                <a:spcPct val="95000"/>
              </a:lnSpc>
              <a:spcBef>
                <a:spcPts val="0"/>
              </a:spcBef>
              <a:spcAft>
                <a:spcPts val="0"/>
              </a:spcAft>
              <a:buNone/>
              <a:defRPr sz="65000">
                <a:solidFill>
                  <a:schemeClr val="bg1"/>
                </a:solidFill>
              </a:defRPr>
            </a:lvl4pPr>
            <a:lvl5pPr marL="0" indent="0" algn="l">
              <a:lnSpc>
                <a:spcPct val="95000"/>
              </a:lnSpc>
              <a:spcBef>
                <a:spcPts val="0"/>
              </a:spcBef>
              <a:spcAft>
                <a:spcPts val="0"/>
              </a:spcAft>
              <a:buNone/>
              <a:defRPr sz="65000">
                <a:solidFill>
                  <a:schemeClr val="bg1"/>
                </a:solidFill>
              </a:defRPr>
            </a:lvl5pPr>
            <a:lvl6pPr marL="0" indent="0" algn="l">
              <a:lnSpc>
                <a:spcPct val="95000"/>
              </a:lnSpc>
              <a:spcBef>
                <a:spcPts val="0"/>
              </a:spcBef>
              <a:spcAft>
                <a:spcPts val="0"/>
              </a:spcAft>
              <a:buNone/>
              <a:defRPr sz="65000">
                <a:solidFill>
                  <a:schemeClr val="bg1"/>
                </a:solidFill>
              </a:defRPr>
            </a:lvl6pPr>
            <a:lvl7pPr marL="0" indent="0" algn="l">
              <a:lnSpc>
                <a:spcPct val="95000"/>
              </a:lnSpc>
              <a:spcBef>
                <a:spcPts val="0"/>
              </a:spcBef>
              <a:spcAft>
                <a:spcPts val="0"/>
              </a:spcAft>
              <a:buNone/>
              <a:defRPr sz="65000">
                <a:solidFill>
                  <a:schemeClr val="bg1"/>
                </a:solidFill>
              </a:defRPr>
            </a:lvl7pPr>
            <a:lvl8pPr marL="0" indent="0" algn="l">
              <a:lnSpc>
                <a:spcPct val="95000"/>
              </a:lnSpc>
              <a:spcBef>
                <a:spcPts val="0"/>
              </a:spcBef>
              <a:spcAft>
                <a:spcPts val="0"/>
              </a:spcAft>
              <a:buNone/>
              <a:defRPr sz="65000">
                <a:solidFill>
                  <a:schemeClr val="bg1"/>
                </a:solidFill>
              </a:defRPr>
            </a:lvl8pPr>
            <a:lvl9pPr marL="0" indent="0" algn="l">
              <a:lnSpc>
                <a:spcPct val="95000"/>
              </a:lnSpc>
              <a:spcBef>
                <a:spcPts val="0"/>
              </a:spcBef>
              <a:spcAft>
                <a:spcPts val="0"/>
              </a:spcAft>
              <a:buNone/>
              <a:defRPr sz="65000">
                <a:solidFill>
                  <a:schemeClr val="bg1"/>
                </a:solidFill>
              </a:defRPr>
            </a:lvl9pPr>
          </a:lstStyle>
          <a:p>
            <a:r>
              <a:rPr lang="fr-FR"/>
              <a:t>2</a:t>
            </a:r>
            <a:endParaRPr lang="fr-FR" dirty="0"/>
          </a:p>
        </p:txBody>
      </p:sp>
    </p:spTree>
    <p:extLst>
      <p:ext uri="{BB962C8B-B14F-4D97-AF65-F5344CB8AC3E}">
        <p14:creationId xmlns:p14="http://schemas.microsoft.com/office/powerpoint/2010/main" val="983904324"/>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Section Header Rose">
    <p:bg>
      <p:bgPr>
        <a:solidFill>
          <a:srgbClr val="DB536A"/>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4951413" y="2103438"/>
            <a:ext cx="4936658" cy="2564265"/>
          </a:xfrm>
        </p:spPr>
        <p:txBody>
          <a:bodyPr anchor="t" anchorCtr="0">
            <a:noAutofit/>
          </a:bodyPr>
          <a:lstStyle>
            <a:lvl1pPr>
              <a:lnSpc>
                <a:spcPct val="85000"/>
              </a:lnSpc>
              <a:defRPr sz="4000" b="0">
                <a:solidFill>
                  <a:schemeClr val="bg1"/>
                </a:solidFill>
                <a:latin typeface="+mn-lt"/>
              </a:defRPr>
            </a:lvl1pPr>
          </a:lstStyle>
          <a:p>
            <a:r>
              <a:rPr lang="fr-FR"/>
              <a:t>[Section header title]</a:t>
            </a:r>
            <a:endParaRPr lang="fr-FR" dirty="0"/>
          </a:p>
        </p:txBody>
      </p:sp>
      <p:sp>
        <p:nvSpPr>
          <p:cNvPr id="5" name="Subtitle 2">
            <a:extLst>
              <a:ext uri="{FF2B5EF4-FFF2-40B4-BE49-F238E27FC236}">
                <a16:creationId xmlns:a16="http://schemas.microsoft.com/office/drawing/2014/main" id="{96D911B5-C441-B44D-9980-56426B1A1974}"/>
              </a:ext>
            </a:extLst>
          </p:cNvPr>
          <p:cNvSpPr>
            <a:spLocks noGrp="1"/>
          </p:cNvSpPr>
          <p:nvPr>
            <p:ph type="subTitle" idx="1" hasCustomPrompt="1"/>
          </p:nvPr>
        </p:nvSpPr>
        <p:spPr>
          <a:xfrm>
            <a:off x="442912" y="0"/>
            <a:ext cx="4344987" cy="6858000"/>
          </a:xfrm>
          <a:noFill/>
        </p:spPr>
        <p:txBody>
          <a:bodyPr anchor="ctr" anchorCtr="0"/>
          <a:lstStyle>
            <a:lvl1pPr marL="0" indent="0" algn="l">
              <a:lnSpc>
                <a:spcPct val="95000"/>
              </a:lnSpc>
              <a:spcBef>
                <a:spcPts val="0"/>
              </a:spcBef>
              <a:spcAft>
                <a:spcPts val="0"/>
              </a:spcAft>
              <a:buNone/>
              <a:defRPr sz="65000" b="0">
                <a:solidFill>
                  <a:schemeClr val="bg1"/>
                </a:solidFill>
              </a:defRPr>
            </a:lvl1pPr>
            <a:lvl2pPr marL="0" indent="0" algn="l">
              <a:lnSpc>
                <a:spcPct val="95000"/>
              </a:lnSpc>
              <a:spcBef>
                <a:spcPts val="0"/>
              </a:spcBef>
              <a:spcAft>
                <a:spcPts val="0"/>
              </a:spcAft>
              <a:buNone/>
              <a:defRPr sz="65000">
                <a:solidFill>
                  <a:schemeClr val="bg1"/>
                </a:solidFill>
              </a:defRPr>
            </a:lvl2pPr>
            <a:lvl3pPr marL="0" indent="0" algn="l">
              <a:lnSpc>
                <a:spcPct val="95000"/>
              </a:lnSpc>
              <a:spcBef>
                <a:spcPts val="0"/>
              </a:spcBef>
              <a:spcAft>
                <a:spcPts val="0"/>
              </a:spcAft>
              <a:buNone/>
              <a:defRPr sz="65000">
                <a:solidFill>
                  <a:schemeClr val="bg1"/>
                </a:solidFill>
              </a:defRPr>
            </a:lvl3pPr>
            <a:lvl4pPr marL="0" indent="0" algn="l">
              <a:lnSpc>
                <a:spcPct val="95000"/>
              </a:lnSpc>
              <a:spcBef>
                <a:spcPts val="0"/>
              </a:spcBef>
              <a:spcAft>
                <a:spcPts val="0"/>
              </a:spcAft>
              <a:buNone/>
              <a:defRPr sz="65000">
                <a:solidFill>
                  <a:schemeClr val="bg1"/>
                </a:solidFill>
              </a:defRPr>
            </a:lvl4pPr>
            <a:lvl5pPr marL="0" indent="0" algn="l">
              <a:lnSpc>
                <a:spcPct val="95000"/>
              </a:lnSpc>
              <a:spcBef>
                <a:spcPts val="0"/>
              </a:spcBef>
              <a:spcAft>
                <a:spcPts val="0"/>
              </a:spcAft>
              <a:buNone/>
              <a:defRPr sz="65000">
                <a:solidFill>
                  <a:schemeClr val="bg1"/>
                </a:solidFill>
              </a:defRPr>
            </a:lvl5pPr>
            <a:lvl6pPr marL="0" indent="0" algn="l">
              <a:lnSpc>
                <a:spcPct val="95000"/>
              </a:lnSpc>
              <a:spcBef>
                <a:spcPts val="0"/>
              </a:spcBef>
              <a:spcAft>
                <a:spcPts val="0"/>
              </a:spcAft>
              <a:buNone/>
              <a:defRPr sz="65000">
                <a:solidFill>
                  <a:schemeClr val="bg1"/>
                </a:solidFill>
              </a:defRPr>
            </a:lvl6pPr>
            <a:lvl7pPr marL="0" indent="0" algn="l">
              <a:lnSpc>
                <a:spcPct val="95000"/>
              </a:lnSpc>
              <a:spcBef>
                <a:spcPts val="0"/>
              </a:spcBef>
              <a:spcAft>
                <a:spcPts val="0"/>
              </a:spcAft>
              <a:buNone/>
              <a:defRPr sz="65000">
                <a:solidFill>
                  <a:schemeClr val="bg1"/>
                </a:solidFill>
              </a:defRPr>
            </a:lvl7pPr>
            <a:lvl8pPr marL="0" indent="0" algn="l">
              <a:lnSpc>
                <a:spcPct val="95000"/>
              </a:lnSpc>
              <a:spcBef>
                <a:spcPts val="0"/>
              </a:spcBef>
              <a:spcAft>
                <a:spcPts val="0"/>
              </a:spcAft>
              <a:buNone/>
              <a:defRPr sz="65000">
                <a:solidFill>
                  <a:schemeClr val="bg1"/>
                </a:solidFill>
              </a:defRPr>
            </a:lvl8pPr>
            <a:lvl9pPr marL="0" indent="0" algn="l">
              <a:lnSpc>
                <a:spcPct val="95000"/>
              </a:lnSpc>
              <a:spcBef>
                <a:spcPts val="0"/>
              </a:spcBef>
              <a:spcAft>
                <a:spcPts val="0"/>
              </a:spcAft>
              <a:buNone/>
              <a:defRPr sz="65000">
                <a:solidFill>
                  <a:schemeClr val="bg1"/>
                </a:solidFill>
              </a:defRPr>
            </a:lvl9pPr>
          </a:lstStyle>
          <a:p>
            <a:r>
              <a:rPr lang="fr-FR"/>
              <a:t>3</a:t>
            </a:r>
            <a:endParaRPr lang="fr-FR" dirty="0"/>
          </a:p>
        </p:txBody>
      </p:sp>
    </p:spTree>
    <p:extLst>
      <p:ext uri="{BB962C8B-B14F-4D97-AF65-F5344CB8AC3E}">
        <p14:creationId xmlns:p14="http://schemas.microsoft.com/office/powerpoint/2010/main" val="98334476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Section Header Grey">
    <p:bg>
      <p:bgPr>
        <a:solidFill>
          <a:srgbClr val="464646"/>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4951413" y="2103438"/>
            <a:ext cx="4936658" cy="2564265"/>
          </a:xfrm>
        </p:spPr>
        <p:txBody>
          <a:bodyPr anchor="t" anchorCtr="0">
            <a:noAutofit/>
          </a:bodyPr>
          <a:lstStyle>
            <a:lvl1pPr>
              <a:lnSpc>
                <a:spcPct val="85000"/>
              </a:lnSpc>
              <a:defRPr sz="4000" b="0">
                <a:solidFill>
                  <a:schemeClr val="bg1"/>
                </a:solidFill>
                <a:latin typeface="+mn-lt"/>
              </a:defRPr>
            </a:lvl1pPr>
          </a:lstStyle>
          <a:p>
            <a:r>
              <a:rPr lang="fr-FR"/>
              <a:t>[Section header title]</a:t>
            </a:r>
            <a:endParaRPr lang="fr-FR" dirty="0"/>
          </a:p>
        </p:txBody>
      </p:sp>
      <p:sp>
        <p:nvSpPr>
          <p:cNvPr id="5" name="Subtitle 2">
            <a:extLst>
              <a:ext uri="{FF2B5EF4-FFF2-40B4-BE49-F238E27FC236}">
                <a16:creationId xmlns:a16="http://schemas.microsoft.com/office/drawing/2014/main" id="{4F941B13-F925-1C4F-8990-F4149ED1B18B}"/>
              </a:ext>
            </a:extLst>
          </p:cNvPr>
          <p:cNvSpPr>
            <a:spLocks noGrp="1"/>
          </p:cNvSpPr>
          <p:nvPr>
            <p:ph type="subTitle" idx="1" hasCustomPrompt="1"/>
          </p:nvPr>
        </p:nvSpPr>
        <p:spPr>
          <a:xfrm>
            <a:off x="442912" y="0"/>
            <a:ext cx="4344987" cy="6858000"/>
          </a:xfrm>
          <a:noFill/>
        </p:spPr>
        <p:txBody>
          <a:bodyPr anchor="ctr" anchorCtr="0"/>
          <a:lstStyle>
            <a:lvl1pPr marL="0" indent="0" algn="l">
              <a:lnSpc>
                <a:spcPct val="95000"/>
              </a:lnSpc>
              <a:spcBef>
                <a:spcPts val="0"/>
              </a:spcBef>
              <a:spcAft>
                <a:spcPts val="0"/>
              </a:spcAft>
              <a:buNone/>
              <a:defRPr sz="65000" b="0">
                <a:solidFill>
                  <a:schemeClr val="bg1"/>
                </a:solidFill>
              </a:defRPr>
            </a:lvl1pPr>
            <a:lvl2pPr marL="0" indent="0" algn="l">
              <a:lnSpc>
                <a:spcPct val="95000"/>
              </a:lnSpc>
              <a:spcBef>
                <a:spcPts val="0"/>
              </a:spcBef>
              <a:spcAft>
                <a:spcPts val="0"/>
              </a:spcAft>
              <a:buNone/>
              <a:defRPr sz="65000">
                <a:solidFill>
                  <a:schemeClr val="bg1"/>
                </a:solidFill>
              </a:defRPr>
            </a:lvl2pPr>
            <a:lvl3pPr marL="0" indent="0" algn="l">
              <a:lnSpc>
                <a:spcPct val="95000"/>
              </a:lnSpc>
              <a:spcBef>
                <a:spcPts val="0"/>
              </a:spcBef>
              <a:spcAft>
                <a:spcPts val="0"/>
              </a:spcAft>
              <a:buNone/>
              <a:defRPr sz="65000">
                <a:solidFill>
                  <a:schemeClr val="bg1"/>
                </a:solidFill>
              </a:defRPr>
            </a:lvl3pPr>
            <a:lvl4pPr marL="0" indent="0" algn="l">
              <a:lnSpc>
                <a:spcPct val="95000"/>
              </a:lnSpc>
              <a:spcBef>
                <a:spcPts val="0"/>
              </a:spcBef>
              <a:spcAft>
                <a:spcPts val="0"/>
              </a:spcAft>
              <a:buNone/>
              <a:defRPr sz="65000">
                <a:solidFill>
                  <a:schemeClr val="bg1"/>
                </a:solidFill>
              </a:defRPr>
            </a:lvl4pPr>
            <a:lvl5pPr marL="0" indent="0" algn="l">
              <a:lnSpc>
                <a:spcPct val="95000"/>
              </a:lnSpc>
              <a:spcBef>
                <a:spcPts val="0"/>
              </a:spcBef>
              <a:spcAft>
                <a:spcPts val="0"/>
              </a:spcAft>
              <a:buNone/>
              <a:defRPr sz="65000">
                <a:solidFill>
                  <a:schemeClr val="bg1"/>
                </a:solidFill>
              </a:defRPr>
            </a:lvl5pPr>
            <a:lvl6pPr marL="0" indent="0" algn="l">
              <a:lnSpc>
                <a:spcPct val="95000"/>
              </a:lnSpc>
              <a:spcBef>
                <a:spcPts val="0"/>
              </a:spcBef>
              <a:spcAft>
                <a:spcPts val="0"/>
              </a:spcAft>
              <a:buNone/>
              <a:defRPr sz="65000">
                <a:solidFill>
                  <a:schemeClr val="bg1"/>
                </a:solidFill>
              </a:defRPr>
            </a:lvl6pPr>
            <a:lvl7pPr marL="0" indent="0" algn="l">
              <a:lnSpc>
                <a:spcPct val="95000"/>
              </a:lnSpc>
              <a:spcBef>
                <a:spcPts val="0"/>
              </a:spcBef>
              <a:spcAft>
                <a:spcPts val="0"/>
              </a:spcAft>
              <a:buNone/>
              <a:defRPr sz="65000">
                <a:solidFill>
                  <a:schemeClr val="bg1"/>
                </a:solidFill>
              </a:defRPr>
            </a:lvl7pPr>
            <a:lvl8pPr marL="0" indent="0" algn="l">
              <a:lnSpc>
                <a:spcPct val="95000"/>
              </a:lnSpc>
              <a:spcBef>
                <a:spcPts val="0"/>
              </a:spcBef>
              <a:spcAft>
                <a:spcPts val="0"/>
              </a:spcAft>
              <a:buNone/>
              <a:defRPr sz="65000">
                <a:solidFill>
                  <a:schemeClr val="bg1"/>
                </a:solidFill>
              </a:defRPr>
            </a:lvl8pPr>
            <a:lvl9pPr marL="0" indent="0" algn="l">
              <a:lnSpc>
                <a:spcPct val="95000"/>
              </a:lnSpc>
              <a:spcBef>
                <a:spcPts val="0"/>
              </a:spcBef>
              <a:spcAft>
                <a:spcPts val="0"/>
              </a:spcAft>
              <a:buNone/>
              <a:defRPr sz="65000">
                <a:solidFill>
                  <a:schemeClr val="bg1"/>
                </a:solidFill>
              </a:defRPr>
            </a:lvl9pPr>
          </a:lstStyle>
          <a:p>
            <a:r>
              <a:rPr lang="fr-FR"/>
              <a:t>4</a:t>
            </a:r>
            <a:endParaRPr lang="fr-FR" dirty="0"/>
          </a:p>
        </p:txBody>
      </p:sp>
    </p:spTree>
    <p:extLst>
      <p:ext uri="{BB962C8B-B14F-4D97-AF65-F5344CB8AC3E}">
        <p14:creationId xmlns:p14="http://schemas.microsoft.com/office/powerpoint/2010/main" val="3833948050"/>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ection Header Orange Manual">
    <p:bg>
      <p:bgPr>
        <a:solidFill>
          <a:srgbClr val="D04A0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D68526-5625-1E4A-90D0-6166C1CB098D}"/>
              </a:ext>
            </a:extLst>
          </p:cNvPr>
          <p:cNvSpPr>
            <a:spLocks noGrp="1"/>
          </p:cNvSpPr>
          <p:nvPr>
            <p:ph type="title" hasCustomPrompt="1"/>
          </p:nvPr>
        </p:nvSpPr>
        <p:spPr>
          <a:xfrm>
            <a:off x="442913" y="428625"/>
            <a:ext cx="1374457" cy="1965960"/>
          </a:xfrm>
        </p:spPr>
        <p:txBody>
          <a:bodyPr anchor="t" anchorCtr="0">
            <a:noAutofit/>
          </a:bodyPr>
          <a:lstStyle>
            <a:lvl1pPr>
              <a:lnSpc>
                <a:spcPct val="80000"/>
              </a:lnSpc>
              <a:defRPr sz="14400" b="0">
                <a:solidFill>
                  <a:schemeClr val="bg1"/>
                </a:solidFill>
                <a:latin typeface="+mn-lt"/>
              </a:defRPr>
            </a:lvl1pPr>
          </a:lstStyle>
          <a:p>
            <a:r>
              <a:rPr lang="fr-FR"/>
              <a:t>1</a:t>
            </a:r>
            <a:endParaRPr lang="fr-FR" dirty="0"/>
          </a:p>
        </p:txBody>
      </p:sp>
    </p:spTree>
    <p:extLst>
      <p:ext uri="{BB962C8B-B14F-4D97-AF65-F5344CB8AC3E}">
        <p14:creationId xmlns:p14="http://schemas.microsoft.com/office/powerpoint/2010/main" val="1312366786"/>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ection Header Red Manual">
    <p:bg>
      <p:bgPr>
        <a:solidFill>
          <a:srgbClr val="E0301E"/>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054294-58FB-3646-A032-19FD697995B5}"/>
              </a:ext>
            </a:extLst>
          </p:cNvPr>
          <p:cNvSpPr>
            <a:spLocks noGrp="1"/>
          </p:cNvSpPr>
          <p:nvPr>
            <p:ph type="title" hasCustomPrompt="1"/>
          </p:nvPr>
        </p:nvSpPr>
        <p:spPr>
          <a:xfrm>
            <a:off x="442913" y="428625"/>
            <a:ext cx="1374457" cy="1965960"/>
          </a:xfrm>
        </p:spPr>
        <p:txBody>
          <a:bodyPr anchor="t" anchorCtr="0">
            <a:noAutofit/>
          </a:bodyPr>
          <a:lstStyle>
            <a:lvl1pPr>
              <a:lnSpc>
                <a:spcPct val="80000"/>
              </a:lnSpc>
              <a:defRPr sz="14400" b="0">
                <a:solidFill>
                  <a:schemeClr val="bg1"/>
                </a:solidFill>
                <a:latin typeface="+mn-lt"/>
              </a:defRPr>
            </a:lvl1pPr>
          </a:lstStyle>
          <a:p>
            <a:r>
              <a:rPr lang="fr-FR"/>
              <a:t>2</a:t>
            </a:r>
            <a:endParaRPr lang="fr-FR" dirty="0"/>
          </a:p>
        </p:txBody>
      </p:sp>
    </p:spTree>
    <p:extLst>
      <p:ext uri="{BB962C8B-B14F-4D97-AF65-F5344CB8AC3E}">
        <p14:creationId xmlns:p14="http://schemas.microsoft.com/office/powerpoint/2010/main" val="24018944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Section Header Rose Manual">
    <p:bg>
      <p:bgPr>
        <a:solidFill>
          <a:srgbClr val="DB536A"/>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0F4BCE9-03B0-5C4D-A70B-519F67263FF7}"/>
              </a:ext>
            </a:extLst>
          </p:cNvPr>
          <p:cNvSpPr>
            <a:spLocks noGrp="1"/>
          </p:cNvSpPr>
          <p:nvPr>
            <p:ph type="title" hasCustomPrompt="1"/>
          </p:nvPr>
        </p:nvSpPr>
        <p:spPr>
          <a:xfrm>
            <a:off x="442913" y="428625"/>
            <a:ext cx="1374457" cy="1965960"/>
          </a:xfrm>
        </p:spPr>
        <p:txBody>
          <a:bodyPr anchor="t" anchorCtr="0">
            <a:noAutofit/>
          </a:bodyPr>
          <a:lstStyle>
            <a:lvl1pPr>
              <a:lnSpc>
                <a:spcPct val="80000"/>
              </a:lnSpc>
              <a:defRPr sz="14400" b="0">
                <a:solidFill>
                  <a:schemeClr val="bg1"/>
                </a:solidFill>
                <a:latin typeface="+mn-lt"/>
              </a:defRPr>
            </a:lvl1pPr>
          </a:lstStyle>
          <a:p>
            <a:r>
              <a:rPr lang="fr-FR"/>
              <a:t>3</a:t>
            </a:r>
            <a:endParaRPr lang="fr-FR" dirty="0"/>
          </a:p>
        </p:txBody>
      </p:sp>
    </p:spTree>
    <p:extLst>
      <p:ext uri="{BB962C8B-B14F-4D97-AF65-F5344CB8AC3E}">
        <p14:creationId xmlns:p14="http://schemas.microsoft.com/office/powerpoint/2010/main" val="4777498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ection Header Grey Manual">
    <p:bg>
      <p:bgPr>
        <a:solidFill>
          <a:srgbClr val="464646"/>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D146EE5-5980-A84E-9311-F5B9956E43AB}"/>
              </a:ext>
            </a:extLst>
          </p:cNvPr>
          <p:cNvSpPr>
            <a:spLocks noGrp="1"/>
          </p:cNvSpPr>
          <p:nvPr>
            <p:ph type="title" hasCustomPrompt="1"/>
          </p:nvPr>
        </p:nvSpPr>
        <p:spPr>
          <a:xfrm>
            <a:off x="442913" y="428625"/>
            <a:ext cx="1374457" cy="1965960"/>
          </a:xfrm>
        </p:spPr>
        <p:txBody>
          <a:bodyPr anchor="t" anchorCtr="0">
            <a:noAutofit/>
          </a:bodyPr>
          <a:lstStyle>
            <a:lvl1pPr>
              <a:lnSpc>
                <a:spcPct val="80000"/>
              </a:lnSpc>
              <a:defRPr sz="14400" b="0">
                <a:solidFill>
                  <a:schemeClr val="bg1"/>
                </a:solidFill>
                <a:latin typeface="+mn-lt"/>
              </a:defRPr>
            </a:lvl1pPr>
          </a:lstStyle>
          <a:p>
            <a:r>
              <a:rPr lang="fr-FR"/>
              <a:t>4</a:t>
            </a:r>
            <a:endParaRPr lang="fr-FR" dirty="0"/>
          </a:p>
        </p:txBody>
      </p:sp>
    </p:spTree>
    <p:extLst>
      <p:ext uri="{BB962C8B-B14F-4D97-AF65-F5344CB8AC3E}">
        <p14:creationId xmlns:p14="http://schemas.microsoft.com/office/powerpoint/2010/main" val="4842259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1 Image Full">
    <p:bg>
      <p:bgPr>
        <a:solidFill>
          <a:srgbClr val="DEDEDE"/>
        </a:solid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4"/>
          </p:nvPr>
        </p:nvSpPr>
        <p:spPr>
          <a:xfrm>
            <a:off x="0" y="0"/>
            <a:ext cx="12192000" cy="6858000"/>
          </a:xfrm>
          <a:solidFill>
            <a:schemeClr val="tx2"/>
          </a:solidFill>
        </p:spPr>
        <p:txBody>
          <a:bodyPr anchor="ctr" anchorCtr="0"/>
          <a:lstStyle>
            <a:lvl1pPr algn="ctr">
              <a:defRPr sz="1200" b="0">
                <a:solidFill>
                  <a:schemeClr val="bg1"/>
                </a:solidFill>
              </a:defRPr>
            </a:lvl1pPr>
          </a:lstStyle>
          <a:p>
            <a:r>
              <a:rPr lang="fr-FR" dirty="0"/>
              <a:t>Cliquez sur l'icône pour ajouter </a:t>
            </a:r>
            <a:r>
              <a:rPr lang="fr-FR"/>
              <a:t>une image</a:t>
            </a:r>
            <a:endParaRPr lang="fr-FR" dirty="0"/>
          </a:p>
        </p:txBody>
      </p:sp>
      <p:sp>
        <p:nvSpPr>
          <p:cNvPr id="3" name="Content Placeholder 2"/>
          <p:cNvSpPr>
            <a:spLocks noGrp="1"/>
          </p:cNvSpPr>
          <p:nvPr>
            <p:ph idx="1" hasCustomPrompt="1"/>
          </p:nvPr>
        </p:nvSpPr>
        <p:spPr>
          <a:xfrm>
            <a:off x="0" y="1143000"/>
            <a:ext cx="4572000" cy="4572000"/>
          </a:xfrm>
          <a:solidFill>
            <a:srgbClr val="E0301E"/>
          </a:solidFill>
        </p:spPr>
        <p:txBody>
          <a:bodyPr lIns="438912" tIns="1440000" rIns="252000" bIns="180000"/>
          <a:lstStyle>
            <a:lvl1pPr marL="0" indent="0">
              <a:lnSpc>
                <a:spcPct val="90000"/>
              </a:lnSpc>
              <a:spcBef>
                <a:spcPts val="0"/>
              </a:spcBef>
              <a:spcAft>
                <a:spcPts val="3000"/>
              </a:spcAft>
              <a:buFont typeface="Arial" panose="020B0604020202020204" pitchFamily="34" charset="0"/>
              <a:buNone/>
              <a:defRPr sz="2600" b="0">
                <a:solidFill>
                  <a:schemeClr val="tx1"/>
                </a:solidFill>
                <a:latin typeface="+mj-lt"/>
              </a:defRPr>
            </a:lvl1pPr>
            <a:lvl2pPr marL="0" indent="0">
              <a:spcBef>
                <a:spcPts val="0"/>
              </a:spcBef>
              <a:spcAft>
                <a:spcPts val="0"/>
              </a:spcAft>
              <a:buFontTx/>
              <a:buNone/>
              <a:defRPr sz="1600" b="1">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a:solidFill>
                  <a:schemeClr val="tx1"/>
                </a:solidFill>
              </a:defRPr>
            </a:lvl6pPr>
            <a:lvl7pPr marL="0" indent="0">
              <a:spcBef>
                <a:spcPts val="0"/>
              </a:spcBef>
              <a:spcAft>
                <a:spcPts val="0"/>
              </a:spcAft>
              <a:buFontTx/>
              <a:buNone/>
              <a:defRPr sz="1600">
                <a:solidFill>
                  <a:schemeClr val="tx1"/>
                </a:solidFill>
              </a:defRPr>
            </a:lvl7pPr>
            <a:lvl8pPr marL="0" indent="0">
              <a:spcBef>
                <a:spcPts val="0"/>
              </a:spcBef>
              <a:spcAft>
                <a:spcPts val="0"/>
              </a:spcAft>
              <a:buFontTx/>
              <a:buNone/>
              <a:defRPr sz="1600">
                <a:solidFill>
                  <a:schemeClr val="tx1"/>
                </a:solidFill>
              </a:defRPr>
            </a:lvl8pPr>
            <a:lvl9pPr marL="0" indent="0">
              <a:spcBef>
                <a:spcPts val="0"/>
              </a:spcBef>
              <a:spcAft>
                <a:spcPts val="0"/>
              </a:spcAft>
              <a:buFontTx/>
              <a:buNone/>
              <a:defRPr sz="1600">
                <a:solidFill>
                  <a:schemeClr val="tx1"/>
                </a:solidFill>
              </a:defRPr>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1" name="Freeform 5">
            <a:extLst>
              <a:ext uri="{FF2B5EF4-FFF2-40B4-BE49-F238E27FC236}">
                <a16:creationId xmlns:a16="http://schemas.microsoft.com/office/drawing/2014/main" id="{5E9DA768-B963-3547-B650-2E77ED7439D3}"/>
              </a:ext>
            </a:extLst>
          </p:cNvPr>
          <p:cNvSpPr>
            <a:spLocks noChangeAspect="1" noEditPoints="1"/>
          </p:cNvSpPr>
          <p:nvPr userDrawn="1"/>
        </p:nvSpPr>
        <p:spPr bwMode="white">
          <a:xfrm>
            <a:off x="442913" y="1623703"/>
            <a:ext cx="871538" cy="679450"/>
          </a:xfrm>
          <a:custGeom>
            <a:avLst/>
            <a:gdLst>
              <a:gd name="T0" fmla="*/ 1757 w 1811"/>
              <a:gd name="T1" fmla="*/ 1424 h 1424"/>
              <a:gd name="T2" fmla="*/ 1757 w 1811"/>
              <a:gd name="T3" fmla="*/ 1424 h 1424"/>
              <a:gd name="T4" fmla="*/ 1099 w 1811"/>
              <a:gd name="T5" fmla="*/ 1424 h 1424"/>
              <a:gd name="T6" fmla="*/ 1099 w 1811"/>
              <a:gd name="T7" fmla="*/ 953 h 1424"/>
              <a:gd name="T8" fmla="*/ 1149 w 1811"/>
              <a:gd name="T9" fmla="*/ 501 h 1424"/>
              <a:gd name="T10" fmla="*/ 1337 w 1811"/>
              <a:gd name="T11" fmla="*/ 206 h 1424"/>
              <a:gd name="T12" fmla="*/ 1682 w 1811"/>
              <a:gd name="T13" fmla="*/ 0 h 1424"/>
              <a:gd name="T14" fmla="*/ 1811 w 1811"/>
              <a:gd name="T15" fmla="*/ 271 h 1424"/>
              <a:gd name="T16" fmla="*/ 1529 w 1811"/>
              <a:gd name="T17" fmla="*/ 454 h 1424"/>
              <a:gd name="T18" fmla="*/ 1439 w 1811"/>
              <a:gd name="T19" fmla="*/ 766 h 1424"/>
              <a:gd name="T20" fmla="*/ 1757 w 1811"/>
              <a:gd name="T21" fmla="*/ 766 h 1424"/>
              <a:gd name="T22" fmla="*/ 1757 w 1811"/>
              <a:gd name="T23" fmla="*/ 1424 h 1424"/>
              <a:gd name="T24" fmla="*/ 658 w 1811"/>
              <a:gd name="T25" fmla="*/ 1424 h 1424"/>
              <a:gd name="T26" fmla="*/ 658 w 1811"/>
              <a:gd name="T27" fmla="*/ 1424 h 1424"/>
              <a:gd name="T28" fmla="*/ 0 w 1811"/>
              <a:gd name="T29" fmla="*/ 1424 h 1424"/>
              <a:gd name="T30" fmla="*/ 0 w 1811"/>
              <a:gd name="T31" fmla="*/ 953 h 1424"/>
              <a:gd name="T32" fmla="*/ 50 w 1811"/>
              <a:gd name="T33" fmla="*/ 502 h 1424"/>
              <a:gd name="T34" fmla="*/ 236 w 1811"/>
              <a:gd name="T35" fmla="*/ 206 h 1424"/>
              <a:gd name="T36" fmla="*/ 583 w 1811"/>
              <a:gd name="T37" fmla="*/ 0 h 1424"/>
              <a:gd name="T38" fmla="*/ 712 w 1811"/>
              <a:gd name="T39" fmla="*/ 271 h 1424"/>
              <a:gd name="T40" fmla="*/ 430 w 1811"/>
              <a:gd name="T41" fmla="*/ 454 h 1424"/>
              <a:gd name="T42" fmla="*/ 339 w 1811"/>
              <a:gd name="T43" fmla="*/ 766 h 1424"/>
              <a:gd name="T44" fmla="*/ 658 w 1811"/>
              <a:gd name="T45" fmla="*/ 766 h 1424"/>
              <a:gd name="T46" fmla="*/ 658 w 1811"/>
              <a:gd name="T47" fmla="*/ 1424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11" h="1424">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fr-FR" dirty="0"/>
          </a:p>
        </p:txBody>
      </p:sp>
      <p:sp>
        <p:nvSpPr>
          <p:cNvPr id="7" name="Date Placeholder 6">
            <a:extLst>
              <a:ext uri="{FF2B5EF4-FFF2-40B4-BE49-F238E27FC236}">
                <a16:creationId xmlns:a16="http://schemas.microsoft.com/office/drawing/2014/main" id="{A1D36D47-D12A-3142-B681-815978E85E77}"/>
              </a:ext>
            </a:extLst>
          </p:cNvPr>
          <p:cNvSpPr>
            <a:spLocks noGrp="1"/>
          </p:cNvSpPr>
          <p:nvPr>
            <p:ph type="dt" sz="half" idx="15"/>
          </p:nvPr>
        </p:nvSpPr>
        <p:spPr/>
        <p:txBody>
          <a:bodyPr/>
          <a:lstStyle/>
          <a:p>
            <a:r>
              <a:rPr lang="fr-FR"/>
              <a:t>July 2020</a:t>
            </a:r>
            <a:endParaRPr lang="fr-FR" dirty="0"/>
          </a:p>
        </p:txBody>
      </p:sp>
      <p:sp>
        <p:nvSpPr>
          <p:cNvPr id="8" name="Footer Placeholder 7">
            <a:extLst>
              <a:ext uri="{FF2B5EF4-FFF2-40B4-BE49-F238E27FC236}">
                <a16:creationId xmlns:a16="http://schemas.microsoft.com/office/drawing/2014/main" id="{3042CAE4-1315-134B-A97D-6331422E4046}"/>
              </a:ext>
            </a:extLst>
          </p:cNvPr>
          <p:cNvSpPr>
            <a:spLocks noGrp="1"/>
          </p:cNvSpPr>
          <p:nvPr>
            <p:ph type="ftr" sz="quarter" idx="16"/>
          </p:nvPr>
        </p:nvSpPr>
        <p:spPr/>
        <p:txBody>
          <a:bodyPr/>
          <a:lstStyle/>
          <a:p>
            <a:pPr algn="l"/>
            <a:r>
              <a:rPr lang="en-US"/>
              <a:t>GCCA GNR Concrete Pilot Project</a:t>
            </a:r>
            <a:endParaRPr lang="fr-FR" dirty="0"/>
          </a:p>
        </p:txBody>
      </p:sp>
      <p:sp>
        <p:nvSpPr>
          <p:cNvPr id="9" name="Slide Number Placeholder 8">
            <a:extLst>
              <a:ext uri="{FF2B5EF4-FFF2-40B4-BE49-F238E27FC236}">
                <a16:creationId xmlns:a16="http://schemas.microsoft.com/office/drawing/2014/main" id="{4751649C-08F4-D84A-9E3B-1FCB427D60BF}"/>
              </a:ext>
            </a:extLst>
          </p:cNvPr>
          <p:cNvSpPr>
            <a:spLocks noGrp="1"/>
          </p:cNvSpPr>
          <p:nvPr>
            <p:ph type="sldNum" sz="quarter" idx="17"/>
          </p:nvPr>
        </p:nvSpPr>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66611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1 Image Orange">
    <p:bg>
      <p:bgPr>
        <a:solidFill>
          <a:srgbClr val="D04A02"/>
        </a:solidFill>
        <a:effectLst/>
      </p:bgPr>
    </p:bg>
    <p:spTree>
      <p:nvGrpSpPr>
        <p:cNvPr id="1" name=""/>
        <p:cNvGrpSpPr/>
        <p:nvPr/>
      </p:nvGrpSpPr>
      <p:grpSpPr>
        <a:xfrm>
          <a:off x="0" y="0"/>
          <a:ext cx="0" cy="0"/>
          <a:chOff x="0" y="0"/>
          <a:chExt cx="0" cy="0"/>
        </a:xfrm>
      </p:grpSpPr>
      <p:sp>
        <p:nvSpPr>
          <p:cNvPr id="7" name="Picture Placeholder 8"/>
          <p:cNvSpPr>
            <a:spLocks noGrp="1"/>
          </p:cNvSpPr>
          <p:nvPr>
            <p:ph type="pic" sz="quarter" idx="14"/>
          </p:nvPr>
        </p:nvSpPr>
        <p:spPr>
          <a:xfrm>
            <a:off x="6096000" y="0"/>
            <a:ext cx="6096000" cy="6858000"/>
          </a:xfrm>
          <a:solidFill>
            <a:schemeClr val="tx2"/>
          </a:solidFill>
        </p:spPr>
        <p:txBody>
          <a:bodyPr anchor="ctr" anchorCtr="0"/>
          <a:lstStyle>
            <a:lvl1pPr algn="ctr">
              <a:defRPr sz="1200" b="0">
                <a:solidFill>
                  <a:schemeClr val="bg1"/>
                </a:solidFill>
              </a:defRPr>
            </a:lvl1pPr>
          </a:lstStyle>
          <a:p>
            <a:r>
              <a:rPr lang="fr-FR" dirty="0"/>
              <a:t>Cliquez sur l'icône pour ajouter </a:t>
            </a:r>
            <a:r>
              <a:rPr lang="fr-FR"/>
              <a:t>une image</a:t>
            </a:r>
            <a:endParaRPr lang="fr-FR" dirty="0"/>
          </a:p>
        </p:txBody>
      </p:sp>
      <p:sp>
        <p:nvSpPr>
          <p:cNvPr id="3" name="Content Placeholder 2"/>
          <p:cNvSpPr>
            <a:spLocks noGrp="1"/>
          </p:cNvSpPr>
          <p:nvPr>
            <p:ph idx="1" hasCustomPrompt="1"/>
          </p:nvPr>
        </p:nvSpPr>
        <p:spPr>
          <a:xfrm>
            <a:off x="442913" y="1714500"/>
            <a:ext cx="5299393" cy="4457700"/>
          </a:xfrm>
        </p:spPr>
        <p:txBody>
          <a:bodyPr/>
          <a:lstStyle>
            <a:lvl1pPr>
              <a:lnSpc>
                <a:spcPct val="85000"/>
              </a:lnSpc>
              <a:spcBef>
                <a:spcPts val="0"/>
              </a:spcBef>
              <a:spcAft>
                <a:spcPts val="3000"/>
              </a:spcAft>
              <a:defRPr sz="3800" b="0">
                <a:solidFill>
                  <a:schemeClr val="tx1"/>
                </a:solidFill>
                <a:latin typeface="+mj-lt"/>
              </a:defRPr>
            </a:lvl1pPr>
            <a:lvl2pPr marL="0" indent="0">
              <a:spcBef>
                <a:spcPts val="0"/>
              </a:spcBef>
              <a:spcAft>
                <a:spcPts val="0"/>
              </a:spcAft>
              <a:buFont typeface="Arial" panose="020B0604020202020204" pitchFamily="34" charset="0"/>
              <a:buNone/>
              <a:defRPr sz="1600" b="1">
                <a:solidFill>
                  <a:schemeClr val="tx1"/>
                </a:solidFill>
              </a:defRPr>
            </a:lvl2pPr>
            <a:lvl3pPr marL="0" indent="0">
              <a:spcBef>
                <a:spcPts val="0"/>
              </a:spcBef>
              <a:spcAft>
                <a:spcPts val="0"/>
              </a:spcAft>
              <a:buFontTx/>
              <a:buNone/>
              <a:defRPr sz="1600">
                <a:solidFill>
                  <a:schemeClr val="tx1"/>
                </a:solidFill>
              </a:defRPr>
            </a:lvl3pPr>
            <a:lvl4pPr marL="0" indent="0">
              <a:spcBef>
                <a:spcPts val="0"/>
              </a:spcBef>
              <a:spcAft>
                <a:spcPts val="0"/>
              </a:spcAft>
              <a:buFontTx/>
              <a:buNone/>
              <a:defRPr sz="1600">
                <a:solidFill>
                  <a:schemeClr val="tx1"/>
                </a:solidFill>
              </a:defRPr>
            </a:lvl4pPr>
            <a:lvl5pPr marL="0" indent="0">
              <a:spcBef>
                <a:spcPts val="0"/>
              </a:spcBef>
              <a:spcAft>
                <a:spcPts val="0"/>
              </a:spcAft>
              <a:buFontTx/>
              <a:buNone/>
              <a:defRPr sz="1600">
                <a:solidFill>
                  <a:schemeClr val="tx1"/>
                </a:solidFill>
              </a:defRPr>
            </a:lvl5pPr>
            <a:lvl6pPr marL="0" indent="0">
              <a:spcBef>
                <a:spcPts val="0"/>
              </a:spcBef>
              <a:spcAft>
                <a:spcPts val="0"/>
              </a:spcAft>
              <a:buFontTx/>
              <a:buNone/>
              <a:defRPr sz="1600">
                <a:solidFill>
                  <a:schemeClr val="tx1"/>
                </a:solidFill>
              </a:defRPr>
            </a:lvl6pPr>
            <a:lvl7pPr marL="0" indent="0">
              <a:spcBef>
                <a:spcPts val="0"/>
              </a:spcBef>
              <a:spcAft>
                <a:spcPts val="0"/>
              </a:spcAft>
              <a:buFontTx/>
              <a:buNone/>
              <a:defRPr sz="1600">
                <a:solidFill>
                  <a:schemeClr val="tx1"/>
                </a:solidFill>
              </a:defRPr>
            </a:lvl7pPr>
            <a:lvl8pPr marL="0" indent="0">
              <a:spcBef>
                <a:spcPts val="0"/>
              </a:spcBef>
              <a:spcAft>
                <a:spcPts val="0"/>
              </a:spcAft>
              <a:buFontTx/>
              <a:buNone/>
              <a:defRPr sz="1600">
                <a:solidFill>
                  <a:schemeClr val="tx1"/>
                </a:solidFill>
              </a:defRPr>
            </a:lvl8pPr>
            <a:lvl9pPr marL="0" indent="0">
              <a:spcBef>
                <a:spcPts val="0"/>
              </a:spcBef>
              <a:spcAft>
                <a:spcPts val="0"/>
              </a:spcAft>
              <a:buFontTx/>
              <a:buNone/>
              <a:defRPr sz="1600">
                <a:solidFill>
                  <a:schemeClr val="tx1"/>
                </a:solidFill>
              </a:defRPr>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9" name="Freeform 5">
            <a:extLst>
              <a:ext uri="{FF2B5EF4-FFF2-40B4-BE49-F238E27FC236}">
                <a16:creationId xmlns:a16="http://schemas.microsoft.com/office/drawing/2014/main" id="{EBA5CA3E-5ADF-C84E-8B6D-07C039516DFE}"/>
              </a:ext>
            </a:extLst>
          </p:cNvPr>
          <p:cNvSpPr>
            <a:spLocks noChangeAspect="1" noEditPoints="1"/>
          </p:cNvSpPr>
          <p:nvPr userDrawn="1"/>
        </p:nvSpPr>
        <p:spPr bwMode="black">
          <a:xfrm>
            <a:off x="442913" y="687001"/>
            <a:ext cx="871538" cy="679450"/>
          </a:xfrm>
          <a:custGeom>
            <a:avLst/>
            <a:gdLst>
              <a:gd name="T0" fmla="*/ 1757 w 1811"/>
              <a:gd name="T1" fmla="*/ 1424 h 1424"/>
              <a:gd name="T2" fmla="*/ 1757 w 1811"/>
              <a:gd name="T3" fmla="*/ 1424 h 1424"/>
              <a:gd name="T4" fmla="*/ 1099 w 1811"/>
              <a:gd name="T5" fmla="*/ 1424 h 1424"/>
              <a:gd name="T6" fmla="*/ 1099 w 1811"/>
              <a:gd name="T7" fmla="*/ 953 h 1424"/>
              <a:gd name="T8" fmla="*/ 1149 w 1811"/>
              <a:gd name="T9" fmla="*/ 501 h 1424"/>
              <a:gd name="T10" fmla="*/ 1337 w 1811"/>
              <a:gd name="T11" fmla="*/ 206 h 1424"/>
              <a:gd name="T12" fmla="*/ 1682 w 1811"/>
              <a:gd name="T13" fmla="*/ 0 h 1424"/>
              <a:gd name="T14" fmla="*/ 1811 w 1811"/>
              <a:gd name="T15" fmla="*/ 271 h 1424"/>
              <a:gd name="T16" fmla="*/ 1529 w 1811"/>
              <a:gd name="T17" fmla="*/ 454 h 1424"/>
              <a:gd name="T18" fmla="*/ 1439 w 1811"/>
              <a:gd name="T19" fmla="*/ 766 h 1424"/>
              <a:gd name="T20" fmla="*/ 1757 w 1811"/>
              <a:gd name="T21" fmla="*/ 766 h 1424"/>
              <a:gd name="T22" fmla="*/ 1757 w 1811"/>
              <a:gd name="T23" fmla="*/ 1424 h 1424"/>
              <a:gd name="T24" fmla="*/ 658 w 1811"/>
              <a:gd name="T25" fmla="*/ 1424 h 1424"/>
              <a:gd name="T26" fmla="*/ 658 w 1811"/>
              <a:gd name="T27" fmla="*/ 1424 h 1424"/>
              <a:gd name="T28" fmla="*/ 0 w 1811"/>
              <a:gd name="T29" fmla="*/ 1424 h 1424"/>
              <a:gd name="T30" fmla="*/ 0 w 1811"/>
              <a:gd name="T31" fmla="*/ 953 h 1424"/>
              <a:gd name="T32" fmla="*/ 50 w 1811"/>
              <a:gd name="T33" fmla="*/ 502 h 1424"/>
              <a:gd name="T34" fmla="*/ 236 w 1811"/>
              <a:gd name="T35" fmla="*/ 206 h 1424"/>
              <a:gd name="T36" fmla="*/ 583 w 1811"/>
              <a:gd name="T37" fmla="*/ 0 h 1424"/>
              <a:gd name="T38" fmla="*/ 712 w 1811"/>
              <a:gd name="T39" fmla="*/ 271 h 1424"/>
              <a:gd name="T40" fmla="*/ 430 w 1811"/>
              <a:gd name="T41" fmla="*/ 454 h 1424"/>
              <a:gd name="T42" fmla="*/ 339 w 1811"/>
              <a:gd name="T43" fmla="*/ 766 h 1424"/>
              <a:gd name="T44" fmla="*/ 658 w 1811"/>
              <a:gd name="T45" fmla="*/ 766 h 1424"/>
              <a:gd name="T46" fmla="*/ 658 w 1811"/>
              <a:gd name="T47" fmla="*/ 1424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11" h="1424">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fr-FR" dirty="0"/>
          </a:p>
        </p:txBody>
      </p:sp>
      <p:sp>
        <p:nvSpPr>
          <p:cNvPr id="2" name="Date Placeholder 1">
            <a:extLst>
              <a:ext uri="{FF2B5EF4-FFF2-40B4-BE49-F238E27FC236}">
                <a16:creationId xmlns:a16="http://schemas.microsoft.com/office/drawing/2014/main" id="{08ACB6F4-A2A7-6E4D-A8EB-50B5B35AADEB}"/>
              </a:ext>
            </a:extLst>
          </p:cNvPr>
          <p:cNvSpPr>
            <a:spLocks noGrp="1"/>
          </p:cNvSpPr>
          <p:nvPr>
            <p:ph type="dt" sz="half" idx="15"/>
          </p:nvPr>
        </p:nvSpPr>
        <p:spPr/>
        <p:txBody>
          <a:bodyPr/>
          <a:lstStyle/>
          <a:p>
            <a:r>
              <a:rPr lang="fr-FR"/>
              <a:t>July 2020</a:t>
            </a:r>
            <a:endParaRPr lang="fr-FR" dirty="0"/>
          </a:p>
        </p:txBody>
      </p:sp>
      <p:sp>
        <p:nvSpPr>
          <p:cNvPr id="4" name="Footer Placeholder 3">
            <a:extLst>
              <a:ext uri="{FF2B5EF4-FFF2-40B4-BE49-F238E27FC236}">
                <a16:creationId xmlns:a16="http://schemas.microsoft.com/office/drawing/2014/main" id="{37FC6095-B1C7-6143-B9FD-C545A6D03573}"/>
              </a:ext>
            </a:extLst>
          </p:cNvPr>
          <p:cNvSpPr>
            <a:spLocks noGrp="1"/>
          </p:cNvSpPr>
          <p:nvPr>
            <p:ph type="ftr" sz="quarter" idx="16"/>
          </p:nvPr>
        </p:nvSpPr>
        <p:spPr/>
        <p:txBody>
          <a:bodyPr/>
          <a:lstStyle/>
          <a:p>
            <a:pPr algn="l"/>
            <a:r>
              <a:rPr lang="en-US"/>
              <a:t>GCCA GNR Concrete Pilot Project</a:t>
            </a:r>
            <a:endParaRPr lang="fr-FR" dirty="0"/>
          </a:p>
        </p:txBody>
      </p:sp>
      <p:sp>
        <p:nvSpPr>
          <p:cNvPr id="5" name="Slide Number Placeholder 4">
            <a:extLst>
              <a:ext uri="{FF2B5EF4-FFF2-40B4-BE49-F238E27FC236}">
                <a16:creationId xmlns:a16="http://schemas.microsoft.com/office/drawing/2014/main" id="{DAF7A802-0AAE-FA43-8858-03590E764031}"/>
              </a:ext>
            </a:extLst>
          </p:cNvPr>
          <p:cNvSpPr>
            <a:spLocks noGrp="1"/>
          </p:cNvSpPr>
          <p:nvPr>
            <p:ph type="sldNum" sz="quarter" idx="17"/>
          </p:nvPr>
        </p:nvSpPr>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20924515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1 Image">
    <p:spTree>
      <p:nvGrpSpPr>
        <p:cNvPr id="1" name=""/>
        <p:cNvGrpSpPr/>
        <p:nvPr/>
      </p:nvGrpSpPr>
      <p:grpSpPr>
        <a:xfrm>
          <a:off x="0" y="0"/>
          <a:ext cx="0" cy="0"/>
          <a:chOff x="0" y="0"/>
          <a:chExt cx="0" cy="0"/>
        </a:xfrm>
      </p:grpSpPr>
      <p:sp>
        <p:nvSpPr>
          <p:cNvPr id="7" name="Picture Placeholder 8"/>
          <p:cNvSpPr>
            <a:spLocks noGrp="1"/>
          </p:cNvSpPr>
          <p:nvPr>
            <p:ph type="pic" sz="quarter" idx="14"/>
          </p:nvPr>
        </p:nvSpPr>
        <p:spPr>
          <a:xfrm>
            <a:off x="6096000" y="0"/>
            <a:ext cx="6096000" cy="6858000"/>
          </a:xfrm>
          <a:solidFill>
            <a:schemeClr val="bg2"/>
          </a:solidFill>
        </p:spPr>
        <p:txBody>
          <a:bodyPr anchor="ctr" anchorCtr="0"/>
          <a:lstStyle>
            <a:lvl1pPr algn="ctr">
              <a:defRPr sz="1200" b="0">
                <a:solidFill>
                  <a:schemeClr val="tx1"/>
                </a:solidFill>
              </a:defRPr>
            </a:lvl1pPr>
          </a:lstStyle>
          <a:p>
            <a:r>
              <a:rPr lang="fr-FR" dirty="0"/>
              <a:t>Cliquez sur l'icône pour ajouter </a:t>
            </a:r>
            <a:r>
              <a:rPr lang="fr-FR"/>
              <a:t>une image</a:t>
            </a:r>
            <a:endParaRPr lang="fr-FR" dirty="0"/>
          </a:p>
        </p:txBody>
      </p:sp>
      <p:sp>
        <p:nvSpPr>
          <p:cNvPr id="3" name="Content Placeholder 2"/>
          <p:cNvSpPr>
            <a:spLocks noGrp="1"/>
          </p:cNvSpPr>
          <p:nvPr>
            <p:ph idx="1" hasCustomPrompt="1"/>
          </p:nvPr>
        </p:nvSpPr>
        <p:spPr>
          <a:xfrm>
            <a:off x="442913" y="1714500"/>
            <a:ext cx="5299393" cy="4457700"/>
          </a:xfrm>
        </p:spPr>
        <p:txBody>
          <a:bodyPr/>
          <a:lstStyle>
            <a:lvl1pPr>
              <a:lnSpc>
                <a:spcPct val="85000"/>
              </a:lnSpc>
              <a:spcBef>
                <a:spcPts val="0"/>
              </a:spcBef>
              <a:spcAft>
                <a:spcPts val="3000"/>
              </a:spcAft>
              <a:defRPr sz="3800" b="0">
                <a:solidFill>
                  <a:schemeClr val="tx1"/>
                </a:solidFill>
                <a:latin typeface="+mj-lt"/>
              </a:defRPr>
            </a:lvl1pPr>
            <a:lvl2pPr marL="0" indent="0">
              <a:spcBef>
                <a:spcPts val="0"/>
              </a:spcBef>
              <a:spcAft>
                <a:spcPts val="0"/>
              </a:spcAft>
              <a:buFont typeface="Arial" panose="020B0604020202020204" pitchFamily="34" charset="0"/>
              <a:buNone/>
              <a:defRPr sz="1600" b="1"/>
            </a:lvl2pPr>
            <a:lvl3pPr marL="0" indent="0">
              <a:spcBef>
                <a:spcPts val="0"/>
              </a:spcBef>
              <a:spcAft>
                <a:spcPts val="0"/>
              </a:spcAft>
              <a:buFontTx/>
              <a:buNone/>
              <a:defRPr sz="1600"/>
            </a:lvl3pPr>
            <a:lvl4pPr marL="0" indent="0">
              <a:spcBef>
                <a:spcPts val="0"/>
              </a:spcBef>
              <a:spcAft>
                <a:spcPts val="0"/>
              </a:spcAft>
              <a:buFontTx/>
              <a:buNone/>
              <a:defRPr sz="1600"/>
            </a:lvl4pPr>
            <a:lvl5pPr marL="0" indent="0">
              <a:spcBef>
                <a:spcPts val="0"/>
              </a:spcBef>
              <a:spcAft>
                <a:spcPts val="0"/>
              </a:spcAft>
              <a:buFontTx/>
              <a:buNone/>
              <a:defRPr sz="1600"/>
            </a:lvl5pPr>
            <a:lvl6pPr marL="0" indent="0">
              <a:spcBef>
                <a:spcPts val="0"/>
              </a:spcBef>
              <a:spcAft>
                <a:spcPts val="0"/>
              </a:spcAft>
              <a:buFontTx/>
              <a:buNone/>
              <a:defRPr sz="1600"/>
            </a:lvl6pPr>
            <a:lvl7pPr marL="0" indent="0">
              <a:spcBef>
                <a:spcPts val="0"/>
              </a:spcBef>
              <a:spcAft>
                <a:spcPts val="0"/>
              </a:spcAft>
              <a:buFontTx/>
              <a:buNone/>
              <a:defRPr sz="1600"/>
            </a:lvl7pPr>
            <a:lvl8pPr marL="0" indent="0">
              <a:spcBef>
                <a:spcPts val="0"/>
              </a:spcBef>
              <a:spcAft>
                <a:spcPts val="0"/>
              </a:spcAft>
              <a:buFontTx/>
              <a:buNone/>
              <a:defRPr sz="1600"/>
            </a:lvl8pPr>
            <a:lvl9pPr marL="0" indent="0">
              <a:spcBef>
                <a:spcPts val="0"/>
              </a:spcBef>
              <a:spcAft>
                <a:spcPts val="0"/>
              </a:spcAft>
              <a:buFontTx/>
              <a:buNone/>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10" name="Freeform 5">
            <a:extLst>
              <a:ext uri="{FF2B5EF4-FFF2-40B4-BE49-F238E27FC236}">
                <a16:creationId xmlns:a16="http://schemas.microsoft.com/office/drawing/2014/main" id="{751F50DC-1032-F848-8EFD-503462F60157}"/>
              </a:ext>
            </a:extLst>
          </p:cNvPr>
          <p:cNvSpPr>
            <a:spLocks noChangeAspect="1" noEditPoints="1"/>
          </p:cNvSpPr>
          <p:nvPr userDrawn="1"/>
        </p:nvSpPr>
        <p:spPr bwMode="auto">
          <a:xfrm>
            <a:off x="442913" y="687001"/>
            <a:ext cx="871538" cy="679450"/>
          </a:xfrm>
          <a:custGeom>
            <a:avLst/>
            <a:gdLst>
              <a:gd name="T0" fmla="*/ 1757 w 1811"/>
              <a:gd name="T1" fmla="*/ 1424 h 1424"/>
              <a:gd name="T2" fmla="*/ 1757 w 1811"/>
              <a:gd name="T3" fmla="*/ 1424 h 1424"/>
              <a:gd name="T4" fmla="*/ 1099 w 1811"/>
              <a:gd name="T5" fmla="*/ 1424 h 1424"/>
              <a:gd name="T6" fmla="*/ 1099 w 1811"/>
              <a:gd name="T7" fmla="*/ 953 h 1424"/>
              <a:gd name="T8" fmla="*/ 1149 w 1811"/>
              <a:gd name="T9" fmla="*/ 501 h 1424"/>
              <a:gd name="T10" fmla="*/ 1337 w 1811"/>
              <a:gd name="T11" fmla="*/ 206 h 1424"/>
              <a:gd name="T12" fmla="*/ 1682 w 1811"/>
              <a:gd name="T13" fmla="*/ 0 h 1424"/>
              <a:gd name="T14" fmla="*/ 1811 w 1811"/>
              <a:gd name="T15" fmla="*/ 271 h 1424"/>
              <a:gd name="T16" fmla="*/ 1529 w 1811"/>
              <a:gd name="T17" fmla="*/ 454 h 1424"/>
              <a:gd name="T18" fmla="*/ 1439 w 1811"/>
              <a:gd name="T19" fmla="*/ 766 h 1424"/>
              <a:gd name="T20" fmla="*/ 1757 w 1811"/>
              <a:gd name="T21" fmla="*/ 766 h 1424"/>
              <a:gd name="T22" fmla="*/ 1757 w 1811"/>
              <a:gd name="T23" fmla="*/ 1424 h 1424"/>
              <a:gd name="T24" fmla="*/ 658 w 1811"/>
              <a:gd name="T25" fmla="*/ 1424 h 1424"/>
              <a:gd name="T26" fmla="*/ 658 w 1811"/>
              <a:gd name="T27" fmla="*/ 1424 h 1424"/>
              <a:gd name="T28" fmla="*/ 0 w 1811"/>
              <a:gd name="T29" fmla="*/ 1424 h 1424"/>
              <a:gd name="T30" fmla="*/ 0 w 1811"/>
              <a:gd name="T31" fmla="*/ 953 h 1424"/>
              <a:gd name="T32" fmla="*/ 50 w 1811"/>
              <a:gd name="T33" fmla="*/ 502 h 1424"/>
              <a:gd name="T34" fmla="*/ 236 w 1811"/>
              <a:gd name="T35" fmla="*/ 206 h 1424"/>
              <a:gd name="T36" fmla="*/ 583 w 1811"/>
              <a:gd name="T37" fmla="*/ 0 h 1424"/>
              <a:gd name="T38" fmla="*/ 712 w 1811"/>
              <a:gd name="T39" fmla="*/ 271 h 1424"/>
              <a:gd name="T40" fmla="*/ 430 w 1811"/>
              <a:gd name="T41" fmla="*/ 454 h 1424"/>
              <a:gd name="T42" fmla="*/ 339 w 1811"/>
              <a:gd name="T43" fmla="*/ 766 h 1424"/>
              <a:gd name="T44" fmla="*/ 658 w 1811"/>
              <a:gd name="T45" fmla="*/ 766 h 1424"/>
              <a:gd name="T46" fmla="*/ 658 w 1811"/>
              <a:gd name="T47" fmla="*/ 1424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11" h="1424">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fr-FR" dirty="0"/>
          </a:p>
        </p:txBody>
      </p:sp>
      <p:sp>
        <p:nvSpPr>
          <p:cNvPr id="6" name="Slide Number Placeholder 5">
            <a:extLst>
              <a:ext uri="{FF2B5EF4-FFF2-40B4-BE49-F238E27FC236}">
                <a16:creationId xmlns:a16="http://schemas.microsoft.com/office/drawing/2014/main" id="{C0618CEB-562C-EF47-A905-BA1BD3BB0B4A}"/>
              </a:ext>
            </a:extLst>
          </p:cNvPr>
          <p:cNvSpPr>
            <a:spLocks noGrp="1"/>
          </p:cNvSpPr>
          <p:nvPr>
            <p:ph type="sldNum" sz="quarter" idx="16"/>
          </p:nvPr>
        </p:nvSpPr>
        <p:spPr bwMode="gray"/>
        <p:txBody>
          <a:bodyPr/>
          <a:lstStyle>
            <a:lvl1pPr>
              <a:defRPr>
                <a:solidFill>
                  <a:schemeClr val="bg1"/>
                </a:solidFill>
              </a:defRPr>
            </a:lvl1pPr>
          </a:lstStyle>
          <a:p>
            <a:fld id="{7870704B-CE94-48CC-AF30-84932A1262A7}" type="slidenum">
              <a:rPr lang="fr-FR" smtClean="0"/>
              <a:pPr/>
              <a:t>‹Nº›</a:t>
            </a:fld>
            <a:endParaRPr lang="fr-FR" dirty="0"/>
          </a:p>
        </p:txBody>
      </p:sp>
      <p:sp>
        <p:nvSpPr>
          <p:cNvPr id="2" name="Date Placeholder 1">
            <a:extLst>
              <a:ext uri="{FF2B5EF4-FFF2-40B4-BE49-F238E27FC236}">
                <a16:creationId xmlns:a16="http://schemas.microsoft.com/office/drawing/2014/main" id="{B7BEC181-486E-E441-8900-B8446C2DF2CE}"/>
              </a:ext>
            </a:extLst>
          </p:cNvPr>
          <p:cNvSpPr>
            <a:spLocks noGrp="1"/>
          </p:cNvSpPr>
          <p:nvPr>
            <p:ph type="dt" sz="half" idx="17"/>
          </p:nvPr>
        </p:nvSpPr>
        <p:spPr/>
        <p:txBody>
          <a:bodyPr/>
          <a:lstStyle>
            <a:lvl1pPr>
              <a:defRPr>
                <a:solidFill>
                  <a:schemeClr val="bg1"/>
                </a:solidFill>
              </a:defRPr>
            </a:lvl1pPr>
          </a:lstStyle>
          <a:p>
            <a:r>
              <a:rPr lang="fr-FR"/>
              <a:t>July 2020</a:t>
            </a:r>
            <a:endParaRPr lang="fr-FR" dirty="0"/>
          </a:p>
        </p:txBody>
      </p:sp>
      <p:sp>
        <p:nvSpPr>
          <p:cNvPr id="4" name="Footer Placeholder 3">
            <a:extLst>
              <a:ext uri="{FF2B5EF4-FFF2-40B4-BE49-F238E27FC236}">
                <a16:creationId xmlns:a16="http://schemas.microsoft.com/office/drawing/2014/main" id="{761E6323-CD0D-424F-880F-557372819009}"/>
              </a:ext>
            </a:extLst>
          </p:cNvPr>
          <p:cNvSpPr>
            <a:spLocks noGrp="1"/>
          </p:cNvSpPr>
          <p:nvPr>
            <p:ph type="ftr" sz="quarter" idx="18"/>
          </p:nvPr>
        </p:nvSpPr>
        <p:spPr/>
        <p:txBody>
          <a:bodyPr/>
          <a:lstStyle/>
          <a:p>
            <a:pPr algn="l"/>
            <a:r>
              <a:rPr lang="en-US"/>
              <a:t>GCCA GNR Concrete Pilot Project</a:t>
            </a:r>
            <a:endParaRPr lang="fr-FR" dirty="0"/>
          </a:p>
        </p:txBody>
      </p:sp>
    </p:spTree>
    <p:extLst>
      <p:ext uri="{BB962C8B-B14F-4D97-AF65-F5344CB8AC3E}">
        <p14:creationId xmlns:p14="http://schemas.microsoft.com/office/powerpoint/2010/main" val="3712302821"/>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42914" y="2274570"/>
            <a:ext cx="9540366" cy="3897630"/>
          </a:xfrm>
        </p:spPr>
        <p:txBody>
          <a:bodyPr/>
          <a:lstStyle>
            <a:lvl1pPr>
              <a:lnSpc>
                <a:spcPct val="85000"/>
              </a:lnSpc>
              <a:spcBef>
                <a:spcPts val="0"/>
              </a:spcBef>
              <a:spcAft>
                <a:spcPts val="3000"/>
              </a:spcAft>
              <a:defRPr sz="3800" b="0">
                <a:solidFill>
                  <a:schemeClr val="tx1"/>
                </a:solidFill>
                <a:latin typeface="+mj-lt"/>
              </a:defRPr>
            </a:lvl1pPr>
            <a:lvl2pPr marL="0" indent="0">
              <a:spcBef>
                <a:spcPts val="0"/>
              </a:spcBef>
              <a:spcAft>
                <a:spcPts val="0"/>
              </a:spcAft>
              <a:buFont typeface="Arial" panose="020B0604020202020204" pitchFamily="34" charset="0"/>
              <a:buNone/>
              <a:defRPr sz="1600" b="1"/>
            </a:lvl2pPr>
            <a:lvl3pPr marL="0" indent="0">
              <a:spcBef>
                <a:spcPts val="0"/>
              </a:spcBef>
              <a:spcAft>
                <a:spcPts val="0"/>
              </a:spcAft>
              <a:buFontTx/>
              <a:buNone/>
              <a:defRPr sz="1600"/>
            </a:lvl3pPr>
            <a:lvl4pPr marL="0" indent="0">
              <a:spcBef>
                <a:spcPts val="0"/>
              </a:spcBef>
              <a:spcAft>
                <a:spcPts val="0"/>
              </a:spcAft>
              <a:buFontTx/>
              <a:buNone/>
              <a:defRPr sz="1600"/>
            </a:lvl4pPr>
            <a:lvl5pPr marL="0" indent="0">
              <a:spcBef>
                <a:spcPts val="0"/>
              </a:spcBef>
              <a:spcAft>
                <a:spcPts val="0"/>
              </a:spcAft>
              <a:buFontTx/>
              <a:buNone/>
              <a:defRPr sz="1600"/>
            </a:lvl5pPr>
            <a:lvl6pPr marL="0" indent="0">
              <a:spcBef>
                <a:spcPts val="0"/>
              </a:spcBef>
              <a:spcAft>
                <a:spcPts val="0"/>
              </a:spcAft>
              <a:buFontTx/>
              <a:buNone/>
              <a:defRPr sz="1600"/>
            </a:lvl6pPr>
            <a:lvl7pPr marL="0" indent="0">
              <a:spcBef>
                <a:spcPts val="0"/>
              </a:spcBef>
              <a:spcAft>
                <a:spcPts val="0"/>
              </a:spcAft>
              <a:buFontTx/>
              <a:buNone/>
              <a:defRPr sz="1600"/>
            </a:lvl7pPr>
            <a:lvl8pPr marL="0" indent="0">
              <a:spcBef>
                <a:spcPts val="0"/>
              </a:spcBef>
              <a:spcAft>
                <a:spcPts val="0"/>
              </a:spcAft>
              <a:buFontTx/>
              <a:buNone/>
              <a:defRPr sz="1600"/>
            </a:lvl8pPr>
            <a:lvl9pPr marL="0" indent="0">
              <a:spcBef>
                <a:spcPts val="0"/>
              </a:spcBef>
              <a:spcAft>
                <a:spcPts val="0"/>
              </a:spcAft>
              <a:buFontTx/>
              <a:buNone/>
              <a:defRPr sz="1600"/>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6" name="Freeform 5">
            <a:extLst>
              <a:ext uri="{FF2B5EF4-FFF2-40B4-BE49-F238E27FC236}">
                <a16:creationId xmlns:a16="http://schemas.microsoft.com/office/drawing/2014/main" id="{07AD3661-A443-F74F-9528-11F7BA264BF5}"/>
              </a:ext>
            </a:extLst>
          </p:cNvPr>
          <p:cNvSpPr>
            <a:spLocks noChangeAspect="1" noEditPoints="1"/>
          </p:cNvSpPr>
          <p:nvPr userDrawn="1"/>
        </p:nvSpPr>
        <p:spPr bwMode="auto">
          <a:xfrm>
            <a:off x="442913" y="1362959"/>
            <a:ext cx="871538" cy="679450"/>
          </a:xfrm>
          <a:custGeom>
            <a:avLst/>
            <a:gdLst>
              <a:gd name="T0" fmla="*/ 1757 w 1811"/>
              <a:gd name="T1" fmla="*/ 1424 h 1424"/>
              <a:gd name="T2" fmla="*/ 1757 w 1811"/>
              <a:gd name="T3" fmla="*/ 1424 h 1424"/>
              <a:gd name="T4" fmla="*/ 1099 w 1811"/>
              <a:gd name="T5" fmla="*/ 1424 h 1424"/>
              <a:gd name="T6" fmla="*/ 1099 w 1811"/>
              <a:gd name="T7" fmla="*/ 953 h 1424"/>
              <a:gd name="T8" fmla="*/ 1149 w 1811"/>
              <a:gd name="T9" fmla="*/ 501 h 1424"/>
              <a:gd name="T10" fmla="*/ 1337 w 1811"/>
              <a:gd name="T11" fmla="*/ 206 h 1424"/>
              <a:gd name="T12" fmla="*/ 1682 w 1811"/>
              <a:gd name="T13" fmla="*/ 0 h 1424"/>
              <a:gd name="T14" fmla="*/ 1811 w 1811"/>
              <a:gd name="T15" fmla="*/ 271 h 1424"/>
              <a:gd name="T16" fmla="*/ 1529 w 1811"/>
              <a:gd name="T17" fmla="*/ 454 h 1424"/>
              <a:gd name="T18" fmla="*/ 1439 w 1811"/>
              <a:gd name="T19" fmla="*/ 766 h 1424"/>
              <a:gd name="T20" fmla="*/ 1757 w 1811"/>
              <a:gd name="T21" fmla="*/ 766 h 1424"/>
              <a:gd name="T22" fmla="*/ 1757 w 1811"/>
              <a:gd name="T23" fmla="*/ 1424 h 1424"/>
              <a:gd name="T24" fmla="*/ 658 w 1811"/>
              <a:gd name="T25" fmla="*/ 1424 h 1424"/>
              <a:gd name="T26" fmla="*/ 658 w 1811"/>
              <a:gd name="T27" fmla="*/ 1424 h 1424"/>
              <a:gd name="T28" fmla="*/ 0 w 1811"/>
              <a:gd name="T29" fmla="*/ 1424 h 1424"/>
              <a:gd name="T30" fmla="*/ 0 w 1811"/>
              <a:gd name="T31" fmla="*/ 953 h 1424"/>
              <a:gd name="T32" fmla="*/ 50 w 1811"/>
              <a:gd name="T33" fmla="*/ 502 h 1424"/>
              <a:gd name="T34" fmla="*/ 236 w 1811"/>
              <a:gd name="T35" fmla="*/ 206 h 1424"/>
              <a:gd name="T36" fmla="*/ 583 w 1811"/>
              <a:gd name="T37" fmla="*/ 0 h 1424"/>
              <a:gd name="T38" fmla="*/ 712 w 1811"/>
              <a:gd name="T39" fmla="*/ 271 h 1424"/>
              <a:gd name="T40" fmla="*/ 430 w 1811"/>
              <a:gd name="T41" fmla="*/ 454 h 1424"/>
              <a:gd name="T42" fmla="*/ 339 w 1811"/>
              <a:gd name="T43" fmla="*/ 766 h 1424"/>
              <a:gd name="T44" fmla="*/ 658 w 1811"/>
              <a:gd name="T45" fmla="*/ 766 h 1424"/>
              <a:gd name="T46" fmla="*/ 658 w 1811"/>
              <a:gd name="T47" fmla="*/ 1424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11" h="1424">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fr-FR" dirty="0"/>
          </a:p>
        </p:txBody>
      </p:sp>
      <p:sp>
        <p:nvSpPr>
          <p:cNvPr id="2" name="Date Placeholder 1">
            <a:extLst>
              <a:ext uri="{FF2B5EF4-FFF2-40B4-BE49-F238E27FC236}">
                <a16:creationId xmlns:a16="http://schemas.microsoft.com/office/drawing/2014/main" id="{7E5DC986-4502-464F-A426-50A70EA2E41A}"/>
              </a:ext>
            </a:extLst>
          </p:cNvPr>
          <p:cNvSpPr>
            <a:spLocks noGrp="1"/>
          </p:cNvSpPr>
          <p:nvPr>
            <p:ph type="dt" sz="half" idx="10"/>
          </p:nvPr>
        </p:nvSpPr>
        <p:spPr/>
        <p:txBody>
          <a:bodyPr/>
          <a:lstStyle/>
          <a:p>
            <a:r>
              <a:rPr lang="fr-FR"/>
              <a:t>July 2020</a:t>
            </a:r>
            <a:endParaRPr lang="fr-FR" dirty="0"/>
          </a:p>
        </p:txBody>
      </p:sp>
      <p:sp>
        <p:nvSpPr>
          <p:cNvPr id="4" name="Footer Placeholder 3">
            <a:extLst>
              <a:ext uri="{FF2B5EF4-FFF2-40B4-BE49-F238E27FC236}">
                <a16:creationId xmlns:a16="http://schemas.microsoft.com/office/drawing/2014/main" id="{FE17195B-4456-9145-8D6E-97A5EBDF8090}"/>
              </a:ext>
            </a:extLst>
          </p:cNvPr>
          <p:cNvSpPr>
            <a:spLocks noGrp="1"/>
          </p:cNvSpPr>
          <p:nvPr>
            <p:ph type="ftr" sz="quarter" idx="11"/>
          </p:nvPr>
        </p:nvSpPr>
        <p:spPr/>
        <p:txBody>
          <a:bodyPr/>
          <a:lstStyle/>
          <a:p>
            <a:pPr algn="l"/>
            <a:r>
              <a:rPr lang="en-US"/>
              <a:t>GCCA GNR Concrete Pilot Project</a:t>
            </a:r>
            <a:endParaRPr lang="fr-FR" dirty="0"/>
          </a:p>
        </p:txBody>
      </p:sp>
      <p:sp>
        <p:nvSpPr>
          <p:cNvPr id="7" name="Slide Number Placeholder 6">
            <a:extLst>
              <a:ext uri="{FF2B5EF4-FFF2-40B4-BE49-F238E27FC236}">
                <a16:creationId xmlns:a16="http://schemas.microsoft.com/office/drawing/2014/main" id="{FC67263F-492F-7F4E-9E89-2A38E1B27F39}"/>
              </a:ext>
            </a:extLst>
          </p:cNvPr>
          <p:cNvSpPr>
            <a:spLocks noGrp="1"/>
          </p:cNvSpPr>
          <p:nvPr>
            <p:ph type="sldNum" sz="quarter" idx="12"/>
          </p:nvPr>
        </p:nvSpPr>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2396399799"/>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2 Orange">
    <p:bg>
      <p:bgPr>
        <a:solidFill>
          <a:srgbClr val="D04A02"/>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42914" y="2274570"/>
            <a:ext cx="9540366" cy="3897630"/>
          </a:xfrm>
        </p:spPr>
        <p:txBody>
          <a:bodyPr/>
          <a:lstStyle>
            <a:lvl1pPr>
              <a:lnSpc>
                <a:spcPct val="85000"/>
              </a:lnSpc>
              <a:spcBef>
                <a:spcPts val="0"/>
              </a:spcBef>
              <a:spcAft>
                <a:spcPts val="3000"/>
              </a:spcAft>
              <a:defRPr sz="3800" b="0">
                <a:solidFill>
                  <a:schemeClr val="tx1"/>
                </a:solidFill>
                <a:latin typeface="+mj-lt"/>
              </a:defRPr>
            </a:lvl1pPr>
            <a:lvl2pPr marL="0" indent="0">
              <a:spcBef>
                <a:spcPts val="0"/>
              </a:spcBef>
              <a:spcAft>
                <a:spcPts val="0"/>
              </a:spcAft>
              <a:buFont typeface="Arial" panose="020B0604020202020204" pitchFamily="34" charset="0"/>
              <a:buNone/>
              <a:defRPr sz="1600" b="1">
                <a:solidFill>
                  <a:schemeClr val="tx1"/>
                </a:solidFill>
              </a:defRPr>
            </a:lvl2pPr>
            <a:lvl3pPr marL="0" indent="0">
              <a:spcBef>
                <a:spcPts val="0"/>
              </a:spcBef>
              <a:spcAft>
                <a:spcPts val="0"/>
              </a:spcAft>
              <a:buFontTx/>
              <a:buNone/>
              <a:defRPr sz="1600">
                <a:solidFill>
                  <a:schemeClr val="tx1"/>
                </a:solidFill>
              </a:defRPr>
            </a:lvl3pPr>
            <a:lvl4pPr marL="0" indent="0">
              <a:spcBef>
                <a:spcPts val="0"/>
              </a:spcBef>
              <a:spcAft>
                <a:spcPts val="0"/>
              </a:spcAft>
              <a:buFontTx/>
              <a:buNone/>
              <a:defRPr sz="1600">
                <a:solidFill>
                  <a:schemeClr val="tx1"/>
                </a:solidFill>
              </a:defRPr>
            </a:lvl4pPr>
            <a:lvl5pPr marL="0" indent="0">
              <a:spcBef>
                <a:spcPts val="0"/>
              </a:spcBef>
              <a:spcAft>
                <a:spcPts val="0"/>
              </a:spcAft>
              <a:buFontTx/>
              <a:buNone/>
              <a:defRPr sz="1600">
                <a:solidFill>
                  <a:schemeClr val="tx1"/>
                </a:solidFill>
              </a:defRPr>
            </a:lvl5pPr>
            <a:lvl6pPr marL="0" indent="0">
              <a:spcBef>
                <a:spcPts val="0"/>
              </a:spcBef>
              <a:spcAft>
                <a:spcPts val="0"/>
              </a:spcAft>
              <a:buFontTx/>
              <a:buNone/>
              <a:defRPr sz="1600">
                <a:solidFill>
                  <a:schemeClr val="tx1"/>
                </a:solidFill>
              </a:defRPr>
            </a:lvl6pPr>
            <a:lvl7pPr marL="0" indent="0">
              <a:spcBef>
                <a:spcPts val="0"/>
              </a:spcBef>
              <a:spcAft>
                <a:spcPts val="0"/>
              </a:spcAft>
              <a:buFontTx/>
              <a:buNone/>
              <a:defRPr sz="1600">
                <a:solidFill>
                  <a:schemeClr val="tx1"/>
                </a:solidFill>
              </a:defRPr>
            </a:lvl7pPr>
            <a:lvl8pPr marL="0" indent="0">
              <a:spcBef>
                <a:spcPts val="0"/>
              </a:spcBef>
              <a:spcAft>
                <a:spcPts val="0"/>
              </a:spcAft>
              <a:buFontTx/>
              <a:buNone/>
              <a:defRPr sz="1600">
                <a:solidFill>
                  <a:schemeClr val="tx1"/>
                </a:solidFill>
              </a:defRPr>
            </a:lvl8pPr>
            <a:lvl9pPr marL="0" indent="0">
              <a:spcBef>
                <a:spcPts val="0"/>
              </a:spcBef>
              <a:spcAft>
                <a:spcPts val="0"/>
              </a:spcAft>
              <a:buFontTx/>
              <a:buNone/>
              <a:defRPr sz="1600">
                <a:solidFill>
                  <a:schemeClr val="tx1"/>
                </a:solidFill>
              </a:defRPr>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9" name="Freeform 5">
            <a:extLst>
              <a:ext uri="{FF2B5EF4-FFF2-40B4-BE49-F238E27FC236}">
                <a16:creationId xmlns:a16="http://schemas.microsoft.com/office/drawing/2014/main" id="{753C6A26-069C-C142-8C96-315DE67FAD09}"/>
              </a:ext>
            </a:extLst>
          </p:cNvPr>
          <p:cNvSpPr>
            <a:spLocks noChangeAspect="1" noEditPoints="1"/>
          </p:cNvSpPr>
          <p:nvPr userDrawn="1"/>
        </p:nvSpPr>
        <p:spPr bwMode="black">
          <a:xfrm>
            <a:off x="442913" y="1362959"/>
            <a:ext cx="871538" cy="679450"/>
          </a:xfrm>
          <a:custGeom>
            <a:avLst/>
            <a:gdLst>
              <a:gd name="T0" fmla="*/ 1757 w 1811"/>
              <a:gd name="T1" fmla="*/ 1424 h 1424"/>
              <a:gd name="T2" fmla="*/ 1757 w 1811"/>
              <a:gd name="T3" fmla="*/ 1424 h 1424"/>
              <a:gd name="T4" fmla="*/ 1099 w 1811"/>
              <a:gd name="T5" fmla="*/ 1424 h 1424"/>
              <a:gd name="T6" fmla="*/ 1099 w 1811"/>
              <a:gd name="T7" fmla="*/ 953 h 1424"/>
              <a:gd name="T8" fmla="*/ 1149 w 1811"/>
              <a:gd name="T9" fmla="*/ 501 h 1424"/>
              <a:gd name="T10" fmla="*/ 1337 w 1811"/>
              <a:gd name="T11" fmla="*/ 206 h 1424"/>
              <a:gd name="T12" fmla="*/ 1682 w 1811"/>
              <a:gd name="T13" fmla="*/ 0 h 1424"/>
              <a:gd name="T14" fmla="*/ 1811 w 1811"/>
              <a:gd name="T15" fmla="*/ 271 h 1424"/>
              <a:gd name="T16" fmla="*/ 1529 w 1811"/>
              <a:gd name="T17" fmla="*/ 454 h 1424"/>
              <a:gd name="T18" fmla="*/ 1439 w 1811"/>
              <a:gd name="T19" fmla="*/ 766 h 1424"/>
              <a:gd name="T20" fmla="*/ 1757 w 1811"/>
              <a:gd name="T21" fmla="*/ 766 h 1424"/>
              <a:gd name="T22" fmla="*/ 1757 w 1811"/>
              <a:gd name="T23" fmla="*/ 1424 h 1424"/>
              <a:gd name="T24" fmla="*/ 658 w 1811"/>
              <a:gd name="T25" fmla="*/ 1424 h 1424"/>
              <a:gd name="T26" fmla="*/ 658 w 1811"/>
              <a:gd name="T27" fmla="*/ 1424 h 1424"/>
              <a:gd name="T28" fmla="*/ 0 w 1811"/>
              <a:gd name="T29" fmla="*/ 1424 h 1424"/>
              <a:gd name="T30" fmla="*/ 0 w 1811"/>
              <a:gd name="T31" fmla="*/ 953 h 1424"/>
              <a:gd name="T32" fmla="*/ 50 w 1811"/>
              <a:gd name="T33" fmla="*/ 502 h 1424"/>
              <a:gd name="T34" fmla="*/ 236 w 1811"/>
              <a:gd name="T35" fmla="*/ 206 h 1424"/>
              <a:gd name="T36" fmla="*/ 583 w 1811"/>
              <a:gd name="T37" fmla="*/ 0 h 1424"/>
              <a:gd name="T38" fmla="*/ 712 w 1811"/>
              <a:gd name="T39" fmla="*/ 271 h 1424"/>
              <a:gd name="T40" fmla="*/ 430 w 1811"/>
              <a:gd name="T41" fmla="*/ 454 h 1424"/>
              <a:gd name="T42" fmla="*/ 339 w 1811"/>
              <a:gd name="T43" fmla="*/ 766 h 1424"/>
              <a:gd name="T44" fmla="*/ 658 w 1811"/>
              <a:gd name="T45" fmla="*/ 766 h 1424"/>
              <a:gd name="T46" fmla="*/ 658 w 1811"/>
              <a:gd name="T47" fmla="*/ 1424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11" h="1424">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fr-FR" dirty="0"/>
          </a:p>
        </p:txBody>
      </p:sp>
      <p:sp>
        <p:nvSpPr>
          <p:cNvPr id="10" name="Date Placeholder 9">
            <a:extLst>
              <a:ext uri="{FF2B5EF4-FFF2-40B4-BE49-F238E27FC236}">
                <a16:creationId xmlns:a16="http://schemas.microsoft.com/office/drawing/2014/main" id="{F95925A0-A65A-B94F-AD42-4A17D5E9B63B}"/>
              </a:ext>
            </a:extLst>
          </p:cNvPr>
          <p:cNvSpPr>
            <a:spLocks noGrp="1"/>
          </p:cNvSpPr>
          <p:nvPr>
            <p:ph type="dt" sz="half" idx="10"/>
          </p:nvPr>
        </p:nvSpPr>
        <p:spPr/>
        <p:txBody>
          <a:bodyPr/>
          <a:lstStyle/>
          <a:p>
            <a:r>
              <a:rPr lang="fr-FR"/>
              <a:t>July 2020</a:t>
            </a:r>
            <a:endParaRPr lang="fr-FR" dirty="0"/>
          </a:p>
        </p:txBody>
      </p:sp>
      <p:sp>
        <p:nvSpPr>
          <p:cNvPr id="11" name="Footer Placeholder 10">
            <a:extLst>
              <a:ext uri="{FF2B5EF4-FFF2-40B4-BE49-F238E27FC236}">
                <a16:creationId xmlns:a16="http://schemas.microsoft.com/office/drawing/2014/main" id="{01CB2D71-BA29-2E4C-A7F8-AB7C48FCE919}"/>
              </a:ext>
            </a:extLst>
          </p:cNvPr>
          <p:cNvSpPr>
            <a:spLocks noGrp="1"/>
          </p:cNvSpPr>
          <p:nvPr>
            <p:ph type="ftr" sz="quarter" idx="11"/>
          </p:nvPr>
        </p:nvSpPr>
        <p:spPr/>
        <p:txBody>
          <a:bodyPr/>
          <a:lstStyle/>
          <a:p>
            <a:pPr algn="l"/>
            <a:r>
              <a:rPr lang="en-US"/>
              <a:t>GCCA GNR Concrete Pilot Project</a:t>
            </a:r>
            <a:endParaRPr lang="fr-FR" dirty="0"/>
          </a:p>
        </p:txBody>
      </p:sp>
      <p:sp>
        <p:nvSpPr>
          <p:cNvPr id="12" name="Slide Number Placeholder 11">
            <a:extLst>
              <a:ext uri="{FF2B5EF4-FFF2-40B4-BE49-F238E27FC236}">
                <a16:creationId xmlns:a16="http://schemas.microsoft.com/office/drawing/2014/main" id="{1E0FBAD1-BD7F-C249-B609-9F42DAA28A2B}"/>
              </a:ext>
            </a:extLst>
          </p:cNvPr>
          <p:cNvSpPr>
            <a:spLocks noGrp="1"/>
          </p:cNvSpPr>
          <p:nvPr>
            <p:ph type="sldNum" sz="quarter" idx="12"/>
          </p:nvPr>
        </p:nvSpPr>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409310922"/>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2 Red">
    <p:bg>
      <p:bgPr>
        <a:solidFill>
          <a:srgbClr val="E0301E"/>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42914" y="2274570"/>
            <a:ext cx="9540366" cy="3897630"/>
          </a:xfrm>
        </p:spPr>
        <p:txBody>
          <a:bodyPr/>
          <a:lstStyle>
            <a:lvl1pPr>
              <a:lnSpc>
                <a:spcPct val="85000"/>
              </a:lnSpc>
              <a:spcBef>
                <a:spcPts val="0"/>
              </a:spcBef>
              <a:spcAft>
                <a:spcPts val="3000"/>
              </a:spcAft>
              <a:defRPr sz="3800" b="0">
                <a:solidFill>
                  <a:schemeClr val="tx1"/>
                </a:solidFill>
                <a:latin typeface="+mj-lt"/>
              </a:defRPr>
            </a:lvl1pPr>
            <a:lvl2pPr marL="0" indent="0">
              <a:spcBef>
                <a:spcPts val="0"/>
              </a:spcBef>
              <a:spcAft>
                <a:spcPts val="0"/>
              </a:spcAft>
              <a:buFont typeface="Arial" panose="020B0604020202020204" pitchFamily="34" charset="0"/>
              <a:buNone/>
              <a:defRPr sz="1600" b="1">
                <a:solidFill>
                  <a:schemeClr val="tx1"/>
                </a:solidFill>
              </a:defRPr>
            </a:lvl2pPr>
            <a:lvl3pPr marL="0" indent="0">
              <a:spcBef>
                <a:spcPts val="0"/>
              </a:spcBef>
              <a:spcAft>
                <a:spcPts val="0"/>
              </a:spcAft>
              <a:buFontTx/>
              <a:buNone/>
              <a:defRPr sz="1600">
                <a:solidFill>
                  <a:schemeClr val="tx1"/>
                </a:solidFill>
              </a:defRPr>
            </a:lvl3pPr>
            <a:lvl4pPr marL="0" indent="0">
              <a:spcBef>
                <a:spcPts val="0"/>
              </a:spcBef>
              <a:spcAft>
                <a:spcPts val="0"/>
              </a:spcAft>
              <a:buFontTx/>
              <a:buNone/>
              <a:defRPr sz="1600">
                <a:solidFill>
                  <a:schemeClr val="tx1"/>
                </a:solidFill>
              </a:defRPr>
            </a:lvl4pPr>
            <a:lvl5pPr marL="0" indent="0">
              <a:spcBef>
                <a:spcPts val="0"/>
              </a:spcBef>
              <a:spcAft>
                <a:spcPts val="0"/>
              </a:spcAft>
              <a:buFontTx/>
              <a:buNone/>
              <a:defRPr sz="1600">
                <a:solidFill>
                  <a:schemeClr val="tx1"/>
                </a:solidFill>
              </a:defRPr>
            </a:lvl5pPr>
            <a:lvl6pPr marL="0" indent="0">
              <a:spcBef>
                <a:spcPts val="0"/>
              </a:spcBef>
              <a:spcAft>
                <a:spcPts val="0"/>
              </a:spcAft>
              <a:buFontTx/>
              <a:buNone/>
              <a:defRPr sz="1600">
                <a:solidFill>
                  <a:schemeClr val="tx1"/>
                </a:solidFill>
              </a:defRPr>
            </a:lvl6pPr>
            <a:lvl7pPr marL="0" indent="0">
              <a:spcBef>
                <a:spcPts val="0"/>
              </a:spcBef>
              <a:spcAft>
                <a:spcPts val="0"/>
              </a:spcAft>
              <a:buFontTx/>
              <a:buNone/>
              <a:defRPr sz="1600">
                <a:solidFill>
                  <a:schemeClr val="tx1"/>
                </a:solidFill>
              </a:defRPr>
            </a:lvl7pPr>
            <a:lvl8pPr marL="0" indent="0">
              <a:spcBef>
                <a:spcPts val="0"/>
              </a:spcBef>
              <a:spcAft>
                <a:spcPts val="0"/>
              </a:spcAft>
              <a:buFontTx/>
              <a:buNone/>
              <a:defRPr sz="1600">
                <a:solidFill>
                  <a:schemeClr val="tx1"/>
                </a:solidFill>
              </a:defRPr>
            </a:lvl8pPr>
            <a:lvl9pPr marL="0" indent="0">
              <a:spcBef>
                <a:spcPts val="0"/>
              </a:spcBef>
              <a:spcAft>
                <a:spcPts val="0"/>
              </a:spcAft>
              <a:buFontTx/>
              <a:buNone/>
              <a:defRPr sz="1600">
                <a:solidFill>
                  <a:schemeClr val="tx1"/>
                </a:solidFill>
              </a:defRPr>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6" name="Freeform 5">
            <a:extLst>
              <a:ext uri="{FF2B5EF4-FFF2-40B4-BE49-F238E27FC236}">
                <a16:creationId xmlns:a16="http://schemas.microsoft.com/office/drawing/2014/main" id="{75C37678-6A0A-C84B-9A52-9B7F891FFFD3}"/>
              </a:ext>
            </a:extLst>
          </p:cNvPr>
          <p:cNvSpPr>
            <a:spLocks noChangeAspect="1" noEditPoints="1"/>
          </p:cNvSpPr>
          <p:nvPr userDrawn="1"/>
        </p:nvSpPr>
        <p:spPr bwMode="black">
          <a:xfrm>
            <a:off x="442913" y="1362959"/>
            <a:ext cx="871538" cy="679450"/>
          </a:xfrm>
          <a:custGeom>
            <a:avLst/>
            <a:gdLst>
              <a:gd name="T0" fmla="*/ 1757 w 1811"/>
              <a:gd name="T1" fmla="*/ 1424 h 1424"/>
              <a:gd name="T2" fmla="*/ 1757 w 1811"/>
              <a:gd name="T3" fmla="*/ 1424 h 1424"/>
              <a:gd name="T4" fmla="*/ 1099 w 1811"/>
              <a:gd name="T5" fmla="*/ 1424 h 1424"/>
              <a:gd name="T6" fmla="*/ 1099 w 1811"/>
              <a:gd name="T7" fmla="*/ 953 h 1424"/>
              <a:gd name="T8" fmla="*/ 1149 w 1811"/>
              <a:gd name="T9" fmla="*/ 501 h 1424"/>
              <a:gd name="T10" fmla="*/ 1337 w 1811"/>
              <a:gd name="T11" fmla="*/ 206 h 1424"/>
              <a:gd name="T12" fmla="*/ 1682 w 1811"/>
              <a:gd name="T13" fmla="*/ 0 h 1424"/>
              <a:gd name="T14" fmla="*/ 1811 w 1811"/>
              <a:gd name="T15" fmla="*/ 271 h 1424"/>
              <a:gd name="T16" fmla="*/ 1529 w 1811"/>
              <a:gd name="T17" fmla="*/ 454 h 1424"/>
              <a:gd name="T18" fmla="*/ 1439 w 1811"/>
              <a:gd name="T19" fmla="*/ 766 h 1424"/>
              <a:gd name="T20" fmla="*/ 1757 w 1811"/>
              <a:gd name="T21" fmla="*/ 766 h 1424"/>
              <a:gd name="T22" fmla="*/ 1757 w 1811"/>
              <a:gd name="T23" fmla="*/ 1424 h 1424"/>
              <a:gd name="T24" fmla="*/ 658 w 1811"/>
              <a:gd name="T25" fmla="*/ 1424 h 1424"/>
              <a:gd name="T26" fmla="*/ 658 w 1811"/>
              <a:gd name="T27" fmla="*/ 1424 h 1424"/>
              <a:gd name="T28" fmla="*/ 0 w 1811"/>
              <a:gd name="T29" fmla="*/ 1424 h 1424"/>
              <a:gd name="T30" fmla="*/ 0 w 1811"/>
              <a:gd name="T31" fmla="*/ 953 h 1424"/>
              <a:gd name="T32" fmla="*/ 50 w 1811"/>
              <a:gd name="T33" fmla="*/ 502 h 1424"/>
              <a:gd name="T34" fmla="*/ 236 w 1811"/>
              <a:gd name="T35" fmla="*/ 206 h 1424"/>
              <a:gd name="T36" fmla="*/ 583 w 1811"/>
              <a:gd name="T37" fmla="*/ 0 h 1424"/>
              <a:gd name="T38" fmla="*/ 712 w 1811"/>
              <a:gd name="T39" fmla="*/ 271 h 1424"/>
              <a:gd name="T40" fmla="*/ 430 w 1811"/>
              <a:gd name="T41" fmla="*/ 454 h 1424"/>
              <a:gd name="T42" fmla="*/ 339 w 1811"/>
              <a:gd name="T43" fmla="*/ 766 h 1424"/>
              <a:gd name="T44" fmla="*/ 658 w 1811"/>
              <a:gd name="T45" fmla="*/ 766 h 1424"/>
              <a:gd name="T46" fmla="*/ 658 w 1811"/>
              <a:gd name="T47" fmla="*/ 1424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11" h="1424">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fr-FR" dirty="0"/>
          </a:p>
        </p:txBody>
      </p:sp>
      <p:sp>
        <p:nvSpPr>
          <p:cNvPr id="2" name="Date Placeholder 1">
            <a:extLst>
              <a:ext uri="{FF2B5EF4-FFF2-40B4-BE49-F238E27FC236}">
                <a16:creationId xmlns:a16="http://schemas.microsoft.com/office/drawing/2014/main" id="{75944E79-860F-9542-986D-3F487E112641}"/>
              </a:ext>
            </a:extLst>
          </p:cNvPr>
          <p:cNvSpPr>
            <a:spLocks noGrp="1"/>
          </p:cNvSpPr>
          <p:nvPr>
            <p:ph type="dt" sz="half" idx="10"/>
          </p:nvPr>
        </p:nvSpPr>
        <p:spPr/>
        <p:txBody>
          <a:bodyPr/>
          <a:lstStyle/>
          <a:p>
            <a:r>
              <a:rPr lang="fr-FR"/>
              <a:t>July 2020</a:t>
            </a:r>
            <a:endParaRPr lang="fr-FR" dirty="0"/>
          </a:p>
        </p:txBody>
      </p:sp>
      <p:sp>
        <p:nvSpPr>
          <p:cNvPr id="4" name="Footer Placeholder 3">
            <a:extLst>
              <a:ext uri="{FF2B5EF4-FFF2-40B4-BE49-F238E27FC236}">
                <a16:creationId xmlns:a16="http://schemas.microsoft.com/office/drawing/2014/main" id="{6503EA61-A2A9-8D46-A8C8-F5D81CC931C5}"/>
              </a:ext>
            </a:extLst>
          </p:cNvPr>
          <p:cNvSpPr>
            <a:spLocks noGrp="1"/>
          </p:cNvSpPr>
          <p:nvPr>
            <p:ph type="ftr" sz="quarter" idx="11"/>
          </p:nvPr>
        </p:nvSpPr>
        <p:spPr/>
        <p:txBody>
          <a:bodyPr/>
          <a:lstStyle/>
          <a:p>
            <a:pPr algn="l"/>
            <a:r>
              <a:rPr lang="en-US"/>
              <a:t>GCCA GNR Concrete Pilot Project</a:t>
            </a:r>
            <a:endParaRPr lang="fr-FR" dirty="0"/>
          </a:p>
        </p:txBody>
      </p:sp>
      <p:sp>
        <p:nvSpPr>
          <p:cNvPr id="9" name="Slide Number Placeholder 8">
            <a:extLst>
              <a:ext uri="{FF2B5EF4-FFF2-40B4-BE49-F238E27FC236}">
                <a16:creationId xmlns:a16="http://schemas.microsoft.com/office/drawing/2014/main" id="{E4410A1E-B181-CB46-A25E-398B598C5B78}"/>
              </a:ext>
            </a:extLst>
          </p:cNvPr>
          <p:cNvSpPr>
            <a:spLocks noGrp="1"/>
          </p:cNvSpPr>
          <p:nvPr>
            <p:ph type="sldNum" sz="quarter" idx="12"/>
          </p:nvPr>
        </p:nvSpPr>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1643840644"/>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2 Rose">
    <p:bg>
      <p:bgPr>
        <a:solidFill>
          <a:srgbClr val="DB536A"/>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42914" y="2274570"/>
            <a:ext cx="9540366" cy="3897630"/>
          </a:xfrm>
        </p:spPr>
        <p:txBody>
          <a:bodyPr/>
          <a:lstStyle>
            <a:lvl1pPr>
              <a:lnSpc>
                <a:spcPct val="85000"/>
              </a:lnSpc>
              <a:spcBef>
                <a:spcPts val="0"/>
              </a:spcBef>
              <a:spcAft>
                <a:spcPts val="3000"/>
              </a:spcAft>
              <a:defRPr sz="3800" b="0">
                <a:solidFill>
                  <a:schemeClr val="tx1"/>
                </a:solidFill>
                <a:latin typeface="+mj-lt"/>
              </a:defRPr>
            </a:lvl1pPr>
            <a:lvl2pPr marL="0" indent="0">
              <a:spcBef>
                <a:spcPts val="0"/>
              </a:spcBef>
              <a:spcAft>
                <a:spcPts val="0"/>
              </a:spcAft>
              <a:buFont typeface="Arial" panose="020B0604020202020204" pitchFamily="34" charset="0"/>
              <a:buNone/>
              <a:defRPr sz="1600" b="1">
                <a:solidFill>
                  <a:schemeClr val="tx1"/>
                </a:solidFill>
              </a:defRPr>
            </a:lvl2pPr>
            <a:lvl3pPr marL="0" indent="0">
              <a:spcBef>
                <a:spcPts val="0"/>
              </a:spcBef>
              <a:spcAft>
                <a:spcPts val="0"/>
              </a:spcAft>
              <a:buFontTx/>
              <a:buNone/>
              <a:defRPr sz="1600">
                <a:solidFill>
                  <a:schemeClr val="tx1"/>
                </a:solidFill>
              </a:defRPr>
            </a:lvl3pPr>
            <a:lvl4pPr marL="0" indent="0">
              <a:spcBef>
                <a:spcPts val="0"/>
              </a:spcBef>
              <a:spcAft>
                <a:spcPts val="0"/>
              </a:spcAft>
              <a:buFontTx/>
              <a:buNone/>
              <a:defRPr sz="1600">
                <a:solidFill>
                  <a:schemeClr val="tx1"/>
                </a:solidFill>
              </a:defRPr>
            </a:lvl4pPr>
            <a:lvl5pPr marL="0" indent="0">
              <a:spcBef>
                <a:spcPts val="0"/>
              </a:spcBef>
              <a:spcAft>
                <a:spcPts val="0"/>
              </a:spcAft>
              <a:buFontTx/>
              <a:buNone/>
              <a:defRPr sz="1600">
                <a:solidFill>
                  <a:schemeClr val="tx1"/>
                </a:solidFill>
              </a:defRPr>
            </a:lvl5pPr>
            <a:lvl6pPr marL="0" indent="0">
              <a:spcBef>
                <a:spcPts val="0"/>
              </a:spcBef>
              <a:spcAft>
                <a:spcPts val="0"/>
              </a:spcAft>
              <a:buFontTx/>
              <a:buNone/>
              <a:defRPr sz="1600">
                <a:solidFill>
                  <a:schemeClr val="tx1"/>
                </a:solidFill>
              </a:defRPr>
            </a:lvl6pPr>
            <a:lvl7pPr marL="0" indent="0">
              <a:spcBef>
                <a:spcPts val="0"/>
              </a:spcBef>
              <a:spcAft>
                <a:spcPts val="0"/>
              </a:spcAft>
              <a:buFontTx/>
              <a:buNone/>
              <a:defRPr sz="1600">
                <a:solidFill>
                  <a:schemeClr val="tx1"/>
                </a:solidFill>
              </a:defRPr>
            </a:lvl7pPr>
            <a:lvl8pPr marL="0" indent="0">
              <a:spcBef>
                <a:spcPts val="0"/>
              </a:spcBef>
              <a:spcAft>
                <a:spcPts val="0"/>
              </a:spcAft>
              <a:buFontTx/>
              <a:buNone/>
              <a:defRPr sz="1600">
                <a:solidFill>
                  <a:schemeClr val="tx1"/>
                </a:solidFill>
              </a:defRPr>
            </a:lvl8pPr>
            <a:lvl9pPr marL="0" indent="0">
              <a:spcBef>
                <a:spcPts val="0"/>
              </a:spcBef>
              <a:spcAft>
                <a:spcPts val="0"/>
              </a:spcAft>
              <a:buFontTx/>
              <a:buNone/>
              <a:defRPr sz="1600">
                <a:solidFill>
                  <a:schemeClr val="tx1"/>
                </a:solidFill>
              </a:defRPr>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6" name="Freeform 5">
            <a:extLst>
              <a:ext uri="{FF2B5EF4-FFF2-40B4-BE49-F238E27FC236}">
                <a16:creationId xmlns:a16="http://schemas.microsoft.com/office/drawing/2014/main" id="{F3D58181-4255-CF4B-AEC5-6ADD879A60CA}"/>
              </a:ext>
            </a:extLst>
          </p:cNvPr>
          <p:cNvSpPr>
            <a:spLocks noChangeAspect="1" noEditPoints="1"/>
          </p:cNvSpPr>
          <p:nvPr userDrawn="1"/>
        </p:nvSpPr>
        <p:spPr bwMode="black">
          <a:xfrm>
            <a:off x="442913" y="1362959"/>
            <a:ext cx="871538" cy="679450"/>
          </a:xfrm>
          <a:custGeom>
            <a:avLst/>
            <a:gdLst>
              <a:gd name="T0" fmla="*/ 1757 w 1811"/>
              <a:gd name="T1" fmla="*/ 1424 h 1424"/>
              <a:gd name="T2" fmla="*/ 1757 w 1811"/>
              <a:gd name="T3" fmla="*/ 1424 h 1424"/>
              <a:gd name="T4" fmla="*/ 1099 w 1811"/>
              <a:gd name="T5" fmla="*/ 1424 h 1424"/>
              <a:gd name="T6" fmla="*/ 1099 w 1811"/>
              <a:gd name="T7" fmla="*/ 953 h 1424"/>
              <a:gd name="T8" fmla="*/ 1149 w 1811"/>
              <a:gd name="T9" fmla="*/ 501 h 1424"/>
              <a:gd name="T10" fmla="*/ 1337 w 1811"/>
              <a:gd name="T11" fmla="*/ 206 h 1424"/>
              <a:gd name="T12" fmla="*/ 1682 w 1811"/>
              <a:gd name="T13" fmla="*/ 0 h 1424"/>
              <a:gd name="T14" fmla="*/ 1811 w 1811"/>
              <a:gd name="T15" fmla="*/ 271 h 1424"/>
              <a:gd name="T16" fmla="*/ 1529 w 1811"/>
              <a:gd name="T17" fmla="*/ 454 h 1424"/>
              <a:gd name="T18" fmla="*/ 1439 w 1811"/>
              <a:gd name="T19" fmla="*/ 766 h 1424"/>
              <a:gd name="T20" fmla="*/ 1757 w 1811"/>
              <a:gd name="T21" fmla="*/ 766 h 1424"/>
              <a:gd name="T22" fmla="*/ 1757 w 1811"/>
              <a:gd name="T23" fmla="*/ 1424 h 1424"/>
              <a:gd name="T24" fmla="*/ 658 w 1811"/>
              <a:gd name="T25" fmla="*/ 1424 h 1424"/>
              <a:gd name="T26" fmla="*/ 658 w 1811"/>
              <a:gd name="T27" fmla="*/ 1424 h 1424"/>
              <a:gd name="T28" fmla="*/ 0 w 1811"/>
              <a:gd name="T29" fmla="*/ 1424 h 1424"/>
              <a:gd name="T30" fmla="*/ 0 w 1811"/>
              <a:gd name="T31" fmla="*/ 953 h 1424"/>
              <a:gd name="T32" fmla="*/ 50 w 1811"/>
              <a:gd name="T33" fmla="*/ 502 h 1424"/>
              <a:gd name="T34" fmla="*/ 236 w 1811"/>
              <a:gd name="T35" fmla="*/ 206 h 1424"/>
              <a:gd name="T36" fmla="*/ 583 w 1811"/>
              <a:gd name="T37" fmla="*/ 0 h 1424"/>
              <a:gd name="T38" fmla="*/ 712 w 1811"/>
              <a:gd name="T39" fmla="*/ 271 h 1424"/>
              <a:gd name="T40" fmla="*/ 430 w 1811"/>
              <a:gd name="T41" fmla="*/ 454 h 1424"/>
              <a:gd name="T42" fmla="*/ 339 w 1811"/>
              <a:gd name="T43" fmla="*/ 766 h 1424"/>
              <a:gd name="T44" fmla="*/ 658 w 1811"/>
              <a:gd name="T45" fmla="*/ 766 h 1424"/>
              <a:gd name="T46" fmla="*/ 658 w 1811"/>
              <a:gd name="T47" fmla="*/ 1424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11" h="1424">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fr-FR" dirty="0"/>
          </a:p>
        </p:txBody>
      </p:sp>
      <p:sp>
        <p:nvSpPr>
          <p:cNvPr id="2" name="Date Placeholder 1">
            <a:extLst>
              <a:ext uri="{FF2B5EF4-FFF2-40B4-BE49-F238E27FC236}">
                <a16:creationId xmlns:a16="http://schemas.microsoft.com/office/drawing/2014/main" id="{33DF2FE2-E936-7745-91D2-A6D8CA7F5D95}"/>
              </a:ext>
            </a:extLst>
          </p:cNvPr>
          <p:cNvSpPr>
            <a:spLocks noGrp="1"/>
          </p:cNvSpPr>
          <p:nvPr>
            <p:ph type="dt" sz="half" idx="10"/>
          </p:nvPr>
        </p:nvSpPr>
        <p:spPr/>
        <p:txBody>
          <a:bodyPr/>
          <a:lstStyle/>
          <a:p>
            <a:r>
              <a:rPr lang="fr-FR"/>
              <a:t>July 2020</a:t>
            </a:r>
            <a:endParaRPr lang="fr-FR" dirty="0"/>
          </a:p>
        </p:txBody>
      </p:sp>
      <p:sp>
        <p:nvSpPr>
          <p:cNvPr id="4" name="Footer Placeholder 3">
            <a:extLst>
              <a:ext uri="{FF2B5EF4-FFF2-40B4-BE49-F238E27FC236}">
                <a16:creationId xmlns:a16="http://schemas.microsoft.com/office/drawing/2014/main" id="{A54FEE05-057D-214D-903C-F8FD6A36D286}"/>
              </a:ext>
            </a:extLst>
          </p:cNvPr>
          <p:cNvSpPr>
            <a:spLocks noGrp="1"/>
          </p:cNvSpPr>
          <p:nvPr>
            <p:ph type="ftr" sz="quarter" idx="11"/>
          </p:nvPr>
        </p:nvSpPr>
        <p:spPr/>
        <p:txBody>
          <a:bodyPr/>
          <a:lstStyle/>
          <a:p>
            <a:pPr algn="l"/>
            <a:r>
              <a:rPr lang="en-US"/>
              <a:t>GCCA GNR Concrete Pilot Project</a:t>
            </a:r>
            <a:endParaRPr lang="fr-FR" dirty="0"/>
          </a:p>
        </p:txBody>
      </p:sp>
      <p:sp>
        <p:nvSpPr>
          <p:cNvPr id="9" name="Slide Number Placeholder 8">
            <a:extLst>
              <a:ext uri="{FF2B5EF4-FFF2-40B4-BE49-F238E27FC236}">
                <a16:creationId xmlns:a16="http://schemas.microsoft.com/office/drawing/2014/main" id="{4DD12AF3-FC08-E446-85E1-796189A84898}"/>
              </a:ext>
            </a:extLst>
          </p:cNvPr>
          <p:cNvSpPr>
            <a:spLocks noGrp="1"/>
          </p:cNvSpPr>
          <p:nvPr>
            <p:ph type="sldNum" sz="quarter" idx="12"/>
          </p:nvPr>
        </p:nvSpPr>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1241068"/>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2 Grey">
    <p:bg>
      <p:bgPr>
        <a:solidFill>
          <a:srgbClr val="464646"/>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42914" y="2274570"/>
            <a:ext cx="9540366" cy="3897630"/>
          </a:xfrm>
        </p:spPr>
        <p:txBody>
          <a:bodyPr/>
          <a:lstStyle>
            <a:lvl1pPr>
              <a:lnSpc>
                <a:spcPct val="85000"/>
              </a:lnSpc>
              <a:spcBef>
                <a:spcPts val="0"/>
              </a:spcBef>
              <a:spcAft>
                <a:spcPts val="3000"/>
              </a:spcAft>
              <a:defRPr sz="3800" b="0">
                <a:solidFill>
                  <a:schemeClr val="tx1"/>
                </a:solidFill>
                <a:latin typeface="+mj-lt"/>
              </a:defRPr>
            </a:lvl1pPr>
            <a:lvl2pPr marL="0" indent="0">
              <a:spcBef>
                <a:spcPts val="0"/>
              </a:spcBef>
              <a:spcAft>
                <a:spcPts val="0"/>
              </a:spcAft>
              <a:buFont typeface="Arial" panose="020B0604020202020204" pitchFamily="34" charset="0"/>
              <a:buNone/>
              <a:defRPr sz="1600" b="1">
                <a:solidFill>
                  <a:schemeClr val="tx1"/>
                </a:solidFill>
              </a:defRPr>
            </a:lvl2pPr>
            <a:lvl3pPr marL="0" indent="0">
              <a:spcBef>
                <a:spcPts val="0"/>
              </a:spcBef>
              <a:spcAft>
                <a:spcPts val="0"/>
              </a:spcAft>
              <a:buFontTx/>
              <a:buNone/>
              <a:defRPr sz="1600">
                <a:solidFill>
                  <a:schemeClr val="tx1"/>
                </a:solidFill>
              </a:defRPr>
            </a:lvl3pPr>
            <a:lvl4pPr marL="0" indent="0">
              <a:spcBef>
                <a:spcPts val="0"/>
              </a:spcBef>
              <a:spcAft>
                <a:spcPts val="0"/>
              </a:spcAft>
              <a:buFontTx/>
              <a:buNone/>
              <a:defRPr sz="1600">
                <a:solidFill>
                  <a:schemeClr val="tx1"/>
                </a:solidFill>
              </a:defRPr>
            </a:lvl4pPr>
            <a:lvl5pPr marL="0" indent="0">
              <a:spcBef>
                <a:spcPts val="0"/>
              </a:spcBef>
              <a:spcAft>
                <a:spcPts val="0"/>
              </a:spcAft>
              <a:buFontTx/>
              <a:buNone/>
              <a:defRPr sz="1600">
                <a:solidFill>
                  <a:schemeClr val="tx1"/>
                </a:solidFill>
              </a:defRPr>
            </a:lvl5pPr>
            <a:lvl6pPr marL="0" indent="0">
              <a:spcBef>
                <a:spcPts val="0"/>
              </a:spcBef>
              <a:spcAft>
                <a:spcPts val="0"/>
              </a:spcAft>
              <a:buFontTx/>
              <a:buNone/>
              <a:defRPr sz="1600">
                <a:solidFill>
                  <a:schemeClr val="tx1"/>
                </a:solidFill>
              </a:defRPr>
            </a:lvl6pPr>
            <a:lvl7pPr marL="0" indent="0">
              <a:spcBef>
                <a:spcPts val="0"/>
              </a:spcBef>
              <a:spcAft>
                <a:spcPts val="0"/>
              </a:spcAft>
              <a:buFontTx/>
              <a:buNone/>
              <a:defRPr sz="1600">
                <a:solidFill>
                  <a:schemeClr val="tx1"/>
                </a:solidFill>
              </a:defRPr>
            </a:lvl7pPr>
            <a:lvl8pPr marL="0" indent="0">
              <a:spcBef>
                <a:spcPts val="0"/>
              </a:spcBef>
              <a:spcAft>
                <a:spcPts val="0"/>
              </a:spcAft>
              <a:buFontTx/>
              <a:buNone/>
              <a:defRPr sz="1600">
                <a:solidFill>
                  <a:schemeClr val="tx1"/>
                </a:solidFill>
              </a:defRPr>
            </a:lvl8pPr>
            <a:lvl9pPr marL="0" indent="0">
              <a:spcBef>
                <a:spcPts val="0"/>
              </a:spcBef>
              <a:spcAft>
                <a:spcPts val="0"/>
              </a:spcAft>
              <a:buFontTx/>
              <a:buNone/>
              <a:defRPr sz="1600">
                <a:solidFill>
                  <a:schemeClr val="tx1"/>
                </a:solidFill>
              </a:defRPr>
            </a:lvl9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a:p>
            <a:pPr lvl="5"/>
            <a:r>
              <a:rPr lang="fr-FR"/>
              <a:t>Sixth level</a:t>
            </a:r>
          </a:p>
          <a:p>
            <a:pPr lvl="6"/>
            <a:r>
              <a:rPr lang="fr-FR"/>
              <a:t>Seventh level</a:t>
            </a:r>
          </a:p>
          <a:p>
            <a:pPr lvl="7"/>
            <a:r>
              <a:rPr lang="fr-FR"/>
              <a:t>Eighth level</a:t>
            </a:r>
          </a:p>
          <a:p>
            <a:pPr lvl="8"/>
            <a:r>
              <a:rPr lang="fr-FR"/>
              <a:t>Ninth level</a:t>
            </a:r>
            <a:endParaRPr lang="fr-FR" dirty="0"/>
          </a:p>
        </p:txBody>
      </p:sp>
      <p:sp>
        <p:nvSpPr>
          <p:cNvPr id="6" name="Freeform 5">
            <a:extLst>
              <a:ext uri="{FF2B5EF4-FFF2-40B4-BE49-F238E27FC236}">
                <a16:creationId xmlns:a16="http://schemas.microsoft.com/office/drawing/2014/main" id="{056180B7-FBDB-F345-B5D1-21FE86D79BA3}"/>
              </a:ext>
            </a:extLst>
          </p:cNvPr>
          <p:cNvSpPr>
            <a:spLocks noChangeAspect="1" noEditPoints="1"/>
          </p:cNvSpPr>
          <p:nvPr userDrawn="1"/>
        </p:nvSpPr>
        <p:spPr bwMode="black">
          <a:xfrm>
            <a:off x="442913" y="1362959"/>
            <a:ext cx="871538" cy="679450"/>
          </a:xfrm>
          <a:custGeom>
            <a:avLst/>
            <a:gdLst>
              <a:gd name="T0" fmla="*/ 1757 w 1811"/>
              <a:gd name="T1" fmla="*/ 1424 h 1424"/>
              <a:gd name="T2" fmla="*/ 1757 w 1811"/>
              <a:gd name="T3" fmla="*/ 1424 h 1424"/>
              <a:gd name="T4" fmla="*/ 1099 w 1811"/>
              <a:gd name="T5" fmla="*/ 1424 h 1424"/>
              <a:gd name="T6" fmla="*/ 1099 w 1811"/>
              <a:gd name="T7" fmla="*/ 953 h 1424"/>
              <a:gd name="T8" fmla="*/ 1149 w 1811"/>
              <a:gd name="T9" fmla="*/ 501 h 1424"/>
              <a:gd name="T10" fmla="*/ 1337 w 1811"/>
              <a:gd name="T11" fmla="*/ 206 h 1424"/>
              <a:gd name="T12" fmla="*/ 1682 w 1811"/>
              <a:gd name="T13" fmla="*/ 0 h 1424"/>
              <a:gd name="T14" fmla="*/ 1811 w 1811"/>
              <a:gd name="T15" fmla="*/ 271 h 1424"/>
              <a:gd name="T16" fmla="*/ 1529 w 1811"/>
              <a:gd name="T17" fmla="*/ 454 h 1424"/>
              <a:gd name="T18" fmla="*/ 1439 w 1811"/>
              <a:gd name="T19" fmla="*/ 766 h 1424"/>
              <a:gd name="T20" fmla="*/ 1757 w 1811"/>
              <a:gd name="T21" fmla="*/ 766 h 1424"/>
              <a:gd name="T22" fmla="*/ 1757 w 1811"/>
              <a:gd name="T23" fmla="*/ 1424 h 1424"/>
              <a:gd name="T24" fmla="*/ 658 w 1811"/>
              <a:gd name="T25" fmla="*/ 1424 h 1424"/>
              <a:gd name="T26" fmla="*/ 658 w 1811"/>
              <a:gd name="T27" fmla="*/ 1424 h 1424"/>
              <a:gd name="T28" fmla="*/ 0 w 1811"/>
              <a:gd name="T29" fmla="*/ 1424 h 1424"/>
              <a:gd name="T30" fmla="*/ 0 w 1811"/>
              <a:gd name="T31" fmla="*/ 953 h 1424"/>
              <a:gd name="T32" fmla="*/ 50 w 1811"/>
              <a:gd name="T33" fmla="*/ 502 h 1424"/>
              <a:gd name="T34" fmla="*/ 236 w 1811"/>
              <a:gd name="T35" fmla="*/ 206 h 1424"/>
              <a:gd name="T36" fmla="*/ 583 w 1811"/>
              <a:gd name="T37" fmla="*/ 0 h 1424"/>
              <a:gd name="T38" fmla="*/ 712 w 1811"/>
              <a:gd name="T39" fmla="*/ 271 h 1424"/>
              <a:gd name="T40" fmla="*/ 430 w 1811"/>
              <a:gd name="T41" fmla="*/ 454 h 1424"/>
              <a:gd name="T42" fmla="*/ 339 w 1811"/>
              <a:gd name="T43" fmla="*/ 766 h 1424"/>
              <a:gd name="T44" fmla="*/ 658 w 1811"/>
              <a:gd name="T45" fmla="*/ 766 h 1424"/>
              <a:gd name="T46" fmla="*/ 658 w 1811"/>
              <a:gd name="T47" fmla="*/ 1424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11" h="1424">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fr-FR" dirty="0"/>
          </a:p>
        </p:txBody>
      </p:sp>
      <p:sp>
        <p:nvSpPr>
          <p:cNvPr id="2" name="Date Placeholder 1">
            <a:extLst>
              <a:ext uri="{FF2B5EF4-FFF2-40B4-BE49-F238E27FC236}">
                <a16:creationId xmlns:a16="http://schemas.microsoft.com/office/drawing/2014/main" id="{9BB60EFE-B508-D848-9B02-A73119F1803A}"/>
              </a:ext>
            </a:extLst>
          </p:cNvPr>
          <p:cNvSpPr>
            <a:spLocks noGrp="1"/>
          </p:cNvSpPr>
          <p:nvPr>
            <p:ph type="dt" sz="half" idx="10"/>
          </p:nvPr>
        </p:nvSpPr>
        <p:spPr/>
        <p:txBody>
          <a:bodyPr/>
          <a:lstStyle/>
          <a:p>
            <a:r>
              <a:rPr lang="fr-FR"/>
              <a:t>July 2020</a:t>
            </a:r>
            <a:endParaRPr lang="fr-FR" dirty="0"/>
          </a:p>
        </p:txBody>
      </p:sp>
      <p:sp>
        <p:nvSpPr>
          <p:cNvPr id="4" name="Footer Placeholder 3">
            <a:extLst>
              <a:ext uri="{FF2B5EF4-FFF2-40B4-BE49-F238E27FC236}">
                <a16:creationId xmlns:a16="http://schemas.microsoft.com/office/drawing/2014/main" id="{DC3B4447-C39F-954F-B842-43560F6E9D0C}"/>
              </a:ext>
            </a:extLst>
          </p:cNvPr>
          <p:cNvSpPr>
            <a:spLocks noGrp="1"/>
          </p:cNvSpPr>
          <p:nvPr>
            <p:ph type="ftr" sz="quarter" idx="11"/>
          </p:nvPr>
        </p:nvSpPr>
        <p:spPr/>
        <p:txBody>
          <a:bodyPr/>
          <a:lstStyle/>
          <a:p>
            <a:pPr algn="l"/>
            <a:r>
              <a:rPr lang="en-US"/>
              <a:t>GCCA GNR Concrete Pilot Project</a:t>
            </a:r>
            <a:endParaRPr lang="fr-FR" dirty="0"/>
          </a:p>
        </p:txBody>
      </p:sp>
      <p:sp>
        <p:nvSpPr>
          <p:cNvPr id="9" name="Slide Number Placeholder 8">
            <a:extLst>
              <a:ext uri="{FF2B5EF4-FFF2-40B4-BE49-F238E27FC236}">
                <a16:creationId xmlns:a16="http://schemas.microsoft.com/office/drawing/2014/main" id="{F9D7BB50-999D-5745-BB53-011066651024}"/>
              </a:ext>
            </a:extLst>
          </p:cNvPr>
          <p:cNvSpPr>
            <a:spLocks noGrp="1"/>
          </p:cNvSpPr>
          <p:nvPr>
            <p:ph type="sldNum" sz="quarter" idx="12"/>
          </p:nvPr>
        </p:nvSpPr>
        <p:spPr/>
        <p:txBody>
          <a:body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205761412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ags" Target="../tags/tag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5C4367D6-8A33-4A33-942E-A26D1B893550}"/>
              </a:ext>
            </a:extLst>
          </p:cNvPr>
          <p:cNvGraphicFramePr>
            <a:graphicFrameLocks noChangeAspect="1"/>
          </p:cNvGraphicFramePr>
          <p:nvPr userDrawn="1">
            <p:custDataLst>
              <p:tags r:id="rId51"/>
            </p:custDataLst>
            <p:extLst>
              <p:ext uri="{D42A27DB-BD31-4B8C-83A1-F6EECF244321}">
                <p14:modId xmlns:p14="http://schemas.microsoft.com/office/powerpoint/2010/main" val="3534176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3" imgW="592" imgH="595" progId="TCLayout.ActiveDocument.1">
                  <p:embed/>
                </p:oleObj>
              </mc:Choice>
              <mc:Fallback>
                <p:oleObj name="Diapositive think-cell" r:id="rId53" imgW="592" imgH="595" progId="TCLayout.ActiveDocument.1">
                  <p:embed/>
                  <p:pic>
                    <p:nvPicPr>
                      <p:cNvPr id="9" name="Objet 8" hidden="1">
                        <a:extLst>
                          <a:ext uri="{FF2B5EF4-FFF2-40B4-BE49-F238E27FC236}">
                            <a16:creationId xmlns:a16="http://schemas.microsoft.com/office/drawing/2014/main" id="{5C4367D6-8A33-4A33-942E-A26D1B893550}"/>
                          </a:ext>
                        </a:extLst>
                      </p:cNvPr>
                      <p:cNvPicPr/>
                      <p:nvPr/>
                    </p:nvPicPr>
                    <p:blipFill>
                      <a:blip r:embed="rId54"/>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0CF156A4-DF36-49A3-8F76-1AE32DE20756}"/>
              </a:ext>
            </a:extLst>
          </p:cNvPr>
          <p:cNvSpPr/>
          <p:nvPr userDrawn="1">
            <p:custDataLst>
              <p:tags r:id="rId5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marL="0" lvl="0" indent="0" algn="ctr">
              <a:lnSpc>
                <a:spcPct val="100000"/>
              </a:lnSpc>
            </a:pPr>
            <a:endParaRPr lang="fr-FR" sz="3200" b="0" i="0" baseline="0" dirty="0">
              <a:latin typeface="Georgia" panose="02040502050405020303" pitchFamily="18" charset="0"/>
              <a:ea typeface="+mj-ea"/>
              <a:cs typeface="+mj-cs"/>
              <a:sym typeface="Georgia" panose="02040502050405020303" pitchFamily="18" charset="0"/>
            </a:endParaRPr>
          </a:p>
        </p:txBody>
      </p:sp>
      <p:sp>
        <p:nvSpPr>
          <p:cNvPr id="2" name="Title Placeholder 1"/>
          <p:cNvSpPr>
            <a:spLocks noGrp="1"/>
          </p:cNvSpPr>
          <p:nvPr>
            <p:ph type="title"/>
          </p:nvPr>
        </p:nvSpPr>
        <p:spPr>
          <a:xfrm>
            <a:off x="442913" y="432001"/>
            <a:ext cx="11306175" cy="1387274"/>
          </a:xfrm>
          <a:prstGeom prst="rect">
            <a:avLst/>
          </a:prstGeom>
        </p:spPr>
        <p:txBody>
          <a:bodyPr vert="horz" lIns="0" tIns="0" rIns="0" bIns="0" rtlCol="0" anchor="t" anchorCtr="0">
            <a:normAutofit/>
          </a:bodyPr>
          <a:lstStyle/>
          <a:p>
            <a:r>
              <a:rPr lang="fr-FR"/>
              <a:t>[Slide title]</a:t>
            </a:r>
            <a:endParaRPr lang="fr-FR" dirty="0"/>
          </a:p>
        </p:txBody>
      </p:sp>
      <p:sp>
        <p:nvSpPr>
          <p:cNvPr id="3" name="Text Placeholder 2"/>
          <p:cNvSpPr>
            <a:spLocks noGrp="1"/>
          </p:cNvSpPr>
          <p:nvPr>
            <p:ph type="body" idx="1"/>
          </p:nvPr>
        </p:nvSpPr>
        <p:spPr>
          <a:xfrm>
            <a:off x="442913" y="2103438"/>
            <a:ext cx="11306175" cy="4068762"/>
          </a:xfrm>
          <a:prstGeom prst="rect">
            <a:avLst/>
          </a:prstGeom>
        </p:spPr>
        <p:txBody>
          <a:bodyPr vert="horz" lIns="0" tIns="0" rIns="0" bIns="0" rtlCol="0">
            <a:no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a:t>Cinquième niveau</a:t>
            </a:r>
            <a:endParaRPr lang="fr-FR" dirty="0"/>
          </a:p>
        </p:txBody>
      </p:sp>
      <p:sp>
        <p:nvSpPr>
          <p:cNvPr id="5" name="Presentation Footer">
            <a:extLst>
              <a:ext uri="{FF2B5EF4-FFF2-40B4-BE49-F238E27FC236}">
                <a16:creationId xmlns:a16="http://schemas.microsoft.com/office/drawing/2014/main" id="{BE929DBE-EF12-9845-B0FD-DF795B823DF1}"/>
              </a:ext>
            </a:extLst>
          </p:cNvPr>
          <p:cNvSpPr>
            <a:spLocks noGrp="1"/>
          </p:cNvSpPr>
          <p:nvPr>
            <p:ph type="ftr" sz="quarter" idx="3"/>
          </p:nvPr>
        </p:nvSpPr>
        <p:spPr>
          <a:xfrm>
            <a:off x="442912" y="6355080"/>
            <a:ext cx="5473701" cy="137160"/>
          </a:xfrm>
          <a:prstGeom prst="rect">
            <a:avLst/>
          </a:prstGeom>
        </p:spPr>
        <p:txBody>
          <a:bodyPr vert="horz" lIns="0" tIns="0" rIns="0" bIns="0" rtlCol="0" anchor="b" anchorCtr="0"/>
          <a:lstStyle>
            <a:lvl1pPr algn="l">
              <a:defRPr sz="750">
                <a:solidFill>
                  <a:schemeClr val="tx1"/>
                </a:solidFill>
              </a:defRPr>
            </a:lvl1pPr>
          </a:lstStyle>
          <a:p>
            <a:pPr algn="l"/>
            <a:r>
              <a:rPr lang="en-US"/>
              <a:t>GCCA GNR Concrete Pilot Project</a:t>
            </a:r>
            <a:endParaRPr lang="fr-FR" dirty="0"/>
          </a:p>
        </p:txBody>
      </p:sp>
      <p:sp>
        <p:nvSpPr>
          <p:cNvPr id="4" name="Date">
            <a:extLst>
              <a:ext uri="{FF2B5EF4-FFF2-40B4-BE49-F238E27FC236}">
                <a16:creationId xmlns:a16="http://schemas.microsoft.com/office/drawing/2014/main" id="{CAC161DD-0A25-2B4E-956E-04296B5905CA}"/>
              </a:ext>
            </a:extLst>
          </p:cNvPr>
          <p:cNvSpPr>
            <a:spLocks noGrp="1"/>
          </p:cNvSpPr>
          <p:nvPr>
            <p:ph type="dt" sz="half" idx="2"/>
          </p:nvPr>
        </p:nvSpPr>
        <p:spPr>
          <a:xfrm>
            <a:off x="9984296" y="6355080"/>
            <a:ext cx="1764792" cy="137160"/>
          </a:xfrm>
          <a:prstGeom prst="rect">
            <a:avLst/>
          </a:prstGeom>
        </p:spPr>
        <p:txBody>
          <a:bodyPr vert="horz" lIns="0" tIns="0" rIns="0" bIns="0" rtlCol="0" anchor="b" anchorCtr="0"/>
          <a:lstStyle>
            <a:lvl1pPr algn="r">
              <a:defRPr sz="750">
                <a:solidFill>
                  <a:schemeClr val="tx1"/>
                </a:solidFill>
              </a:defRPr>
            </a:lvl1pPr>
          </a:lstStyle>
          <a:p>
            <a:r>
              <a:rPr lang="fr-FR"/>
              <a:t>July 2020</a:t>
            </a:r>
            <a:endParaRPr lang="fr-FR" dirty="0"/>
          </a:p>
        </p:txBody>
      </p:sp>
      <p:sp>
        <p:nvSpPr>
          <p:cNvPr id="8" name="PwCFirm"/>
          <p:cNvSpPr txBox="1"/>
          <p:nvPr/>
        </p:nvSpPr>
        <p:spPr>
          <a:xfrm>
            <a:off x="442913" y="6492240"/>
            <a:ext cx="5473700" cy="137160"/>
          </a:xfrm>
          <a:prstGeom prst="rect">
            <a:avLst/>
          </a:prstGeom>
          <a:noFill/>
        </p:spPr>
        <p:txBody>
          <a:bodyPr wrap="square" lIns="0" tIns="0" rIns="0" bIns="0" rtlCol="0" anchor="b" anchorCtr="0">
            <a:noAutofit/>
          </a:bodyPr>
          <a:lstStyle/>
          <a:p>
            <a:pPr algn="l"/>
            <a:r>
              <a:rPr lang="fr-FR" sz="750" b="0" dirty="0">
                <a:solidFill>
                  <a:schemeClr val="tx1"/>
                </a:solidFill>
              </a:rPr>
              <a:t>PwC </a:t>
            </a:r>
          </a:p>
        </p:txBody>
      </p:sp>
      <p:sp>
        <p:nvSpPr>
          <p:cNvPr id="6" name="Slide Number"/>
          <p:cNvSpPr>
            <a:spLocks noGrp="1"/>
          </p:cNvSpPr>
          <p:nvPr>
            <p:ph type="sldNum" sz="quarter" idx="4"/>
          </p:nvPr>
        </p:nvSpPr>
        <p:spPr>
          <a:xfrm>
            <a:off x="9984296" y="6492240"/>
            <a:ext cx="1764792" cy="137160"/>
          </a:xfrm>
          <a:prstGeom prst="rect">
            <a:avLst/>
          </a:prstGeom>
        </p:spPr>
        <p:txBody>
          <a:bodyPr vert="horz" lIns="0" tIns="0" rIns="0" bIns="0" rtlCol="0" anchor="b" anchorCtr="0">
            <a:noAutofit/>
          </a:bodyPr>
          <a:lstStyle>
            <a:lvl1pPr algn="r">
              <a:defRPr sz="750">
                <a:solidFill>
                  <a:schemeClr val="tx1"/>
                </a:solidFill>
              </a:defRPr>
            </a:lvl1pPr>
          </a:lstStyle>
          <a:p>
            <a:fld id="{7870704B-CE94-48CC-AF30-84932A1262A7}" type="slidenum">
              <a:rPr lang="fr-FR" smtClean="0"/>
              <a:pPr/>
              <a:t>‹Nº›</a:t>
            </a:fld>
            <a:endParaRPr lang="fr-FR" dirty="0"/>
          </a:p>
        </p:txBody>
      </p:sp>
    </p:spTree>
    <p:extLst>
      <p:ext uri="{BB962C8B-B14F-4D97-AF65-F5344CB8AC3E}">
        <p14:creationId xmlns:p14="http://schemas.microsoft.com/office/powerpoint/2010/main" val="3011101579"/>
      </p:ext>
    </p:extLst>
  </p:cSld>
  <p:clrMap bg1="lt1" tx1="dk1" bg2="lt2" tx2="dk2" accent1="accent1" accent2="accent2" accent3="accent3" accent4="accent4" accent5="accent5" accent6="accent6" hlink="hlink" folHlink="folHlink"/>
  <p:sldLayoutIdLst>
    <p:sldLayoutId id="2147483725" r:id="rId1"/>
    <p:sldLayoutId id="2147483740" r:id="rId2"/>
    <p:sldLayoutId id="2147483742" r:id="rId3"/>
    <p:sldLayoutId id="2147483754" r:id="rId4"/>
    <p:sldLayoutId id="2147483743" r:id="rId5"/>
    <p:sldLayoutId id="2147483755" r:id="rId6"/>
    <p:sldLayoutId id="2147483767" r:id="rId7"/>
    <p:sldLayoutId id="2147483744" r:id="rId8"/>
    <p:sldLayoutId id="2147483756" r:id="rId9"/>
    <p:sldLayoutId id="2147483745" r:id="rId10"/>
    <p:sldLayoutId id="2147483757" r:id="rId11"/>
    <p:sldLayoutId id="2147483746" r:id="rId12"/>
    <p:sldLayoutId id="2147483758" r:id="rId13"/>
    <p:sldLayoutId id="2147483747" r:id="rId14"/>
    <p:sldLayoutId id="2147483759" r:id="rId15"/>
    <p:sldLayoutId id="2147483748" r:id="rId16"/>
    <p:sldLayoutId id="2147483760" r:id="rId17"/>
    <p:sldLayoutId id="2147483749" r:id="rId18"/>
    <p:sldLayoutId id="2147483761" r:id="rId19"/>
    <p:sldLayoutId id="2147483750" r:id="rId20"/>
    <p:sldLayoutId id="2147483762" r:id="rId21"/>
    <p:sldLayoutId id="2147483751" r:id="rId22"/>
    <p:sldLayoutId id="2147483763" r:id="rId23"/>
    <p:sldLayoutId id="2147483752" r:id="rId24"/>
    <p:sldLayoutId id="2147483764" r:id="rId25"/>
    <p:sldLayoutId id="2147483768" r:id="rId26"/>
    <p:sldLayoutId id="2147483786" r:id="rId27"/>
    <p:sldLayoutId id="2147483787" r:id="rId28"/>
    <p:sldLayoutId id="2147483790" r:id="rId29"/>
    <p:sldLayoutId id="2147483765" r:id="rId30"/>
    <p:sldLayoutId id="2147483766" r:id="rId31"/>
    <p:sldLayoutId id="2147483769" r:id="rId32"/>
    <p:sldLayoutId id="2147483789" r:id="rId33"/>
    <p:sldLayoutId id="2147483791" r:id="rId34"/>
    <p:sldLayoutId id="2147483792" r:id="rId35"/>
    <p:sldLayoutId id="2147483793" r:id="rId36"/>
    <p:sldLayoutId id="2147483794" r:id="rId37"/>
    <p:sldLayoutId id="2147483795" r:id="rId38"/>
    <p:sldLayoutId id="2147483796" r:id="rId39"/>
    <p:sldLayoutId id="2147483797" r:id="rId40"/>
    <p:sldLayoutId id="2147483798" r:id="rId41"/>
    <p:sldLayoutId id="2147483799" r:id="rId42"/>
    <p:sldLayoutId id="2147483800" r:id="rId43"/>
    <p:sldLayoutId id="2147483801" r:id="rId44"/>
    <p:sldLayoutId id="2147483802" r:id="rId45"/>
    <p:sldLayoutId id="2147483803" r:id="rId46"/>
    <p:sldLayoutId id="2147483804" r:id="rId47"/>
    <p:sldLayoutId id="2147483805" r:id="rId48"/>
    <p:sldLayoutId id="2147483806" r:id="rId49"/>
  </p:sldLayoutIdLst>
  <p:hf hdr="0"/>
  <p:txStyles>
    <p:titleStyle>
      <a:lvl1pPr algn="l" defTabSz="914400" rtl="0" eaLnBrk="1" latinLnBrk="0" hangingPunct="1">
        <a:lnSpc>
          <a:spcPct val="85000"/>
        </a:lnSpc>
        <a:spcBef>
          <a:spcPct val="0"/>
        </a:spcBef>
        <a:buNone/>
        <a:defRPr sz="32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548640" indent="-180975"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5pPr>
      <a:lvl6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6pPr>
      <a:lvl7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7pPr>
      <a:lvl8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8pPr>
      <a:lvl9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600" kern="1200">
          <a:solidFill>
            <a:schemeClr val="tx1"/>
          </a:solidFill>
          <a:latin typeface="+mn-lt"/>
          <a:ea typeface="+mn-ea"/>
          <a:cs typeface="+mn-cs"/>
        </a:defRPr>
      </a:lvl1pPr>
      <a:lvl2pPr marL="457200" algn="l" defTabSz="914400" rtl="0" eaLnBrk="1" latinLnBrk="0" hangingPunct="1">
        <a:defRPr sz="1600" kern="1200">
          <a:solidFill>
            <a:schemeClr val="tx1"/>
          </a:solidFill>
          <a:latin typeface="+mn-lt"/>
          <a:ea typeface="+mn-ea"/>
          <a:cs typeface="+mn-cs"/>
        </a:defRPr>
      </a:lvl2pPr>
      <a:lvl3pPr marL="914400" algn="l" defTabSz="914400" rtl="0" eaLnBrk="1" latinLnBrk="0" hangingPunct="1">
        <a:defRPr sz="1600" kern="1200">
          <a:solidFill>
            <a:schemeClr val="tx1"/>
          </a:solidFill>
          <a:latin typeface="+mn-lt"/>
          <a:ea typeface="+mn-ea"/>
          <a:cs typeface="+mn-cs"/>
        </a:defRPr>
      </a:lvl3pPr>
      <a:lvl4pPr marL="1371600" algn="l" defTabSz="914400" rtl="0" eaLnBrk="1" latinLnBrk="0" hangingPunct="1">
        <a:defRPr sz="1600" kern="1200">
          <a:solidFill>
            <a:schemeClr val="tx1"/>
          </a:solidFill>
          <a:latin typeface="+mn-lt"/>
          <a:ea typeface="+mn-ea"/>
          <a:cs typeface="+mn-cs"/>
        </a:defRPr>
      </a:lvl4pPr>
      <a:lvl5pPr marL="1828800" algn="l" defTabSz="914400" rtl="0" eaLnBrk="1" latinLnBrk="0" hangingPunct="1">
        <a:defRPr sz="1600" kern="1200">
          <a:solidFill>
            <a:schemeClr val="tx1"/>
          </a:solidFill>
          <a:latin typeface="+mn-lt"/>
          <a:ea typeface="+mn-ea"/>
          <a:cs typeface="+mn-cs"/>
        </a:defRPr>
      </a:lvl5pPr>
      <a:lvl6pPr marL="2286000" algn="l" defTabSz="914400" rtl="0" eaLnBrk="1" latinLnBrk="0" hangingPunct="1">
        <a:defRPr sz="1600" kern="1200">
          <a:solidFill>
            <a:schemeClr val="tx1"/>
          </a:solidFill>
          <a:latin typeface="+mn-lt"/>
          <a:ea typeface="+mn-ea"/>
          <a:cs typeface="+mn-cs"/>
        </a:defRPr>
      </a:lvl6pPr>
      <a:lvl7pPr marL="2743200" algn="l" defTabSz="914400" rtl="0" eaLnBrk="1" latinLnBrk="0" hangingPunct="1">
        <a:defRPr sz="1600" kern="1200">
          <a:solidFill>
            <a:schemeClr val="tx1"/>
          </a:solidFill>
          <a:latin typeface="+mn-lt"/>
          <a:ea typeface="+mn-ea"/>
          <a:cs typeface="+mn-cs"/>
        </a:defRPr>
      </a:lvl7pPr>
      <a:lvl8pPr marL="3200400" algn="l" defTabSz="914400" rtl="0" eaLnBrk="1" latinLnBrk="0" hangingPunct="1">
        <a:defRPr sz="1600" kern="1200">
          <a:solidFill>
            <a:schemeClr val="tx1"/>
          </a:solidFill>
          <a:latin typeface="+mn-lt"/>
          <a:ea typeface="+mn-ea"/>
          <a:cs typeface="+mn-cs"/>
        </a:defRPr>
      </a:lvl8pPr>
      <a:lvl9pPr marL="3657600" algn="l" defTabSz="914400"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userDrawn="1">
          <p15:clr>
            <a:srgbClr val="F26B43"/>
          </p15:clr>
        </p15:guide>
        <p15:guide id="1" pos="279" userDrawn="1">
          <p15:clr>
            <a:srgbClr val="F26B43"/>
          </p15:clr>
        </p15:guide>
        <p15:guide id="2" pos="7401" userDrawn="1">
          <p15:clr>
            <a:srgbClr val="F26B43"/>
          </p15:clr>
        </p15:guide>
        <p15:guide id="3" pos="3953" userDrawn="1">
          <p15:clr>
            <a:srgbClr val="F26B43"/>
          </p15:clr>
        </p15:guide>
        <p15:guide id="4" pos="3727" userDrawn="1">
          <p15:clr>
            <a:srgbClr val="F26B43"/>
          </p15:clr>
        </p15:guide>
        <p15:guide id="5" orient="horz" pos="3888" userDrawn="1">
          <p15:clr>
            <a:srgbClr val="F26B43"/>
          </p15:clr>
        </p15:guide>
        <p15:guide id="6" pos="2726" userDrawn="1">
          <p15:clr>
            <a:srgbClr val="F26B43"/>
          </p15:clr>
        </p15:guide>
        <p15:guide id="7" pos="2502" userDrawn="1">
          <p15:clr>
            <a:srgbClr val="F26B43"/>
          </p15:clr>
        </p15:guide>
        <p15:guide id="8" pos="4952" userDrawn="1">
          <p15:clr>
            <a:srgbClr val="F26B43"/>
          </p15:clr>
        </p15:guide>
        <p15:guide id="9" pos="5177" userDrawn="1">
          <p15:clr>
            <a:srgbClr val="F26B43"/>
          </p15:clr>
        </p15:guide>
        <p15:guide id="10" orient="horz" pos="2160" userDrawn="1">
          <p15:clr>
            <a:srgbClr val="F26B43"/>
          </p15:clr>
        </p15:guide>
        <p15:guide id="11" orient="horz" pos="1325" userDrawn="1">
          <p15:clr>
            <a:srgbClr val="F26B43"/>
          </p15:clr>
        </p15:guide>
        <p15:guide id="12" orient="horz" pos="1146" userDrawn="1">
          <p15:clr>
            <a:srgbClr val="F26B43"/>
          </p15:clr>
        </p15:guide>
        <p15:guide id="13" orient="horz" pos="27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1.emf"/><Relationship Id="rId4" Type="http://schemas.openxmlformats.org/officeDocument/2006/relationships/oleObject" Target="../embeddings/oleObject3.bin"/></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emf"/><Relationship Id="rId5" Type="http://schemas.openxmlformats.org/officeDocument/2006/relationships/oleObject" Target="../embeddings/oleObject4.bin"/><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comments" Target="../comments/comment1.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chart" Target="../charts/chart1.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chart" Target="../charts/chart2.xml"/><Relationship Id="rId5" Type="http://schemas.openxmlformats.org/officeDocument/2006/relationships/image" Target="../media/image1.emf"/><Relationship Id="rId4"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chart" Target="../charts/chart3.xml"/><Relationship Id="rId5" Type="http://schemas.openxmlformats.org/officeDocument/2006/relationships/image" Target="../media/image1.emf"/><Relationship Id="rId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chart" Target="../charts/chart5.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chart" Target="../charts/chart4.xml"/><Relationship Id="rId5" Type="http://schemas.openxmlformats.org/officeDocument/2006/relationships/image" Target="../media/image1.emf"/><Relationship Id="rId4" Type="http://schemas.openxmlformats.org/officeDocument/2006/relationships/oleObject" Target="../embeddings/oleObject9.bin"/></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chart" Target="../charts/chart7.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chart" Target="../charts/chart6.xml"/><Relationship Id="rId5" Type="http://schemas.openxmlformats.org/officeDocument/2006/relationships/image" Target="../media/image1.emf"/><Relationship Id="rId4"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8" Type="http://schemas.openxmlformats.org/officeDocument/2006/relationships/chart" Target="../charts/chart9.xml"/><Relationship Id="rId3" Type="http://schemas.openxmlformats.org/officeDocument/2006/relationships/slideLayout" Target="../slideLayouts/slideLayout2.xml"/><Relationship Id="rId7" Type="http://schemas.openxmlformats.org/officeDocument/2006/relationships/chart" Target="../charts/chart8.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emf"/><Relationship Id="rId5" Type="http://schemas.openxmlformats.org/officeDocument/2006/relationships/oleObject" Target="../embeddings/oleObject11.bin"/><Relationship Id="rId4"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1.emf"/><Relationship Id="rId5" Type="http://schemas.openxmlformats.org/officeDocument/2006/relationships/oleObject" Target="../embeddings/oleObject12.bin"/><Relationship Id="rId4"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chart" Target="../charts/chart10.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emf"/><Relationship Id="rId5" Type="http://schemas.openxmlformats.org/officeDocument/2006/relationships/oleObject" Target="../embeddings/oleObject13.bin"/><Relationship Id="rId4"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chart" Target="../charts/chart11.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1.emf"/><Relationship Id="rId5" Type="http://schemas.openxmlformats.org/officeDocument/2006/relationships/oleObject" Target="../embeddings/oleObject14.bin"/><Relationship Id="rId4"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chart" Target="../charts/chart12.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emf"/><Relationship Id="rId5" Type="http://schemas.openxmlformats.org/officeDocument/2006/relationships/oleObject" Target="../embeddings/oleObject15.bin"/><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chart" Target="../charts/chart13.xml"/><Relationship Id="rId5" Type="http://schemas.openxmlformats.org/officeDocument/2006/relationships/image" Target="../media/image1.emf"/><Relationship Id="rId4" Type="http://schemas.openxmlformats.org/officeDocument/2006/relationships/oleObject" Target="../embeddings/oleObject16.bin"/></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chart" Target="../charts/chart14.xml"/><Relationship Id="rId5" Type="http://schemas.openxmlformats.org/officeDocument/2006/relationships/image" Target="../media/image1.emf"/><Relationship Id="rId4" Type="http://schemas.openxmlformats.org/officeDocument/2006/relationships/oleObject" Target="../embeddings/oleObject17.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chart" Target="../charts/chart15.xml"/><Relationship Id="rId5" Type="http://schemas.openxmlformats.org/officeDocument/2006/relationships/image" Target="../media/image1.emf"/><Relationship Id="rId4" Type="http://schemas.openxmlformats.org/officeDocument/2006/relationships/oleObject" Target="../embeddings/oleObject18.bin"/></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chart" Target="../charts/chart17.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chart" Target="../charts/chart16.xml"/><Relationship Id="rId5" Type="http://schemas.openxmlformats.org/officeDocument/2006/relationships/image" Target="../media/image1.emf"/><Relationship Id="rId4" Type="http://schemas.openxmlformats.org/officeDocument/2006/relationships/oleObject" Target="../embeddings/oleObject19.bin"/></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chart" Target="../charts/chart19.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chart" Target="../charts/chart18.xml"/><Relationship Id="rId5" Type="http://schemas.openxmlformats.org/officeDocument/2006/relationships/image" Target="../media/image1.emf"/><Relationship Id="rId4" Type="http://schemas.openxmlformats.org/officeDocument/2006/relationships/oleObject" Target="../embeddings/oleObject20.bin"/></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chart" Target="../charts/chart21.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chart" Target="../charts/chart20.xml"/><Relationship Id="rId5" Type="http://schemas.openxmlformats.org/officeDocument/2006/relationships/image" Target="../media/image1.emf"/><Relationship Id="rId4" Type="http://schemas.openxmlformats.org/officeDocument/2006/relationships/oleObject" Target="../embeddings/oleObject21.bin"/></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chart" Target="../charts/chart22.xml"/><Relationship Id="rId5" Type="http://schemas.openxmlformats.org/officeDocument/2006/relationships/image" Target="../media/image1.emf"/><Relationship Id="rId4" Type="http://schemas.openxmlformats.org/officeDocument/2006/relationships/oleObject" Target="../embeddings/oleObject22.bin"/></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chart" Target="../charts/chart23.xml"/><Relationship Id="rId5" Type="http://schemas.openxmlformats.org/officeDocument/2006/relationships/image" Target="../media/image1.emf"/><Relationship Id="rId4" Type="http://schemas.openxmlformats.org/officeDocument/2006/relationships/oleObject" Target="../embeddings/oleObject23.bin"/></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chart" Target="../charts/chart24.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1.emf"/><Relationship Id="rId5" Type="http://schemas.openxmlformats.org/officeDocument/2006/relationships/oleObject" Target="../embeddings/oleObject24.bin"/><Relationship Id="rId4"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emf"/><Relationship Id="rId5" Type="http://schemas.openxmlformats.org/officeDocument/2006/relationships/oleObject" Target="../embeddings/oleObject25.bin"/><Relationship Id="rId4"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chart" Target="../charts/chart26.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chart" Target="../charts/chart25.xml"/><Relationship Id="rId5" Type="http://schemas.openxmlformats.org/officeDocument/2006/relationships/image" Target="../media/image1.emf"/><Relationship Id="rId4" Type="http://schemas.openxmlformats.org/officeDocument/2006/relationships/oleObject" Target="../embeddings/oleObject26.bin"/></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chart" Target="../charts/chart28.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chart" Target="../charts/chart27.xml"/><Relationship Id="rId5" Type="http://schemas.openxmlformats.org/officeDocument/2006/relationships/image" Target="../media/image1.emf"/><Relationship Id="rId4" Type="http://schemas.openxmlformats.org/officeDocument/2006/relationships/oleObject" Target="../embeddings/oleObject27.bin"/></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chart" Target="../charts/chart30.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chart" Target="../charts/chart29.xml"/><Relationship Id="rId5" Type="http://schemas.openxmlformats.org/officeDocument/2006/relationships/image" Target="../media/image1.emf"/><Relationship Id="rId4" Type="http://schemas.openxmlformats.org/officeDocument/2006/relationships/oleObject" Target="../embeddings/oleObject28.bin"/></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1.emf"/><Relationship Id="rId5" Type="http://schemas.openxmlformats.org/officeDocument/2006/relationships/oleObject" Target="../embeddings/oleObject29.bin"/><Relationship Id="rId4"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chart" Target="../charts/chart31.xml"/><Relationship Id="rId5" Type="http://schemas.openxmlformats.org/officeDocument/2006/relationships/image" Target="../media/image1.emf"/><Relationship Id="rId4" Type="http://schemas.openxmlformats.org/officeDocument/2006/relationships/oleObject" Target="../embeddings/oleObject30.bin"/></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chart" Target="../charts/chart32.xml"/><Relationship Id="rId5" Type="http://schemas.openxmlformats.org/officeDocument/2006/relationships/image" Target="../media/image1.emf"/><Relationship Id="rId4" Type="http://schemas.openxmlformats.org/officeDocument/2006/relationships/oleObject" Target="../embeddings/oleObject31.bin"/></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chart" Target="../charts/chart33.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1.emf"/><Relationship Id="rId5" Type="http://schemas.openxmlformats.org/officeDocument/2006/relationships/oleObject" Target="../embeddings/oleObject32.bin"/><Relationship Id="rId4" Type="http://schemas.openxmlformats.org/officeDocument/2006/relationships/notesSlide" Target="../notesSlides/notesSlide13.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1.emf"/><Relationship Id="rId5" Type="http://schemas.openxmlformats.org/officeDocument/2006/relationships/oleObject" Target="../embeddings/oleObject33.bin"/><Relationship Id="rId4" Type="http://schemas.openxmlformats.org/officeDocument/2006/relationships/notesSlide" Target="../notesSlides/notesSlide14.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1.emf"/><Relationship Id="rId5" Type="http://schemas.openxmlformats.org/officeDocument/2006/relationships/oleObject" Target="../embeddings/oleObject34.bin"/><Relationship Id="rId4" Type="http://schemas.openxmlformats.org/officeDocument/2006/relationships/notesSlide" Target="../notesSlides/notesSlide15.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1.emf"/><Relationship Id="rId5" Type="http://schemas.openxmlformats.org/officeDocument/2006/relationships/oleObject" Target="../embeddings/oleObject35.bin"/><Relationship Id="rId4" Type="http://schemas.openxmlformats.org/officeDocument/2006/relationships/notesSlide" Target="../notesSlides/notesSlide16.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4.xml"/><Relationship Id="rId1" Type="http://schemas.openxmlformats.org/officeDocument/2006/relationships/tags" Target="../tags/tag71.xml"/><Relationship Id="rId5" Type="http://schemas.openxmlformats.org/officeDocument/2006/relationships/image" Target="../media/image1.emf"/><Relationship Id="rId4" Type="http://schemas.openxmlformats.org/officeDocument/2006/relationships/oleObject" Target="../embeddings/oleObject36.bin"/></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1.emf"/><Relationship Id="rId5" Type="http://schemas.openxmlformats.org/officeDocument/2006/relationships/oleObject" Target="../embeddings/oleObject37.bin"/><Relationship Id="rId4"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image" Target="../media/image1.emf"/><Relationship Id="rId5" Type="http://schemas.openxmlformats.org/officeDocument/2006/relationships/oleObject" Target="../embeddings/oleObject38.bin"/><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t 3" hidden="1">
            <a:extLst>
              <a:ext uri="{FF2B5EF4-FFF2-40B4-BE49-F238E27FC236}">
                <a16:creationId xmlns:a16="http://schemas.microsoft.com/office/drawing/2014/main" id="{E0F90796-6C12-4B52-9324-A3686B43724D}"/>
              </a:ext>
            </a:extLst>
          </p:cNvPr>
          <p:cNvGraphicFramePr>
            <a:graphicFrameLocks noChangeAspect="1"/>
          </p:cNvGraphicFramePr>
          <p:nvPr>
            <p:custDataLst>
              <p:tags r:id="rId1"/>
            </p:custDataLst>
            <p:extLst>
              <p:ext uri="{D42A27DB-BD31-4B8C-83A1-F6EECF244321}">
                <p14:modId xmlns:p14="http://schemas.microsoft.com/office/powerpoint/2010/main" val="1617540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4" name="Objet 3" hidden="1">
                        <a:extLst>
                          <a:ext uri="{FF2B5EF4-FFF2-40B4-BE49-F238E27FC236}">
                            <a16:creationId xmlns:a16="http://schemas.microsoft.com/office/drawing/2014/main" id="{E0F90796-6C12-4B52-9324-A3686B43724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C5E66C1-0820-43AF-A887-1FC14896B263}"/>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fr-FR" sz="6000" dirty="0">
              <a:latin typeface="Georgia" panose="02040502050405020303" pitchFamily="18" charset="0"/>
              <a:ea typeface="+mj-ea"/>
              <a:cs typeface="+mj-cs"/>
              <a:sym typeface="Georgia" panose="02040502050405020303" pitchFamily="18" charset="0"/>
            </a:endParaRPr>
          </a:p>
        </p:txBody>
      </p:sp>
      <p:sp>
        <p:nvSpPr>
          <p:cNvPr id="2" name="Title 1"/>
          <p:cNvSpPr>
            <a:spLocks noGrp="1"/>
          </p:cNvSpPr>
          <p:nvPr>
            <p:ph type="ctrTitle"/>
          </p:nvPr>
        </p:nvSpPr>
        <p:spPr>
          <a:xfrm>
            <a:off x="442912" y="885825"/>
            <a:ext cx="7418388" cy="2428874"/>
          </a:xfrm>
        </p:spPr>
        <p:txBody>
          <a:bodyPr>
            <a:normAutofit/>
          </a:bodyPr>
          <a:lstStyle/>
          <a:p>
            <a:r>
              <a:rPr lang="fr-FR" dirty="0"/>
              <a:t>GCCA GNR Concrete Pilot Project -</a:t>
            </a:r>
            <a:br>
              <a:rPr lang="fr-FR" dirty="0"/>
            </a:br>
            <a:r>
              <a:rPr lang="fr-FR" dirty="0"/>
              <a:t>Report on KPIs</a:t>
            </a:r>
          </a:p>
        </p:txBody>
      </p:sp>
      <p:sp>
        <p:nvSpPr>
          <p:cNvPr id="3" name="Subtitle 2"/>
          <p:cNvSpPr>
            <a:spLocks noGrp="1"/>
          </p:cNvSpPr>
          <p:nvPr>
            <p:ph type="subTitle" idx="1"/>
          </p:nvPr>
        </p:nvSpPr>
        <p:spPr/>
        <p:txBody>
          <a:bodyPr/>
          <a:lstStyle/>
          <a:p>
            <a:r>
              <a:rPr lang="fr-FR" dirty="0"/>
              <a:t>July 2020</a:t>
            </a:r>
          </a:p>
        </p:txBody>
      </p:sp>
    </p:spTree>
    <p:extLst>
      <p:ext uri="{BB962C8B-B14F-4D97-AF65-F5344CB8AC3E}">
        <p14:creationId xmlns:p14="http://schemas.microsoft.com/office/powerpoint/2010/main" val="3752802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1762324C-DAAA-46C0-AE42-3A98FB7601EC}"/>
              </a:ext>
            </a:extLst>
          </p:cNvPr>
          <p:cNvGraphicFramePr>
            <a:graphicFrameLocks noChangeAspect="1"/>
          </p:cNvGraphicFramePr>
          <p:nvPr>
            <p:custDataLst>
              <p:tags r:id="rId1"/>
            </p:custDataLst>
            <p:extLst>
              <p:ext uri="{D42A27DB-BD31-4B8C-83A1-F6EECF244321}">
                <p14:modId xmlns:p14="http://schemas.microsoft.com/office/powerpoint/2010/main" val="4831634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8" name="Objet 7" hidden="1">
                        <a:extLst>
                          <a:ext uri="{FF2B5EF4-FFF2-40B4-BE49-F238E27FC236}">
                            <a16:creationId xmlns:a16="http://schemas.microsoft.com/office/drawing/2014/main" id="{1762324C-DAAA-46C0-AE42-3A98FB7601E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Content Placeholder 8"/>
          <p:cNvSpPr>
            <a:spLocks noGrp="1"/>
          </p:cNvSpPr>
          <p:nvPr>
            <p:ph idx="1"/>
          </p:nvPr>
        </p:nvSpPr>
        <p:spPr>
          <a:xfrm>
            <a:off x="442912" y="1216152"/>
            <a:ext cx="11306175" cy="4928616"/>
          </a:xfrm>
        </p:spPr>
        <p:txBody>
          <a:bodyPr/>
          <a:lstStyle/>
          <a:p>
            <a:pPr marL="0" indent="0">
              <a:buNone/>
            </a:pPr>
            <a:r>
              <a:rPr lang="en-GB" dirty="0">
                <a:solidFill>
                  <a:schemeClr val="accent1"/>
                </a:solidFill>
              </a:rPr>
              <a:t>0.    </a:t>
            </a:r>
            <a:r>
              <a:rPr lang="en-GB" dirty="0"/>
              <a:t>Context 	03</a:t>
            </a:r>
          </a:p>
          <a:p>
            <a:r>
              <a:rPr lang="en-GB" dirty="0"/>
              <a:t>Process Energy	04</a:t>
            </a:r>
          </a:p>
          <a:p>
            <a:r>
              <a:rPr lang="en-GB" dirty="0"/>
              <a:t>Concrete Transport	11</a:t>
            </a:r>
          </a:p>
          <a:p>
            <a:r>
              <a:rPr lang="en-GB" dirty="0"/>
              <a:t>Circular Economy 	24</a:t>
            </a:r>
          </a:p>
          <a:p>
            <a:r>
              <a:rPr lang="en-GB" dirty="0"/>
              <a:t>Local Environment Factors	28</a:t>
            </a:r>
          </a:p>
          <a:p>
            <a:r>
              <a:rPr lang="en-GB" dirty="0"/>
              <a:t>Outcomes of the concrete pilot project	33</a:t>
            </a:r>
          </a:p>
          <a:p>
            <a:r>
              <a:rPr lang="en-GB" dirty="0"/>
              <a:t>Annexes	35</a:t>
            </a:r>
          </a:p>
          <a:p>
            <a:pPr marL="0" indent="0">
              <a:buNone/>
            </a:pPr>
            <a:endParaRPr lang="en-GB" dirty="0"/>
          </a:p>
          <a:p>
            <a:pPr marL="0" indent="0">
              <a:buNone/>
            </a:pPr>
            <a:r>
              <a:rPr lang="en-GB" dirty="0"/>
              <a:t>	</a:t>
            </a:r>
          </a:p>
        </p:txBody>
      </p:sp>
      <p:sp>
        <p:nvSpPr>
          <p:cNvPr id="3" name="Title 2"/>
          <p:cNvSpPr>
            <a:spLocks noGrp="1"/>
          </p:cNvSpPr>
          <p:nvPr>
            <p:ph type="title"/>
          </p:nvPr>
        </p:nvSpPr>
        <p:spPr>
          <a:xfrm>
            <a:off x="442913" y="432001"/>
            <a:ext cx="11306175" cy="509832"/>
          </a:xfrm>
        </p:spPr>
        <p:txBody>
          <a:bodyPr>
            <a:normAutofit fontScale="90000"/>
          </a:bodyPr>
          <a:lstStyle/>
          <a:p>
            <a:r>
              <a:rPr lang="en-GB" dirty="0"/>
              <a:t>Overview</a:t>
            </a:r>
            <a:br>
              <a:rPr lang="en-GB" dirty="0"/>
            </a:br>
            <a:endParaRPr lang="en-GB" dirty="0"/>
          </a:p>
        </p:txBody>
      </p:sp>
      <p:sp>
        <p:nvSpPr>
          <p:cNvPr id="2" name="Espace réservé du numéro de diapositive 1">
            <a:extLst>
              <a:ext uri="{FF2B5EF4-FFF2-40B4-BE49-F238E27FC236}">
                <a16:creationId xmlns:a16="http://schemas.microsoft.com/office/drawing/2014/main" id="{D865F3E0-D4E2-4417-ABC8-075452C4E36B}"/>
              </a:ext>
            </a:extLst>
          </p:cNvPr>
          <p:cNvSpPr>
            <a:spLocks noGrp="1"/>
          </p:cNvSpPr>
          <p:nvPr>
            <p:ph type="sldNum" sz="quarter" idx="11"/>
          </p:nvPr>
        </p:nvSpPr>
        <p:spPr/>
        <p:txBody>
          <a:bodyPr/>
          <a:lstStyle/>
          <a:p>
            <a:fld id="{7870704B-CE94-48CC-AF30-84932A1262A7}" type="slidenum">
              <a:rPr lang="fr-FR" smtClean="0"/>
              <a:pPr/>
              <a:t>2</a:t>
            </a:fld>
            <a:endParaRPr lang="fr-FR" dirty="0"/>
          </a:p>
        </p:txBody>
      </p:sp>
      <p:sp>
        <p:nvSpPr>
          <p:cNvPr id="4" name="Espace réservé de la date 3">
            <a:extLst>
              <a:ext uri="{FF2B5EF4-FFF2-40B4-BE49-F238E27FC236}">
                <a16:creationId xmlns:a16="http://schemas.microsoft.com/office/drawing/2014/main" id="{8A8B1F6C-4F07-42EC-A5A2-B3801719FA08}"/>
              </a:ext>
            </a:extLst>
          </p:cNvPr>
          <p:cNvSpPr>
            <a:spLocks noGrp="1"/>
          </p:cNvSpPr>
          <p:nvPr>
            <p:ph type="dt" sz="half" idx="12"/>
          </p:nvPr>
        </p:nvSpPr>
        <p:spPr/>
        <p:txBody>
          <a:bodyPr/>
          <a:lstStyle/>
          <a:p>
            <a:r>
              <a:rPr lang="fr-FR"/>
              <a:t>July 2020</a:t>
            </a:r>
            <a:endParaRPr lang="fr-FR" dirty="0"/>
          </a:p>
        </p:txBody>
      </p:sp>
      <p:sp>
        <p:nvSpPr>
          <p:cNvPr id="5" name="Espace réservé du pied de page 4">
            <a:extLst>
              <a:ext uri="{FF2B5EF4-FFF2-40B4-BE49-F238E27FC236}">
                <a16:creationId xmlns:a16="http://schemas.microsoft.com/office/drawing/2014/main" id="{1AE67B19-7C0B-47D4-9E85-CB42146FBB35}"/>
              </a:ext>
            </a:extLst>
          </p:cNvPr>
          <p:cNvSpPr>
            <a:spLocks noGrp="1"/>
          </p:cNvSpPr>
          <p:nvPr>
            <p:ph type="ftr" sz="quarter" idx="13"/>
          </p:nvPr>
        </p:nvSpPr>
        <p:spPr/>
        <p:txBody>
          <a:bodyPr/>
          <a:lstStyle/>
          <a:p>
            <a:pPr algn="l"/>
            <a:r>
              <a:rPr lang="en-US"/>
              <a:t>GCCA GNR Concrete Pilot Project</a:t>
            </a:r>
            <a:endParaRPr lang="fr-FR" dirty="0"/>
          </a:p>
        </p:txBody>
      </p:sp>
    </p:spTree>
    <p:extLst>
      <p:ext uri="{BB962C8B-B14F-4D97-AF65-F5344CB8AC3E}">
        <p14:creationId xmlns:p14="http://schemas.microsoft.com/office/powerpoint/2010/main" val="3211056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76EA7EBC-FB04-4EED-8F05-12A423E17D6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7" name="Objet 6" hidden="1">
                        <a:extLst>
                          <a:ext uri="{FF2B5EF4-FFF2-40B4-BE49-F238E27FC236}">
                            <a16:creationId xmlns:a16="http://schemas.microsoft.com/office/drawing/2014/main" id="{76EA7EBC-FB04-4EED-8F05-12A423E17D6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18E846D-64C3-4D8B-B683-4F3A7B4FB81A}"/>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72944033-0EA3-4972-9C74-C9E537B87E41}"/>
              </a:ext>
            </a:extLst>
          </p:cNvPr>
          <p:cNvSpPr>
            <a:spLocks noGrp="1"/>
          </p:cNvSpPr>
          <p:nvPr>
            <p:ph type="title"/>
          </p:nvPr>
        </p:nvSpPr>
        <p:spPr>
          <a:xfrm>
            <a:off x="442913" y="432000"/>
            <a:ext cx="11306175" cy="1387275"/>
          </a:xfrm>
        </p:spPr>
        <p:txBody>
          <a:bodyPr/>
          <a:lstStyle/>
          <a:p>
            <a:r>
              <a:rPr lang="en-GB" dirty="0"/>
              <a:t>Concrete pilot project was in the context of extending GNR</a:t>
            </a:r>
            <a:br>
              <a:rPr lang="en-GB" dirty="0"/>
            </a:br>
            <a:r>
              <a:rPr lang="en-GB" sz="2200" dirty="0"/>
              <a:t>Data collection generated results at global and regional levels</a:t>
            </a:r>
          </a:p>
        </p:txBody>
      </p:sp>
      <p:sp>
        <p:nvSpPr>
          <p:cNvPr id="3" name="Espace réservé du contenu 2">
            <a:extLst>
              <a:ext uri="{FF2B5EF4-FFF2-40B4-BE49-F238E27FC236}">
                <a16:creationId xmlns:a16="http://schemas.microsoft.com/office/drawing/2014/main" id="{ABCD2636-3D4F-4D8F-8A29-877A15E6436C}"/>
              </a:ext>
            </a:extLst>
          </p:cNvPr>
          <p:cNvSpPr>
            <a:spLocks noGrp="1"/>
          </p:cNvSpPr>
          <p:nvPr>
            <p:ph idx="1"/>
          </p:nvPr>
        </p:nvSpPr>
        <p:spPr>
          <a:xfrm>
            <a:off x="442910" y="1287307"/>
            <a:ext cx="11188258" cy="3456622"/>
          </a:xfrm>
        </p:spPr>
        <p:txBody>
          <a:bodyPr/>
          <a:lstStyle/>
          <a:p>
            <a:pPr marL="457200" indent="-457200">
              <a:spcBef>
                <a:spcPts val="300"/>
              </a:spcBef>
              <a:spcAft>
                <a:spcPts val="300"/>
              </a:spcAft>
              <a:buFont typeface="Arial" panose="020B0604020202020204" pitchFamily="34" charset="0"/>
              <a:buChar char="•"/>
            </a:pPr>
            <a:r>
              <a:rPr lang="en-US" sz="1600" dirty="0"/>
              <a:t>The objectives of 2020 pilot project are to test the </a:t>
            </a:r>
            <a:r>
              <a:rPr lang="en-US" sz="1600" b="1" dirty="0"/>
              <a:t>implementation of new GCCA Concrete Test Guidelines </a:t>
            </a:r>
            <a:r>
              <a:rPr lang="en-US" sz="1600" dirty="0"/>
              <a:t>and to assess the extension of </a:t>
            </a:r>
            <a:r>
              <a:rPr lang="en-US" sz="1600" b="1" dirty="0"/>
              <a:t>GNR platform to concrete production</a:t>
            </a:r>
            <a:r>
              <a:rPr lang="en-US" sz="1600" dirty="0"/>
              <a:t>.</a:t>
            </a:r>
          </a:p>
          <a:p>
            <a:pPr marL="457200" indent="-457200">
              <a:spcBef>
                <a:spcPts val="300"/>
              </a:spcBef>
              <a:spcAft>
                <a:spcPts val="300"/>
              </a:spcAft>
              <a:buFont typeface="Arial" panose="020B0604020202020204" pitchFamily="34" charset="0"/>
              <a:buChar char="•"/>
            </a:pPr>
            <a:r>
              <a:rPr lang="en-US" sz="1600" dirty="0"/>
              <a:t>PwC was in charge of organizing and collecting information on KPIs related to concrete production at site or country level for several territories selected by GCCA. Data collection took place from end of </a:t>
            </a:r>
            <a:r>
              <a:rPr lang="en-US" sz="1600" b="1" dirty="0"/>
              <a:t>March until end of May 2020</a:t>
            </a:r>
            <a:r>
              <a:rPr lang="en-US" sz="1600" dirty="0"/>
              <a:t>. </a:t>
            </a:r>
          </a:p>
          <a:p>
            <a:pPr marL="457200" indent="-457200">
              <a:spcBef>
                <a:spcPts val="300"/>
              </a:spcBef>
              <a:spcAft>
                <a:spcPts val="300"/>
              </a:spcAft>
              <a:buFont typeface="Arial" panose="020B0604020202020204" pitchFamily="34" charset="0"/>
              <a:buChar char="•"/>
            </a:pPr>
            <a:r>
              <a:rPr lang="en-US" sz="1600" b="1" dirty="0"/>
              <a:t>We would like to thank the following companies </a:t>
            </a:r>
            <a:r>
              <a:rPr lang="en-US" sz="1600" dirty="0"/>
              <a:t>who participated to the project: Buzzi </a:t>
            </a:r>
            <a:r>
              <a:rPr lang="en-US" sz="1600" dirty="0" err="1"/>
              <a:t>Unicem</a:t>
            </a:r>
            <a:r>
              <a:rPr lang="en-US" sz="1600" dirty="0"/>
              <a:t> </a:t>
            </a:r>
            <a:r>
              <a:rPr lang="en-US" sz="1600" dirty="0" err="1"/>
              <a:t>Sp.A</a:t>
            </a:r>
            <a:r>
              <a:rPr lang="en-US" sz="1600" dirty="0"/>
              <a:t> and </a:t>
            </a:r>
            <a:r>
              <a:rPr lang="en-US" sz="1600" dirty="0" err="1"/>
              <a:t>Dyckerhoff</a:t>
            </a:r>
            <a:r>
              <a:rPr lang="en-US" sz="1600" dirty="0"/>
              <a:t>, </a:t>
            </a:r>
            <a:r>
              <a:rPr lang="en-US" sz="1600" dirty="0" err="1"/>
              <a:t>Cementos</a:t>
            </a:r>
            <a:r>
              <a:rPr lang="en-US" sz="1600" dirty="0"/>
              <a:t> Argos, CRH plc, </a:t>
            </a:r>
            <a:r>
              <a:rPr lang="en-US" sz="1600" dirty="0" err="1"/>
              <a:t>HeidelbergCement</a:t>
            </a:r>
            <a:r>
              <a:rPr lang="en-US" sz="1600" dirty="0"/>
              <a:t>, Lafarge Holcim, SECIL, Siam City Cement and </a:t>
            </a:r>
            <a:r>
              <a:rPr lang="en-US" sz="1600" dirty="0" err="1"/>
              <a:t>Votorantim</a:t>
            </a:r>
            <a:r>
              <a:rPr lang="en-US" sz="1600" dirty="0"/>
              <a:t> </a:t>
            </a:r>
            <a:r>
              <a:rPr lang="en-US" sz="1600" dirty="0" err="1"/>
              <a:t>Cimentos</a:t>
            </a:r>
            <a:r>
              <a:rPr lang="en-US" sz="1600" dirty="0"/>
              <a:t>.</a:t>
            </a:r>
          </a:p>
          <a:p>
            <a:pPr marL="457200" indent="-457200">
              <a:spcBef>
                <a:spcPts val="300"/>
              </a:spcBef>
              <a:spcAft>
                <a:spcPts val="300"/>
              </a:spcAft>
              <a:buFont typeface="Arial" panose="020B0604020202020204" pitchFamily="34" charset="0"/>
              <a:buChar char="•"/>
            </a:pPr>
            <a:r>
              <a:rPr lang="en-US" sz="1600" dirty="0"/>
              <a:t>The total of concrete production collected corresponds to </a:t>
            </a:r>
            <a:r>
              <a:rPr lang="en-US" sz="1600" b="1" dirty="0"/>
              <a:t>75 million m</a:t>
            </a:r>
            <a:r>
              <a:rPr lang="en-US" sz="1600" b="1" baseline="30000" dirty="0"/>
              <a:t>3 </a:t>
            </a:r>
            <a:r>
              <a:rPr lang="en-US" sz="1600" dirty="0"/>
              <a:t>of concrete. All 9 companies provided quantitative and qualitative feedbacks, and in total between them 46 questionnaires were returned.</a:t>
            </a:r>
          </a:p>
          <a:p>
            <a:pPr marL="457200" indent="-457200">
              <a:spcBef>
                <a:spcPts val="300"/>
              </a:spcBef>
              <a:spcAft>
                <a:spcPts val="300"/>
              </a:spcAft>
              <a:buFont typeface="Arial" panose="020B0604020202020204" pitchFamily="34" charset="0"/>
              <a:buChar char="•"/>
            </a:pPr>
            <a:r>
              <a:rPr lang="en-US" sz="1600" dirty="0"/>
              <a:t>KPIs were collected in </a:t>
            </a:r>
            <a:r>
              <a:rPr lang="en-US" sz="1600" b="1" dirty="0"/>
              <a:t>29 countries</a:t>
            </a:r>
            <a:r>
              <a:rPr lang="en-US" sz="1600" dirty="0"/>
              <a:t>, which represented </a:t>
            </a:r>
            <a:r>
              <a:rPr lang="en-US" sz="1600" b="1" dirty="0"/>
              <a:t>6 regions:</a:t>
            </a:r>
            <a:r>
              <a:rPr lang="en-US" sz="1600" dirty="0"/>
              <a:t> Europe, North America (USA, Canada, Mexico), South and Central America (Brazil, </a:t>
            </a:r>
            <a:r>
              <a:rPr lang="es-ES" sz="1600" dirty="0"/>
              <a:t>Colombia, </a:t>
            </a:r>
            <a:r>
              <a:rPr lang="es-ES" sz="1600" dirty="0" err="1"/>
              <a:t>Panama</a:t>
            </a:r>
            <a:r>
              <a:rPr lang="es-ES" sz="1600" dirty="0"/>
              <a:t> and </a:t>
            </a:r>
            <a:r>
              <a:rPr lang="es-ES" sz="1600" dirty="0" err="1"/>
              <a:t>Dominican</a:t>
            </a:r>
            <a:r>
              <a:rPr lang="es-ES" sz="1600" dirty="0"/>
              <a:t> </a:t>
            </a:r>
            <a:r>
              <a:rPr lang="es-ES" sz="1600" dirty="0" err="1"/>
              <a:t>Republic</a:t>
            </a:r>
            <a:r>
              <a:rPr lang="en-US" sz="1600" dirty="0"/>
              <a:t>), Asia (Turkey, India, Thailand </a:t>
            </a:r>
            <a:r>
              <a:rPr lang="en-US" sz="1600" dirty="0">
                <a:sym typeface="Symbol" panose="05050102010706020507" pitchFamily="18" charset="2"/>
              </a:rPr>
              <a:t> </a:t>
            </a:r>
            <a:r>
              <a:rPr lang="en-US" sz="1600" dirty="0"/>
              <a:t>excluding China), Oceania (Australia) and Africa (Morocco).</a:t>
            </a:r>
            <a:endParaRPr lang="fr-FR" sz="1600" dirty="0"/>
          </a:p>
          <a:p>
            <a:pPr marL="457200" indent="-457200">
              <a:spcBef>
                <a:spcPts val="300"/>
              </a:spcBef>
              <a:spcAft>
                <a:spcPts val="300"/>
              </a:spcAft>
              <a:buFont typeface="Arial" panose="020B0604020202020204" pitchFamily="34" charset="0"/>
              <a:buChar char="•"/>
            </a:pPr>
            <a:r>
              <a:rPr lang="en-GB" sz="1600" dirty="0"/>
              <a:t>The number of companies and the concurring regions in which data were reported are listed below:</a:t>
            </a:r>
          </a:p>
        </p:txBody>
      </p:sp>
      <p:sp>
        <p:nvSpPr>
          <p:cNvPr id="5" name="Espace réservé de la date 4">
            <a:extLst>
              <a:ext uri="{FF2B5EF4-FFF2-40B4-BE49-F238E27FC236}">
                <a16:creationId xmlns:a16="http://schemas.microsoft.com/office/drawing/2014/main" id="{AA08D81D-2F40-44AF-8DA0-896B9FAFBDE1}"/>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E2DB7D2C-086B-4FC7-A1D6-274B25C7FC92}"/>
              </a:ext>
            </a:extLst>
          </p:cNvPr>
          <p:cNvSpPr>
            <a:spLocks noGrp="1"/>
          </p:cNvSpPr>
          <p:nvPr>
            <p:ph type="sldNum" sz="quarter" idx="11"/>
          </p:nvPr>
        </p:nvSpPr>
        <p:spPr/>
        <p:txBody>
          <a:bodyPr/>
          <a:lstStyle/>
          <a:p>
            <a:fld id="{7870704B-CE94-48CC-AF30-84932A1262A7}" type="slidenum">
              <a:rPr lang="fr-FR" smtClean="0"/>
              <a:pPr/>
              <a:t>3</a:t>
            </a:fld>
            <a:endParaRPr lang="fr-FR" dirty="0"/>
          </a:p>
        </p:txBody>
      </p:sp>
      <p:sp>
        <p:nvSpPr>
          <p:cNvPr id="8" name="Espace réservé du pied de page 7">
            <a:extLst>
              <a:ext uri="{FF2B5EF4-FFF2-40B4-BE49-F238E27FC236}">
                <a16:creationId xmlns:a16="http://schemas.microsoft.com/office/drawing/2014/main" id="{F57FAC41-0AC4-47D0-9DC0-AB68FA3913C4}"/>
              </a:ext>
            </a:extLst>
          </p:cNvPr>
          <p:cNvSpPr>
            <a:spLocks noGrp="1"/>
          </p:cNvSpPr>
          <p:nvPr>
            <p:ph type="ftr" sz="quarter" idx="13"/>
          </p:nvPr>
        </p:nvSpPr>
        <p:spPr/>
        <p:txBody>
          <a:bodyPr/>
          <a:lstStyle/>
          <a:p>
            <a:pPr algn="l"/>
            <a:r>
              <a:rPr lang="en-US"/>
              <a:t>GCCA GNR Concrete Pilot Project</a:t>
            </a:r>
            <a:endParaRPr lang="fr-FR" dirty="0"/>
          </a:p>
        </p:txBody>
      </p:sp>
      <p:graphicFrame>
        <p:nvGraphicFramePr>
          <p:cNvPr id="12" name="Tableau 11">
            <a:extLst>
              <a:ext uri="{FF2B5EF4-FFF2-40B4-BE49-F238E27FC236}">
                <a16:creationId xmlns:a16="http://schemas.microsoft.com/office/drawing/2014/main" id="{51FF762F-7EBA-4502-9FA2-C7160FB1CF73}"/>
              </a:ext>
            </a:extLst>
          </p:cNvPr>
          <p:cNvGraphicFramePr>
            <a:graphicFrameLocks noGrp="1"/>
          </p:cNvGraphicFramePr>
          <p:nvPr>
            <p:extLst>
              <p:ext uri="{D42A27DB-BD31-4B8C-83A1-F6EECF244321}">
                <p14:modId xmlns:p14="http://schemas.microsoft.com/office/powerpoint/2010/main" val="1093880860"/>
              </p:ext>
            </p:extLst>
          </p:nvPr>
        </p:nvGraphicFramePr>
        <p:xfrm>
          <a:off x="3832098" y="4498848"/>
          <a:ext cx="5567934" cy="1894880"/>
        </p:xfrm>
        <a:graphic>
          <a:graphicData uri="http://schemas.openxmlformats.org/drawingml/2006/table">
            <a:tbl>
              <a:tblPr>
                <a:tableStyleId>{5C22544A-7EE6-4342-B048-85BDC9FD1C3A}</a:tableStyleId>
              </a:tblPr>
              <a:tblGrid>
                <a:gridCol w="1674390">
                  <a:extLst>
                    <a:ext uri="{9D8B030D-6E8A-4147-A177-3AD203B41FA5}">
                      <a16:colId xmlns:a16="http://schemas.microsoft.com/office/drawing/2014/main" val="2877417554"/>
                    </a:ext>
                  </a:extLst>
                </a:gridCol>
                <a:gridCol w="1946772">
                  <a:extLst>
                    <a:ext uri="{9D8B030D-6E8A-4147-A177-3AD203B41FA5}">
                      <a16:colId xmlns:a16="http://schemas.microsoft.com/office/drawing/2014/main" val="4068943523"/>
                    </a:ext>
                  </a:extLst>
                </a:gridCol>
                <a:gridCol w="1946772">
                  <a:extLst>
                    <a:ext uri="{9D8B030D-6E8A-4147-A177-3AD203B41FA5}">
                      <a16:colId xmlns:a16="http://schemas.microsoft.com/office/drawing/2014/main" val="188429794"/>
                    </a:ext>
                  </a:extLst>
                </a:gridCol>
              </a:tblGrid>
              <a:tr h="384048">
                <a:tc>
                  <a:txBody>
                    <a:bodyPr/>
                    <a:lstStyle/>
                    <a:p>
                      <a:pPr algn="ctr" fontAlgn="ctr"/>
                      <a:r>
                        <a:rPr lang="en-GB" sz="1400" b="1" u="none" strike="noStrike" noProof="0" dirty="0">
                          <a:solidFill>
                            <a:schemeClr val="bg1"/>
                          </a:solidFill>
                          <a:effectLst/>
                        </a:rPr>
                        <a:t>Regions </a:t>
                      </a:r>
                      <a:endParaRPr lang="en-GB" sz="1400" b="1" i="0" u="none" strike="noStrike" noProof="0" dirty="0">
                        <a:solidFill>
                          <a:schemeClr val="bg1"/>
                        </a:solidFill>
                        <a:effectLst/>
                        <a:latin typeface="Calibri" panose="020F0502020204030204" pitchFamily="34" charset="0"/>
                      </a:endParaRPr>
                    </a:p>
                  </a:txBody>
                  <a:tcPr marL="9525" marR="9525" marT="9525" marB="0" anchor="ctr">
                    <a:solidFill>
                      <a:schemeClr val="accent1"/>
                    </a:solidFill>
                  </a:tcPr>
                </a:tc>
                <a:tc>
                  <a:txBody>
                    <a:bodyPr/>
                    <a:lstStyle/>
                    <a:p>
                      <a:pPr algn="ctr" fontAlgn="ctr"/>
                      <a:r>
                        <a:rPr lang="en-GB" sz="1400" b="1" u="none" strike="noStrike" noProof="0" dirty="0" err="1">
                          <a:solidFill>
                            <a:schemeClr val="bg1"/>
                          </a:solidFill>
                          <a:effectLst/>
                        </a:rPr>
                        <a:t>Nb</a:t>
                      </a:r>
                      <a:r>
                        <a:rPr lang="en-GB" sz="1400" b="1" u="none" strike="noStrike" noProof="0" dirty="0">
                          <a:solidFill>
                            <a:schemeClr val="bg1"/>
                          </a:solidFill>
                          <a:effectLst/>
                        </a:rPr>
                        <a:t> of questionnaires</a:t>
                      </a:r>
                      <a:endParaRPr lang="en-GB" sz="1400" b="1" i="0" u="none" strike="noStrike" noProof="0" dirty="0">
                        <a:solidFill>
                          <a:schemeClr val="bg1"/>
                        </a:solidFill>
                        <a:effectLst/>
                        <a:latin typeface="Calibri" panose="020F0502020204030204" pitchFamily="34" charset="0"/>
                      </a:endParaRPr>
                    </a:p>
                  </a:txBody>
                  <a:tcPr marL="9525" marR="9525" marT="9525"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400" b="1" u="none" strike="noStrike" noProof="0" dirty="0" err="1">
                          <a:solidFill>
                            <a:schemeClr val="bg1"/>
                          </a:solidFill>
                          <a:effectLst/>
                        </a:rPr>
                        <a:t>Nb</a:t>
                      </a:r>
                      <a:r>
                        <a:rPr lang="en-GB" sz="1400" b="1" u="none" strike="noStrike" noProof="0" dirty="0">
                          <a:solidFill>
                            <a:schemeClr val="bg1"/>
                          </a:solidFill>
                          <a:effectLst/>
                        </a:rPr>
                        <a:t> of reporting companies</a:t>
                      </a:r>
                      <a:endParaRPr lang="en-GB" sz="1400" b="1" i="0" u="none" strike="noStrike" noProof="0" dirty="0">
                        <a:solidFill>
                          <a:schemeClr val="bg1"/>
                        </a:solidFill>
                        <a:effectLst/>
                        <a:latin typeface="Calibri" panose="020F0502020204030204" pitchFamily="34" charset="0"/>
                      </a:endParaRPr>
                    </a:p>
                  </a:txBody>
                  <a:tcPr marL="9525" marR="9525" marT="9525" marB="0" anchor="ctr">
                    <a:solidFill>
                      <a:schemeClr val="accent1"/>
                    </a:solidFill>
                  </a:tcPr>
                </a:tc>
                <a:extLst>
                  <a:ext uri="{0D108BD9-81ED-4DB2-BD59-A6C34878D82A}">
                    <a16:rowId xmlns:a16="http://schemas.microsoft.com/office/drawing/2014/main" val="4271025299"/>
                  </a:ext>
                </a:extLst>
              </a:tr>
              <a:tr h="278962">
                <a:tc>
                  <a:txBody>
                    <a:bodyPr/>
                    <a:lstStyle/>
                    <a:p>
                      <a:pPr algn="ctr" fontAlgn="ctr"/>
                      <a:r>
                        <a:rPr lang="en-GB" sz="1400" b="1" u="none" strike="noStrike" dirty="0">
                          <a:effectLst/>
                        </a:rPr>
                        <a:t>Europe</a:t>
                      </a:r>
                      <a:endParaRPr lang="en-GB" sz="1400" b="1" i="0" u="none" strike="noStrike" dirty="0">
                        <a:solidFill>
                          <a:srgbClr val="FFFFFF"/>
                        </a:solidFill>
                        <a:effectLst/>
                        <a:latin typeface="Calibri" panose="020F0502020204030204" pitchFamily="34" charset="0"/>
                      </a:endParaRPr>
                    </a:p>
                  </a:txBody>
                  <a:tcPr marL="9525" marR="9525" marT="9525" marB="0" anchor="ctr">
                    <a:solidFill>
                      <a:schemeClr val="accent5">
                        <a:lumMod val="20000"/>
                        <a:lumOff val="80000"/>
                      </a:schemeClr>
                    </a:solidFill>
                  </a:tcPr>
                </a:tc>
                <a:tc>
                  <a:txBody>
                    <a:bodyPr/>
                    <a:lstStyle/>
                    <a:p>
                      <a:pPr marL="0" algn="ctr" defTabSz="914400" rtl="0" eaLnBrk="1" fontAlgn="b" latinLnBrk="0" hangingPunct="1"/>
                      <a:r>
                        <a:rPr lang="en-GB" sz="1400" u="none" strike="noStrike" kern="1200" dirty="0">
                          <a:solidFill>
                            <a:schemeClr val="dk1"/>
                          </a:solidFill>
                          <a:effectLst/>
                          <a:latin typeface="+mn-lt"/>
                          <a:ea typeface="+mn-ea"/>
                          <a:cs typeface="+mn-cs"/>
                        </a:rPr>
                        <a:t>27</a:t>
                      </a:r>
                    </a:p>
                  </a:txBody>
                  <a:tcPr marL="9525" marR="9525" marT="9525" marB="0" anchor="b">
                    <a:solidFill>
                      <a:schemeClr val="accent5">
                        <a:lumMod val="20000"/>
                        <a:lumOff val="80000"/>
                      </a:schemeClr>
                    </a:solidFill>
                  </a:tcPr>
                </a:tc>
                <a:tc>
                  <a:txBody>
                    <a:bodyPr/>
                    <a:lstStyle/>
                    <a:p>
                      <a:pPr marL="0" algn="ctr" defTabSz="914400" rtl="0" eaLnBrk="1" fontAlgn="ctr" latinLnBrk="0" hangingPunct="1"/>
                      <a:r>
                        <a:rPr lang="en-GB" sz="1400" u="none" strike="noStrike" kern="1200" dirty="0">
                          <a:solidFill>
                            <a:schemeClr val="dk1"/>
                          </a:solidFill>
                          <a:effectLst/>
                          <a:latin typeface="+mn-lt"/>
                          <a:ea typeface="+mn-ea"/>
                          <a:cs typeface="+mn-cs"/>
                        </a:rPr>
                        <a:t>6</a:t>
                      </a:r>
                    </a:p>
                  </a:txBody>
                  <a:tcPr marL="9525" marR="9525" marT="9525" marB="0" anchor="b">
                    <a:solidFill>
                      <a:schemeClr val="accent5">
                        <a:lumMod val="20000"/>
                        <a:lumOff val="80000"/>
                      </a:schemeClr>
                    </a:solidFill>
                  </a:tcPr>
                </a:tc>
                <a:extLst>
                  <a:ext uri="{0D108BD9-81ED-4DB2-BD59-A6C34878D82A}">
                    <a16:rowId xmlns:a16="http://schemas.microsoft.com/office/drawing/2014/main" val="3361234311"/>
                  </a:ext>
                </a:extLst>
              </a:tr>
              <a:tr h="278962">
                <a:tc>
                  <a:txBody>
                    <a:bodyPr/>
                    <a:lstStyle/>
                    <a:p>
                      <a:pPr algn="ctr" fontAlgn="ctr"/>
                      <a:r>
                        <a:rPr lang="en-GB" sz="1400" b="1" u="none" strike="noStrike" dirty="0">
                          <a:effectLst/>
                        </a:rPr>
                        <a:t>North America</a:t>
                      </a:r>
                    </a:p>
                  </a:txBody>
                  <a:tcPr marL="9525" marR="9525" marT="9525" marB="0" anchor="ctr">
                    <a:solidFill>
                      <a:srgbClr val="EED0CB"/>
                    </a:solidFill>
                  </a:tcPr>
                </a:tc>
                <a:tc>
                  <a:txBody>
                    <a:bodyPr/>
                    <a:lstStyle/>
                    <a:p>
                      <a:pPr marL="0" algn="ctr" defTabSz="914400" rtl="0" eaLnBrk="1" fontAlgn="b" latinLnBrk="0" hangingPunct="1"/>
                      <a:r>
                        <a:rPr lang="en-GB" sz="1400" u="none" strike="noStrike" kern="1200" dirty="0">
                          <a:solidFill>
                            <a:schemeClr val="dk1"/>
                          </a:solidFill>
                          <a:effectLst/>
                          <a:latin typeface="+mn-lt"/>
                          <a:ea typeface="+mn-ea"/>
                          <a:cs typeface="+mn-cs"/>
                        </a:rPr>
                        <a:t>9</a:t>
                      </a:r>
                    </a:p>
                  </a:txBody>
                  <a:tcPr marL="9525" marR="9525" marT="9525" marB="0" anchor="ctr">
                    <a:solidFill>
                      <a:srgbClr val="EED0CB"/>
                    </a:solidFill>
                  </a:tcPr>
                </a:tc>
                <a:tc>
                  <a:txBody>
                    <a:bodyPr/>
                    <a:lstStyle/>
                    <a:p>
                      <a:pPr algn="ctr" fontAlgn="ctr"/>
                      <a:r>
                        <a:rPr lang="en-GB" sz="1400" u="none" strike="noStrike" dirty="0">
                          <a:effectLst/>
                        </a:rPr>
                        <a:t>5</a:t>
                      </a:r>
                      <a:endParaRPr lang="en-GB" sz="1400" b="0" i="0" u="none" strike="noStrike" dirty="0">
                        <a:solidFill>
                          <a:srgbClr val="000000"/>
                        </a:solidFill>
                        <a:effectLst/>
                        <a:latin typeface="Calibri" panose="020F0502020204030204" pitchFamily="34" charset="0"/>
                      </a:endParaRPr>
                    </a:p>
                  </a:txBody>
                  <a:tcPr marL="9525" marR="9525" marT="9525" marB="0" anchor="ctr">
                    <a:solidFill>
                      <a:srgbClr val="EED0CB"/>
                    </a:solidFill>
                  </a:tcPr>
                </a:tc>
                <a:extLst>
                  <a:ext uri="{0D108BD9-81ED-4DB2-BD59-A6C34878D82A}">
                    <a16:rowId xmlns:a16="http://schemas.microsoft.com/office/drawing/2014/main" val="2917760101"/>
                  </a:ext>
                </a:extLst>
              </a:tr>
              <a:tr h="222548">
                <a:tc>
                  <a:txBody>
                    <a:bodyPr/>
                    <a:lstStyle/>
                    <a:p>
                      <a:pPr algn="ctr" fontAlgn="ctr"/>
                      <a:r>
                        <a:rPr lang="en-GB" sz="1400" b="1" u="none" strike="noStrike" dirty="0">
                          <a:effectLst/>
                        </a:rPr>
                        <a:t>South America</a:t>
                      </a:r>
                      <a:endParaRPr lang="en-GB" sz="1400" b="1" i="0" u="none" strike="noStrike" dirty="0">
                        <a:solidFill>
                          <a:srgbClr val="FFFFFF"/>
                        </a:solidFill>
                        <a:effectLst/>
                        <a:latin typeface="Calibri" panose="020F0502020204030204" pitchFamily="34" charset="0"/>
                      </a:endParaRPr>
                    </a:p>
                  </a:txBody>
                  <a:tcPr marL="9525" marR="9525" marT="9525" marB="0" anchor="ctr">
                    <a:solidFill>
                      <a:srgbClr val="F7E9E7"/>
                    </a:solidFill>
                  </a:tcPr>
                </a:tc>
                <a:tc>
                  <a:txBody>
                    <a:bodyPr/>
                    <a:lstStyle/>
                    <a:p>
                      <a:pPr marL="0" algn="ctr" defTabSz="914400" rtl="0" eaLnBrk="1" fontAlgn="b" latinLnBrk="0" hangingPunct="1"/>
                      <a:r>
                        <a:rPr lang="en-GB" sz="1400" u="none" strike="noStrike" kern="1200" dirty="0">
                          <a:solidFill>
                            <a:schemeClr val="dk1"/>
                          </a:solidFill>
                          <a:effectLst/>
                          <a:latin typeface="+mn-lt"/>
                          <a:ea typeface="+mn-ea"/>
                          <a:cs typeface="+mn-cs"/>
                        </a:rPr>
                        <a:t>5</a:t>
                      </a:r>
                    </a:p>
                  </a:txBody>
                  <a:tcPr marL="9525" marR="9525" marT="9525" marB="0" anchor="b">
                    <a:solidFill>
                      <a:srgbClr val="F7E9E7"/>
                    </a:solidFill>
                  </a:tcPr>
                </a:tc>
                <a:tc>
                  <a:txBody>
                    <a:bodyPr/>
                    <a:lstStyle/>
                    <a:p>
                      <a:pPr algn="ctr" fontAlgn="b"/>
                      <a:r>
                        <a:rPr lang="en-GB" sz="1400" u="none" strike="noStrike" dirty="0">
                          <a:effectLst/>
                        </a:rPr>
                        <a:t>2</a:t>
                      </a:r>
                      <a:endParaRPr lang="en-GB" sz="1400" b="0" i="0" u="none" strike="noStrike" dirty="0">
                        <a:solidFill>
                          <a:srgbClr val="000000"/>
                        </a:solidFill>
                        <a:effectLst/>
                        <a:latin typeface="Calibri" panose="020F0502020204030204" pitchFamily="34" charset="0"/>
                      </a:endParaRPr>
                    </a:p>
                  </a:txBody>
                  <a:tcPr marL="9525" marR="9525" marT="9525" marB="0" anchor="b">
                    <a:solidFill>
                      <a:srgbClr val="F7E9E7"/>
                    </a:solidFill>
                  </a:tcPr>
                </a:tc>
                <a:extLst>
                  <a:ext uri="{0D108BD9-81ED-4DB2-BD59-A6C34878D82A}">
                    <a16:rowId xmlns:a16="http://schemas.microsoft.com/office/drawing/2014/main" val="1884163184"/>
                  </a:ext>
                </a:extLst>
              </a:tr>
              <a:tr h="222548">
                <a:tc>
                  <a:txBody>
                    <a:bodyPr/>
                    <a:lstStyle/>
                    <a:p>
                      <a:pPr algn="ctr" fontAlgn="ctr"/>
                      <a:r>
                        <a:rPr lang="en-GB" sz="1400" b="1" u="none" strike="noStrike" dirty="0">
                          <a:effectLst/>
                        </a:rPr>
                        <a:t>Asia</a:t>
                      </a:r>
                      <a:endParaRPr lang="en-GB" sz="1400" b="1" i="0" u="none" strike="noStrike" dirty="0">
                        <a:solidFill>
                          <a:srgbClr val="FFFFFF"/>
                        </a:solidFill>
                        <a:effectLst/>
                        <a:latin typeface="Calibri" panose="020F0502020204030204" pitchFamily="34" charset="0"/>
                      </a:endParaRPr>
                    </a:p>
                  </a:txBody>
                  <a:tcPr marL="9525" marR="9525" marT="9525" marB="0" anchor="ctr">
                    <a:solidFill>
                      <a:srgbClr val="EED0CB"/>
                    </a:solidFill>
                  </a:tcPr>
                </a:tc>
                <a:tc>
                  <a:txBody>
                    <a:bodyPr/>
                    <a:lstStyle/>
                    <a:p>
                      <a:pPr algn="ctr" fontAlgn="b"/>
                      <a:r>
                        <a:rPr lang="en-GB" sz="1400" u="none" strike="noStrike" dirty="0">
                          <a:effectLst/>
                        </a:rPr>
                        <a:t>3</a:t>
                      </a:r>
                      <a:endParaRPr lang="en-GB" sz="1400" b="0" i="0" u="none" strike="noStrike" dirty="0">
                        <a:solidFill>
                          <a:srgbClr val="000000"/>
                        </a:solidFill>
                        <a:effectLst/>
                        <a:latin typeface="Calibri" panose="020F0502020204030204" pitchFamily="34" charset="0"/>
                      </a:endParaRPr>
                    </a:p>
                  </a:txBody>
                  <a:tcPr marL="9525" marR="9525" marT="9525" marB="0" anchor="b">
                    <a:solidFill>
                      <a:srgbClr val="EED0CB"/>
                    </a:solidFill>
                  </a:tcPr>
                </a:tc>
                <a:tc>
                  <a:txBody>
                    <a:bodyPr/>
                    <a:lstStyle/>
                    <a:p>
                      <a:pPr algn="ctr" fontAlgn="b"/>
                      <a:r>
                        <a:rPr lang="en-GB" sz="1400" u="none" strike="noStrike" dirty="0">
                          <a:effectLst/>
                        </a:rPr>
                        <a:t>3</a:t>
                      </a:r>
                      <a:endParaRPr lang="en-GB" sz="1400" b="0" i="0" u="none" strike="noStrike" dirty="0">
                        <a:solidFill>
                          <a:srgbClr val="000000"/>
                        </a:solidFill>
                        <a:effectLst/>
                        <a:latin typeface="Calibri" panose="020F0502020204030204" pitchFamily="34" charset="0"/>
                      </a:endParaRPr>
                    </a:p>
                  </a:txBody>
                  <a:tcPr marL="9525" marR="9525" marT="9525" marB="0" anchor="b">
                    <a:solidFill>
                      <a:srgbClr val="EED0CB"/>
                    </a:solidFill>
                  </a:tcPr>
                </a:tc>
                <a:extLst>
                  <a:ext uri="{0D108BD9-81ED-4DB2-BD59-A6C34878D82A}">
                    <a16:rowId xmlns:a16="http://schemas.microsoft.com/office/drawing/2014/main" val="2108070476"/>
                  </a:ext>
                </a:extLst>
              </a:tr>
              <a:tr h="222548">
                <a:tc>
                  <a:txBody>
                    <a:bodyPr/>
                    <a:lstStyle/>
                    <a:p>
                      <a:pPr algn="ctr" fontAlgn="ctr"/>
                      <a:r>
                        <a:rPr lang="en-GB" sz="1400" b="1" u="none" strike="noStrike" dirty="0">
                          <a:effectLst/>
                        </a:rPr>
                        <a:t>Oceania</a:t>
                      </a:r>
                      <a:endParaRPr lang="en-GB" sz="1400" b="1" i="0" u="none" strike="noStrike" dirty="0">
                        <a:solidFill>
                          <a:srgbClr val="FFFFFF"/>
                        </a:solidFill>
                        <a:effectLst/>
                        <a:latin typeface="Calibri" panose="020F0502020204030204" pitchFamily="34" charset="0"/>
                      </a:endParaRPr>
                    </a:p>
                  </a:txBody>
                  <a:tcPr marL="9525" marR="9525" marT="9525" marB="0" anchor="ctr">
                    <a:solidFill>
                      <a:srgbClr val="F7E9E7"/>
                    </a:solidFill>
                  </a:tcPr>
                </a:tc>
                <a:tc>
                  <a:txBody>
                    <a:bodyPr/>
                    <a:lstStyle/>
                    <a:p>
                      <a:pPr algn="ctr" fontAlgn="b"/>
                      <a:r>
                        <a:rPr lang="en-GB" sz="1400" u="none" strike="noStrike" dirty="0">
                          <a:effectLst/>
                        </a:rPr>
                        <a:t>1</a:t>
                      </a:r>
                      <a:endParaRPr lang="en-GB" sz="1400" b="0" i="0" u="none" strike="noStrike" dirty="0">
                        <a:solidFill>
                          <a:srgbClr val="000000"/>
                        </a:solidFill>
                        <a:effectLst/>
                        <a:latin typeface="Calibri" panose="020F0502020204030204" pitchFamily="34" charset="0"/>
                      </a:endParaRPr>
                    </a:p>
                  </a:txBody>
                  <a:tcPr marL="9525" marR="9525" marT="9525" marB="0" anchor="b">
                    <a:solidFill>
                      <a:srgbClr val="F7E9E7"/>
                    </a:solidFill>
                  </a:tcPr>
                </a:tc>
                <a:tc>
                  <a:txBody>
                    <a:bodyPr/>
                    <a:lstStyle/>
                    <a:p>
                      <a:pPr algn="ctr" fontAlgn="b"/>
                      <a:r>
                        <a:rPr lang="en-GB" sz="1400" u="none" strike="noStrike" dirty="0">
                          <a:effectLst/>
                        </a:rPr>
                        <a:t>1</a:t>
                      </a:r>
                      <a:endParaRPr lang="en-GB" sz="1400" b="0" i="0" u="none" strike="noStrike" dirty="0">
                        <a:solidFill>
                          <a:srgbClr val="000000"/>
                        </a:solidFill>
                        <a:effectLst/>
                        <a:latin typeface="Calibri" panose="020F0502020204030204" pitchFamily="34" charset="0"/>
                      </a:endParaRPr>
                    </a:p>
                  </a:txBody>
                  <a:tcPr marL="9525" marR="9525" marT="9525" marB="0" anchor="b">
                    <a:solidFill>
                      <a:srgbClr val="F7E9E7"/>
                    </a:solidFill>
                  </a:tcPr>
                </a:tc>
                <a:extLst>
                  <a:ext uri="{0D108BD9-81ED-4DB2-BD59-A6C34878D82A}">
                    <a16:rowId xmlns:a16="http://schemas.microsoft.com/office/drawing/2014/main" val="1212846364"/>
                  </a:ext>
                </a:extLst>
              </a:tr>
              <a:tr h="232056">
                <a:tc>
                  <a:txBody>
                    <a:bodyPr/>
                    <a:lstStyle/>
                    <a:p>
                      <a:pPr algn="ctr" fontAlgn="ctr"/>
                      <a:r>
                        <a:rPr lang="en-GB" sz="1400" b="1" u="none" strike="noStrike" dirty="0">
                          <a:effectLst/>
                        </a:rPr>
                        <a:t>Africa</a:t>
                      </a:r>
                      <a:endParaRPr lang="en-GB" sz="1400" b="1" i="0" u="none" strike="noStrike" dirty="0">
                        <a:solidFill>
                          <a:srgbClr val="FFFFFF"/>
                        </a:solidFill>
                        <a:effectLst/>
                        <a:latin typeface="Calibri" panose="020F0502020204030204" pitchFamily="34" charset="0"/>
                      </a:endParaRPr>
                    </a:p>
                  </a:txBody>
                  <a:tcPr marL="9525" marR="9525" marT="9525" marB="0" anchor="ctr">
                    <a:solidFill>
                      <a:srgbClr val="EED0CB"/>
                    </a:solidFill>
                  </a:tcPr>
                </a:tc>
                <a:tc>
                  <a:txBody>
                    <a:bodyPr/>
                    <a:lstStyle/>
                    <a:p>
                      <a:pPr algn="ctr" fontAlgn="b"/>
                      <a:r>
                        <a:rPr lang="en-GB" sz="1400" u="none" strike="noStrike" dirty="0">
                          <a:effectLst/>
                        </a:rPr>
                        <a:t>1</a:t>
                      </a:r>
                      <a:endParaRPr lang="en-GB" sz="1400" b="0" i="0" u="none" strike="noStrike" dirty="0">
                        <a:solidFill>
                          <a:srgbClr val="000000"/>
                        </a:solidFill>
                        <a:effectLst/>
                        <a:latin typeface="Calibri" panose="020F0502020204030204" pitchFamily="34" charset="0"/>
                      </a:endParaRPr>
                    </a:p>
                  </a:txBody>
                  <a:tcPr marL="9525" marR="9525" marT="9525" marB="0" anchor="b">
                    <a:solidFill>
                      <a:srgbClr val="EED0CB"/>
                    </a:solidFill>
                  </a:tcPr>
                </a:tc>
                <a:tc>
                  <a:txBody>
                    <a:bodyPr/>
                    <a:lstStyle/>
                    <a:p>
                      <a:pPr algn="ctr" fontAlgn="b"/>
                      <a:r>
                        <a:rPr lang="en-GB" sz="1400" u="none" strike="noStrike" dirty="0">
                          <a:effectLst/>
                        </a:rPr>
                        <a:t>1</a:t>
                      </a:r>
                      <a:endParaRPr lang="en-GB" sz="1400" b="0" i="0" u="none" strike="noStrike" dirty="0">
                        <a:solidFill>
                          <a:srgbClr val="000000"/>
                        </a:solidFill>
                        <a:effectLst/>
                        <a:latin typeface="Calibri" panose="020F0502020204030204" pitchFamily="34" charset="0"/>
                      </a:endParaRPr>
                    </a:p>
                  </a:txBody>
                  <a:tcPr marL="9525" marR="9525" marT="9525" marB="0" anchor="b">
                    <a:solidFill>
                      <a:srgbClr val="EED0CB"/>
                    </a:solidFill>
                  </a:tcPr>
                </a:tc>
                <a:extLst>
                  <a:ext uri="{0D108BD9-81ED-4DB2-BD59-A6C34878D82A}">
                    <a16:rowId xmlns:a16="http://schemas.microsoft.com/office/drawing/2014/main" val="3136147830"/>
                  </a:ext>
                </a:extLst>
              </a:tr>
            </a:tbl>
          </a:graphicData>
        </a:graphic>
      </p:graphicFrame>
    </p:spTree>
    <p:extLst>
      <p:ext uri="{BB962C8B-B14F-4D97-AF65-F5344CB8AC3E}">
        <p14:creationId xmlns:p14="http://schemas.microsoft.com/office/powerpoint/2010/main" val="1351739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 4" hidden="1">
            <a:extLst>
              <a:ext uri="{FF2B5EF4-FFF2-40B4-BE49-F238E27FC236}">
                <a16:creationId xmlns:a16="http://schemas.microsoft.com/office/drawing/2014/main" id="{866B48A2-FEEA-47C9-8BA2-60664094FFB3}"/>
              </a:ext>
            </a:extLst>
          </p:cNvPr>
          <p:cNvGraphicFramePr>
            <a:graphicFrameLocks noChangeAspect="1"/>
          </p:cNvGraphicFramePr>
          <p:nvPr>
            <p:custDataLst>
              <p:tags r:id="rId1"/>
            </p:custDataLst>
            <p:extLst>
              <p:ext uri="{D42A27DB-BD31-4B8C-83A1-F6EECF244321}">
                <p14:modId xmlns:p14="http://schemas.microsoft.com/office/powerpoint/2010/main" val="10377533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5" name="Objet 4" hidden="1">
                        <a:extLst>
                          <a:ext uri="{FF2B5EF4-FFF2-40B4-BE49-F238E27FC236}">
                            <a16:creationId xmlns:a16="http://schemas.microsoft.com/office/drawing/2014/main" id="{866B48A2-FEEA-47C9-8BA2-60664094FFB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73FC0D02-2E4D-4675-B8C4-2C58A36BAC05}"/>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4000" dirty="0">
              <a:latin typeface="Arial" panose="020B0604020202020204" pitchFamily="34" charset="0"/>
              <a:ea typeface="+mj-ea"/>
              <a:cs typeface="+mj-cs"/>
              <a:sym typeface="Arial" panose="020B0604020202020204" pitchFamily="34" charset="0"/>
            </a:endParaRPr>
          </a:p>
        </p:txBody>
      </p:sp>
      <p:sp>
        <p:nvSpPr>
          <p:cNvPr id="2" name="Title 1"/>
          <p:cNvSpPr>
            <a:spLocks noGrp="1"/>
          </p:cNvSpPr>
          <p:nvPr>
            <p:ph type="title"/>
          </p:nvPr>
        </p:nvSpPr>
        <p:spPr/>
        <p:txBody>
          <a:bodyPr/>
          <a:lstStyle/>
          <a:p>
            <a:r>
              <a:rPr lang="en-GB" dirty="0"/>
              <a:t>Process Energy</a:t>
            </a:r>
          </a:p>
        </p:txBody>
      </p:sp>
      <p:sp>
        <p:nvSpPr>
          <p:cNvPr id="3" name="Text Placeholder 2"/>
          <p:cNvSpPr>
            <a:spLocks noGrp="1"/>
          </p:cNvSpPr>
          <p:nvPr>
            <p:ph type="body" sz="quarter" idx="1"/>
          </p:nvPr>
        </p:nvSpPr>
        <p:spPr/>
        <p:txBody>
          <a:bodyPr/>
          <a:lstStyle/>
          <a:p>
            <a:r>
              <a:rPr lang="fr-FR"/>
              <a:t>1</a:t>
            </a:r>
            <a:endParaRPr lang="fr-FR" dirty="0"/>
          </a:p>
        </p:txBody>
      </p:sp>
    </p:spTree>
    <p:extLst>
      <p:ext uri="{BB962C8B-B14F-4D97-AF65-F5344CB8AC3E}">
        <p14:creationId xmlns:p14="http://schemas.microsoft.com/office/powerpoint/2010/main" val="1009586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E071841-5D46-4849-8187-BA2462824AF4}"/>
              </a:ext>
            </a:extLst>
          </p:cNvPr>
          <p:cNvGraphicFramePr>
            <a:graphicFrameLocks noChangeAspect="1"/>
          </p:cNvGraphicFramePr>
          <p:nvPr>
            <p:custDataLst>
              <p:tags r:id="rId1"/>
            </p:custDataLst>
            <p:extLst>
              <p:ext uri="{D42A27DB-BD31-4B8C-83A1-F6EECF244321}">
                <p14:modId xmlns:p14="http://schemas.microsoft.com/office/powerpoint/2010/main" val="39781578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9" name="Objet 8" hidden="1">
                        <a:extLst>
                          <a:ext uri="{FF2B5EF4-FFF2-40B4-BE49-F238E27FC236}">
                            <a16:creationId xmlns:a16="http://schemas.microsoft.com/office/drawing/2014/main" id="{BE071841-5D46-4849-8187-BA2462824AF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80C64678-09B9-482E-9E58-009328A6712E}"/>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64F58608-DBBD-4A00-A215-DA79680DA1E0}"/>
              </a:ext>
            </a:extLst>
          </p:cNvPr>
          <p:cNvSpPr>
            <a:spLocks noGrp="1"/>
          </p:cNvSpPr>
          <p:nvPr>
            <p:ph type="title"/>
          </p:nvPr>
        </p:nvSpPr>
        <p:spPr>
          <a:xfrm>
            <a:off x="442913" y="432000"/>
            <a:ext cx="12130087" cy="1387275"/>
          </a:xfrm>
        </p:spPr>
        <p:txBody>
          <a:bodyPr>
            <a:normAutofit/>
          </a:bodyPr>
          <a:lstStyle/>
          <a:p>
            <a:r>
              <a:rPr lang="en-GB" dirty="0"/>
              <a:t>Total energy for production is steady in reporting countries</a:t>
            </a:r>
            <a:br>
              <a:rPr lang="en-GB" dirty="0"/>
            </a:br>
            <a:r>
              <a:rPr lang="en-GB" sz="2200" dirty="0"/>
              <a:t>The Northern American region with the highest concrete production increases the average</a:t>
            </a:r>
          </a:p>
        </p:txBody>
      </p:sp>
      <p:sp>
        <p:nvSpPr>
          <p:cNvPr id="5" name="Espace réservé de la date 4">
            <a:extLst>
              <a:ext uri="{FF2B5EF4-FFF2-40B4-BE49-F238E27FC236}">
                <a16:creationId xmlns:a16="http://schemas.microsoft.com/office/drawing/2014/main" id="{B3107505-8DCF-4362-8649-38EB2BBD62FC}"/>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A69FF207-80E6-4074-B565-5ED47C8F93B2}"/>
              </a:ext>
            </a:extLst>
          </p:cNvPr>
          <p:cNvSpPr>
            <a:spLocks noGrp="1"/>
          </p:cNvSpPr>
          <p:nvPr>
            <p:ph type="sldNum" sz="quarter" idx="11"/>
          </p:nvPr>
        </p:nvSpPr>
        <p:spPr/>
        <p:txBody>
          <a:bodyPr/>
          <a:lstStyle/>
          <a:p>
            <a:fld id="{7870704B-CE94-48CC-AF30-84932A1262A7}" type="slidenum">
              <a:rPr lang="fr-FR" smtClean="0"/>
              <a:pPr/>
              <a:t>5</a:t>
            </a:fld>
            <a:endParaRPr lang="fr-FR" dirty="0"/>
          </a:p>
        </p:txBody>
      </p:sp>
      <p:graphicFrame>
        <p:nvGraphicFramePr>
          <p:cNvPr id="10" name="Tableau 9">
            <a:extLst>
              <a:ext uri="{FF2B5EF4-FFF2-40B4-BE49-F238E27FC236}">
                <a16:creationId xmlns:a16="http://schemas.microsoft.com/office/drawing/2014/main" id="{51EBDE05-B4C9-41F3-9200-44CE5BC78ED2}"/>
              </a:ext>
            </a:extLst>
          </p:cNvPr>
          <p:cNvGraphicFramePr>
            <a:graphicFrameLocks noGrp="1"/>
          </p:cNvGraphicFramePr>
          <p:nvPr>
            <p:extLst>
              <p:ext uri="{D42A27DB-BD31-4B8C-83A1-F6EECF244321}">
                <p14:modId xmlns:p14="http://schemas.microsoft.com/office/powerpoint/2010/main" val="3010382875"/>
              </p:ext>
            </p:extLst>
          </p:nvPr>
        </p:nvGraphicFramePr>
        <p:xfrm>
          <a:off x="6208745" y="1426463"/>
          <a:ext cx="4896000" cy="864000"/>
        </p:xfrm>
        <a:graphic>
          <a:graphicData uri="http://schemas.openxmlformats.org/drawingml/2006/table">
            <a:tbl>
              <a:tblPr firstRow="1" bandRow="1">
                <a:tableStyleId>{5C22544A-7EE6-4342-B048-85BDC9FD1C3A}</a:tableStyleId>
              </a:tblPr>
              <a:tblGrid>
                <a:gridCol w="979200">
                  <a:extLst>
                    <a:ext uri="{9D8B030D-6E8A-4147-A177-3AD203B41FA5}">
                      <a16:colId xmlns:a16="http://schemas.microsoft.com/office/drawing/2014/main" val="1504220348"/>
                    </a:ext>
                  </a:extLst>
                </a:gridCol>
                <a:gridCol w="979200">
                  <a:extLst>
                    <a:ext uri="{9D8B030D-6E8A-4147-A177-3AD203B41FA5}">
                      <a16:colId xmlns:a16="http://schemas.microsoft.com/office/drawing/2014/main" val="1413351609"/>
                    </a:ext>
                  </a:extLst>
                </a:gridCol>
                <a:gridCol w="979200">
                  <a:extLst>
                    <a:ext uri="{9D8B030D-6E8A-4147-A177-3AD203B41FA5}">
                      <a16:colId xmlns:a16="http://schemas.microsoft.com/office/drawing/2014/main" val="1239885802"/>
                    </a:ext>
                  </a:extLst>
                </a:gridCol>
                <a:gridCol w="979200">
                  <a:extLst>
                    <a:ext uri="{9D8B030D-6E8A-4147-A177-3AD203B41FA5}">
                      <a16:colId xmlns:a16="http://schemas.microsoft.com/office/drawing/2014/main" val="3091639623"/>
                    </a:ext>
                  </a:extLst>
                </a:gridCol>
                <a:gridCol w="979200">
                  <a:extLst>
                    <a:ext uri="{9D8B030D-6E8A-4147-A177-3AD203B41FA5}">
                      <a16:colId xmlns:a16="http://schemas.microsoft.com/office/drawing/2014/main" val="2904654360"/>
                    </a:ext>
                  </a:extLst>
                </a:gridCol>
              </a:tblGrid>
              <a:tr h="353298">
                <a:tc>
                  <a:txBody>
                    <a:bodyPr/>
                    <a:lstStyle/>
                    <a:p>
                      <a:pPr algn="ctr" fontAlgn="ctr"/>
                      <a:r>
                        <a:rPr lang="en-GB" sz="1000" b="1" u="none" strike="noStrike">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 </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55351">
                <a:tc>
                  <a:txBody>
                    <a:bodyPr/>
                    <a:lstStyle/>
                    <a:p>
                      <a:pPr algn="ctr" fontAlgn="ctr"/>
                      <a:r>
                        <a:rPr kumimoji="0" lang="en-GB" sz="1000" b="0" i="1" u="none" strike="noStrike" kern="1200" cap="none" spc="0" normalizeH="0" baseline="0" noProof="0">
                          <a:ln>
                            <a:noFill/>
                          </a:ln>
                          <a:solidFill>
                            <a:srgbClr val="000000"/>
                          </a:solidFill>
                          <a:effectLst/>
                          <a:uLnTx/>
                          <a:uFillTx/>
                          <a:latin typeface="Arial"/>
                          <a:ea typeface="+mn-ea"/>
                          <a:cs typeface="+mn-cs"/>
                        </a:rPr>
                        <a:t>kWh/m</a:t>
                      </a:r>
                      <a:r>
                        <a:rPr kumimoji="0" lang="en-GB" sz="1000" b="0" i="1" u="none" strike="noStrike" kern="1200" cap="none" spc="0" normalizeH="0" baseline="30000" noProof="0">
                          <a:ln>
                            <a:noFill/>
                          </a:ln>
                          <a:solidFill>
                            <a:srgbClr val="000000"/>
                          </a:solidFill>
                          <a:effectLst/>
                          <a:uLnTx/>
                          <a:uFillTx/>
                          <a:latin typeface="Arial"/>
                          <a:ea typeface="+mn-ea"/>
                          <a:cs typeface="+mn-cs"/>
                        </a:rPr>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a:ln>
                            <a:noFill/>
                          </a:ln>
                          <a:solidFill>
                            <a:srgbClr val="000000"/>
                          </a:solidFill>
                          <a:effectLst/>
                          <a:uLnTx/>
                          <a:uFillTx/>
                          <a:latin typeface="Arial"/>
                          <a:ea typeface="+mn-ea"/>
                          <a:cs typeface="+mn-cs"/>
                        </a:rPr>
                        <a:t>kWh/m</a:t>
                      </a:r>
                      <a:r>
                        <a:rPr kumimoji="0" lang="en-GB" sz="1000" b="0" i="1" u="none" strike="noStrike" kern="1200" cap="none" spc="0" normalizeH="0" baseline="30000" noProof="0">
                          <a:ln>
                            <a:noFill/>
                          </a:ln>
                          <a:solidFill>
                            <a:srgbClr val="000000"/>
                          </a:solidFill>
                          <a:effectLst/>
                          <a:uLnTx/>
                          <a:uFillTx/>
                          <a:latin typeface="Arial"/>
                          <a:ea typeface="+mn-ea"/>
                          <a:cs typeface="+mn-cs"/>
                        </a:rPr>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a:ea typeface="+mn-ea"/>
                          <a:cs typeface="+mn-cs"/>
                        </a:rPr>
                        <a:t>kWh/m</a:t>
                      </a:r>
                      <a:r>
                        <a:rPr kumimoji="0" lang="en-GB" sz="1000" b="0" i="1" u="none" strike="noStrike" kern="1200" cap="none" spc="0" normalizeH="0" baseline="30000" noProof="0" dirty="0">
                          <a:ln>
                            <a:noFill/>
                          </a:ln>
                          <a:solidFill>
                            <a:srgbClr val="000000"/>
                          </a:solidFill>
                          <a:effectLst/>
                          <a:uLnTx/>
                          <a:uFillTx/>
                          <a:latin typeface="Arial"/>
                          <a:ea typeface="+mn-ea"/>
                          <a:cs typeface="+mn-cs"/>
                        </a:rPr>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mn-lt"/>
                          <a:ea typeface="+mn-ea"/>
                          <a:cs typeface="+mn-cs"/>
                        </a:rPr>
                        <a:t>kWh/m</a:t>
                      </a:r>
                      <a:r>
                        <a:rPr kumimoji="0" lang="en-GB" sz="1000" b="0" i="1" u="none" strike="noStrike" kern="1200" cap="none" spc="0" normalizeH="0" baseline="30000" noProof="0" dirty="0">
                          <a:ln>
                            <a:noFill/>
                          </a:ln>
                          <a:solidFill>
                            <a:srgbClr val="000000"/>
                          </a:solidFill>
                          <a:effectLst/>
                          <a:uLnTx/>
                          <a:uFillTx/>
                          <a:latin typeface="+mn-lt"/>
                          <a:ea typeface="+mn-ea"/>
                          <a:cs typeface="+mn-cs"/>
                        </a:rPr>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1468968742"/>
                  </a:ext>
                </a:extLst>
              </a:tr>
              <a:tr h="255351">
                <a:tc>
                  <a:txBody>
                    <a:bodyPr/>
                    <a:lstStyle/>
                    <a:p>
                      <a:pPr algn="ctr" fontAlgn="ctr"/>
                      <a:r>
                        <a:rPr lang="fr-FR" sz="1100" b="0" i="0" u="none" strike="noStrike" dirty="0">
                          <a:solidFill>
                            <a:srgbClr val="000000"/>
                          </a:solidFill>
                          <a:effectLst/>
                          <a:latin typeface="Arial" panose="020B0604020202020204" pitchFamily="34" charset="0"/>
                          <a:cs typeface="Arial" panose="020B0604020202020204" pitchFamily="34" charset="0"/>
                        </a:rPr>
                        <a:t>1.2</a:t>
                      </a:r>
                    </a:p>
                  </a:txBody>
                  <a:tcPr marL="9525" marR="9525" marT="9525" marB="0" anchor="ctr"/>
                </a:tc>
                <a:tc>
                  <a:txBody>
                    <a:bodyPr/>
                    <a:lstStyle/>
                    <a:p>
                      <a:pPr algn="ctr" fontAlgn="ctr"/>
                      <a:r>
                        <a:rPr lang="fr-FR" sz="1100" b="0" i="0" u="none" strike="noStrike" dirty="0">
                          <a:solidFill>
                            <a:srgbClr val="000000"/>
                          </a:solidFill>
                          <a:effectLst/>
                          <a:latin typeface="Arial" panose="020B0604020202020204" pitchFamily="34" charset="0"/>
                          <a:cs typeface="Arial" panose="020B0604020202020204" pitchFamily="34" charset="0"/>
                        </a:rPr>
                        <a:t>10</a:t>
                      </a:r>
                    </a:p>
                  </a:txBody>
                  <a:tcPr marL="9525" marR="9525" marT="9525" marB="0" anchor="ctr"/>
                </a:tc>
                <a:tc>
                  <a:txBody>
                    <a:bodyPr/>
                    <a:lstStyle/>
                    <a:p>
                      <a:pPr algn="ctr" fontAlgn="ctr"/>
                      <a:r>
                        <a:rPr lang="fr-FR" sz="1100" b="0" i="0" u="none" strike="noStrike" dirty="0">
                          <a:solidFill>
                            <a:srgbClr val="000000"/>
                          </a:solidFill>
                          <a:effectLst/>
                          <a:latin typeface="Arial" panose="020B0604020202020204" pitchFamily="34" charset="0"/>
                          <a:cs typeface="Arial" panose="020B0604020202020204" pitchFamily="34" charset="0"/>
                        </a:rPr>
                        <a:t>64</a:t>
                      </a:r>
                    </a:p>
                  </a:txBody>
                  <a:tcPr marL="9525" marR="9525" marT="9525" marB="0" anchor="ctr"/>
                </a:tc>
                <a:tc>
                  <a:txBody>
                    <a:bodyPr/>
                    <a:lstStyle/>
                    <a:p>
                      <a:pPr algn="ctr" fontAlgn="ctr"/>
                      <a:r>
                        <a:rPr lang="fr-FR" sz="1100" b="0" i="0" u="none" strike="noStrike" dirty="0">
                          <a:solidFill>
                            <a:srgbClr val="000000"/>
                          </a:solidFill>
                          <a:effectLst/>
                          <a:latin typeface="Arial" panose="020B0604020202020204" pitchFamily="34" charset="0"/>
                          <a:cs typeface="Arial" panose="020B0604020202020204" pitchFamily="34" charset="0"/>
                        </a:rPr>
                        <a:t>11</a:t>
                      </a:r>
                    </a:p>
                  </a:txBody>
                  <a:tcPr marL="9525" marR="9525" marT="9525" marB="0" anchor="ctr"/>
                </a:tc>
                <a:tc>
                  <a:txBody>
                    <a:bodyPr/>
                    <a:lstStyle/>
                    <a:p>
                      <a:pPr algn="ctr" fontAlgn="ctr"/>
                      <a:r>
                        <a:rPr lang="fr-FR" sz="1100" b="0" i="0" u="none" strike="noStrike" dirty="0">
                          <a:solidFill>
                            <a:srgbClr val="000000"/>
                          </a:solidFill>
                          <a:effectLst/>
                          <a:latin typeface="Arial" panose="020B0604020202020204" pitchFamily="34" charset="0"/>
                          <a:cs typeface="Arial" panose="020B0604020202020204" pitchFamily="34" charset="0"/>
                        </a:rPr>
                        <a:t>100%</a:t>
                      </a:r>
                    </a:p>
                  </a:txBody>
                  <a:tcPr marL="9525" marR="9525" marT="9525" marB="0" anchor="ctr"/>
                </a:tc>
                <a:extLst>
                  <a:ext uri="{0D108BD9-81ED-4DB2-BD59-A6C34878D82A}">
                    <a16:rowId xmlns:a16="http://schemas.microsoft.com/office/drawing/2014/main" val="2310329303"/>
                  </a:ext>
                </a:extLst>
              </a:tr>
            </a:tbl>
          </a:graphicData>
        </a:graphic>
      </p:graphicFrame>
      <p:sp>
        <p:nvSpPr>
          <p:cNvPr id="11" name="Espace réservé du contenu 2">
            <a:extLst>
              <a:ext uri="{FF2B5EF4-FFF2-40B4-BE49-F238E27FC236}">
                <a16:creationId xmlns:a16="http://schemas.microsoft.com/office/drawing/2014/main" id="{E1D96A48-177A-4AAA-9C8B-5F68A5F0E1BF}"/>
              </a:ext>
            </a:extLst>
          </p:cNvPr>
          <p:cNvSpPr>
            <a:spLocks noGrp="1"/>
          </p:cNvSpPr>
          <p:nvPr>
            <p:ph idx="1"/>
          </p:nvPr>
        </p:nvSpPr>
        <p:spPr>
          <a:xfrm>
            <a:off x="442912" y="1426463"/>
            <a:ext cx="5256000" cy="4939279"/>
          </a:xfrm>
        </p:spPr>
        <p:txBody>
          <a:bodyPr/>
          <a:lstStyle/>
          <a:p>
            <a:pPr marL="0" indent="0">
              <a:lnSpc>
                <a:spcPct val="100000"/>
              </a:lnSpc>
              <a:spcBef>
                <a:spcPts val="600"/>
              </a:spcBef>
              <a:buNone/>
            </a:pPr>
            <a:r>
              <a:rPr lang="en-GB" sz="1800" b="1" dirty="0">
                <a:solidFill>
                  <a:srgbClr val="D04A02"/>
                </a:solidFill>
              </a:rPr>
              <a:t>Observations and comments</a:t>
            </a:r>
          </a:p>
          <a:p>
            <a:pPr marL="285750" indent="-285750">
              <a:lnSpc>
                <a:spcPct val="100000"/>
              </a:lnSpc>
              <a:spcBef>
                <a:spcPts val="600"/>
              </a:spcBef>
              <a:buFont typeface="Arial" panose="020B0604020202020204" pitchFamily="34" charset="0"/>
              <a:buChar char="•"/>
            </a:pPr>
            <a:r>
              <a:rPr lang="en-GB" sz="1600" dirty="0"/>
              <a:t>The Total Energy for concrete production corresponds to the calculated sum of the total electricity energy with the total of non-electricity energy for production, converted in kWh/m</a:t>
            </a:r>
            <a:r>
              <a:rPr lang="en-GB" sz="1600" baseline="30000" dirty="0"/>
              <a:t>3</a:t>
            </a:r>
            <a:r>
              <a:rPr lang="en-GB" sz="1600" dirty="0"/>
              <a:t>.</a:t>
            </a:r>
          </a:p>
          <a:p>
            <a:pPr marL="285750" indent="-285750">
              <a:lnSpc>
                <a:spcPct val="100000"/>
              </a:lnSpc>
              <a:spcBef>
                <a:spcPts val="600"/>
              </a:spcBef>
              <a:buFont typeface="Arial" panose="020B0604020202020204" pitchFamily="34" charset="0"/>
              <a:buChar char="•"/>
            </a:pPr>
            <a:r>
              <a:rPr lang="en-GB" sz="1600" dirty="0"/>
              <a:t>The </a:t>
            </a:r>
            <a:r>
              <a:rPr lang="en-GB" sz="1600" b="1" dirty="0"/>
              <a:t>weighted average </a:t>
            </a:r>
            <a:r>
              <a:rPr lang="en-GB" sz="1600" dirty="0"/>
              <a:t>of energy for production </a:t>
            </a:r>
            <a:br>
              <a:rPr lang="en-GB" sz="1600" dirty="0"/>
            </a:br>
            <a:r>
              <a:rPr lang="en-GB" sz="1600" dirty="0"/>
              <a:t>in 2019 is of </a:t>
            </a:r>
            <a:r>
              <a:rPr lang="en-GB" sz="1600" b="1" dirty="0"/>
              <a:t>10 kWh/m</a:t>
            </a:r>
            <a:r>
              <a:rPr lang="en-GB" sz="1600" b="1" baseline="30000" dirty="0"/>
              <a:t>3 </a:t>
            </a:r>
            <a:r>
              <a:rPr lang="en-GB" sz="1600" dirty="0"/>
              <a:t>at world level, which is increased by a few countries with the highest concrete production.</a:t>
            </a:r>
          </a:p>
          <a:p>
            <a:pPr marL="285750" indent="-285750">
              <a:lnSpc>
                <a:spcPct val="100000"/>
              </a:lnSpc>
              <a:spcBef>
                <a:spcPts val="600"/>
              </a:spcBef>
              <a:buFont typeface="Arial" panose="020B0604020202020204" pitchFamily="34" charset="0"/>
              <a:buChar char="•"/>
            </a:pPr>
            <a:r>
              <a:rPr lang="en-GB" sz="1600" dirty="0"/>
              <a:t>Around </a:t>
            </a:r>
            <a:r>
              <a:rPr lang="en-GB" sz="1600" b="1" dirty="0"/>
              <a:t>80% of values </a:t>
            </a:r>
            <a:r>
              <a:rPr lang="en-GB" sz="1600" dirty="0"/>
              <a:t>lie </a:t>
            </a:r>
            <a:r>
              <a:rPr lang="en-GB" sz="1600" b="1" dirty="0"/>
              <a:t>between 1 kWh/m</a:t>
            </a:r>
            <a:r>
              <a:rPr lang="en-GB" sz="1600" b="1" baseline="30000" dirty="0"/>
              <a:t>3</a:t>
            </a:r>
            <a:r>
              <a:rPr lang="en-GB" sz="1600" b="1" dirty="0"/>
              <a:t> and </a:t>
            </a:r>
            <a:br>
              <a:rPr lang="en-GB" sz="1600" b="1" dirty="0"/>
            </a:br>
            <a:r>
              <a:rPr lang="en-GB" sz="1600" b="1" dirty="0"/>
              <a:t>6 kWh/m</a:t>
            </a:r>
            <a:r>
              <a:rPr lang="en-GB" sz="1600" b="1" baseline="30000" dirty="0"/>
              <a:t>3</a:t>
            </a:r>
            <a:r>
              <a:rPr lang="en-GB" sz="1600" dirty="0"/>
              <a:t>.</a:t>
            </a:r>
          </a:p>
          <a:p>
            <a:pPr marL="285750" indent="-285750">
              <a:lnSpc>
                <a:spcPct val="100000"/>
              </a:lnSpc>
              <a:spcBef>
                <a:spcPts val="600"/>
              </a:spcBef>
              <a:buFont typeface="Arial" panose="020B0604020202020204" pitchFamily="34" charset="0"/>
              <a:buChar char="•"/>
            </a:pPr>
            <a:r>
              <a:rPr lang="en-GB" sz="1600" dirty="0"/>
              <a:t>The chart pictures </a:t>
            </a:r>
            <a:r>
              <a:rPr lang="en-GB" sz="1600" b="1" dirty="0"/>
              <a:t>100% of the world coverage</a:t>
            </a:r>
            <a:r>
              <a:rPr lang="en-GB" sz="1600" dirty="0"/>
              <a:t>. </a:t>
            </a:r>
          </a:p>
          <a:p>
            <a:pPr marL="265113" indent="0">
              <a:lnSpc>
                <a:spcPct val="100000"/>
              </a:lnSpc>
              <a:spcBef>
                <a:spcPts val="600"/>
              </a:spcBef>
              <a:buNone/>
            </a:pPr>
            <a:r>
              <a:rPr lang="en-GB" sz="1600" b="1" u="sng" dirty="0"/>
              <a:t>Note</a:t>
            </a:r>
            <a:r>
              <a:rPr lang="en-GB" sz="1600" dirty="0"/>
              <a:t>: Some companies did not provide (or hold) the data split between electricity and non-electricity energy for production, which explains why the coverage is only around 75% for electricity and thermal energy consumption.</a:t>
            </a:r>
          </a:p>
          <a:p>
            <a:pPr marL="285750" indent="-285750">
              <a:lnSpc>
                <a:spcPct val="100000"/>
              </a:lnSpc>
              <a:spcBef>
                <a:spcPts val="600"/>
              </a:spcBef>
              <a:buFont typeface="Arial" panose="020B0604020202020204" pitchFamily="34" charset="0"/>
              <a:buChar char="•"/>
            </a:pPr>
            <a:endParaRPr lang="en-GB" sz="1200" dirty="0"/>
          </a:p>
          <a:p>
            <a:pPr marL="285750" indent="-285750">
              <a:lnSpc>
                <a:spcPct val="100000"/>
              </a:lnSpc>
              <a:spcBef>
                <a:spcPts val="600"/>
              </a:spcBef>
              <a:buFont typeface="Arial" panose="020B0604020202020204" pitchFamily="34" charset="0"/>
              <a:buChar char="•"/>
            </a:pPr>
            <a:endParaRPr lang="en-GB" sz="1200" dirty="0"/>
          </a:p>
          <a:p>
            <a:pPr marL="285750" indent="-285750">
              <a:lnSpc>
                <a:spcPct val="100000"/>
              </a:lnSpc>
              <a:spcBef>
                <a:spcPts val="600"/>
              </a:spcBef>
              <a:buFont typeface="Arial" panose="020B0604020202020204" pitchFamily="34" charset="0"/>
              <a:buChar char="•"/>
            </a:pPr>
            <a:endParaRPr lang="en-GB" sz="1600" dirty="0"/>
          </a:p>
        </p:txBody>
      </p:sp>
      <p:sp>
        <p:nvSpPr>
          <p:cNvPr id="3" name="Espace réservé du pied de page 2">
            <a:extLst>
              <a:ext uri="{FF2B5EF4-FFF2-40B4-BE49-F238E27FC236}">
                <a16:creationId xmlns:a16="http://schemas.microsoft.com/office/drawing/2014/main" id="{D631900F-F7E6-4538-B637-11781291A2D5}"/>
              </a:ext>
            </a:extLst>
          </p:cNvPr>
          <p:cNvSpPr>
            <a:spLocks noGrp="1"/>
          </p:cNvSpPr>
          <p:nvPr>
            <p:ph type="ftr" sz="quarter" idx="13"/>
          </p:nvPr>
        </p:nvSpPr>
        <p:spPr/>
        <p:txBody>
          <a:bodyPr/>
          <a:lstStyle/>
          <a:p>
            <a:pPr algn="l"/>
            <a:r>
              <a:rPr lang="en-US" dirty="0"/>
              <a:t>GCCA GNR Concrete Pilot Project</a:t>
            </a:r>
            <a:endParaRPr lang="fr-FR" dirty="0"/>
          </a:p>
        </p:txBody>
      </p:sp>
      <p:sp>
        <p:nvSpPr>
          <p:cNvPr id="4" name="Rectangle 3">
            <a:extLst>
              <a:ext uri="{FF2B5EF4-FFF2-40B4-BE49-F238E27FC236}">
                <a16:creationId xmlns:a16="http://schemas.microsoft.com/office/drawing/2014/main" id="{906C9285-A59F-4BAF-88CD-299052AD320F}"/>
              </a:ext>
            </a:extLst>
          </p:cNvPr>
          <p:cNvSpPr/>
          <p:nvPr/>
        </p:nvSpPr>
        <p:spPr>
          <a:xfrm>
            <a:off x="10753344" y="88931"/>
            <a:ext cx="978408"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World level</a:t>
            </a:r>
          </a:p>
        </p:txBody>
      </p:sp>
      <p:graphicFrame>
        <p:nvGraphicFramePr>
          <p:cNvPr id="14" name="Graphique 13">
            <a:extLst>
              <a:ext uri="{FF2B5EF4-FFF2-40B4-BE49-F238E27FC236}">
                <a16:creationId xmlns:a16="http://schemas.microsoft.com/office/drawing/2014/main" id="{8B95D969-8E9B-4BF7-96D2-D622FBA5C5E3}"/>
              </a:ext>
            </a:extLst>
          </p:cNvPr>
          <p:cNvGraphicFramePr>
            <a:graphicFrameLocks/>
          </p:cNvGraphicFramePr>
          <p:nvPr>
            <p:extLst>
              <p:ext uri="{D42A27DB-BD31-4B8C-83A1-F6EECF244321}">
                <p14:modId xmlns:p14="http://schemas.microsoft.com/office/powerpoint/2010/main" val="3449464699"/>
              </p:ext>
            </p:extLst>
          </p:nvPr>
        </p:nvGraphicFramePr>
        <p:xfrm>
          <a:off x="5211482" y="2290463"/>
          <a:ext cx="6761686" cy="4445308"/>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738607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E071841-5D46-4849-8187-BA2462824AF4}"/>
              </a:ext>
            </a:extLst>
          </p:cNvPr>
          <p:cNvGraphicFramePr>
            <a:graphicFrameLocks noChangeAspect="1"/>
          </p:cNvGraphicFramePr>
          <p:nvPr>
            <p:custDataLst>
              <p:tags r:id="rId1"/>
            </p:custDataLst>
            <p:extLst>
              <p:ext uri="{D42A27DB-BD31-4B8C-83A1-F6EECF244321}">
                <p14:modId xmlns:p14="http://schemas.microsoft.com/office/powerpoint/2010/main" val="4277126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9" name="Objet 8" hidden="1">
                        <a:extLst>
                          <a:ext uri="{FF2B5EF4-FFF2-40B4-BE49-F238E27FC236}">
                            <a16:creationId xmlns:a16="http://schemas.microsoft.com/office/drawing/2014/main" id="{BE071841-5D46-4849-8187-BA2462824AF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80C64678-09B9-482E-9E58-009328A6712E}"/>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64F58608-DBBD-4A00-A215-DA79680DA1E0}"/>
              </a:ext>
            </a:extLst>
          </p:cNvPr>
          <p:cNvSpPr>
            <a:spLocks noGrp="1"/>
          </p:cNvSpPr>
          <p:nvPr>
            <p:ph type="title"/>
          </p:nvPr>
        </p:nvSpPr>
        <p:spPr>
          <a:xfrm>
            <a:off x="442913" y="432000"/>
            <a:ext cx="11572303" cy="1387275"/>
          </a:xfrm>
        </p:spPr>
        <p:txBody>
          <a:bodyPr>
            <a:normAutofit/>
          </a:bodyPr>
          <a:lstStyle/>
          <a:p>
            <a:r>
              <a:rPr lang="en-GB" dirty="0"/>
              <a:t>Total energy for production is steady in reporting countries</a:t>
            </a:r>
            <a:br>
              <a:rPr lang="en-GB" dirty="0"/>
            </a:br>
            <a:r>
              <a:rPr lang="en-GB" sz="2200" dirty="0"/>
              <a:t>One country in Northern Europe with an average concrete production increases the average</a:t>
            </a:r>
          </a:p>
        </p:txBody>
      </p:sp>
      <p:sp>
        <p:nvSpPr>
          <p:cNvPr id="5" name="Espace réservé de la date 4">
            <a:extLst>
              <a:ext uri="{FF2B5EF4-FFF2-40B4-BE49-F238E27FC236}">
                <a16:creationId xmlns:a16="http://schemas.microsoft.com/office/drawing/2014/main" id="{B3107505-8DCF-4362-8649-38EB2BBD62FC}"/>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A69FF207-80E6-4074-B565-5ED47C8F93B2}"/>
              </a:ext>
            </a:extLst>
          </p:cNvPr>
          <p:cNvSpPr>
            <a:spLocks noGrp="1"/>
          </p:cNvSpPr>
          <p:nvPr>
            <p:ph type="sldNum" sz="quarter" idx="11"/>
          </p:nvPr>
        </p:nvSpPr>
        <p:spPr/>
        <p:txBody>
          <a:bodyPr/>
          <a:lstStyle/>
          <a:p>
            <a:fld id="{7870704B-CE94-48CC-AF30-84932A1262A7}" type="slidenum">
              <a:rPr lang="fr-FR" smtClean="0"/>
              <a:pPr/>
              <a:t>6</a:t>
            </a:fld>
            <a:endParaRPr lang="fr-FR" dirty="0"/>
          </a:p>
        </p:txBody>
      </p:sp>
      <p:graphicFrame>
        <p:nvGraphicFramePr>
          <p:cNvPr id="10" name="Tableau 9">
            <a:extLst>
              <a:ext uri="{FF2B5EF4-FFF2-40B4-BE49-F238E27FC236}">
                <a16:creationId xmlns:a16="http://schemas.microsoft.com/office/drawing/2014/main" id="{51EBDE05-B4C9-41F3-9200-44CE5BC78ED2}"/>
              </a:ext>
            </a:extLst>
          </p:cNvPr>
          <p:cNvGraphicFramePr>
            <a:graphicFrameLocks noGrp="1"/>
          </p:cNvGraphicFramePr>
          <p:nvPr>
            <p:extLst>
              <p:ext uri="{D42A27DB-BD31-4B8C-83A1-F6EECF244321}">
                <p14:modId xmlns:p14="http://schemas.microsoft.com/office/powerpoint/2010/main" val="2694707983"/>
              </p:ext>
            </p:extLst>
          </p:nvPr>
        </p:nvGraphicFramePr>
        <p:xfrm>
          <a:off x="6208745" y="1426463"/>
          <a:ext cx="4896000" cy="864000"/>
        </p:xfrm>
        <a:graphic>
          <a:graphicData uri="http://schemas.openxmlformats.org/drawingml/2006/table">
            <a:tbl>
              <a:tblPr firstRow="1" bandRow="1">
                <a:tableStyleId>{5C22544A-7EE6-4342-B048-85BDC9FD1C3A}</a:tableStyleId>
              </a:tblPr>
              <a:tblGrid>
                <a:gridCol w="979200">
                  <a:extLst>
                    <a:ext uri="{9D8B030D-6E8A-4147-A177-3AD203B41FA5}">
                      <a16:colId xmlns:a16="http://schemas.microsoft.com/office/drawing/2014/main" val="1504220348"/>
                    </a:ext>
                  </a:extLst>
                </a:gridCol>
                <a:gridCol w="979200">
                  <a:extLst>
                    <a:ext uri="{9D8B030D-6E8A-4147-A177-3AD203B41FA5}">
                      <a16:colId xmlns:a16="http://schemas.microsoft.com/office/drawing/2014/main" val="1413351609"/>
                    </a:ext>
                  </a:extLst>
                </a:gridCol>
                <a:gridCol w="979200">
                  <a:extLst>
                    <a:ext uri="{9D8B030D-6E8A-4147-A177-3AD203B41FA5}">
                      <a16:colId xmlns:a16="http://schemas.microsoft.com/office/drawing/2014/main" val="1239885802"/>
                    </a:ext>
                  </a:extLst>
                </a:gridCol>
                <a:gridCol w="979200">
                  <a:extLst>
                    <a:ext uri="{9D8B030D-6E8A-4147-A177-3AD203B41FA5}">
                      <a16:colId xmlns:a16="http://schemas.microsoft.com/office/drawing/2014/main" val="3091639623"/>
                    </a:ext>
                  </a:extLst>
                </a:gridCol>
                <a:gridCol w="979200">
                  <a:extLst>
                    <a:ext uri="{9D8B030D-6E8A-4147-A177-3AD203B41FA5}">
                      <a16:colId xmlns:a16="http://schemas.microsoft.com/office/drawing/2014/main" val="2904654360"/>
                    </a:ext>
                  </a:extLst>
                </a:gridCol>
              </a:tblGrid>
              <a:tr h="353298">
                <a:tc>
                  <a:txBody>
                    <a:bodyPr/>
                    <a:lstStyle/>
                    <a:p>
                      <a:pPr algn="ctr" fontAlgn="ctr"/>
                      <a:r>
                        <a:rPr lang="en-GB" sz="1000" b="1" u="none" strike="noStrike">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 </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55351">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a:ea typeface="+mn-ea"/>
                          <a:cs typeface="+mn-cs"/>
                        </a:rPr>
                        <a:t>kWh/m</a:t>
                      </a:r>
                      <a:r>
                        <a:rPr kumimoji="0" lang="en-GB" sz="1000" b="0" i="1" u="none" strike="noStrike" kern="1200" cap="none" spc="0" normalizeH="0" baseline="30000" noProof="0" dirty="0">
                          <a:ln>
                            <a:noFill/>
                          </a:ln>
                          <a:solidFill>
                            <a:srgbClr val="000000"/>
                          </a:solidFill>
                          <a:effectLst/>
                          <a:uLnTx/>
                          <a:uFillTx/>
                          <a:latin typeface="Arial"/>
                          <a:ea typeface="+mn-ea"/>
                          <a:cs typeface="+mn-cs"/>
                        </a:rPr>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a:ea typeface="+mn-ea"/>
                          <a:cs typeface="+mn-cs"/>
                        </a:rPr>
                        <a:t>kWh/m</a:t>
                      </a:r>
                      <a:r>
                        <a:rPr kumimoji="0" lang="en-GB" sz="1000" b="0" i="1" u="none" strike="noStrike" kern="1200" cap="none" spc="0" normalizeH="0" baseline="30000" noProof="0" dirty="0">
                          <a:ln>
                            <a:noFill/>
                          </a:ln>
                          <a:solidFill>
                            <a:srgbClr val="000000"/>
                          </a:solidFill>
                          <a:effectLst/>
                          <a:uLnTx/>
                          <a:uFillTx/>
                          <a:latin typeface="Arial"/>
                          <a:ea typeface="+mn-ea"/>
                          <a:cs typeface="+mn-cs"/>
                        </a:rPr>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a:ea typeface="+mn-ea"/>
                          <a:cs typeface="+mn-cs"/>
                        </a:rPr>
                        <a:t>kWh/m</a:t>
                      </a:r>
                      <a:r>
                        <a:rPr kumimoji="0" lang="en-GB" sz="1000" b="0" i="1" u="none" strike="noStrike" kern="1200" cap="none" spc="0" normalizeH="0" baseline="30000" noProof="0" dirty="0">
                          <a:ln>
                            <a:noFill/>
                          </a:ln>
                          <a:solidFill>
                            <a:srgbClr val="000000"/>
                          </a:solidFill>
                          <a:effectLst/>
                          <a:uLnTx/>
                          <a:uFillTx/>
                          <a:latin typeface="Arial"/>
                          <a:ea typeface="+mn-ea"/>
                          <a:cs typeface="+mn-cs"/>
                        </a:rPr>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mn-lt"/>
                          <a:ea typeface="+mn-ea"/>
                          <a:cs typeface="+mn-cs"/>
                        </a:rPr>
                        <a:t>kWh/m</a:t>
                      </a:r>
                      <a:r>
                        <a:rPr kumimoji="0" lang="en-GB" sz="1000" b="0" i="1" u="none" strike="noStrike" kern="1200" cap="none" spc="0" normalizeH="0" baseline="30000" noProof="0" dirty="0">
                          <a:ln>
                            <a:noFill/>
                          </a:ln>
                          <a:solidFill>
                            <a:srgbClr val="000000"/>
                          </a:solidFill>
                          <a:effectLst/>
                          <a:uLnTx/>
                          <a:uFillTx/>
                          <a:latin typeface="+mn-lt"/>
                          <a:ea typeface="+mn-ea"/>
                          <a:cs typeface="+mn-cs"/>
                        </a:rPr>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1468968742"/>
                  </a:ext>
                </a:extLst>
              </a:tr>
              <a:tr h="255351">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1.8</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4.4</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16</a:t>
                      </a:r>
                    </a:p>
                  </a:txBody>
                  <a:tcPr marL="9525" marR="9525" marT="9525" marB="0" anchor="ctr"/>
                </a:tc>
                <a:tc>
                  <a:txBody>
                    <a:bodyPr/>
                    <a:lstStyle/>
                    <a:p>
                      <a:pPr algn="ctr" fontAlgn="ctr"/>
                      <a:r>
                        <a:rPr lang="fr-FR" sz="1000" b="0" i="0" u="none" strike="noStrike">
                          <a:solidFill>
                            <a:srgbClr val="000000"/>
                          </a:solidFill>
                          <a:effectLst/>
                          <a:latin typeface="Arial" panose="020B0604020202020204" pitchFamily="34" charset="0"/>
                          <a:cs typeface="Arial" panose="020B0604020202020204" pitchFamily="34" charset="0"/>
                        </a:rPr>
                        <a:t>3</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100</a:t>
                      </a:r>
                    </a:p>
                  </a:txBody>
                  <a:tcPr marL="9525" marR="9525" marT="9525" marB="0" anchor="ctr"/>
                </a:tc>
                <a:extLst>
                  <a:ext uri="{0D108BD9-81ED-4DB2-BD59-A6C34878D82A}">
                    <a16:rowId xmlns:a16="http://schemas.microsoft.com/office/drawing/2014/main" val="2310329303"/>
                  </a:ext>
                </a:extLst>
              </a:tr>
            </a:tbl>
          </a:graphicData>
        </a:graphic>
      </p:graphicFrame>
      <p:sp>
        <p:nvSpPr>
          <p:cNvPr id="11" name="Espace réservé du contenu 2">
            <a:extLst>
              <a:ext uri="{FF2B5EF4-FFF2-40B4-BE49-F238E27FC236}">
                <a16:creationId xmlns:a16="http://schemas.microsoft.com/office/drawing/2014/main" id="{E1D96A48-177A-4AAA-9C8B-5F68A5F0E1BF}"/>
              </a:ext>
            </a:extLst>
          </p:cNvPr>
          <p:cNvSpPr>
            <a:spLocks noGrp="1"/>
          </p:cNvSpPr>
          <p:nvPr>
            <p:ph idx="1"/>
          </p:nvPr>
        </p:nvSpPr>
        <p:spPr>
          <a:xfrm>
            <a:off x="442912" y="1426464"/>
            <a:ext cx="5256000" cy="4800600"/>
          </a:xfrm>
        </p:spPr>
        <p:txBody>
          <a:bodyPr/>
          <a:lstStyle/>
          <a:p>
            <a:pPr marL="0" indent="0">
              <a:lnSpc>
                <a:spcPct val="100000"/>
              </a:lnSpc>
              <a:spcBef>
                <a:spcPts val="600"/>
              </a:spcBef>
              <a:buNone/>
            </a:pPr>
            <a:r>
              <a:rPr lang="en-GB" sz="1800" b="1" dirty="0">
                <a:solidFill>
                  <a:srgbClr val="D04A02"/>
                </a:solidFill>
              </a:rPr>
              <a:t>Observations and comments</a:t>
            </a:r>
          </a:p>
          <a:p>
            <a:pPr marL="285750" indent="-285750">
              <a:lnSpc>
                <a:spcPct val="100000"/>
              </a:lnSpc>
              <a:spcBef>
                <a:spcPts val="600"/>
              </a:spcBef>
              <a:buFont typeface="Arial" panose="020B0604020202020204" pitchFamily="34" charset="0"/>
              <a:buChar char="•"/>
            </a:pPr>
            <a:r>
              <a:rPr lang="en-GB" sz="1600" dirty="0"/>
              <a:t>The </a:t>
            </a:r>
            <a:r>
              <a:rPr lang="en-GB" sz="1600" b="1" dirty="0"/>
              <a:t>weighted average </a:t>
            </a:r>
            <a:r>
              <a:rPr lang="en-GB" sz="1600" dirty="0"/>
              <a:t>of energy for production </a:t>
            </a:r>
            <a:br>
              <a:rPr lang="en-GB" sz="1600" dirty="0"/>
            </a:br>
            <a:r>
              <a:rPr lang="en-GB" sz="1600" dirty="0"/>
              <a:t>in 2019 is of </a:t>
            </a:r>
            <a:r>
              <a:rPr lang="en-GB" sz="1600" b="1" dirty="0"/>
              <a:t>4.4 kWh/m</a:t>
            </a:r>
            <a:r>
              <a:rPr lang="en-GB" sz="1600" b="1" baseline="30000" dirty="0"/>
              <a:t>3</a:t>
            </a:r>
            <a:r>
              <a:rPr lang="en-GB" sz="1600" dirty="0"/>
              <a:t>, which is increased by a few countries with the highest concrete production.</a:t>
            </a:r>
          </a:p>
          <a:p>
            <a:pPr marL="285750" indent="-285750">
              <a:lnSpc>
                <a:spcPct val="100000"/>
              </a:lnSpc>
              <a:spcBef>
                <a:spcPts val="600"/>
              </a:spcBef>
              <a:buFont typeface="Arial" panose="020B0604020202020204" pitchFamily="34" charset="0"/>
              <a:buChar char="•"/>
            </a:pPr>
            <a:r>
              <a:rPr lang="en-GB" sz="1600" dirty="0"/>
              <a:t>Around </a:t>
            </a:r>
            <a:r>
              <a:rPr lang="en-GB" sz="1600" b="1" dirty="0"/>
              <a:t>80% of values </a:t>
            </a:r>
            <a:r>
              <a:rPr lang="en-GB" sz="1600" dirty="0"/>
              <a:t>lie </a:t>
            </a:r>
            <a:r>
              <a:rPr lang="en-GB" sz="1600" b="1" dirty="0"/>
              <a:t>between 1 kWh/m</a:t>
            </a:r>
            <a:r>
              <a:rPr lang="en-GB" sz="1600" b="1" baseline="30000" dirty="0"/>
              <a:t>3</a:t>
            </a:r>
            <a:r>
              <a:rPr lang="en-GB" sz="1600" b="1" dirty="0"/>
              <a:t> and </a:t>
            </a:r>
            <a:br>
              <a:rPr lang="en-GB" sz="1600" b="1" dirty="0"/>
            </a:br>
            <a:r>
              <a:rPr lang="en-GB" sz="1600" b="1" dirty="0"/>
              <a:t>5 kWh/m</a:t>
            </a:r>
            <a:r>
              <a:rPr lang="en-GB" sz="1600" b="1" baseline="30000" dirty="0"/>
              <a:t>3</a:t>
            </a:r>
            <a:r>
              <a:rPr lang="en-GB" sz="1600" dirty="0"/>
              <a:t>.</a:t>
            </a:r>
          </a:p>
          <a:p>
            <a:pPr marL="285750" indent="-285750">
              <a:lnSpc>
                <a:spcPct val="100000"/>
              </a:lnSpc>
              <a:spcBef>
                <a:spcPts val="600"/>
              </a:spcBef>
              <a:buFont typeface="Arial" panose="020B0604020202020204" pitchFamily="34" charset="0"/>
              <a:buChar char="•"/>
            </a:pPr>
            <a:r>
              <a:rPr lang="en-GB" sz="1600" dirty="0"/>
              <a:t>The chart pictures </a:t>
            </a:r>
            <a:r>
              <a:rPr lang="en-GB" sz="1600" b="1" dirty="0"/>
              <a:t>100% of the Europe coverage</a:t>
            </a:r>
            <a:r>
              <a:rPr lang="en-GB" sz="1600" dirty="0"/>
              <a:t>. </a:t>
            </a:r>
            <a:br>
              <a:rPr lang="en-GB" sz="1600" dirty="0"/>
            </a:br>
            <a:r>
              <a:rPr lang="en-GB" sz="1600" dirty="0"/>
              <a:t>One company only held the data for total energy for production </a:t>
            </a:r>
            <a:r>
              <a:rPr lang="en-US" sz="1600" dirty="0"/>
              <a:t>and not on total Electricity (and non-electricity) energy for production. </a:t>
            </a:r>
            <a:endParaRPr lang="en-GB" sz="1600" dirty="0"/>
          </a:p>
          <a:p>
            <a:pPr marL="285750" indent="-285750">
              <a:lnSpc>
                <a:spcPct val="100000"/>
              </a:lnSpc>
              <a:spcBef>
                <a:spcPts val="600"/>
              </a:spcBef>
              <a:buFont typeface="Arial" panose="020B0604020202020204" pitchFamily="34" charset="0"/>
              <a:buChar char="•"/>
            </a:pPr>
            <a:r>
              <a:rPr lang="en-GB" sz="1600" dirty="0"/>
              <a:t>Costs of operating in </a:t>
            </a:r>
            <a:r>
              <a:rPr lang="en-GB" sz="1600" b="1" dirty="0"/>
              <a:t>cold weather in Northern Europe </a:t>
            </a:r>
            <a:r>
              <a:rPr lang="en-GB" sz="1600" dirty="0"/>
              <a:t>may explain the large gap between the maximum value and the rest of the set of values.</a:t>
            </a:r>
          </a:p>
          <a:p>
            <a:pPr marL="0" indent="0">
              <a:lnSpc>
                <a:spcPct val="100000"/>
              </a:lnSpc>
              <a:spcBef>
                <a:spcPts val="600"/>
              </a:spcBef>
              <a:buNone/>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p:txBody>
      </p:sp>
      <p:sp>
        <p:nvSpPr>
          <p:cNvPr id="3" name="Espace réservé du pied de page 2">
            <a:extLst>
              <a:ext uri="{FF2B5EF4-FFF2-40B4-BE49-F238E27FC236}">
                <a16:creationId xmlns:a16="http://schemas.microsoft.com/office/drawing/2014/main" id="{D631900F-F7E6-4538-B637-11781291A2D5}"/>
              </a:ext>
            </a:extLst>
          </p:cNvPr>
          <p:cNvSpPr>
            <a:spLocks noGrp="1"/>
          </p:cNvSpPr>
          <p:nvPr>
            <p:ph type="ftr" sz="quarter" idx="13"/>
          </p:nvPr>
        </p:nvSpPr>
        <p:spPr/>
        <p:txBody>
          <a:bodyPr/>
          <a:lstStyle/>
          <a:p>
            <a:pPr algn="l"/>
            <a:r>
              <a:rPr lang="en-US"/>
              <a:t>GCCA GNR Concrete Pilot Project</a:t>
            </a:r>
            <a:endParaRPr lang="fr-FR" dirty="0"/>
          </a:p>
        </p:txBody>
      </p:sp>
      <p:sp>
        <p:nvSpPr>
          <p:cNvPr id="4" name="Rectangle 3">
            <a:extLst>
              <a:ext uri="{FF2B5EF4-FFF2-40B4-BE49-F238E27FC236}">
                <a16:creationId xmlns:a16="http://schemas.microsoft.com/office/drawing/2014/main" id="{906C9285-A59F-4BAF-88CD-299052AD320F}"/>
              </a:ext>
            </a:extLst>
          </p:cNvPr>
          <p:cNvSpPr/>
          <p:nvPr/>
        </p:nvSpPr>
        <p:spPr>
          <a:xfrm>
            <a:off x="10671048" y="88931"/>
            <a:ext cx="104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Europe level</a:t>
            </a:r>
          </a:p>
        </p:txBody>
      </p:sp>
      <p:graphicFrame>
        <p:nvGraphicFramePr>
          <p:cNvPr id="12" name="Graphique 11">
            <a:extLst>
              <a:ext uri="{FF2B5EF4-FFF2-40B4-BE49-F238E27FC236}">
                <a16:creationId xmlns:a16="http://schemas.microsoft.com/office/drawing/2014/main" id="{C8CBA049-4FFB-45CB-9E27-2E227CB19123}"/>
              </a:ext>
            </a:extLst>
          </p:cNvPr>
          <p:cNvGraphicFramePr>
            <a:graphicFrameLocks/>
          </p:cNvGraphicFramePr>
          <p:nvPr>
            <p:extLst>
              <p:ext uri="{D42A27DB-BD31-4B8C-83A1-F6EECF244321}">
                <p14:modId xmlns:p14="http://schemas.microsoft.com/office/powerpoint/2010/main" val="1388208436"/>
              </p:ext>
            </p:extLst>
          </p:nvPr>
        </p:nvGraphicFramePr>
        <p:xfrm>
          <a:off x="5740745" y="2405743"/>
          <a:ext cx="5832000" cy="399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456257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E071841-5D46-4849-8187-BA2462824AF4}"/>
              </a:ext>
            </a:extLst>
          </p:cNvPr>
          <p:cNvGraphicFramePr>
            <a:graphicFrameLocks noChangeAspect="1"/>
          </p:cNvGraphicFramePr>
          <p:nvPr>
            <p:custDataLst>
              <p:tags r:id="rId1"/>
            </p:custDataLst>
            <p:extLst>
              <p:ext uri="{D42A27DB-BD31-4B8C-83A1-F6EECF244321}">
                <p14:modId xmlns:p14="http://schemas.microsoft.com/office/powerpoint/2010/main" val="10233841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9" name="Objet 8" hidden="1">
                        <a:extLst>
                          <a:ext uri="{FF2B5EF4-FFF2-40B4-BE49-F238E27FC236}">
                            <a16:creationId xmlns:a16="http://schemas.microsoft.com/office/drawing/2014/main" id="{BE071841-5D46-4849-8187-BA2462824AF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80C64678-09B9-482E-9E58-009328A6712E}"/>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64F58608-DBBD-4A00-A215-DA79680DA1E0}"/>
              </a:ext>
            </a:extLst>
          </p:cNvPr>
          <p:cNvSpPr>
            <a:spLocks noGrp="1"/>
          </p:cNvSpPr>
          <p:nvPr>
            <p:ph type="title"/>
          </p:nvPr>
        </p:nvSpPr>
        <p:spPr>
          <a:xfrm>
            <a:off x="442913" y="432000"/>
            <a:ext cx="11572303" cy="1387275"/>
          </a:xfrm>
        </p:spPr>
        <p:txBody>
          <a:bodyPr>
            <a:normAutofit/>
          </a:bodyPr>
          <a:lstStyle/>
          <a:p>
            <a:r>
              <a:rPr lang="en-GB" dirty="0"/>
              <a:t>Total energy for production is steady in reporting countries</a:t>
            </a:r>
            <a:br>
              <a:rPr lang="en-GB" dirty="0"/>
            </a:br>
            <a:r>
              <a:rPr lang="en-GB" sz="2200" dirty="0"/>
              <a:t>Canada is the country with the highest consumption of energy for production</a:t>
            </a:r>
          </a:p>
        </p:txBody>
      </p:sp>
      <p:sp>
        <p:nvSpPr>
          <p:cNvPr id="5" name="Espace réservé de la date 4">
            <a:extLst>
              <a:ext uri="{FF2B5EF4-FFF2-40B4-BE49-F238E27FC236}">
                <a16:creationId xmlns:a16="http://schemas.microsoft.com/office/drawing/2014/main" id="{B3107505-8DCF-4362-8649-38EB2BBD62FC}"/>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A69FF207-80E6-4074-B565-5ED47C8F93B2}"/>
              </a:ext>
            </a:extLst>
          </p:cNvPr>
          <p:cNvSpPr>
            <a:spLocks noGrp="1"/>
          </p:cNvSpPr>
          <p:nvPr>
            <p:ph type="sldNum" sz="quarter" idx="11"/>
          </p:nvPr>
        </p:nvSpPr>
        <p:spPr/>
        <p:txBody>
          <a:bodyPr/>
          <a:lstStyle/>
          <a:p>
            <a:fld id="{7870704B-CE94-48CC-AF30-84932A1262A7}" type="slidenum">
              <a:rPr lang="fr-FR" smtClean="0"/>
              <a:pPr/>
              <a:t>7</a:t>
            </a:fld>
            <a:endParaRPr lang="fr-FR" dirty="0"/>
          </a:p>
        </p:txBody>
      </p:sp>
      <p:graphicFrame>
        <p:nvGraphicFramePr>
          <p:cNvPr id="10" name="Tableau 9">
            <a:extLst>
              <a:ext uri="{FF2B5EF4-FFF2-40B4-BE49-F238E27FC236}">
                <a16:creationId xmlns:a16="http://schemas.microsoft.com/office/drawing/2014/main" id="{51EBDE05-B4C9-41F3-9200-44CE5BC78ED2}"/>
              </a:ext>
            </a:extLst>
          </p:cNvPr>
          <p:cNvGraphicFramePr>
            <a:graphicFrameLocks noGrp="1"/>
          </p:cNvGraphicFramePr>
          <p:nvPr>
            <p:extLst>
              <p:ext uri="{D42A27DB-BD31-4B8C-83A1-F6EECF244321}">
                <p14:modId xmlns:p14="http://schemas.microsoft.com/office/powerpoint/2010/main" val="2082801945"/>
              </p:ext>
            </p:extLst>
          </p:nvPr>
        </p:nvGraphicFramePr>
        <p:xfrm>
          <a:off x="6208745" y="1426463"/>
          <a:ext cx="4896000" cy="864000"/>
        </p:xfrm>
        <a:graphic>
          <a:graphicData uri="http://schemas.openxmlformats.org/drawingml/2006/table">
            <a:tbl>
              <a:tblPr firstRow="1" bandRow="1">
                <a:tableStyleId>{5C22544A-7EE6-4342-B048-85BDC9FD1C3A}</a:tableStyleId>
              </a:tblPr>
              <a:tblGrid>
                <a:gridCol w="979200">
                  <a:extLst>
                    <a:ext uri="{9D8B030D-6E8A-4147-A177-3AD203B41FA5}">
                      <a16:colId xmlns:a16="http://schemas.microsoft.com/office/drawing/2014/main" val="1504220348"/>
                    </a:ext>
                  </a:extLst>
                </a:gridCol>
                <a:gridCol w="979200">
                  <a:extLst>
                    <a:ext uri="{9D8B030D-6E8A-4147-A177-3AD203B41FA5}">
                      <a16:colId xmlns:a16="http://schemas.microsoft.com/office/drawing/2014/main" val="1413351609"/>
                    </a:ext>
                  </a:extLst>
                </a:gridCol>
                <a:gridCol w="979200">
                  <a:extLst>
                    <a:ext uri="{9D8B030D-6E8A-4147-A177-3AD203B41FA5}">
                      <a16:colId xmlns:a16="http://schemas.microsoft.com/office/drawing/2014/main" val="1239885802"/>
                    </a:ext>
                  </a:extLst>
                </a:gridCol>
                <a:gridCol w="979200">
                  <a:extLst>
                    <a:ext uri="{9D8B030D-6E8A-4147-A177-3AD203B41FA5}">
                      <a16:colId xmlns:a16="http://schemas.microsoft.com/office/drawing/2014/main" val="3091639623"/>
                    </a:ext>
                  </a:extLst>
                </a:gridCol>
                <a:gridCol w="979200">
                  <a:extLst>
                    <a:ext uri="{9D8B030D-6E8A-4147-A177-3AD203B41FA5}">
                      <a16:colId xmlns:a16="http://schemas.microsoft.com/office/drawing/2014/main" val="2904654360"/>
                    </a:ext>
                  </a:extLst>
                </a:gridCol>
              </a:tblGrid>
              <a:tr h="353298">
                <a:tc>
                  <a:txBody>
                    <a:bodyPr/>
                    <a:lstStyle/>
                    <a:p>
                      <a:pPr algn="ctr" fontAlgn="ctr"/>
                      <a:r>
                        <a:rPr lang="en-GB" sz="1000" b="1" u="none" strike="noStrike">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 </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55351">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a:ea typeface="+mn-ea"/>
                          <a:cs typeface="+mn-cs"/>
                        </a:rPr>
                        <a:t>kWh/m</a:t>
                      </a:r>
                      <a:r>
                        <a:rPr kumimoji="0" lang="en-GB" sz="1000" b="0" i="1" u="none" strike="noStrike" kern="1200" cap="none" spc="0" normalizeH="0" baseline="30000" noProof="0" dirty="0">
                          <a:ln>
                            <a:noFill/>
                          </a:ln>
                          <a:solidFill>
                            <a:srgbClr val="000000"/>
                          </a:solidFill>
                          <a:effectLst/>
                          <a:uLnTx/>
                          <a:uFillTx/>
                          <a:latin typeface="Arial"/>
                          <a:ea typeface="+mn-ea"/>
                          <a:cs typeface="+mn-cs"/>
                        </a:rPr>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a:ea typeface="+mn-ea"/>
                          <a:cs typeface="+mn-cs"/>
                        </a:rPr>
                        <a:t>kWh/m</a:t>
                      </a:r>
                      <a:r>
                        <a:rPr kumimoji="0" lang="en-GB" sz="1000" b="0" i="1" u="none" strike="noStrike" kern="1200" cap="none" spc="0" normalizeH="0" baseline="30000" noProof="0" dirty="0">
                          <a:ln>
                            <a:noFill/>
                          </a:ln>
                          <a:solidFill>
                            <a:srgbClr val="000000"/>
                          </a:solidFill>
                          <a:effectLst/>
                          <a:uLnTx/>
                          <a:uFillTx/>
                          <a:latin typeface="Arial"/>
                          <a:ea typeface="+mn-ea"/>
                          <a:cs typeface="+mn-cs"/>
                        </a:rPr>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a:ea typeface="+mn-ea"/>
                          <a:cs typeface="+mn-cs"/>
                        </a:rPr>
                        <a:t>kWh/m</a:t>
                      </a:r>
                      <a:r>
                        <a:rPr kumimoji="0" lang="en-GB" sz="1000" b="0" i="1" u="none" strike="noStrike" kern="1200" cap="none" spc="0" normalizeH="0" baseline="30000" noProof="0" dirty="0">
                          <a:ln>
                            <a:noFill/>
                          </a:ln>
                          <a:solidFill>
                            <a:srgbClr val="000000"/>
                          </a:solidFill>
                          <a:effectLst/>
                          <a:uLnTx/>
                          <a:uFillTx/>
                          <a:latin typeface="Arial"/>
                          <a:ea typeface="+mn-ea"/>
                          <a:cs typeface="+mn-cs"/>
                        </a:rPr>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mn-lt"/>
                          <a:ea typeface="+mn-ea"/>
                          <a:cs typeface="+mn-cs"/>
                        </a:rPr>
                        <a:t>kWh/m</a:t>
                      </a:r>
                      <a:r>
                        <a:rPr kumimoji="0" lang="en-GB" sz="1000" b="0" i="1" u="none" strike="noStrike" kern="1200" cap="none" spc="0" normalizeH="0" baseline="30000" noProof="0" dirty="0">
                          <a:ln>
                            <a:noFill/>
                          </a:ln>
                          <a:solidFill>
                            <a:srgbClr val="000000"/>
                          </a:solidFill>
                          <a:effectLst/>
                          <a:uLnTx/>
                          <a:uFillTx/>
                          <a:latin typeface="+mn-lt"/>
                          <a:ea typeface="+mn-ea"/>
                          <a:cs typeface="+mn-cs"/>
                        </a:rPr>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1468968742"/>
                  </a:ext>
                </a:extLst>
              </a:tr>
              <a:tr h="255351">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1.2</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21.4</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64</a:t>
                      </a:r>
                    </a:p>
                  </a:txBody>
                  <a:tcPr marL="9525" marR="9525" marT="9525" marB="0" anchor="ctr"/>
                </a:tc>
                <a:tc>
                  <a:txBody>
                    <a:bodyPr/>
                    <a:lstStyle/>
                    <a:p>
                      <a:pPr marL="0" algn="ctr" defTabSz="914400" rtl="0" eaLnBrk="1" fontAlgn="ctr" latinLnBrk="0" hangingPunct="1"/>
                      <a:r>
                        <a:rPr lang="fr-FR" sz="1000" b="0" i="0" u="none" strike="noStrike" kern="1200">
                          <a:solidFill>
                            <a:srgbClr val="000000"/>
                          </a:solidFill>
                          <a:effectLst/>
                          <a:latin typeface="Arial" panose="020B0604020202020204" pitchFamily="34" charset="0"/>
                          <a:ea typeface="+mn-ea"/>
                          <a:cs typeface="Arial" panose="020B0604020202020204" pitchFamily="34" charset="0"/>
                        </a:rPr>
                        <a:t>19</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97</a:t>
                      </a:r>
                    </a:p>
                  </a:txBody>
                  <a:tcPr marL="9525" marR="9525" marT="9525" marB="0" anchor="ctr"/>
                </a:tc>
                <a:extLst>
                  <a:ext uri="{0D108BD9-81ED-4DB2-BD59-A6C34878D82A}">
                    <a16:rowId xmlns:a16="http://schemas.microsoft.com/office/drawing/2014/main" val="2310329303"/>
                  </a:ext>
                </a:extLst>
              </a:tr>
            </a:tbl>
          </a:graphicData>
        </a:graphic>
      </p:graphicFrame>
      <p:sp>
        <p:nvSpPr>
          <p:cNvPr id="11" name="Espace réservé du contenu 2">
            <a:extLst>
              <a:ext uri="{FF2B5EF4-FFF2-40B4-BE49-F238E27FC236}">
                <a16:creationId xmlns:a16="http://schemas.microsoft.com/office/drawing/2014/main" id="{E1D96A48-177A-4AAA-9C8B-5F68A5F0E1BF}"/>
              </a:ext>
            </a:extLst>
          </p:cNvPr>
          <p:cNvSpPr>
            <a:spLocks noGrp="1"/>
          </p:cNvSpPr>
          <p:nvPr>
            <p:ph idx="1"/>
          </p:nvPr>
        </p:nvSpPr>
        <p:spPr>
          <a:xfrm>
            <a:off x="442912" y="1426464"/>
            <a:ext cx="5256000" cy="4800600"/>
          </a:xfrm>
        </p:spPr>
        <p:txBody>
          <a:bodyPr/>
          <a:lstStyle/>
          <a:p>
            <a:pPr marL="0" indent="0">
              <a:lnSpc>
                <a:spcPct val="100000"/>
              </a:lnSpc>
              <a:spcBef>
                <a:spcPts val="600"/>
              </a:spcBef>
              <a:buNone/>
            </a:pPr>
            <a:r>
              <a:rPr lang="en-GB" sz="1800" b="1" dirty="0">
                <a:solidFill>
                  <a:srgbClr val="D04A02"/>
                </a:solidFill>
              </a:rPr>
              <a:t>Observations and comments</a:t>
            </a:r>
          </a:p>
          <a:p>
            <a:pPr marL="285750" indent="-285750">
              <a:lnSpc>
                <a:spcPct val="100000"/>
              </a:lnSpc>
              <a:spcBef>
                <a:spcPts val="600"/>
              </a:spcBef>
              <a:buFont typeface="Arial" panose="020B0604020202020204" pitchFamily="34" charset="0"/>
              <a:buChar char="•"/>
            </a:pPr>
            <a:r>
              <a:rPr lang="en-GB" sz="1600" dirty="0"/>
              <a:t>The </a:t>
            </a:r>
            <a:r>
              <a:rPr lang="en-GB" sz="1600" b="1" dirty="0"/>
              <a:t>weighted average </a:t>
            </a:r>
            <a:r>
              <a:rPr lang="en-GB" sz="1600" dirty="0"/>
              <a:t>of energy for production </a:t>
            </a:r>
            <a:br>
              <a:rPr lang="en-GB" sz="1600" dirty="0"/>
            </a:br>
            <a:r>
              <a:rPr lang="en-GB" sz="1600" dirty="0"/>
              <a:t>in 2019 is of </a:t>
            </a:r>
            <a:r>
              <a:rPr lang="en-GB" sz="1600" b="1" dirty="0"/>
              <a:t>21 kWh/m</a:t>
            </a:r>
            <a:r>
              <a:rPr lang="en-GB" sz="1600" b="1" baseline="30000" dirty="0"/>
              <a:t>3</a:t>
            </a:r>
            <a:r>
              <a:rPr lang="en-GB" sz="1600" dirty="0"/>
              <a:t>, which is increased by a few countries located in Northern America.</a:t>
            </a:r>
          </a:p>
          <a:p>
            <a:pPr marL="285750" indent="-285750">
              <a:lnSpc>
                <a:spcPct val="100000"/>
              </a:lnSpc>
              <a:spcBef>
                <a:spcPts val="600"/>
              </a:spcBef>
              <a:buFont typeface="Arial" panose="020B0604020202020204" pitchFamily="34" charset="0"/>
              <a:buChar char="•"/>
            </a:pPr>
            <a:r>
              <a:rPr lang="en-GB" sz="1600" dirty="0"/>
              <a:t>The average of total energy for production in North America is twice the average at world level and five times higher than the average in Europe.</a:t>
            </a:r>
          </a:p>
          <a:p>
            <a:pPr marL="285750" indent="-285750">
              <a:lnSpc>
                <a:spcPct val="100000"/>
              </a:lnSpc>
              <a:spcBef>
                <a:spcPts val="600"/>
              </a:spcBef>
              <a:buFont typeface="Arial" panose="020B0604020202020204" pitchFamily="34" charset="0"/>
              <a:buChar char="•"/>
            </a:pPr>
            <a:r>
              <a:rPr lang="en-GB" sz="1600" dirty="0"/>
              <a:t>Around </a:t>
            </a:r>
            <a:r>
              <a:rPr lang="en-GB" sz="1600" b="1" dirty="0"/>
              <a:t>90% of values </a:t>
            </a:r>
            <a:r>
              <a:rPr lang="en-GB" sz="1600" dirty="0"/>
              <a:t>lie </a:t>
            </a:r>
            <a:r>
              <a:rPr lang="en-GB" sz="1600" b="1" dirty="0"/>
              <a:t>between 1 kWh/m</a:t>
            </a:r>
            <a:r>
              <a:rPr lang="en-GB" sz="1600" b="1" baseline="30000" dirty="0"/>
              <a:t>3</a:t>
            </a:r>
            <a:r>
              <a:rPr lang="en-GB" sz="1600" b="1" dirty="0"/>
              <a:t> and </a:t>
            </a:r>
            <a:br>
              <a:rPr lang="en-GB" sz="1600" b="1" dirty="0"/>
            </a:br>
            <a:r>
              <a:rPr lang="en-GB" sz="1600" b="1" dirty="0"/>
              <a:t>35 kWh/m</a:t>
            </a:r>
            <a:r>
              <a:rPr lang="en-GB" sz="1600" b="1" baseline="30000" dirty="0"/>
              <a:t>3</a:t>
            </a:r>
            <a:r>
              <a:rPr lang="en-GB" sz="1600" dirty="0"/>
              <a:t>.</a:t>
            </a:r>
          </a:p>
          <a:p>
            <a:pPr marL="285750" indent="-285750">
              <a:lnSpc>
                <a:spcPct val="100000"/>
              </a:lnSpc>
              <a:spcBef>
                <a:spcPts val="600"/>
              </a:spcBef>
              <a:buFont typeface="Arial" panose="020B0604020202020204" pitchFamily="34" charset="0"/>
              <a:buChar char="•"/>
            </a:pPr>
            <a:r>
              <a:rPr lang="en-GB" sz="1600" dirty="0"/>
              <a:t>The chart pictures </a:t>
            </a:r>
            <a:r>
              <a:rPr lang="en-GB" sz="1600" b="1" dirty="0"/>
              <a:t>97% of coverage in North America</a:t>
            </a:r>
            <a:r>
              <a:rPr lang="en-GB" sz="1600" dirty="0"/>
              <a:t>. Not all companies did hold the information on non-electricity energy for production.</a:t>
            </a:r>
          </a:p>
          <a:p>
            <a:pPr marL="285750" indent="-285750">
              <a:lnSpc>
                <a:spcPct val="100000"/>
              </a:lnSpc>
              <a:spcBef>
                <a:spcPts val="600"/>
              </a:spcBef>
              <a:buFont typeface="Arial" panose="020B0604020202020204" pitchFamily="34" charset="0"/>
              <a:buChar char="•"/>
            </a:pPr>
            <a:r>
              <a:rPr lang="en-GB" sz="1600" dirty="0"/>
              <a:t>Costs of operating in </a:t>
            </a:r>
            <a:r>
              <a:rPr lang="en-GB" sz="1600" b="1" dirty="0"/>
              <a:t>cold weather in Northern America </a:t>
            </a:r>
            <a:r>
              <a:rPr lang="en-GB" sz="1600" dirty="0"/>
              <a:t>may explain the large gap between the maximum value and the rest of the set of values.</a:t>
            </a:r>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p:txBody>
      </p:sp>
      <p:sp>
        <p:nvSpPr>
          <p:cNvPr id="3" name="Espace réservé du pied de page 2">
            <a:extLst>
              <a:ext uri="{FF2B5EF4-FFF2-40B4-BE49-F238E27FC236}">
                <a16:creationId xmlns:a16="http://schemas.microsoft.com/office/drawing/2014/main" id="{D631900F-F7E6-4538-B637-11781291A2D5}"/>
              </a:ext>
            </a:extLst>
          </p:cNvPr>
          <p:cNvSpPr>
            <a:spLocks noGrp="1"/>
          </p:cNvSpPr>
          <p:nvPr>
            <p:ph type="ftr" sz="quarter" idx="13"/>
          </p:nvPr>
        </p:nvSpPr>
        <p:spPr/>
        <p:txBody>
          <a:bodyPr/>
          <a:lstStyle/>
          <a:p>
            <a:pPr algn="l"/>
            <a:r>
              <a:rPr lang="en-US"/>
              <a:t>GCCA GNR Concrete Pilot Project</a:t>
            </a:r>
            <a:endParaRPr lang="fr-FR" dirty="0"/>
          </a:p>
        </p:txBody>
      </p:sp>
      <p:sp>
        <p:nvSpPr>
          <p:cNvPr id="4" name="Rectangle 3">
            <a:extLst>
              <a:ext uri="{FF2B5EF4-FFF2-40B4-BE49-F238E27FC236}">
                <a16:creationId xmlns:a16="http://schemas.microsoft.com/office/drawing/2014/main" id="{906C9285-A59F-4BAF-88CD-299052AD320F}"/>
              </a:ext>
            </a:extLst>
          </p:cNvPr>
          <p:cNvSpPr/>
          <p:nvPr/>
        </p:nvSpPr>
        <p:spPr>
          <a:xfrm>
            <a:off x="10671048" y="88931"/>
            <a:ext cx="122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North America</a:t>
            </a:r>
          </a:p>
        </p:txBody>
      </p:sp>
      <p:graphicFrame>
        <p:nvGraphicFramePr>
          <p:cNvPr id="14" name="Graphique 13">
            <a:extLst>
              <a:ext uri="{FF2B5EF4-FFF2-40B4-BE49-F238E27FC236}">
                <a16:creationId xmlns:a16="http://schemas.microsoft.com/office/drawing/2014/main" id="{25305931-4ACA-4161-9221-EA422DFF62F9}"/>
              </a:ext>
            </a:extLst>
          </p:cNvPr>
          <p:cNvGraphicFramePr>
            <a:graphicFrameLocks/>
          </p:cNvGraphicFramePr>
          <p:nvPr>
            <p:extLst>
              <p:ext uri="{D42A27DB-BD31-4B8C-83A1-F6EECF244321}">
                <p14:modId xmlns:p14="http://schemas.microsoft.com/office/powerpoint/2010/main" val="4060786641"/>
              </p:ext>
            </p:extLst>
          </p:nvPr>
        </p:nvGraphicFramePr>
        <p:xfrm>
          <a:off x="5740745" y="2405743"/>
          <a:ext cx="5832000" cy="399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473754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3C8AA9ED-F179-4B8B-AD6C-9026AA97B4EE}"/>
              </a:ext>
            </a:extLst>
          </p:cNvPr>
          <p:cNvGraphicFramePr>
            <a:graphicFrameLocks noChangeAspect="1"/>
          </p:cNvGraphicFramePr>
          <p:nvPr>
            <p:custDataLst>
              <p:tags r:id="rId1"/>
            </p:custDataLst>
            <p:extLst>
              <p:ext uri="{D42A27DB-BD31-4B8C-83A1-F6EECF244321}">
                <p14:modId xmlns:p14="http://schemas.microsoft.com/office/powerpoint/2010/main" val="11538619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8" name="Objet 7" hidden="1">
                        <a:extLst>
                          <a:ext uri="{FF2B5EF4-FFF2-40B4-BE49-F238E27FC236}">
                            <a16:creationId xmlns:a16="http://schemas.microsoft.com/office/drawing/2014/main" id="{3C8AA9ED-F179-4B8B-AD6C-9026AA97B4E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7B1F0BA1-EF4F-473C-8F98-1715F4930D35}"/>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299AD306-B664-4941-949E-A0078273702A}"/>
              </a:ext>
            </a:extLst>
          </p:cNvPr>
          <p:cNvSpPr>
            <a:spLocks noGrp="1"/>
          </p:cNvSpPr>
          <p:nvPr>
            <p:ph type="title"/>
          </p:nvPr>
        </p:nvSpPr>
        <p:spPr/>
        <p:txBody>
          <a:bodyPr>
            <a:normAutofit/>
          </a:bodyPr>
          <a:lstStyle/>
          <a:p>
            <a:r>
              <a:rPr lang="en-GB" dirty="0"/>
              <a:t>The use of electricity and other types of energy is scattered</a:t>
            </a:r>
            <a:br>
              <a:rPr lang="en-GB" dirty="0"/>
            </a:br>
            <a:r>
              <a:rPr lang="en-GB" sz="2200" dirty="0"/>
              <a:t>Costs of operating in cold-weathered regions may explain the large gap between the maximum value and the rest of the set of values</a:t>
            </a:r>
            <a:br>
              <a:rPr lang="en-GB" sz="2200" dirty="0"/>
            </a:br>
            <a:endParaRPr lang="en-GB" sz="2200" dirty="0"/>
          </a:p>
        </p:txBody>
      </p:sp>
      <p:sp>
        <p:nvSpPr>
          <p:cNvPr id="5" name="Espace réservé de la date 4">
            <a:extLst>
              <a:ext uri="{FF2B5EF4-FFF2-40B4-BE49-F238E27FC236}">
                <a16:creationId xmlns:a16="http://schemas.microsoft.com/office/drawing/2014/main" id="{4F3A485A-92A7-4980-AF76-E28ED7722818}"/>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F34C45C2-AF71-4870-9D71-5ED01262B597}"/>
              </a:ext>
            </a:extLst>
          </p:cNvPr>
          <p:cNvSpPr>
            <a:spLocks noGrp="1"/>
          </p:cNvSpPr>
          <p:nvPr>
            <p:ph type="sldNum" sz="quarter" idx="11"/>
          </p:nvPr>
        </p:nvSpPr>
        <p:spPr/>
        <p:txBody>
          <a:bodyPr/>
          <a:lstStyle/>
          <a:p>
            <a:fld id="{7870704B-CE94-48CC-AF30-84932A1262A7}" type="slidenum">
              <a:rPr lang="fr-FR" smtClean="0"/>
              <a:pPr/>
              <a:t>8</a:t>
            </a:fld>
            <a:endParaRPr lang="fr-FR" dirty="0"/>
          </a:p>
        </p:txBody>
      </p:sp>
      <p:graphicFrame>
        <p:nvGraphicFramePr>
          <p:cNvPr id="12" name="Tableau 11">
            <a:extLst>
              <a:ext uri="{FF2B5EF4-FFF2-40B4-BE49-F238E27FC236}">
                <a16:creationId xmlns:a16="http://schemas.microsoft.com/office/drawing/2014/main" id="{6120BEF5-2357-4AB8-8DCC-73365CF2A894}"/>
              </a:ext>
            </a:extLst>
          </p:cNvPr>
          <p:cNvGraphicFramePr>
            <a:graphicFrameLocks noGrp="1"/>
          </p:cNvGraphicFramePr>
          <p:nvPr>
            <p:extLst>
              <p:ext uri="{D42A27DB-BD31-4B8C-83A1-F6EECF244321}">
                <p14:modId xmlns:p14="http://schemas.microsoft.com/office/powerpoint/2010/main" val="2658484014"/>
              </p:ext>
            </p:extLst>
          </p:nvPr>
        </p:nvGraphicFramePr>
        <p:xfrm>
          <a:off x="746243" y="1481457"/>
          <a:ext cx="4320000" cy="899999"/>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1504220348"/>
                    </a:ext>
                  </a:extLst>
                </a:gridCol>
                <a:gridCol w="864000">
                  <a:extLst>
                    <a:ext uri="{9D8B030D-6E8A-4147-A177-3AD203B41FA5}">
                      <a16:colId xmlns:a16="http://schemas.microsoft.com/office/drawing/2014/main" val="1413351609"/>
                    </a:ext>
                  </a:extLst>
                </a:gridCol>
                <a:gridCol w="864000">
                  <a:extLst>
                    <a:ext uri="{9D8B030D-6E8A-4147-A177-3AD203B41FA5}">
                      <a16:colId xmlns:a16="http://schemas.microsoft.com/office/drawing/2014/main" val="1239885802"/>
                    </a:ext>
                  </a:extLst>
                </a:gridCol>
                <a:gridCol w="864000">
                  <a:extLst>
                    <a:ext uri="{9D8B030D-6E8A-4147-A177-3AD203B41FA5}">
                      <a16:colId xmlns:a16="http://schemas.microsoft.com/office/drawing/2014/main" val="3091639623"/>
                    </a:ext>
                  </a:extLst>
                </a:gridCol>
                <a:gridCol w="864000">
                  <a:extLst>
                    <a:ext uri="{9D8B030D-6E8A-4147-A177-3AD203B41FA5}">
                      <a16:colId xmlns:a16="http://schemas.microsoft.com/office/drawing/2014/main" val="2904654360"/>
                    </a:ext>
                  </a:extLst>
                </a:gridCol>
              </a:tblGrid>
              <a:tr h="356809">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71595">
                <a:tc>
                  <a:txBody>
                    <a:bodyPr/>
                    <a:lstStyle/>
                    <a:p>
                      <a:pPr algn="ctr" fontAlgn="ctr"/>
                      <a:r>
                        <a:rPr lang="en-GB" sz="1000" b="0" i="1" u="none" strike="noStrike">
                          <a:solidFill>
                            <a:schemeClr val="tx1"/>
                          </a:solidFill>
                          <a:effectLst/>
                          <a:latin typeface="Arial" panose="020B0604020202020204" pitchFamily="34" charset="0"/>
                          <a:cs typeface="Arial" panose="020B0604020202020204" pitchFamily="34" charset="0"/>
                        </a:rPr>
                        <a:t>kWh/m3</a:t>
                      </a:r>
                      <a:endParaRPr lang="en-GB" sz="1000" b="0" i="1"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0" i="1" u="none" strike="noStrike">
                          <a:solidFill>
                            <a:schemeClr val="tx1"/>
                          </a:solidFill>
                          <a:effectLst/>
                          <a:latin typeface="Arial" panose="020B0604020202020204" pitchFamily="34" charset="0"/>
                          <a:cs typeface="Arial" panose="020B0604020202020204" pitchFamily="34" charset="0"/>
                        </a:rPr>
                        <a:t>kWh/m3</a:t>
                      </a:r>
                      <a:endParaRPr lang="en-GB" sz="1000" b="0" i="1"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b="0" i="1" u="none" strike="noStrike" dirty="0">
                          <a:solidFill>
                            <a:schemeClr val="tx1"/>
                          </a:solidFill>
                          <a:effectLst/>
                          <a:latin typeface="Arial" panose="020B0604020202020204" pitchFamily="34" charset="0"/>
                          <a:cs typeface="Arial" panose="020B0604020202020204" pitchFamily="34" charset="0"/>
                        </a:rPr>
                        <a:t>kWh/m3</a:t>
                      </a:r>
                    </a:p>
                  </a:txBody>
                  <a:tcPr marL="9525" marR="9525" marT="9525" marB="0" anchor="ctr"/>
                </a:tc>
                <a:tc>
                  <a:txBody>
                    <a:bodyPr/>
                    <a:lstStyle/>
                    <a:p>
                      <a:pPr algn="ctr" fontAlgn="ctr"/>
                      <a:r>
                        <a:rPr lang="en-GB" sz="1000" b="0" i="1" u="none" strike="noStrike" dirty="0">
                          <a:solidFill>
                            <a:schemeClr val="tx1"/>
                          </a:solidFill>
                          <a:effectLst/>
                          <a:latin typeface="Arial" panose="020B0604020202020204" pitchFamily="34" charset="0"/>
                          <a:cs typeface="Arial" panose="020B0604020202020204" pitchFamily="34" charset="0"/>
                        </a:rPr>
                        <a:t>kWh/m3</a:t>
                      </a:r>
                    </a:p>
                  </a:txBody>
                  <a:tcPr marL="9525" marR="9525" marT="9525" marB="0" anchor="ctr"/>
                </a:tc>
                <a:tc>
                  <a:txBody>
                    <a:bodyPr/>
                    <a:lstStyle/>
                    <a:p>
                      <a:pPr algn="ctr" fontAlgn="ctr"/>
                      <a:r>
                        <a:rPr lang="en-GB" sz="1000" b="0" i="1" u="none" strike="noStrike" dirty="0">
                          <a:solidFill>
                            <a:schemeClr val="tx1"/>
                          </a:solidFill>
                          <a:effectLst/>
                          <a:latin typeface="Arial" panose="020B0604020202020204" pitchFamily="34" charset="0"/>
                          <a:cs typeface="Arial" panose="020B0604020202020204" pitchFamily="34" charset="0"/>
                        </a:rPr>
                        <a:t>%</a:t>
                      </a:r>
                      <a:endParaRPr lang="en-GB" sz="1000" b="1" i="1" u="none" strike="noStrike" noProof="0"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885685747"/>
                  </a:ext>
                </a:extLst>
              </a:tr>
              <a:tr h="271595">
                <a:tc>
                  <a:txBody>
                    <a:bodyPr/>
                    <a:lstStyle/>
                    <a:p>
                      <a:pPr algn="ctr" fontAlgn="ctr"/>
                      <a:r>
                        <a:rPr lang="en-GB" sz="1000" b="0" i="0" u="none" strike="noStrike" dirty="0">
                          <a:solidFill>
                            <a:schemeClr val="tx1"/>
                          </a:solidFill>
                          <a:effectLst/>
                          <a:latin typeface="Arial" panose="020B0604020202020204" pitchFamily="34" charset="0"/>
                          <a:cs typeface="Arial" panose="020B0604020202020204" pitchFamily="34" charset="0"/>
                        </a:rPr>
                        <a:t>1.2</a:t>
                      </a:r>
                    </a:p>
                  </a:txBody>
                  <a:tcPr marL="9525" marR="9525" marT="9525" marB="0" anchor="ctr"/>
                </a:tc>
                <a:tc>
                  <a:txBody>
                    <a:bodyPr/>
                    <a:lstStyle/>
                    <a:p>
                      <a:pPr algn="ctr" fontAlgn="ctr"/>
                      <a:r>
                        <a:rPr lang="en-GB" sz="1000" b="0" i="0" u="none" strike="noStrike" dirty="0">
                          <a:solidFill>
                            <a:schemeClr val="tx1"/>
                          </a:solidFill>
                          <a:effectLst/>
                          <a:latin typeface="Arial" panose="020B0604020202020204" pitchFamily="34" charset="0"/>
                          <a:cs typeface="Arial" panose="020B0604020202020204" pitchFamily="34" charset="0"/>
                        </a:rPr>
                        <a:t>4.2</a:t>
                      </a:r>
                    </a:p>
                  </a:txBody>
                  <a:tcPr marL="9525" marR="9525" marT="9525" marB="0" anchor="ctr"/>
                </a:tc>
                <a:tc>
                  <a:txBody>
                    <a:bodyPr/>
                    <a:lstStyle/>
                    <a:p>
                      <a:pPr algn="ctr" fontAlgn="ctr"/>
                      <a:r>
                        <a:rPr lang="en-GB" sz="1000" b="0" i="0" u="none" strike="noStrike" dirty="0">
                          <a:solidFill>
                            <a:schemeClr val="tx1"/>
                          </a:solidFill>
                          <a:effectLst/>
                          <a:latin typeface="Arial" panose="020B0604020202020204" pitchFamily="34" charset="0"/>
                          <a:cs typeface="Arial" panose="020B0604020202020204" pitchFamily="34" charset="0"/>
                        </a:rPr>
                        <a:t>8.2</a:t>
                      </a:r>
                    </a:p>
                  </a:txBody>
                  <a:tcPr marL="9525" marR="9525" marT="9525" marB="0" anchor="ctr"/>
                </a:tc>
                <a:tc>
                  <a:txBody>
                    <a:bodyPr/>
                    <a:lstStyle/>
                    <a:p>
                      <a:pPr algn="ctr" fontAlgn="ctr"/>
                      <a:r>
                        <a:rPr lang="en-GB" sz="1000" b="0" i="0" u="none" strike="noStrike" dirty="0">
                          <a:solidFill>
                            <a:schemeClr val="tx1"/>
                          </a:solidFill>
                          <a:effectLst/>
                          <a:latin typeface="Arial" panose="020B0604020202020204" pitchFamily="34" charset="0"/>
                          <a:cs typeface="Arial" panose="020B0604020202020204" pitchFamily="34" charset="0"/>
                        </a:rPr>
                        <a:t>1.5</a:t>
                      </a:r>
                    </a:p>
                  </a:txBody>
                  <a:tcPr marL="9525" marR="9525" marT="9525" marB="0" anchor="ctr"/>
                </a:tc>
                <a:tc>
                  <a:txBody>
                    <a:bodyPr/>
                    <a:lstStyle/>
                    <a:p>
                      <a:pPr algn="ctr" fontAlgn="ctr"/>
                      <a:r>
                        <a:rPr lang="en-GB" sz="1000" b="0" i="0" u="none" strike="noStrike" dirty="0">
                          <a:solidFill>
                            <a:schemeClr val="tx1"/>
                          </a:solidFill>
                          <a:effectLst/>
                          <a:latin typeface="Arial" panose="020B0604020202020204" pitchFamily="34" charset="0"/>
                          <a:cs typeface="Arial" panose="020B0604020202020204" pitchFamily="34" charset="0"/>
                        </a:rPr>
                        <a:t>79</a:t>
                      </a:r>
                    </a:p>
                  </a:txBody>
                  <a:tcPr marL="9525" marR="9525" marT="9525" marB="0" anchor="ctr"/>
                </a:tc>
                <a:extLst>
                  <a:ext uri="{0D108BD9-81ED-4DB2-BD59-A6C34878D82A}">
                    <a16:rowId xmlns:a16="http://schemas.microsoft.com/office/drawing/2014/main" val="2310329303"/>
                  </a:ext>
                </a:extLst>
              </a:tr>
            </a:tbl>
          </a:graphicData>
        </a:graphic>
      </p:graphicFrame>
      <p:graphicFrame>
        <p:nvGraphicFramePr>
          <p:cNvPr id="13" name="Tableau 12">
            <a:extLst>
              <a:ext uri="{FF2B5EF4-FFF2-40B4-BE49-F238E27FC236}">
                <a16:creationId xmlns:a16="http://schemas.microsoft.com/office/drawing/2014/main" id="{61004715-0D04-42FE-9A1D-4CFE5FDCC618}"/>
              </a:ext>
            </a:extLst>
          </p:cNvPr>
          <p:cNvGraphicFramePr>
            <a:graphicFrameLocks noGrp="1"/>
          </p:cNvGraphicFramePr>
          <p:nvPr>
            <p:extLst>
              <p:ext uri="{D42A27DB-BD31-4B8C-83A1-F6EECF244321}">
                <p14:modId xmlns:p14="http://schemas.microsoft.com/office/powerpoint/2010/main" val="4002806834"/>
              </p:ext>
            </p:extLst>
          </p:nvPr>
        </p:nvGraphicFramePr>
        <p:xfrm>
          <a:off x="6973087" y="1481457"/>
          <a:ext cx="4320000" cy="864000"/>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1504220348"/>
                    </a:ext>
                  </a:extLst>
                </a:gridCol>
                <a:gridCol w="864000">
                  <a:extLst>
                    <a:ext uri="{9D8B030D-6E8A-4147-A177-3AD203B41FA5}">
                      <a16:colId xmlns:a16="http://schemas.microsoft.com/office/drawing/2014/main" val="1413351609"/>
                    </a:ext>
                  </a:extLst>
                </a:gridCol>
                <a:gridCol w="864000">
                  <a:extLst>
                    <a:ext uri="{9D8B030D-6E8A-4147-A177-3AD203B41FA5}">
                      <a16:colId xmlns:a16="http://schemas.microsoft.com/office/drawing/2014/main" val="1239885802"/>
                    </a:ext>
                  </a:extLst>
                </a:gridCol>
                <a:gridCol w="864000">
                  <a:extLst>
                    <a:ext uri="{9D8B030D-6E8A-4147-A177-3AD203B41FA5}">
                      <a16:colId xmlns:a16="http://schemas.microsoft.com/office/drawing/2014/main" val="3091639623"/>
                    </a:ext>
                  </a:extLst>
                </a:gridCol>
                <a:gridCol w="864000">
                  <a:extLst>
                    <a:ext uri="{9D8B030D-6E8A-4147-A177-3AD203B41FA5}">
                      <a16:colId xmlns:a16="http://schemas.microsoft.com/office/drawing/2014/main" val="2904654360"/>
                    </a:ext>
                  </a:extLst>
                </a:gridCol>
              </a:tblGrid>
              <a:tr h="353298">
                <a:tc>
                  <a:txBody>
                    <a:bodyPr/>
                    <a:lstStyle/>
                    <a:p>
                      <a:pPr algn="ctr" fontAlgn="ctr"/>
                      <a:r>
                        <a:rPr lang="fr-FR" sz="1000" b="1" u="none" strike="noStrike" dirty="0">
                          <a:solidFill>
                            <a:schemeClr val="tx1"/>
                          </a:solidFill>
                          <a:effectLst/>
                        </a:rPr>
                        <a:t>Minimum </a:t>
                      </a:r>
                      <a:endParaRPr lang="fr-FR"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fr-FR" sz="1000" b="1" u="none" strike="noStrike" dirty="0">
                          <a:solidFill>
                            <a:schemeClr val="tx1"/>
                          </a:solidFill>
                          <a:effectLst/>
                        </a:rPr>
                        <a:t>Maximum</a:t>
                      </a:r>
                      <a:endParaRPr lang="fr-FR"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fr-FR" sz="1000" b="1" u="none" strike="noStrike" dirty="0">
                          <a:solidFill>
                            <a:schemeClr val="tx1"/>
                          </a:solidFill>
                          <a:effectLst/>
                        </a:rPr>
                        <a:t>Standard </a:t>
                      </a:r>
                      <a:r>
                        <a:rPr lang="en-GB" sz="1000" b="1" u="none" strike="noStrike" noProof="0" dirty="0">
                          <a:solidFill>
                            <a:schemeClr val="tx1"/>
                          </a:solidFill>
                          <a:effectLst/>
                        </a:rPr>
                        <a:t>Deviation</a:t>
                      </a:r>
                      <a:endParaRPr lang="en-GB" sz="1000" b="1" i="0" u="none" strike="noStrike" noProof="0"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55351">
                <a:tc>
                  <a:txBody>
                    <a:bodyPr/>
                    <a:lstStyle/>
                    <a:p>
                      <a:pPr marL="0" algn="ctr" defTabSz="914400" rtl="0" eaLnBrk="1" fontAlgn="ctr" latinLnBrk="0" hangingPunct="1"/>
                      <a:r>
                        <a:rPr lang="fr-FR" sz="1000" b="0" i="1" u="none" strike="noStrike" kern="1200">
                          <a:solidFill>
                            <a:schemeClr val="tx1"/>
                          </a:solidFill>
                          <a:effectLst/>
                          <a:latin typeface="Arial" panose="020B0604020202020204" pitchFamily="34" charset="0"/>
                          <a:ea typeface="+mn-ea"/>
                          <a:cs typeface="Arial" panose="020B0604020202020204" pitchFamily="34" charset="0"/>
                        </a:rPr>
                        <a:t>MJ/m3</a:t>
                      </a:r>
                      <a:endParaRPr lang="fr-FR" sz="1000" b="0" i="1" u="none" strike="noStrike" kern="1200" dirty="0">
                        <a:solidFill>
                          <a:schemeClr val="tx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r>
                        <a:rPr lang="fr-FR" sz="1000" b="0" i="1" u="none" strike="noStrike" kern="1200">
                          <a:solidFill>
                            <a:schemeClr val="tx1"/>
                          </a:solidFill>
                          <a:effectLst/>
                          <a:latin typeface="Arial" panose="020B0604020202020204" pitchFamily="34" charset="0"/>
                          <a:ea typeface="+mn-ea"/>
                          <a:cs typeface="Arial" panose="020B0604020202020204" pitchFamily="34" charset="0"/>
                        </a:rPr>
                        <a:t>MJ/m3</a:t>
                      </a:r>
                      <a:endParaRPr lang="fr-FR" sz="1000" b="0" i="1" u="none" strike="noStrike" kern="1200" dirty="0">
                        <a:solidFill>
                          <a:schemeClr val="tx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r>
                        <a:rPr lang="fr-FR" sz="1000" b="0" i="1" u="none" strike="noStrike" kern="1200" dirty="0">
                          <a:solidFill>
                            <a:schemeClr val="tx1"/>
                          </a:solidFill>
                          <a:effectLst/>
                          <a:latin typeface="Arial" panose="020B0604020202020204" pitchFamily="34" charset="0"/>
                          <a:ea typeface="+mn-ea"/>
                          <a:cs typeface="Arial" panose="020B0604020202020204" pitchFamily="34" charset="0"/>
                        </a:rPr>
                        <a:t>MJ/m3</a:t>
                      </a:r>
                    </a:p>
                  </a:txBody>
                  <a:tcPr marL="9525" marR="9525" marT="9525" marB="0" anchor="ctr"/>
                </a:tc>
                <a:tc>
                  <a:txBody>
                    <a:bodyPr/>
                    <a:lstStyle/>
                    <a:p>
                      <a:pPr marL="0" algn="ctr" defTabSz="914400" rtl="0" eaLnBrk="1" fontAlgn="ctr" latinLnBrk="0" hangingPunct="1"/>
                      <a:r>
                        <a:rPr lang="fr-FR" sz="1000" b="0" i="1" u="none" strike="noStrike" kern="1200" dirty="0">
                          <a:solidFill>
                            <a:schemeClr val="tx1"/>
                          </a:solidFill>
                          <a:effectLst/>
                          <a:latin typeface="Arial" panose="020B0604020202020204" pitchFamily="34" charset="0"/>
                          <a:ea typeface="+mn-ea"/>
                          <a:cs typeface="Arial" panose="020B0604020202020204" pitchFamily="34" charset="0"/>
                        </a:rPr>
                        <a:t>MJ/m3</a:t>
                      </a:r>
                    </a:p>
                  </a:txBody>
                  <a:tcPr marL="9525" marR="9525" marT="9525" marB="0" anchor="ctr"/>
                </a:tc>
                <a:tc>
                  <a:txBody>
                    <a:bodyPr/>
                    <a:lstStyle/>
                    <a:p>
                      <a:pPr marL="0" algn="ctr" defTabSz="914400" rtl="0" eaLnBrk="1" fontAlgn="ctr" latinLnBrk="0" hangingPunct="1"/>
                      <a:r>
                        <a:rPr lang="fr-FR" sz="1000" b="0" i="1" u="none" strike="noStrike" kern="1200" dirty="0">
                          <a:solidFill>
                            <a:schemeClr val="tx1"/>
                          </a:solidFill>
                          <a:effectLst/>
                          <a:latin typeface="Arial" panose="020B0604020202020204" pitchFamily="34" charset="0"/>
                          <a:ea typeface="+mn-ea"/>
                          <a:cs typeface="Arial" panose="020B0604020202020204" pitchFamily="34" charset="0"/>
                        </a:rPr>
                        <a:t>%</a:t>
                      </a:r>
                    </a:p>
                  </a:txBody>
                  <a:tcPr marL="9525" marR="9525" marT="9525" marB="0" anchor="ctr"/>
                </a:tc>
                <a:extLst>
                  <a:ext uri="{0D108BD9-81ED-4DB2-BD59-A6C34878D82A}">
                    <a16:rowId xmlns:a16="http://schemas.microsoft.com/office/drawing/2014/main" val="2310329303"/>
                  </a:ext>
                </a:extLst>
              </a:tr>
              <a:tr h="255351">
                <a:tc>
                  <a:txBody>
                    <a:bodyPr/>
                    <a:lstStyle/>
                    <a:p>
                      <a:pPr marL="0" algn="ctr" defTabSz="914400" rtl="0" eaLnBrk="1" fontAlgn="ctr" latinLnBrk="0" hangingPunct="1"/>
                      <a:r>
                        <a:rPr lang="fr-FR" sz="1000" b="0" i="0" u="none" strike="noStrike" kern="1200" dirty="0">
                          <a:solidFill>
                            <a:schemeClr val="tx1"/>
                          </a:solidFill>
                          <a:effectLst/>
                          <a:latin typeface="Arial" panose="020B0604020202020204" pitchFamily="34" charset="0"/>
                          <a:ea typeface="+mn-ea"/>
                          <a:cs typeface="Arial" panose="020B0604020202020204" pitchFamily="34" charset="0"/>
                        </a:rPr>
                        <a:t>0</a:t>
                      </a:r>
                    </a:p>
                  </a:txBody>
                  <a:tcPr marL="9525" marR="9525" marT="9525" marB="0" anchor="ctr"/>
                </a:tc>
                <a:tc>
                  <a:txBody>
                    <a:bodyPr/>
                    <a:lstStyle/>
                    <a:p>
                      <a:pPr marL="0" algn="ctr" defTabSz="914400" rtl="0" eaLnBrk="1" fontAlgn="ctr" latinLnBrk="0" hangingPunct="1"/>
                      <a:r>
                        <a:rPr lang="fr-FR" sz="1000" b="0" i="0" u="none" strike="noStrike" kern="1200" dirty="0">
                          <a:solidFill>
                            <a:schemeClr val="tx1"/>
                          </a:solidFill>
                          <a:effectLst/>
                          <a:latin typeface="Arial" panose="020B0604020202020204" pitchFamily="34" charset="0"/>
                          <a:ea typeface="+mn-ea"/>
                          <a:cs typeface="Arial" panose="020B0604020202020204" pitchFamily="34" charset="0"/>
                        </a:rPr>
                        <a:t>29</a:t>
                      </a:r>
                    </a:p>
                  </a:txBody>
                  <a:tcPr marL="9525" marR="9525" marT="9525" marB="0" anchor="ctr"/>
                </a:tc>
                <a:tc>
                  <a:txBody>
                    <a:bodyPr/>
                    <a:lstStyle/>
                    <a:p>
                      <a:pPr marL="0" algn="ctr" defTabSz="914400" rtl="0" eaLnBrk="1" fontAlgn="ctr" latinLnBrk="0" hangingPunct="1"/>
                      <a:r>
                        <a:rPr lang="fr-FR" sz="1000" b="0" i="0" u="none" strike="noStrike" kern="1200" dirty="0">
                          <a:solidFill>
                            <a:schemeClr val="tx1"/>
                          </a:solidFill>
                          <a:effectLst/>
                          <a:latin typeface="Arial" panose="020B0604020202020204" pitchFamily="34" charset="0"/>
                          <a:ea typeface="+mn-ea"/>
                          <a:cs typeface="Arial" panose="020B0604020202020204" pitchFamily="34" charset="0"/>
                        </a:rPr>
                        <a:t>210</a:t>
                      </a:r>
                    </a:p>
                  </a:txBody>
                  <a:tcPr marL="9525" marR="9525" marT="9525" marB="0" anchor="ctr"/>
                </a:tc>
                <a:tc>
                  <a:txBody>
                    <a:bodyPr/>
                    <a:lstStyle/>
                    <a:p>
                      <a:pPr marL="0" algn="ctr" defTabSz="914400" rtl="0" eaLnBrk="1" fontAlgn="ctr" latinLnBrk="0" hangingPunct="1"/>
                      <a:r>
                        <a:rPr lang="fr-FR" sz="1000" b="0" i="0" u="none" strike="noStrike" kern="1200" dirty="0">
                          <a:solidFill>
                            <a:schemeClr val="tx1"/>
                          </a:solidFill>
                          <a:effectLst/>
                          <a:latin typeface="Arial" panose="020B0604020202020204" pitchFamily="34" charset="0"/>
                          <a:ea typeface="+mn-ea"/>
                          <a:cs typeface="Arial" panose="020B0604020202020204" pitchFamily="34" charset="0"/>
                        </a:rPr>
                        <a:t>43</a:t>
                      </a:r>
                    </a:p>
                  </a:txBody>
                  <a:tcPr marL="9525" marR="9525" marT="9525" marB="0" anchor="ctr"/>
                </a:tc>
                <a:tc>
                  <a:txBody>
                    <a:bodyPr/>
                    <a:lstStyle/>
                    <a:p>
                      <a:pPr marL="0" algn="ctr" defTabSz="914400" rtl="0" eaLnBrk="1" fontAlgn="ctr" latinLnBrk="0" hangingPunct="1"/>
                      <a:r>
                        <a:rPr lang="fr-FR" sz="1000" b="0" i="0" u="none" strike="noStrike" kern="1200" dirty="0">
                          <a:solidFill>
                            <a:schemeClr val="tx1"/>
                          </a:solidFill>
                          <a:effectLst/>
                          <a:latin typeface="Arial" panose="020B0604020202020204" pitchFamily="34" charset="0"/>
                          <a:ea typeface="+mn-ea"/>
                          <a:cs typeface="Arial" panose="020B0604020202020204" pitchFamily="34" charset="0"/>
                        </a:rPr>
                        <a:t>76</a:t>
                      </a:r>
                    </a:p>
                  </a:txBody>
                  <a:tcPr marL="9525" marR="9525" marT="9525" marB="0" anchor="ctr"/>
                </a:tc>
                <a:extLst>
                  <a:ext uri="{0D108BD9-81ED-4DB2-BD59-A6C34878D82A}">
                    <a16:rowId xmlns:a16="http://schemas.microsoft.com/office/drawing/2014/main" val="2407293559"/>
                  </a:ext>
                </a:extLst>
              </a:tr>
            </a:tbl>
          </a:graphicData>
        </a:graphic>
      </p:graphicFrame>
      <p:sp>
        <p:nvSpPr>
          <p:cNvPr id="3" name="Espace réservé du pied de page 2">
            <a:extLst>
              <a:ext uri="{FF2B5EF4-FFF2-40B4-BE49-F238E27FC236}">
                <a16:creationId xmlns:a16="http://schemas.microsoft.com/office/drawing/2014/main" id="{E9A5FF85-F675-44B2-BC5E-41CE91789848}"/>
              </a:ext>
            </a:extLst>
          </p:cNvPr>
          <p:cNvSpPr>
            <a:spLocks noGrp="1"/>
          </p:cNvSpPr>
          <p:nvPr>
            <p:ph type="ftr" sz="quarter" idx="13"/>
          </p:nvPr>
        </p:nvSpPr>
        <p:spPr/>
        <p:txBody>
          <a:bodyPr/>
          <a:lstStyle/>
          <a:p>
            <a:pPr algn="l"/>
            <a:r>
              <a:rPr lang="en-US"/>
              <a:t>GCCA GNR Concrete Pilot Project</a:t>
            </a:r>
            <a:endParaRPr lang="fr-FR" dirty="0"/>
          </a:p>
        </p:txBody>
      </p:sp>
      <p:sp>
        <p:nvSpPr>
          <p:cNvPr id="14" name="Espace réservé du contenu 2">
            <a:extLst>
              <a:ext uri="{FF2B5EF4-FFF2-40B4-BE49-F238E27FC236}">
                <a16:creationId xmlns:a16="http://schemas.microsoft.com/office/drawing/2014/main" id="{36360113-8924-4835-A69E-9261A1C24D5A}"/>
              </a:ext>
            </a:extLst>
          </p:cNvPr>
          <p:cNvSpPr>
            <a:spLocks noGrp="1"/>
          </p:cNvSpPr>
          <p:nvPr>
            <p:ph idx="1"/>
          </p:nvPr>
        </p:nvSpPr>
        <p:spPr>
          <a:xfrm>
            <a:off x="464292" y="5871216"/>
            <a:ext cx="5358963" cy="491148"/>
          </a:xfrm>
        </p:spPr>
        <p:txBody>
          <a:bodyPr/>
          <a:lstStyle/>
          <a:p>
            <a:pPr marL="342900" indent="-342900">
              <a:buFont typeface="Arial" panose="020B0604020202020204" pitchFamily="34" charset="0"/>
              <a:buChar char="•"/>
            </a:pPr>
            <a:r>
              <a:rPr lang="en-GB" sz="1400" dirty="0"/>
              <a:t>Around </a:t>
            </a:r>
            <a:r>
              <a:rPr lang="en-GB" sz="1400" b="1" dirty="0"/>
              <a:t>80% of values </a:t>
            </a:r>
            <a:r>
              <a:rPr lang="en-GB" sz="1400" dirty="0"/>
              <a:t>lie </a:t>
            </a:r>
            <a:r>
              <a:rPr lang="en-GB" sz="1400" b="1" dirty="0"/>
              <a:t>between 2 kWh/m</a:t>
            </a:r>
            <a:r>
              <a:rPr lang="en-GB" sz="1400" b="1" baseline="30000" dirty="0"/>
              <a:t>3</a:t>
            </a:r>
            <a:r>
              <a:rPr lang="en-GB" sz="1400" b="1" dirty="0"/>
              <a:t> and </a:t>
            </a:r>
            <a:br>
              <a:rPr lang="en-GB" sz="1400" b="1" dirty="0"/>
            </a:br>
            <a:r>
              <a:rPr lang="en-GB" sz="1400" b="1" dirty="0"/>
              <a:t>6 kWh/m</a:t>
            </a:r>
            <a:r>
              <a:rPr lang="en-GB" sz="1400" b="1" baseline="30000" dirty="0"/>
              <a:t>3 </a:t>
            </a:r>
            <a:r>
              <a:rPr lang="en-GB" sz="1400" b="1" dirty="0"/>
              <a:t>of total electricity consumption.</a:t>
            </a:r>
            <a:endParaRPr lang="en-GB" sz="1400" dirty="0"/>
          </a:p>
          <a:p>
            <a:pPr marL="285750" indent="-285750">
              <a:lnSpc>
                <a:spcPct val="100000"/>
              </a:lnSpc>
              <a:spcBef>
                <a:spcPts val="600"/>
              </a:spcBef>
              <a:buFont typeface="Arial" panose="020B0604020202020204" pitchFamily="34" charset="0"/>
              <a:buChar char="•"/>
            </a:pPr>
            <a:endParaRPr lang="en-GB" sz="1400" dirty="0"/>
          </a:p>
          <a:p>
            <a:pPr marL="285750" indent="-285750">
              <a:lnSpc>
                <a:spcPct val="100000"/>
              </a:lnSpc>
              <a:spcBef>
                <a:spcPts val="600"/>
              </a:spcBef>
              <a:buFont typeface="Arial" panose="020B0604020202020204" pitchFamily="34" charset="0"/>
              <a:buChar char="•"/>
            </a:pPr>
            <a:endParaRPr lang="en-GB" sz="1400" dirty="0"/>
          </a:p>
          <a:p>
            <a:pPr marL="285750" indent="-285750">
              <a:lnSpc>
                <a:spcPct val="100000"/>
              </a:lnSpc>
              <a:spcBef>
                <a:spcPts val="600"/>
              </a:spcBef>
              <a:buFont typeface="Arial" panose="020B0604020202020204" pitchFamily="34" charset="0"/>
              <a:buChar char="•"/>
            </a:pPr>
            <a:endParaRPr lang="en-GB" sz="1400" dirty="0"/>
          </a:p>
        </p:txBody>
      </p:sp>
      <p:sp>
        <p:nvSpPr>
          <p:cNvPr id="15" name="Espace réservé du contenu 2">
            <a:extLst>
              <a:ext uri="{FF2B5EF4-FFF2-40B4-BE49-F238E27FC236}">
                <a16:creationId xmlns:a16="http://schemas.microsoft.com/office/drawing/2014/main" id="{BD22637D-2599-49F9-9A02-DC3D3E6DD699}"/>
              </a:ext>
            </a:extLst>
          </p:cNvPr>
          <p:cNvSpPr txBox="1">
            <a:spLocks/>
          </p:cNvSpPr>
          <p:nvPr/>
        </p:nvSpPr>
        <p:spPr>
          <a:xfrm>
            <a:off x="6945364" y="5871216"/>
            <a:ext cx="4801360" cy="758184"/>
          </a:xfrm>
          <a:prstGeom prst="rect">
            <a:avLst/>
          </a:prstGeom>
        </p:spPr>
        <p:txBody>
          <a:bodyPr vert="horz" lIns="0" tIns="0" rIns="0" bIns="0" rtlCol="0">
            <a:noAutofit/>
          </a:bodyPr>
          <a:lstStyle>
            <a:lvl1pPr marL="730250" indent="-730250" algn="l" defTabSz="914400" rtl="0" eaLnBrk="1" latinLnBrk="0" hangingPunct="1">
              <a:lnSpc>
                <a:spcPct val="90000"/>
              </a:lnSpc>
              <a:spcBef>
                <a:spcPts val="0"/>
              </a:spcBef>
              <a:spcAft>
                <a:spcPts val="600"/>
              </a:spcAft>
              <a:buClr>
                <a:schemeClr val="accent1"/>
              </a:buClr>
              <a:buFont typeface="+mj-lt"/>
              <a:buAutoNum type="arabicPeriod"/>
              <a:tabLst>
                <a:tab pos="10623550" algn="r"/>
              </a:tabLst>
              <a:defRPr sz="2800" b="0" kern="1200">
                <a:solidFill>
                  <a:schemeClr val="tx1"/>
                </a:solidFill>
                <a:latin typeface="+mn-lt"/>
                <a:ea typeface="+mn-ea"/>
                <a:cs typeface="+mn-cs"/>
              </a:defRPr>
            </a:lvl1pPr>
            <a:lvl2pPr marL="730250" indent="0" algn="l" defTabSz="914400" rtl="0" eaLnBrk="1" latinLnBrk="0" hangingPunct="1">
              <a:lnSpc>
                <a:spcPct val="100000"/>
              </a:lnSpc>
              <a:spcBef>
                <a:spcPts val="0"/>
              </a:spcBef>
              <a:spcAft>
                <a:spcPts val="600"/>
              </a:spcAft>
              <a:buClr>
                <a:schemeClr val="accent4"/>
              </a:buClr>
              <a:buFont typeface="+mj-lt"/>
              <a:buNone/>
              <a:tabLst>
                <a:tab pos="10623550" algn="r"/>
              </a:tabLst>
              <a:defRPr sz="1600" kern="1200">
                <a:solidFill>
                  <a:schemeClr val="tx1"/>
                </a:solidFill>
                <a:latin typeface="+mn-lt"/>
                <a:ea typeface="+mn-ea"/>
                <a:cs typeface="+mn-cs"/>
              </a:defRPr>
            </a:lvl2pPr>
            <a:lvl3pPr marL="9144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3pPr>
            <a:lvl4pPr marL="10969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4pPr>
            <a:lvl5pPr marL="1279525"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5pPr>
            <a:lvl6pPr marL="1462088"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6pPr>
            <a:lvl7pPr marL="164465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7pPr>
            <a:lvl8pPr marL="18288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8pPr>
            <a:lvl9pPr marL="20113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9pPr>
          </a:lstStyle>
          <a:p>
            <a:pPr marL="342900" indent="-342900">
              <a:spcAft>
                <a:spcPts val="0"/>
              </a:spcAft>
              <a:buFont typeface="Arial" panose="020B0604020202020204" pitchFamily="34" charset="0"/>
              <a:buChar char="•"/>
            </a:pPr>
            <a:r>
              <a:rPr lang="en-GB" sz="1400" dirty="0"/>
              <a:t>Around </a:t>
            </a:r>
            <a:r>
              <a:rPr lang="en-GB" sz="1400" b="1" dirty="0"/>
              <a:t>85% of values </a:t>
            </a:r>
            <a:r>
              <a:rPr lang="en-GB" sz="1400" dirty="0"/>
              <a:t>lie </a:t>
            </a:r>
            <a:r>
              <a:rPr lang="en-GB" sz="1400" b="1" dirty="0"/>
              <a:t>between 0 MJ/m</a:t>
            </a:r>
            <a:r>
              <a:rPr lang="en-GB" sz="1400" b="1" baseline="30000" dirty="0"/>
              <a:t>3</a:t>
            </a:r>
            <a:r>
              <a:rPr lang="en-GB" sz="1400" b="1" dirty="0"/>
              <a:t> and </a:t>
            </a:r>
            <a:br>
              <a:rPr lang="en-GB" sz="1400" b="1" dirty="0"/>
            </a:br>
            <a:r>
              <a:rPr lang="en-GB" sz="1400" b="1" dirty="0"/>
              <a:t>18 MJ/m</a:t>
            </a:r>
            <a:r>
              <a:rPr lang="en-GB" sz="1400" b="1" baseline="30000" dirty="0"/>
              <a:t>3 </a:t>
            </a:r>
            <a:r>
              <a:rPr lang="en-GB" sz="1400" b="1" dirty="0"/>
              <a:t>of total non-electricity consumption</a:t>
            </a:r>
            <a:r>
              <a:rPr lang="en-GB" sz="1400" dirty="0"/>
              <a:t>.</a:t>
            </a:r>
          </a:p>
          <a:p>
            <a:pPr marL="342900" indent="-342900">
              <a:spcAft>
                <a:spcPts val="0"/>
              </a:spcAft>
              <a:buFont typeface="Arial" panose="020B0604020202020204" pitchFamily="34" charset="0"/>
              <a:buChar char="•"/>
            </a:pPr>
            <a:r>
              <a:rPr lang="en-GB" sz="1400" dirty="0"/>
              <a:t>The average value is increased by Northern </a:t>
            </a:r>
            <a:br>
              <a:rPr lang="en-GB" sz="1400" dirty="0"/>
            </a:br>
            <a:r>
              <a:rPr lang="en-GB" sz="1400" dirty="0"/>
              <a:t>American sites with the highest concrete production.</a:t>
            </a:r>
          </a:p>
          <a:p>
            <a:pPr marL="0" indent="0">
              <a:spcAft>
                <a:spcPts val="0"/>
              </a:spcAft>
              <a:buNone/>
            </a:pPr>
            <a:endParaRPr lang="en-GB" sz="1400" dirty="0"/>
          </a:p>
          <a:p>
            <a:pPr marL="285750" indent="-285750">
              <a:lnSpc>
                <a:spcPct val="100000"/>
              </a:lnSpc>
              <a:spcBef>
                <a:spcPts val="600"/>
              </a:spcBef>
              <a:spcAft>
                <a:spcPts val="0"/>
              </a:spcAft>
              <a:buFont typeface="Arial" panose="020B0604020202020204" pitchFamily="34" charset="0"/>
              <a:buChar char="•"/>
            </a:pPr>
            <a:endParaRPr lang="en-GB" sz="1400" dirty="0"/>
          </a:p>
          <a:p>
            <a:pPr marL="285750" indent="-285750">
              <a:lnSpc>
                <a:spcPct val="100000"/>
              </a:lnSpc>
              <a:spcBef>
                <a:spcPts val="600"/>
              </a:spcBef>
              <a:spcAft>
                <a:spcPts val="0"/>
              </a:spcAft>
              <a:buFont typeface="Arial" panose="020B0604020202020204" pitchFamily="34" charset="0"/>
              <a:buChar char="•"/>
            </a:pPr>
            <a:endParaRPr lang="en-GB" sz="1400" dirty="0"/>
          </a:p>
        </p:txBody>
      </p:sp>
      <p:sp>
        <p:nvSpPr>
          <p:cNvPr id="16" name="Rectangle 15">
            <a:extLst>
              <a:ext uri="{FF2B5EF4-FFF2-40B4-BE49-F238E27FC236}">
                <a16:creationId xmlns:a16="http://schemas.microsoft.com/office/drawing/2014/main" id="{B02CCC89-EAA6-4523-BB0A-897173A814A9}"/>
              </a:ext>
            </a:extLst>
          </p:cNvPr>
          <p:cNvSpPr/>
          <p:nvPr/>
        </p:nvSpPr>
        <p:spPr>
          <a:xfrm>
            <a:off x="10753344" y="88931"/>
            <a:ext cx="978408"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World level</a:t>
            </a:r>
          </a:p>
        </p:txBody>
      </p:sp>
      <p:graphicFrame>
        <p:nvGraphicFramePr>
          <p:cNvPr id="18" name="Graphique 17">
            <a:extLst>
              <a:ext uri="{FF2B5EF4-FFF2-40B4-BE49-F238E27FC236}">
                <a16:creationId xmlns:a16="http://schemas.microsoft.com/office/drawing/2014/main" id="{7C868577-D1EF-4C31-A8CD-C96B97C49FAC}"/>
              </a:ext>
            </a:extLst>
          </p:cNvPr>
          <p:cNvGraphicFramePr>
            <a:graphicFrameLocks/>
          </p:cNvGraphicFramePr>
          <p:nvPr>
            <p:extLst>
              <p:ext uri="{D42A27DB-BD31-4B8C-83A1-F6EECF244321}">
                <p14:modId xmlns:p14="http://schemas.microsoft.com/office/powerpoint/2010/main" val="499948335"/>
              </p:ext>
            </p:extLst>
          </p:nvPr>
        </p:nvGraphicFramePr>
        <p:xfrm>
          <a:off x="6680447" y="2329321"/>
          <a:ext cx="5148000" cy="3600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0" name="Graphique 19">
            <a:extLst>
              <a:ext uri="{FF2B5EF4-FFF2-40B4-BE49-F238E27FC236}">
                <a16:creationId xmlns:a16="http://schemas.microsoft.com/office/drawing/2014/main" id="{188B4B80-65F8-4865-832A-23AE067B91CF}"/>
              </a:ext>
            </a:extLst>
          </p:cNvPr>
          <p:cNvGraphicFramePr>
            <a:graphicFrameLocks/>
          </p:cNvGraphicFramePr>
          <p:nvPr>
            <p:extLst>
              <p:ext uri="{D42A27DB-BD31-4B8C-83A1-F6EECF244321}">
                <p14:modId xmlns:p14="http://schemas.microsoft.com/office/powerpoint/2010/main" val="219289785"/>
              </p:ext>
            </p:extLst>
          </p:nvPr>
        </p:nvGraphicFramePr>
        <p:xfrm>
          <a:off x="453603" y="2329321"/>
          <a:ext cx="5148000" cy="3600000"/>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4074047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3C8AA9ED-F179-4B8B-AD6C-9026AA97B4EE}"/>
              </a:ext>
            </a:extLst>
          </p:cNvPr>
          <p:cNvGraphicFramePr>
            <a:graphicFrameLocks noChangeAspect="1"/>
          </p:cNvGraphicFramePr>
          <p:nvPr>
            <p:custDataLst>
              <p:tags r:id="rId1"/>
            </p:custDataLst>
            <p:extLst>
              <p:ext uri="{D42A27DB-BD31-4B8C-83A1-F6EECF244321}">
                <p14:modId xmlns:p14="http://schemas.microsoft.com/office/powerpoint/2010/main" val="16859851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8" name="Objet 7" hidden="1">
                        <a:extLst>
                          <a:ext uri="{FF2B5EF4-FFF2-40B4-BE49-F238E27FC236}">
                            <a16:creationId xmlns:a16="http://schemas.microsoft.com/office/drawing/2014/main" id="{3C8AA9ED-F179-4B8B-AD6C-9026AA97B4E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7B1F0BA1-EF4F-473C-8F98-1715F4930D35}"/>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299AD306-B664-4941-949E-A0078273702A}"/>
              </a:ext>
            </a:extLst>
          </p:cNvPr>
          <p:cNvSpPr>
            <a:spLocks noGrp="1"/>
          </p:cNvSpPr>
          <p:nvPr>
            <p:ph type="title"/>
          </p:nvPr>
        </p:nvSpPr>
        <p:spPr/>
        <p:txBody>
          <a:bodyPr>
            <a:normAutofit fontScale="90000"/>
          </a:bodyPr>
          <a:lstStyle/>
          <a:p>
            <a:r>
              <a:rPr lang="en-GB" dirty="0"/>
              <a:t>The use of electricity and other types of energy is scattered</a:t>
            </a:r>
            <a:br>
              <a:rPr lang="en-GB" dirty="0"/>
            </a:br>
            <a:r>
              <a:rPr lang="en-GB" sz="2400" dirty="0"/>
              <a:t>Not all companies held the data split between electricity and non-electricity energy for production</a:t>
            </a:r>
            <a:br>
              <a:rPr lang="en-GB" dirty="0"/>
            </a:br>
            <a:br>
              <a:rPr lang="en-GB" dirty="0"/>
            </a:br>
            <a:br>
              <a:rPr lang="en-GB" sz="2200" dirty="0"/>
            </a:br>
            <a:endParaRPr lang="en-GB" sz="2200" dirty="0"/>
          </a:p>
        </p:txBody>
      </p:sp>
      <p:sp>
        <p:nvSpPr>
          <p:cNvPr id="5" name="Espace réservé de la date 4">
            <a:extLst>
              <a:ext uri="{FF2B5EF4-FFF2-40B4-BE49-F238E27FC236}">
                <a16:creationId xmlns:a16="http://schemas.microsoft.com/office/drawing/2014/main" id="{4F3A485A-92A7-4980-AF76-E28ED7722818}"/>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F34C45C2-AF71-4870-9D71-5ED01262B597}"/>
              </a:ext>
            </a:extLst>
          </p:cNvPr>
          <p:cNvSpPr>
            <a:spLocks noGrp="1"/>
          </p:cNvSpPr>
          <p:nvPr>
            <p:ph type="sldNum" sz="quarter" idx="11"/>
          </p:nvPr>
        </p:nvSpPr>
        <p:spPr/>
        <p:txBody>
          <a:bodyPr/>
          <a:lstStyle/>
          <a:p>
            <a:fld id="{7870704B-CE94-48CC-AF30-84932A1262A7}" type="slidenum">
              <a:rPr lang="fr-FR" smtClean="0"/>
              <a:pPr/>
              <a:t>9</a:t>
            </a:fld>
            <a:endParaRPr lang="fr-FR" dirty="0"/>
          </a:p>
        </p:txBody>
      </p:sp>
      <p:graphicFrame>
        <p:nvGraphicFramePr>
          <p:cNvPr id="12" name="Tableau 11">
            <a:extLst>
              <a:ext uri="{FF2B5EF4-FFF2-40B4-BE49-F238E27FC236}">
                <a16:creationId xmlns:a16="http://schemas.microsoft.com/office/drawing/2014/main" id="{6120BEF5-2357-4AB8-8DCC-73365CF2A894}"/>
              </a:ext>
            </a:extLst>
          </p:cNvPr>
          <p:cNvGraphicFramePr>
            <a:graphicFrameLocks noGrp="1"/>
          </p:cNvGraphicFramePr>
          <p:nvPr>
            <p:extLst>
              <p:ext uri="{D42A27DB-BD31-4B8C-83A1-F6EECF244321}">
                <p14:modId xmlns:p14="http://schemas.microsoft.com/office/powerpoint/2010/main" val="3371666550"/>
              </p:ext>
            </p:extLst>
          </p:nvPr>
        </p:nvGraphicFramePr>
        <p:xfrm>
          <a:off x="746243" y="1481457"/>
          <a:ext cx="4320000" cy="899999"/>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1504220348"/>
                    </a:ext>
                  </a:extLst>
                </a:gridCol>
                <a:gridCol w="864000">
                  <a:extLst>
                    <a:ext uri="{9D8B030D-6E8A-4147-A177-3AD203B41FA5}">
                      <a16:colId xmlns:a16="http://schemas.microsoft.com/office/drawing/2014/main" val="1413351609"/>
                    </a:ext>
                  </a:extLst>
                </a:gridCol>
                <a:gridCol w="864000">
                  <a:extLst>
                    <a:ext uri="{9D8B030D-6E8A-4147-A177-3AD203B41FA5}">
                      <a16:colId xmlns:a16="http://schemas.microsoft.com/office/drawing/2014/main" val="1239885802"/>
                    </a:ext>
                  </a:extLst>
                </a:gridCol>
                <a:gridCol w="864000">
                  <a:extLst>
                    <a:ext uri="{9D8B030D-6E8A-4147-A177-3AD203B41FA5}">
                      <a16:colId xmlns:a16="http://schemas.microsoft.com/office/drawing/2014/main" val="3091639623"/>
                    </a:ext>
                  </a:extLst>
                </a:gridCol>
                <a:gridCol w="864000">
                  <a:extLst>
                    <a:ext uri="{9D8B030D-6E8A-4147-A177-3AD203B41FA5}">
                      <a16:colId xmlns:a16="http://schemas.microsoft.com/office/drawing/2014/main" val="2904654360"/>
                    </a:ext>
                  </a:extLst>
                </a:gridCol>
              </a:tblGrid>
              <a:tr h="356809">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71595">
                <a:tc>
                  <a:txBody>
                    <a:bodyPr/>
                    <a:lstStyle/>
                    <a:p>
                      <a:pPr algn="ctr" fontAlgn="ctr"/>
                      <a:r>
                        <a:rPr lang="en-GB" sz="1000" b="0" i="1" u="none" strike="noStrike">
                          <a:solidFill>
                            <a:schemeClr val="tx1"/>
                          </a:solidFill>
                          <a:effectLst/>
                          <a:latin typeface="Arial" panose="020B0604020202020204" pitchFamily="34" charset="0"/>
                          <a:cs typeface="Arial" panose="020B0604020202020204" pitchFamily="34" charset="0"/>
                        </a:rPr>
                        <a:t>kWh/m3</a:t>
                      </a:r>
                      <a:endParaRPr lang="en-GB" sz="1000" b="0" i="1"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0" i="1" u="none" strike="noStrike">
                          <a:solidFill>
                            <a:schemeClr val="tx1"/>
                          </a:solidFill>
                          <a:effectLst/>
                          <a:latin typeface="Arial" panose="020B0604020202020204" pitchFamily="34" charset="0"/>
                          <a:cs typeface="Arial" panose="020B0604020202020204" pitchFamily="34" charset="0"/>
                        </a:rPr>
                        <a:t>kWh/m3</a:t>
                      </a:r>
                      <a:endParaRPr lang="en-GB" sz="1000" b="0" i="1"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b="0" i="1" u="none" strike="noStrike" dirty="0">
                          <a:solidFill>
                            <a:schemeClr val="tx1"/>
                          </a:solidFill>
                          <a:effectLst/>
                          <a:latin typeface="Arial" panose="020B0604020202020204" pitchFamily="34" charset="0"/>
                          <a:cs typeface="Arial" panose="020B0604020202020204" pitchFamily="34" charset="0"/>
                        </a:rPr>
                        <a:t>kWh/m3</a:t>
                      </a:r>
                    </a:p>
                  </a:txBody>
                  <a:tcPr marL="9525" marR="9525" marT="9525" marB="0" anchor="ctr"/>
                </a:tc>
                <a:tc>
                  <a:txBody>
                    <a:bodyPr/>
                    <a:lstStyle/>
                    <a:p>
                      <a:pPr algn="ctr" fontAlgn="ctr"/>
                      <a:r>
                        <a:rPr lang="en-GB" sz="1000" b="0" i="1" u="none" strike="noStrike" dirty="0">
                          <a:solidFill>
                            <a:schemeClr val="tx1"/>
                          </a:solidFill>
                          <a:effectLst/>
                          <a:latin typeface="Arial" panose="020B0604020202020204" pitchFamily="34" charset="0"/>
                          <a:cs typeface="Arial" panose="020B0604020202020204" pitchFamily="34" charset="0"/>
                        </a:rPr>
                        <a:t>kWh/m3</a:t>
                      </a:r>
                    </a:p>
                  </a:txBody>
                  <a:tcPr marL="9525" marR="9525" marT="9525" marB="0" anchor="ctr"/>
                </a:tc>
                <a:tc>
                  <a:txBody>
                    <a:bodyPr/>
                    <a:lstStyle/>
                    <a:p>
                      <a:pPr algn="ctr" fontAlgn="ctr"/>
                      <a:r>
                        <a:rPr lang="en-GB" sz="1000" b="0" i="1" u="none" strike="noStrike" dirty="0">
                          <a:solidFill>
                            <a:schemeClr val="tx1"/>
                          </a:solidFill>
                          <a:effectLst/>
                          <a:latin typeface="Arial" panose="020B0604020202020204" pitchFamily="34" charset="0"/>
                          <a:cs typeface="Arial" panose="020B0604020202020204" pitchFamily="34" charset="0"/>
                        </a:rPr>
                        <a:t>%</a:t>
                      </a:r>
                      <a:endParaRPr lang="en-GB" sz="1000" b="1" i="1" u="none" strike="noStrike" noProof="0"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885685747"/>
                  </a:ext>
                </a:extLst>
              </a:tr>
              <a:tr h="271595">
                <a:tc>
                  <a:txBody>
                    <a:bodyPr/>
                    <a:lstStyle/>
                    <a:p>
                      <a:pPr algn="ctr" fontAlgn="ctr"/>
                      <a:r>
                        <a:rPr lang="fr-FR" sz="1000" b="0" i="0" u="none" strike="noStrike" dirty="0">
                          <a:solidFill>
                            <a:srgbClr val="000000"/>
                          </a:solidFill>
                          <a:effectLst/>
                          <a:latin typeface="+mn-lt"/>
                        </a:rPr>
                        <a:t>2.3</a:t>
                      </a:r>
                    </a:p>
                  </a:txBody>
                  <a:tcPr marL="9525" marR="9525" marT="9525" marB="0" anchor="ctr"/>
                </a:tc>
                <a:tc>
                  <a:txBody>
                    <a:bodyPr/>
                    <a:lstStyle/>
                    <a:p>
                      <a:pPr algn="ctr" fontAlgn="ctr"/>
                      <a:r>
                        <a:rPr lang="fr-FR" sz="1000" b="0" i="0" u="none" strike="noStrike" dirty="0">
                          <a:solidFill>
                            <a:srgbClr val="000000"/>
                          </a:solidFill>
                          <a:effectLst/>
                          <a:latin typeface="+mn-lt"/>
                        </a:rPr>
                        <a:t>3.6</a:t>
                      </a:r>
                    </a:p>
                  </a:txBody>
                  <a:tcPr marL="9525" marR="9525" marT="9525" marB="0" anchor="ctr"/>
                </a:tc>
                <a:tc>
                  <a:txBody>
                    <a:bodyPr/>
                    <a:lstStyle/>
                    <a:p>
                      <a:pPr algn="ctr" fontAlgn="ctr"/>
                      <a:r>
                        <a:rPr lang="fr-FR" sz="1000" b="0" i="0" u="none" strike="noStrike" dirty="0">
                          <a:solidFill>
                            <a:srgbClr val="000000"/>
                          </a:solidFill>
                          <a:effectLst/>
                          <a:latin typeface="+mn-lt"/>
                        </a:rPr>
                        <a:t>5.5</a:t>
                      </a:r>
                    </a:p>
                  </a:txBody>
                  <a:tcPr marL="9525" marR="9525" marT="9525" marB="0" anchor="ctr"/>
                </a:tc>
                <a:tc>
                  <a:txBody>
                    <a:bodyPr/>
                    <a:lstStyle/>
                    <a:p>
                      <a:pPr algn="ctr" fontAlgn="ctr"/>
                      <a:r>
                        <a:rPr lang="fr-FR" sz="1000" b="0" i="0" u="none" strike="noStrike" dirty="0">
                          <a:solidFill>
                            <a:srgbClr val="000000"/>
                          </a:solidFill>
                          <a:effectLst/>
                          <a:latin typeface="+mn-lt"/>
                        </a:rPr>
                        <a:t>0.9</a:t>
                      </a:r>
                    </a:p>
                  </a:txBody>
                  <a:tcPr marL="9525" marR="9525" marT="9525" marB="0" anchor="ctr"/>
                </a:tc>
                <a:tc>
                  <a:txBody>
                    <a:bodyPr/>
                    <a:lstStyle/>
                    <a:p>
                      <a:pPr algn="ctr" fontAlgn="ctr"/>
                      <a:r>
                        <a:rPr lang="fr-FR" sz="1000" b="0" i="0" u="none" strike="noStrike" dirty="0">
                          <a:solidFill>
                            <a:srgbClr val="000000"/>
                          </a:solidFill>
                          <a:effectLst/>
                          <a:latin typeface="+mn-lt"/>
                        </a:rPr>
                        <a:t>58</a:t>
                      </a:r>
                    </a:p>
                  </a:txBody>
                  <a:tcPr marL="9525" marR="9525" marT="9525" marB="0" anchor="ctr"/>
                </a:tc>
                <a:extLst>
                  <a:ext uri="{0D108BD9-81ED-4DB2-BD59-A6C34878D82A}">
                    <a16:rowId xmlns:a16="http://schemas.microsoft.com/office/drawing/2014/main" val="2310329303"/>
                  </a:ext>
                </a:extLst>
              </a:tr>
            </a:tbl>
          </a:graphicData>
        </a:graphic>
      </p:graphicFrame>
      <p:graphicFrame>
        <p:nvGraphicFramePr>
          <p:cNvPr id="13" name="Tableau 12">
            <a:extLst>
              <a:ext uri="{FF2B5EF4-FFF2-40B4-BE49-F238E27FC236}">
                <a16:creationId xmlns:a16="http://schemas.microsoft.com/office/drawing/2014/main" id="{61004715-0D04-42FE-9A1D-4CFE5FDCC618}"/>
              </a:ext>
            </a:extLst>
          </p:cNvPr>
          <p:cNvGraphicFramePr>
            <a:graphicFrameLocks noGrp="1"/>
          </p:cNvGraphicFramePr>
          <p:nvPr>
            <p:extLst>
              <p:ext uri="{D42A27DB-BD31-4B8C-83A1-F6EECF244321}">
                <p14:modId xmlns:p14="http://schemas.microsoft.com/office/powerpoint/2010/main" val="13481633"/>
              </p:ext>
            </p:extLst>
          </p:nvPr>
        </p:nvGraphicFramePr>
        <p:xfrm>
          <a:off x="6973087" y="1481457"/>
          <a:ext cx="4320000" cy="864000"/>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1504220348"/>
                    </a:ext>
                  </a:extLst>
                </a:gridCol>
                <a:gridCol w="864000">
                  <a:extLst>
                    <a:ext uri="{9D8B030D-6E8A-4147-A177-3AD203B41FA5}">
                      <a16:colId xmlns:a16="http://schemas.microsoft.com/office/drawing/2014/main" val="1413351609"/>
                    </a:ext>
                  </a:extLst>
                </a:gridCol>
                <a:gridCol w="864000">
                  <a:extLst>
                    <a:ext uri="{9D8B030D-6E8A-4147-A177-3AD203B41FA5}">
                      <a16:colId xmlns:a16="http://schemas.microsoft.com/office/drawing/2014/main" val="1239885802"/>
                    </a:ext>
                  </a:extLst>
                </a:gridCol>
                <a:gridCol w="864000">
                  <a:extLst>
                    <a:ext uri="{9D8B030D-6E8A-4147-A177-3AD203B41FA5}">
                      <a16:colId xmlns:a16="http://schemas.microsoft.com/office/drawing/2014/main" val="3091639623"/>
                    </a:ext>
                  </a:extLst>
                </a:gridCol>
                <a:gridCol w="864000">
                  <a:extLst>
                    <a:ext uri="{9D8B030D-6E8A-4147-A177-3AD203B41FA5}">
                      <a16:colId xmlns:a16="http://schemas.microsoft.com/office/drawing/2014/main" val="2904654360"/>
                    </a:ext>
                  </a:extLst>
                </a:gridCol>
              </a:tblGrid>
              <a:tr h="353298">
                <a:tc>
                  <a:txBody>
                    <a:bodyPr/>
                    <a:lstStyle/>
                    <a:p>
                      <a:pPr algn="ctr" fontAlgn="ctr"/>
                      <a:r>
                        <a:rPr lang="fr-FR" sz="1000" b="1" u="none" strike="noStrike" dirty="0">
                          <a:solidFill>
                            <a:schemeClr val="tx1"/>
                          </a:solidFill>
                          <a:effectLst/>
                        </a:rPr>
                        <a:t>Minimum </a:t>
                      </a:r>
                      <a:endParaRPr lang="fr-FR"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fr-FR" sz="1000" b="1" u="none" strike="noStrike" dirty="0">
                          <a:solidFill>
                            <a:schemeClr val="tx1"/>
                          </a:solidFill>
                          <a:effectLst/>
                        </a:rPr>
                        <a:t>Maximum</a:t>
                      </a:r>
                      <a:endParaRPr lang="fr-FR"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fr-FR" sz="1000" b="1" u="none" strike="noStrike" dirty="0">
                          <a:solidFill>
                            <a:schemeClr val="tx1"/>
                          </a:solidFill>
                          <a:effectLst/>
                        </a:rPr>
                        <a:t>Standard </a:t>
                      </a:r>
                      <a:r>
                        <a:rPr lang="en-GB" sz="1000" b="1" u="none" strike="noStrike" noProof="0" dirty="0">
                          <a:solidFill>
                            <a:schemeClr val="tx1"/>
                          </a:solidFill>
                          <a:effectLst/>
                        </a:rPr>
                        <a:t>Deviation</a:t>
                      </a:r>
                      <a:endParaRPr lang="en-GB" sz="1000" b="1" i="0" u="none" strike="noStrike" noProof="0"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55351">
                <a:tc>
                  <a:txBody>
                    <a:bodyPr/>
                    <a:lstStyle/>
                    <a:p>
                      <a:pPr marL="0" algn="ctr" defTabSz="914400" rtl="0" eaLnBrk="1" fontAlgn="ctr" latinLnBrk="0" hangingPunct="1"/>
                      <a:r>
                        <a:rPr lang="fr-FR" sz="1000" b="0" i="1" u="none" strike="noStrike" kern="1200" dirty="0">
                          <a:solidFill>
                            <a:schemeClr val="tx1"/>
                          </a:solidFill>
                          <a:effectLst/>
                          <a:latin typeface="Arial" panose="020B0604020202020204" pitchFamily="34" charset="0"/>
                          <a:ea typeface="+mn-ea"/>
                          <a:cs typeface="Arial" panose="020B0604020202020204" pitchFamily="34" charset="0"/>
                        </a:rPr>
                        <a:t>MJ/m3</a:t>
                      </a:r>
                    </a:p>
                  </a:txBody>
                  <a:tcPr marL="9525" marR="9525" marT="9525" marB="0" anchor="ctr"/>
                </a:tc>
                <a:tc>
                  <a:txBody>
                    <a:bodyPr/>
                    <a:lstStyle/>
                    <a:p>
                      <a:pPr marL="0" algn="ctr" defTabSz="914400" rtl="0" eaLnBrk="1" fontAlgn="ctr" latinLnBrk="0" hangingPunct="1"/>
                      <a:r>
                        <a:rPr lang="fr-FR" sz="1000" b="0" i="1" u="none" strike="noStrike" kern="1200">
                          <a:solidFill>
                            <a:schemeClr val="tx1"/>
                          </a:solidFill>
                          <a:effectLst/>
                          <a:latin typeface="Arial" panose="020B0604020202020204" pitchFamily="34" charset="0"/>
                          <a:ea typeface="+mn-ea"/>
                          <a:cs typeface="Arial" panose="020B0604020202020204" pitchFamily="34" charset="0"/>
                        </a:rPr>
                        <a:t>MJ/m3</a:t>
                      </a:r>
                      <a:endParaRPr lang="fr-FR" sz="1000" b="0" i="1" u="none" strike="noStrike" kern="1200" dirty="0">
                        <a:solidFill>
                          <a:schemeClr val="tx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r>
                        <a:rPr lang="fr-FR" sz="1000" b="0" i="1" u="none" strike="noStrike" kern="1200" dirty="0">
                          <a:solidFill>
                            <a:schemeClr val="tx1"/>
                          </a:solidFill>
                          <a:effectLst/>
                          <a:latin typeface="Arial" panose="020B0604020202020204" pitchFamily="34" charset="0"/>
                          <a:ea typeface="+mn-ea"/>
                          <a:cs typeface="Arial" panose="020B0604020202020204" pitchFamily="34" charset="0"/>
                        </a:rPr>
                        <a:t>MJ/m3</a:t>
                      </a:r>
                    </a:p>
                  </a:txBody>
                  <a:tcPr marL="9525" marR="9525" marT="9525" marB="0" anchor="ctr"/>
                </a:tc>
                <a:tc>
                  <a:txBody>
                    <a:bodyPr/>
                    <a:lstStyle/>
                    <a:p>
                      <a:pPr marL="0" algn="ctr" defTabSz="914400" rtl="0" eaLnBrk="1" fontAlgn="ctr" latinLnBrk="0" hangingPunct="1"/>
                      <a:r>
                        <a:rPr lang="fr-FR" sz="1000" b="0" i="1" u="none" strike="noStrike" kern="1200" dirty="0">
                          <a:solidFill>
                            <a:schemeClr val="tx1"/>
                          </a:solidFill>
                          <a:effectLst/>
                          <a:latin typeface="Arial" panose="020B0604020202020204" pitchFamily="34" charset="0"/>
                          <a:ea typeface="+mn-ea"/>
                          <a:cs typeface="Arial" panose="020B0604020202020204" pitchFamily="34" charset="0"/>
                        </a:rPr>
                        <a:t>MJ/m3</a:t>
                      </a:r>
                    </a:p>
                  </a:txBody>
                  <a:tcPr marL="9525" marR="9525" marT="9525" marB="0" anchor="ctr"/>
                </a:tc>
                <a:tc>
                  <a:txBody>
                    <a:bodyPr/>
                    <a:lstStyle/>
                    <a:p>
                      <a:pPr marL="0" algn="ctr" defTabSz="914400" rtl="0" eaLnBrk="1" fontAlgn="ctr" latinLnBrk="0" hangingPunct="1"/>
                      <a:r>
                        <a:rPr lang="fr-FR" sz="1000" b="0" i="1" u="none" strike="noStrike" kern="1200" dirty="0">
                          <a:solidFill>
                            <a:schemeClr val="tx1"/>
                          </a:solidFill>
                          <a:effectLst/>
                          <a:latin typeface="Arial" panose="020B0604020202020204" pitchFamily="34" charset="0"/>
                          <a:ea typeface="+mn-ea"/>
                          <a:cs typeface="Arial" panose="020B0604020202020204" pitchFamily="34" charset="0"/>
                        </a:rPr>
                        <a:t>%</a:t>
                      </a:r>
                    </a:p>
                  </a:txBody>
                  <a:tcPr marL="9525" marR="9525" marT="9525" marB="0" anchor="ctr"/>
                </a:tc>
                <a:extLst>
                  <a:ext uri="{0D108BD9-81ED-4DB2-BD59-A6C34878D82A}">
                    <a16:rowId xmlns:a16="http://schemas.microsoft.com/office/drawing/2014/main" val="2310329303"/>
                  </a:ext>
                </a:extLst>
              </a:tr>
              <a:tr h="255351">
                <a:tc>
                  <a:txBody>
                    <a:bodyPr/>
                    <a:lstStyle/>
                    <a:p>
                      <a:pPr algn="ctr" fontAlgn="ctr"/>
                      <a:r>
                        <a:rPr lang="fr-FR" sz="1000" b="0" i="0" u="none" strike="noStrike" dirty="0">
                          <a:solidFill>
                            <a:srgbClr val="000000"/>
                          </a:solidFill>
                          <a:effectLst/>
                          <a:latin typeface="+mn-lt"/>
                        </a:rPr>
                        <a:t>0</a:t>
                      </a:r>
                    </a:p>
                  </a:txBody>
                  <a:tcPr marL="9525" marR="9525" marT="9525" marB="0" anchor="ctr"/>
                </a:tc>
                <a:tc>
                  <a:txBody>
                    <a:bodyPr/>
                    <a:lstStyle/>
                    <a:p>
                      <a:pPr algn="ctr" fontAlgn="ctr"/>
                      <a:r>
                        <a:rPr lang="fr-FR" sz="1000" b="0" i="0" u="none" strike="noStrike" dirty="0">
                          <a:solidFill>
                            <a:srgbClr val="000000"/>
                          </a:solidFill>
                          <a:effectLst/>
                          <a:latin typeface="+mn-lt"/>
                        </a:rPr>
                        <a:t>5.7</a:t>
                      </a:r>
                    </a:p>
                  </a:txBody>
                  <a:tcPr marL="9525" marR="9525" marT="9525" marB="0" anchor="ctr"/>
                </a:tc>
                <a:tc>
                  <a:txBody>
                    <a:bodyPr/>
                    <a:lstStyle/>
                    <a:p>
                      <a:pPr algn="ctr" fontAlgn="ctr"/>
                      <a:r>
                        <a:rPr lang="fr-FR" sz="1000" b="0" i="0" u="none" strike="noStrike" dirty="0">
                          <a:solidFill>
                            <a:srgbClr val="000000"/>
                          </a:solidFill>
                          <a:effectLst/>
                          <a:latin typeface="+mn-lt"/>
                        </a:rPr>
                        <a:t>53</a:t>
                      </a:r>
                    </a:p>
                  </a:txBody>
                  <a:tcPr marL="9525" marR="9525" marT="9525" marB="0" anchor="ctr"/>
                </a:tc>
                <a:tc>
                  <a:txBody>
                    <a:bodyPr/>
                    <a:lstStyle/>
                    <a:p>
                      <a:pPr marL="0" algn="ctr" defTabSz="914400" rtl="0" eaLnBrk="1" fontAlgn="ctr" latinLnBrk="0" hangingPunct="1"/>
                      <a:r>
                        <a:rPr lang="fr-FR" sz="1000" b="0" i="0" u="none" strike="noStrike" kern="1200" dirty="0">
                          <a:solidFill>
                            <a:schemeClr val="tx1"/>
                          </a:solidFill>
                          <a:effectLst/>
                          <a:latin typeface="+mn-lt"/>
                          <a:ea typeface="+mn-ea"/>
                          <a:cs typeface="Arial" panose="020B0604020202020204" pitchFamily="34" charset="0"/>
                        </a:rPr>
                        <a:t>13</a:t>
                      </a:r>
                    </a:p>
                  </a:txBody>
                  <a:tcPr marL="9525" marR="9525" marT="9525" marB="0" anchor="ctr"/>
                </a:tc>
                <a:tc>
                  <a:txBody>
                    <a:bodyPr/>
                    <a:lstStyle/>
                    <a:p>
                      <a:pPr marL="0" algn="ctr" defTabSz="914400" rtl="0" eaLnBrk="1" fontAlgn="ctr" latinLnBrk="0" hangingPunct="1"/>
                      <a:r>
                        <a:rPr lang="fr-FR" sz="1000" b="0" i="0" u="none" strike="noStrike" kern="1200" dirty="0">
                          <a:solidFill>
                            <a:schemeClr val="tx1"/>
                          </a:solidFill>
                          <a:effectLst/>
                          <a:latin typeface="+mn-lt"/>
                          <a:ea typeface="+mn-ea"/>
                          <a:cs typeface="Arial" panose="020B0604020202020204" pitchFamily="34" charset="0"/>
                        </a:rPr>
                        <a:t>58</a:t>
                      </a:r>
                    </a:p>
                  </a:txBody>
                  <a:tcPr marL="9525" marR="9525" marT="9525" marB="0" anchor="ctr"/>
                </a:tc>
                <a:extLst>
                  <a:ext uri="{0D108BD9-81ED-4DB2-BD59-A6C34878D82A}">
                    <a16:rowId xmlns:a16="http://schemas.microsoft.com/office/drawing/2014/main" val="2407293559"/>
                  </a:ext>
                </a:extLst>
              </a:tr>
            </a:tbl>
          </a:graphicData>
        </a:graphic>
      </p:graphicFrame>
      <p:sp>
        <p:nvSpPr>
          <p:cNvPr id="3" name="Espace réservé du pied de page 2">
            <a:extLst>
              <a:ext uri="{FF2B5EF4-FFF2-40B4-BE49-F238E27FC236}">
                <a16:creationId xmlns:a16="http://schemas.microsoft.com/office/drawing/2014/main" id="{E9A5FF85-F675-44B2-BC5E-41CE91789848}"/>
              </a:ext>
            </a:extLst>
          </p:cNvPr>
          <p:cNvSpPr>
            <a:spLocks noGrp="1"/>
          </p:cNvSpPr>
          <p:nvPr>
            <p:ph type="ftr" sz="quarter" idx="13"/>
          </p:nvPr>
        </p:nvSpPr>
        <p:spPr/>
        <p:txBody>
          <a:bodyPr/>
          <a:lstStyle/>
          <a:p>
            <a:pPr algn="l"/>
            <a:r>
              <a:rPr lang="en-US"/>
              <a:t>GCCA GNR Concrete Pilot Project</a:t>
            </a:r>
            <a:endParaRPr lang="fr-FR" dirty="0"/>
          </a:p>
        </p:txBody>
      </p:sp>
      <p:sp>
        <p:nvSpPr>
          <p:cNvPr id="14" name="Espace réservé du contenu 2">
            <a:extLst>
              <a:ext uri="{FF2B5EF4-FFF2-40B4-BE49-F238E27FC236}">
                <a16:creationId xmlns:a16="http://schemas.microsoft.com/office/drawing/2014/main" id="{36360113-8924-4835-A69E-9261A1C24D5A}"/>
              </a:ext>
            </a:extLst>
          </p:cNvPr>
          <p:cNvSpPr>
            <a:spLocks noGrp="1"/>
          </p:cNvSpPr>
          <p:nvPr>
            <p:ph idx="1"/>
          </p:nvPr>
        </p:nvSpPr>
        <p:spPr>
          <a:xfrm>
            <a:off x="464292" y="5871216"/>
            <a:ext cx="5358963" cy="491148"/>
          </a:xfrm>
        </p:spPr>
        <p:txBody>
          <a:bodyPr/>
          <a:lstStyle/>
          <a:p>
            <a:pPr marL="342900" indent="-342900">
              <a:buFont typeface="Arial" panose="020B0604020202020204" pitchFamily="34" charset="0"/>
              <a:buChar char="•"/>
            </a:pPr>
            <a:r>
              <a:rPr lang="en-GB" sz="1600" dirty="0"/>
              <a:t>Around </a:t>
            </a:r>
            <a:r>
              <a:rPr lang="en-GB" sz="1600" b="1" dirty="0"/>
              <a:t>80% of values </a:t>
            </a:r>
            <a:r>
              <a:rPr lang="en-GB" sz="1600" dirty="0"/>
              <a:t>lie </a:t>
            </a:r>
            <a:r>
              <a:rPr lang="en-GB" sz="1600" b="1" dirty="0"/>
              <a:t>between 2 kWh/m</a:t>
            </a:r>
            <a:r>
              <a:rPr lang="en-GB" sz="1600" b="1" baseline="30000" dirty="0"/>
              <a:t>3</a:t>
            </a:r>
            <a:r>
              <a:rPr lang="en-GB" sz="1600" b="1" dirty="0"/>
              <a:t> and </a:t>
            </a:r>
            <a:br>
              <a:rPr lang="en-GB" sz="1600" b="1" dirty="0"/>
            </a:br>
            <a:r>
              <a:rPr lang="en-GB" sz="1600" b="1" dirty="0"/>
              <a:t>4 kWh/m</a:t>
            </a:r>
            <a:r>
              <a:rPr lang="en-GB" sz="1600" b="1" baseline="30000" dirty="0"/>
              <a:t>3 </a:t>
            </a:r>
            <a:r>
              <a:rPr lang="en-GB" sz="1600" b="1" dirty="0"/>
              <a:t>of total electricity consumption.</a:t>
            </a: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p:txBody>
      </p:sp>
      <p:sp>
        <p:nvSpPr>
          <p:cNvPr id="15" name="Espace réservé du contenu 2">
            <a:extLst>
              <a:ext uri="{FF2B5EF4-FFF2-40B4-BE49-F238E27FC236}">
                <a16:creationId xmlns:a16="http://schemas.microsoft.com/office/drawing/2014/main" id="{BD22637D-2599-49F9-9A02-DC3D3E6DD699}"/>
              </a:ext>
            </a:extLst>
          </p:cNvPr>
          <p:cNvSpPr txBox="1">
            <a:spLocks/>
          </p:cNvSpPr>
          <p:nvPr/>
        </p:nvSpPr>
        <p:spPr>
          <a:xfrm>
            <a:off x="6945364" y="5871216"/>
            <a:ext cx="4801360" cy="758184"/>
          </a:xfrm>
          <a:prstGeom prst="rect">
            <a:avLst/>
          </a:prstGeom>
        </p:spPr>
        <p:txBody>
          <a:bodyPr vert="horz" lIns="0" tIns="0" rIns="0" bIns="0" rtlCol="0">
            <a:noAutofit/>
          </a:bodyPr>
          <a:lstStyle>
            <a:lvl1pPr marL="730250" indent="-730250" algn="l" defTabSz="914400" rtl="0" eaLnBrk="1" latinLnBrk="0" hangingPunct="1">
              <a:lnSpc>
                <a:spcPct val="90000"/>
              </a:lnSpc>
              <a:spcBef>
                <a:spcPts val="0"/>
              </a:spcBef>
              <a:spcAft>
                <a:spcPts val="600"/>
              </a:spcAft>
              <a:buClr>
                <a:schemeClr val="accent1"/>
              </a:buClr>
              <a:buFont typeface="+mj-lt"/>
              <a:buAutoNum type="arabicPeriod"/>
              <a:tabLst>
                <a:tab pos="10623550" algn="r"/>
              </a:tabLst>
              <a:defRPr sz="2800" b="0" kern="1200">
                <a:solidFill>
                  <a:schemeClr val="tx1"/>
                </a:solidFill>
                <a:latin typeface="+mn-lt"/>
                <a:ea typeface="+mn-ea"/>
                <a:cs typeface="+mn-cs"/>
              </a:defRPr>
            </a:lvl1pPr>
            <a:lvl2pPr marL="730250" indent="0" algn="l" defTabSz="914400" rtl="0" eaLnBrk="1" latinLnBrk="0" hangingPunct="1">
              <a:lnSpc>
                <a:spcPct val="100000"/>
              </a:lnSpc>
              <a:spcBef>
                <a:spcPts val="0"/>
              </a:spcBef>
              <a:spcAft>
                <a:spcPts val="600"/>
              </a:spcAft>
              <a:buClr>
                <a:schemeClr val="accent4"/>
              </a:buClr>
              <a:buFont typeface="+mj-lt"/>
              <a:buNone/>
              <a:tabLst>
                <a:tab pos="10623550" algn="r"/>
              </a:tabLst>
              <a:defRPr sz="1600" kern="1200">
                <a:solidFill>
                  <a:schemeClr val="tx1"/>
                </a:solidFill>
                <a:latin typeface="+mn-lt"/>
                <a:ea typeface="+mn-ea"/>
                <a:cs typeface="+mn-cs"/>
              </a:defRPr>
            </a:lvl2pPr>
            <a:lvl3pPr marL="9144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3pPr>
            <a:lvl4pPr marL="10969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4pPr>
            <a:lvl5pPr marL="1279525"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5pPr>
            <a:lvl6pPr marL="1462088"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6pPr>
            <a:lvl7pPr marL="164465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7pPr>
            <a:lvl8pPr marL="18288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8pPr>
            <a:lvl9pPr marL="20113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9pPr>
          </a:lstStyle>
          <a:p>
            <a:pPr marL="342900" indent="-342900">
              <a:buFont typeface="Arial" panose="020B0604020202020204" pitchFamily="34" charset="0"/>
              <a:buChar char="•"/>
            </a:pPr>
            <a:r>
              <a:rPr lang="en-GB" sz="1600" dirty="0"/>
              <a:t>Around </a:t>
            </a:r>
            <a:r>
              <a:rPr lang="en-GB" sz="1600" b="1" dirty="0"/>
              <a:t>70% of values </a:t>
            </a:r>
            <a:r>
              <a:rPr lang="en-GB" sz="1600" dirty="0"/>
              <a:t>lie </a:t>
            </a:r>
            <a:r>
              <a:rPr lang="en-GB" sz="1600" b="1" dirty="0"/>
              <a:t>between 0 MJ/m</a:t>
            </a:r>
            <a:r>
              <a:rPr lang="en-GB" sz="1600" b="1" baseline="30000" dirty="0"/>
              <a:t>3</a:t>
            </a:r>
            <a:r>
              <a:rPr lang="en-GB" sz="1600" b="1" dirty="0"/>
              <a:t> and </a:t>
            </a:r>
            <a:br>
              <a:rPr lang="en-GB" sz="1600" b="1" dirty="0"/>
            </a:br>
            <a:r>
              <a:rPr lang="en-GB" sz="1600" b="1" dirty="0"/>
              <a:t>4 MJ/m</a:t>
            </a:r>
            <a:r>
              <a:rPr lang="en-GB" sz="1600" b="1" baseline="30000" dirty="0"/>
              <a:t>3 </a:t>
            </a:r>
            <a:r>
              <a:rPr lang="en-GB" sz="1600" b="1" dirty="0"/>
              <a:t>of total non-electricity consumption</a:t>
            </a:r>
            <a:r>
              <a:rPr lang="en-GB" sz="1600" dirty="0"/>
              <a:t>.</a:t>
            </a:r>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p:txBody>
      </p:sp>
      <p:sp>
        <p:nvSpPr>
          <p:cNvPr id="16" name="Rectangle 15">
            <a:extLst>
              <a:ext uri="{FF2B5EF4-FFF2-40B4-BE49-F238E27FC236}">
                <a16:creationId xmlns:a16="http://schemas.microsoft.com/office/drawing/2014/main" id="{B02CCC89-EAA6-4523-BB0A-897173A814A9}"/>
              </a:ext>
            </a:extLst>
          </p:cNvPr>
          <p:cNvSpPr/>
          <p:nvPr/>
        </p:nvSpPr>
        <p:spPr>
          <a:xfrm>
            <a:off x="10753344" y="88931"/>
            <a:ext cx="104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Europe level</a:t>
            </a:r>
          </a:p>
        </p:txBody>
      </p:sp>
      <p:graphicFrame>
        <p:nvGraphicFramePr>
          <p:cNvPr id="18" name="Graphique 17">
            <a:extLst>
              <a:ext uri="{FF2B5EF4-FFF2-40B4-BE49-F238E27FC236}">
                <a16:creationId xmlns:a16="http://schemas.microsoft.com/office/drawing/2014/main" id="{8E2C506E-74C7-4F3C-8B97-80D97334758E}"/>
              </a:ext>
            </a:extLst>
          </p:cNvPr>
          <p:cNvGraphicFramePr>
            <a:graphicFrameLocks/>
          </p:cNvGraphicFramePr>
          <p:nvPr>
            <p:extLst>
              <p:ext uri="{D42A27DB-BD31-4B8C-83A1-F6EECF244321}">
                <p14:modId xmlns:p14="http://schemas.microsoft.com/office/powerpoint/2010/main" val="1910153900"/>
              </p:ext>
            </p:extLst>
          </p:nvPr>
        </p:nvGraphicFramePr>
        <p:xfrm>
          <a:off x="453603" y="2329321"/>
          <a:ext cx="5148000" cy="3600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0" name="Graphique 19">
            <a:extLst>
              <a:ext uri="{FF2B5EF4-FFF2-40B4-BE49-F238E27FC236}">
                <a16:creationId xmlns:a16="http://schemas.microsoft.com/office/drawing/2014/main" id="{ECC46914-0386-4D66-84D4-21181A9D3B47}"/>
              </a:ext>
            </a:extLst>
          </p:cNvPr>
          <p:cNvGraphicFramePr>
            <a:graphicFrameLocks/>
          </p:cNvGraphicFramePr>
          <p:nvPr>
            <p:extLst>
              <p:ext uri="{D42A27DB-BD31-4B8C-83A1-F6EECF244321}">
                <p14:modId xmlns:p14="http://schemas.microsoft.com/office/powerpoint/2010/main" val="380899952"/>
              </p:ext>
            </p:extLst>
          </p:nvPr>
        </p:nvGraphicFramePr>
        <p:xfrm>
          <a:off x="6680447" y="2329321"/>
          <a:ext cx="5148000" cy="3600000"/>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3975330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3C8AA9ED-F179-4B8B-AD6C-9026AA97B4EE}"/>
              </a:ext>
            </a:extLst>
          </p:cNvPr>
          <p:cNvGraphicFramePr>
            <a:graphicFrameLocks noChangeAspect="1"/>
          </p:cNvGraphicFramePr>
          <p:nvPr>
            <p:custDataLst>
              <p:tags r:id="rId1"/>
            </p:custDataLst>
            <p:extLst>
              <p:ext uri="{D42A27DB-BD31-4B8C-83A1-F6EECF244321}">
                <p14:modId xmlns:p14="http://schemas.microsoft.com/office/powerpoint/2010/main" val="36884009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8" name="Objet 7" hidden="1">
                        <a:extLst>
                          <a:ext uri="{FF2B5EF4-FFF2-40B4-BE49-F238E27FC236}">
                            <a16:creationId xmlns:a16="http://schemas.microsoft.com/office/drawing/2014/main" id="{3C8AA9ED-F179-4B8B-AD6C-9026AA97B4E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7B1F0BA1-EF4F-473C-8F98-1715F4930D35}"/>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US"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299AD306-B664-4941-949E-A0078273702A}"/>
              </a:ext>
            </a:extLst>
          </p:cNvPr>
          <p:cNvSpPr>
            <a:spLocks noGrp="1"/>
          </p:cNvSpPr>
          <p:nvPr>
            <p:ph type="title"/>
          </p:nvPr>
        </p:nvSpPr>
        <p:spPr>
          <a:xfrm>
            <a:off x="442913" y="432000"/>
            <a:ext cx="11303811" cy="1387275"/>
          </a:xfrm>
        </p:spPr>
        <p:txBody>
          <a:bodyPr>
            <a:normAutofit fontScale="90000"/>
          </a:bodyPr>
          <a:lstStyle/>
          <a:p>
            <a:r>
              <a:rPr lang="en-GB" dirty="0"/>
              <a:t>The use of energy is high in Northern America, especially in Canada</a:t>
            </a:r>
            <a:br>
              <a:rPr lang="en-GB" dirty="0"/>
            </a:br>
            <a:r>
              <a:rPr lang="en-GB" sz="2400" dirty="0"/>
              <a:t>One company did not hold the </a:t>
            </a:r>
            <a:r>
              <a:rPr lang="en-US" sz="2400" dirty="0"/>
              <a:t>information on the energy consumption of the auxiliary diesel plants</a:t>
            </a:r>
            <a:br>
              <a:rPr lang="en-US" sz="2400" dirty="0"/>
            </a:br>
            <a:r>
              <a:rPr lang="en-US" dirty="0"/>
              <a:t> </a:t>
            </a:r>
            <a:br>
              <a:rPr lang="en-US" dirty="0"/>
            </a:br>
            <a:endParaRPr lang="en-GB" sz="2200" dirty="0"/>
          </a:p>
        </p:txBody>
      </p:sp>
      <p:sp>
        <p:nvSpPr>
          <p:cNvPr id="5" name="Espace réservé de la date 4">
            <a:extLst>
              <a:ext uri="{FF2B5EF4-FFF2-40B4-BE49-F238E27FC236}">
                <a16:creationId xmlns:a16="http://schemas.microsoft.com/office/drawing/2014/main" id="{4F3A485A-92A7-4980-AF76-E28ED7722818}"/>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F34C45C2-AF71-4870-9D71-5ED01262B597}"/>
              </a:ext>
            </a:extLst>
          </p:cNvPr>
          <p:cNvSpPr>
            <a:spLocks noGrp="1"/>
          </p:cNvSpPr>
          <p:nvPr>
            <p:ph type="sldNum" sz="quarter" idx="11"/>
          </p:nvPr>
        </p:nvSpPr>
        <p:spPr/>
        <p:txBody>
          <a:bodyPr/>
          <a:lstStyle/>
          <a:p>
            <a:fld id="{7870704B-CE94-48CC-AF30-84932A1262A7}" type="slidenum">
              <a:rPr lang="fr-FR" smtClean="0"/>
              <a:pPr/>
              <a:t>10</a:t>
            </a:fld>
            <a:endParaRPr lang="fr-FR" dirty="0"/>
          </a:p>
        </p:txBody>
      </p:sp>
      <p:graphicFrame>
        <p:nvGraphicFramePr>
          <p:cNvPr id="12" name="Tableau 11">
            <a:extLst>
              <a:ext uri="{FF2B5EF4-FFF2-40B4-BE49-F238E27FC236}">
                <a16:creationId xmlns:a16="http://schemas.microsoft.com/office/drawing/2014/main" id="{6120BEF5-2357-4AB8-8DCC-73365CF2A894}"/>
              </a:ext>
            </a:extLst>
          </p:cNvPr>
          <p:cNvGraphicFramePr>
            <a:graphicFrameLocks noGrp="1"/>
          </p:cNvGraphicFramePr>
          <p:nvPr>
            <p:extLst>
              <p:ext uri="{D42A27DB-BD31-4B8C-83A1-F6EECF244321}">
                <p14:modId xmlns:p14="http://schemas.microsoft.com/office/powerpoint/2010/main" val="3069783042"/>
              </p:ext>
            </p:extLst>
          </p:nvPr>
        </p:nvGraphicFramePr>
        <p:xfrm>
          <a:off x="746243" y="1481457"/>
          <a:ext cx="4320000" cy="899999"/>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1504220348"/>
                    </a:ext>
                  </a:extLst>
                </a:gridCol>
                <a:gridCol w="864000">
                  <a:extLst>
                    <a:ext uri="{9D8B030D-6E8A-4147-A177-3AD203B41FA5}">
                      <a16:colId xmlns:a16="http://schemas.microsoft.com/office/drawing/2014/main" val="1413351609"/>
                    </a:ext>
                  </a:extLst>
                </a:gridCol>
                <a:gridCol w="864000">
                  <a:extLst>
                    <a:ext uri="{9D8B030D-6E8A-4147-A177-3AD203B41FA5}">
                      <a16:colId xmlns:a16="http://schemas.microsoft.com/office/drawing/2014/main" val="1239885802"/>
                    </a:ext>
                  </a:extLst>
                </a:gridCol>
                <a:gridCol w="864000">
                  <a:extLst>
                    <a:ext uri="{9D8B030D-6E8A-4147-A177-3AD203B41FA5}">
                      <a16:colId xmlns:a16="http://schemas.microsoft.com/office/drawing/2014/main" val="3091639623"/>
                    </a:ext>
                  </a:extLst>
                </a:gridCol>
                <a:gridCol w="864000">
                  <a:extLst>
                    <a:ext uri="{9D8B030D-6E8A-4147-A177-3AD203B41FA5}">
                      <a16:colId xmlns:a16="http://schemas.microsoft.com/office/drawing/2014/main" val="2904654360"/>
                    </a:ext>
                  </a:extLst>
                </a:gridCol>
              </a:tblGrid>
              <a:tr h="356809">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71595">
                <a:tc>
                  <a:txBody>
                    <a:bodyPr/>
                    <a:lstStyle/>
                    <a:p>
                      <a:pPr algn="ctr" fontAlgn="ctr"/>
                      <a:r>
                        <a:rPr lang="en-GB" sz="1000" b="0" i="1" u="none" strike="noStrike">
                          <a:solidFill>
                            <a:schemeClr val="tx1"/>
                          </a:solidFill>
                          <a:effectLst/>
                          <a:latin typeface="Arial" panose="020B0604020202020204" pitchFamily="34" charset="0"/>
                          <a:cs typeface="Arial" panose="020B0604020202020204" pitchFamily="34" charset="0"/>
                        </a:rPr>
                        <a:t>kWh/m3</a:t>
                      </a:r>
                      <a:endParaRPr lang="en-GB" sz="1000" b="0" i="1"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0" i="1" u="none" strike="noStrike">
                          <a:solidFill>
                            <a:schemeClr val="tx1"/>
                          </a:solidFill>
                          <a:effectLst/>
                          <a:latin typeface="Arial" panose="020B0604020202020204" pitchFamily="34" charset="0"/>
                          <a:cs typeface="Arial" panose="020B0604020202020204" pitchFamily="34" charset="0"/>
                        </a:rPr>
                        <a:t>kWh/m3</a:t>
                      </a:r>
                      <a:endParaRPr lang="en-GB" sz="1000" b="0" i="1"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b="0" i="1" u="none" strike="noStrike" dirty="0">
                          <a:solidFill>
                            <a:schemeClr val="tx1"/>
                          </a:solidFill>
                          <a:effectLst/>
                          <a:latin typeface="Arial" panose="020B0604020202020204" pitchFamily="34" charset="0"/>
                          <a:cs typeface="Arial" panose="020B0604020202020204" pitchFamily="34" charset="0"/>
                        </a:rPr>
                        <a:t>kWh/m3</a:t>
                      </a:r>
                    </a:p>
                  </a:txBody>
                  <a:tcPr marL="9525" marR="9525" marT="9525" marB="0" anchor="ctr"/>
                </a:tc>
                <a:tc>
                  <a:txBody>
                    <a:bodyPr/>
                    <a:lstStyle/>
                    <a:p>
                      <a:pPr algn="ctr" fontAlgn="ctr"/>
                      <a:r>
                        <a:rPr lang="en-GB" sz="1000" b="0" i="1" u="none" strike="noStrike" dirty="0">
                          <a:solidFill>
                            <a:schemeClr val="tx1"/>
                          </a:solidFill>
                          <a:effectLst/>
                          <a:latin typeface="Arial" panose="020B0604020202020204" pitchFamily="34" charset="0"/>
                          <a:cs typeface="Arial" panose="020B0604020202020204" pitchFamily="34" charset="0"/>
                        </a:rPr>
                        <a:t>kWh/m3</a:t>
                      </a:r>
                    </a:p>
                  </a:txBody>
                  <a:tcPr marL="9525" marR="9525" marT="9525" marB="0" anchor="ctr"/>
                </a:tc>
                <a:tc>
                  <a:txBody>
                    <a:bodyPr/>
                    <a:lstStyle/>
                    <a:p>
                      <a:pPr algn="ctr" fontAlgn="ctr"/>
                      <a:r>
                        <a:rPr lang="en-GB" sz="1000" b="0" i="1" u="none" strike="noStrike" dirty="0">
                          <a:solidFill>
                            <a:schemeClr val="tx1"/>
                          </a:solidFill>
                          <a:effectLst/>
                          <a:latin typeface="Arial" panose="020B0604020202020204" pitchFamily="34" charset="0"/>
                          <a:cs typeface="Arial" panose="020B0604020202020204" pitchFamily="34" charset="0"/>
                        </a:rPr>
                        <a:t>%</a:t>
                      </a:r>
                      <a:endParaRPr lang="en-GB" sz="1000" b="1" i="1" u="none" strike="noStrike" noProof="0"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885685747"/>
                  </a:ext>
                </a:extLst>
              </a:tr>
              <a:tr h="271595">
                <a:tc>
                  <a:txBody>
                    <a:bodyPr/>
                    <a:lstStyle/>
                    <a:p>
                      <a:pPr marL="0" algn="ctr" defTabSz="914400" rtl="0" eaLnBrk="1" fontAlgn="ctr" latinLnBrk="0" hangingPunct="1"/>
                      <a:r>
                        <a:rPr lang="fr-FR" sz="1000" b="0" i="0" u="none" strike="noStrike" kern="1200" dirty="0">
                          <a:solidFill>
                            <a:srgbClr val="000000"/>
                          </a:solidFill>
                          <a:effectLst/>
                          <a:latin typeface="+mn-lt"/>
                          <a:ea typeface="+mn-ea"/>
                          <a:cs typeface="+mn-cs"/>
                        </a:rPr>
                        <a:t>1.2</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mn-lt"/>
                          <a:ea typeface="+mn-ea"/>
                          <a:cs typeface="+mn-cs"/>
                        </a:rPr>
                        <a:t>5.2</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mn-lt"/>
                          <a:ea typeface="+mn-ea"/>
                          <a:cs typeface="+mn-cs"/>
                        </a:rPr>
                        <a:t>8.6</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mn-lt"/>
                          <a:ea typeface="+mn-ea"/>
                          <a:cs typeface="+mn-cs"/>
                        </a:rPr>
                        <a:t>2,01</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mn-lt"/>
                          <a:ea typeface="+mn-ea"/>
                          <a:cs typeface="+mn-cs"/>
                        </a:rPr>
                        <a:t>100</a:t>
                      </a:r>
                    </a:p>
                  </a:txBody>
                  <a:tcPr marL="9525" marR="9525" marT="9525" marB="0" anchor="ctr"/>
                </a:tc>
                <a:extLst>
                  <a:ext uri="{0D108BD9-81ED-4DB2-BD59-A6C34878D82A}">
                    <a16:rowId xmlns:a16="http://schemas.microsoft.com/office/drawing/2014/main" val="2310329303"/>
                  </a:ext>
                </a:extLst>
              </a:tr>
            </a:tbl>
          </a:graphicData>
        </a:graphic>
      </p:graphicFrame>
      <p:graphicFrame>
        <p:nvGraphicFramePr>
          <p:cNvPr id="13" name="Tableau 12">
            <a:extLst>
              <a:ext uri="{FF2B5EF4-FFF2-40B4-BE49-F238E27FC236}">
                <a16:creationId xmlns:a16="http://schemas.microsoft.com/office/drawing/2014/main" id="{61004715-0D04-42FE-9A1D-4CFE5FDCC618}"/>
              </a:ext>
            </a:extLst>
          </p:cNvPr>
          <p:cNvGraphicFramePr>
            <a:graphicFrameLocks noGrp="1"/>
          </p:cNvGraphicFramePr>
          <p:nvPr>
            <p:extLst>
              <p:ext uri="{D42A27DB-BD31-4B8C-83A1-F6EECF244321}">
                <p14:modId xmlns:p14="http://schemas.microsoft.com/office/powerpoint/2010/main" val="1511621734"/>
              </p:ext>
            </p:extLst>
          </p:nvPr>
        </p:nvGraphicFramePr>
        <p:xfrm>
          <a:off x="6973087" y="1481457"/>
          <a:ext cx="4320000" cy="864000"/>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1504220348"/>
                    </a:ext>
                  </a:extLst>
                </a:gridCol>
                <a:gridCol w="864000">
                  <a:extLst>
                    <a:ext uri="{9D8B030D-6E8A-4147-A177-3AD203B41FA5}">
                      <a16:colId xmlns:a16="http://schemas.microsoft.com/office/drawing/2014/main" val="1413351609"/>
                    </a:ext>
                  </a:extLst>
                </a:gridCol>
                <a:gridCol w="864000">
                  <a:extLst>
                    <a:ext uri="{9D8B030D-6E8A-4147-A177-3AD203B41FA5}">
                      <a16:colId xmlns:a16="http://schemas.microsoft.com/office/drawing/2014/main" val="1239885802"/>
                    </a:ext>
                  </a:extLst>
                </a:gridCol>
                <a:gridCol w="864000">
                  <a:extLst>
                    <a:ext uri="{9D8B030D-6E8A-4147-A177-3AD203B41FA5}">
                      <a16:colId xmlns:a16="http://schemas.microsoft.com/office/drawing/2014/main" val="3091639623"/>
                    </a:ext>
                  </a:extLst>
                </a:gridCol>
                <a:gridCol w="864000">
                  <a:extLst>
                    <a:ext uri="{9D8B030D-6E8A-4147-A177-3AD203B41FA5}">
                      <a16:colId xmlns:a16="http://schemas.microsoft.com/office/drawing/2014/main" val="2904654360"/>
                    </a:ext>
                  </a:extLst>
                </a:gridCol>
              </a:tblGrid>
              <a:tr h="353298">
                <a:tc>
                  <a:txBody>
                    <a:bodyPr/>
                    <a:lstStyle/>
                    <a:p>
                      <a:pPr algn="ctr" fontAlgn="ctr"/>
                      <a:r>
                        <a:rPr lang="fr-FR" sz="1000" b="1" u="none" strike="noStrike" dirty="0">
                          <a:solidFill>
                            <a:schemeClr val="tx1"/>
                          </a:solidFill>
                          <a:effectLst/>
                        </a:rPr>
                        <a:t>Minimum </a:t>
                      </a:r>
                      <a:endParaRPr lang="fr-FR"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fr-FR" sz="1000" b="1" u="none" strike="noStrike" dirty="0">
                          <a:solidFill>
                            <a:schemeClr val="tx1"/>
                          </a:solidFill>
                          <a:effectLst/>
                        </a:rPr>
                        <a:t>Maximum</a:t>
                      </a:r>
                      <a:endParaRPr lang="fr-FR"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fr-FR" sz="1000" b="1" u="none" strike="noStrike" dirty="0">
                          <a:solidFill>
                            <a:schemeClr val="tx1"/>
                          </a:solidFill>
                          <a:effectLst/>
                        </a:rPr>
                        <a:t>Standard </a:t>
                      </a:r>
                      <a:r>
                        <a:rPr lang="en-GB" sz="1000" b="1" u="none" strike="noStrike" noProof="0" dirty="0">
                          <a:solidFill>
                            <a:schemeClr val="tx1"/>
                          </a:solidFill>
                          <a:effectLst/>
                        </a:rPr>
                        <a:t>Deviation</a:t>
                      </a:r>
                      <a:endParaRPr lang="en-GB" sz="1000" b="1" i="0" u="none" strike="noStrike" noProof="0"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55351">
                <a:tc>
                  <a:txBody>
                    <a:bodyPr/>
                    <a:lstStyle/>
                    <a:p>
                      <a:pPr marL="0" algn="ctr" defTabSz="914400" rtl="0" eaLnBrk="1" fontAlgn="ctr" latinLnBrk="0" hangingPunct="1"/>
                      <a:r>
                        <a:rPr lang="fr-FR" sz="1000" b="0" i="1" u="none" strike="noStrike" kern="1200" dirty="0">
                          <a:solidFill>
                            <a:schemeClr val="tx1"/>
                          </a:solidFill>
                          <a:effectLst/>
                          <a:latin typeface="Arial" panose="020B0604020202020204" pitchFamily="34" charset="0"/>
                          <a:ea typeface="+mn-ea"/>
                          <a:cs typeface="Arial" panose="020B0604020202020204" pitchFamily="34" charset="0"/>
                        </a:rPr>
                        <a:t>MJ/m3</a:t>
                      </a:r>
                    </a:p>
                  </a:txBody>
                  <a:tcPr marL="9525" marR="9525" marT="9525" marB="0" anchor="ctr"/>
                </a:tc>
                <a:tc>
                  <a:txBody>
                    <a:bodyPr/>
                    <a:lstStyle/>
                    <a:p>
                      <a:pPr marL="0" algn="ctr" defTabSz="914400" rtl="0" eaLnBrk="1" fontAlgn="ctr" latinLnBrk="0" hangingPunct="1"/>
                      <a:r>
                        <a:rPr lang="fr-FR" sz="1000" b="0" i="1" u="none" strike="noStrike" kern="1200">
                          <a:solidFill>
                            <a:schemeClr val="tx1"/>
                          </a:solidFill>
                          <a:effectLst/>
                          <a:latin typeface="Arial" panose="020B0604020202020204" pitchFamily="34" charset="0"/>
                          <a:ea typeface="+mn-ea"/>
                          <a:cs typeface="Arial" panose="020B0604020202020204" pitchFamily="34" charset="0"/>
                        </a:rPr>
                        <a:t>MJ/m3</a:t>
                      </a:r>
                      <a:endParaRPr lang="fr-FR" sz="1000" b="0" i="1" u="none" strike="noStrike" kern="1200" dirty="0">
                        <a:solidFill>
                          <a:schemeClr val="tx1"/>
                        </a:solidFill>
                        <a:effectLst/>
                        <a:latin typeface="Arial" panose="020B0604020202020204" pitchFamily="34" charset="0"/>
                        <a:ea typeface="+mn-ea"/>
                        <a:cs typeface="Arial" panose="020B0604020202020204" pitchFamily="34" charset="0"/>
                      </a:endParaRPr>
                    </a:p>
                  </a:txBody>
                  <a:tcPr marL="9525" marR="9525" marT="9525" marB="0" anchor="ctr"/>
                </a:tc>
                <a:tc>
                  <a:txBody>
                    <a:bodyPr/>
                    <a:lstStyle/>
                    <a:p>
                      <a:pPr marL="0" algn="ctr" defTabSz="914400" rtl="0" eaLnBrk="1" fontAlgn="ctr" latinLnBrk="0" hangingPunct="1"/>
                      <a:r>
                        <a:rPr lang="fr-FR" sz="1000" b="0" i="1" u="none" strike="noStrike" kern="1200" dirty="0">
                          <a:solidFill>
                            <a:schemeClr val="tx1"/>
                          </a:solidFill>
                          <a:effectLst/>
                          <a:latin typeface="Arial" panose="020B0604020202020204" pitchFamily="34" charset="0"/>
                          <a:ea typeface="+mn-ea"/>
                          <a:cs typeface="Arial" panose="020B0604020202020204" pitchFamily="34" charset="0"/>
                        </a:rPr>
                        <a:t>MJ/m3</a:t>
                      </a:r>
                    </a:p>
                  </a:txBody>
                  <a:tcPr marL="9525" marR="9525" marT="9525" marB="0" anchor="ctr"/>
                </a:tc>
                <a:tc>
                  <a:txBody>
                    <a:bodyPr/>
                    <a:lstStyle/>
                    <a:p>
                      <a:pPr marL="0" algn="ctr" defTabSz="914400" rtl="0" eaLnBrk="1" fontAlgn="ctr" latinLnBrk="0" hangingPunct="1"/>
                      <a:r>
                        <a:rPr lang="fr-FR" sz="1000" b="0" i="1" u="none" strike="noStrike" kern="1200" dirty="0">
                          <a:solidFill>
                            <a:schemeClr val="tx1"/>
                          </a:solidFill>
                          <a:effectLst/>
                          <a:latin typeface="Arial" panose="020B0604020202020204" pitchFamily="34" charset="0"/>
                          <a:ea typeface="+mn-ea"/>
                          <a:cs typeface="Arial" panose="020B0604020202020204" pitchFamily="34" charset="0"/>
                        </a:rPr>
                        <a:t>MJ/m3</a:t>
                      </a:r>
                    </a:p>
                  </a:txBody>
                  <a:tcPr marL="9525" marR="9525" marT="9525" marB="0" anchor="ctr"/>
                </a:tc>
                <a:tc>
                  <a:txBody>
                    <a:bodyPr/>
                    <a:lstStyle/>
                    <a:p>
                      <a:pPr marL="0" algn="ctr" defTabSz="914400" rtl="0" eaLnBrk="1" fontAlgn="ctr" latinLnBrk="0" hangingPunct="1"/>
                      <a:r>
                        <a:rPr lang="fr-FR" sz="1000" b="0" i="1" u="none" strike="noStrike" kern="1200" dirty="0">
                          <a:solidFill>
                            <a:schemeClr val="tx1"/>
                          </a:solidFill>
                          <a:effectLst/>
                          <a:latin typeface="Arial" panose="020B0604020202020204" pitchFamily="34" charset="0"/>
                          <a:ea typeface="+mn-ea"/>
                          <a:cs typeface="Arial" panose="020B0604020202020204" pitchFamily="34" charset="0"/>
                        </a:rPr>
                        <a:t>%</a:t>
                      </a:r>
                    </a:p>
                  </a:txBody>
                  <a:tcPr marL="9525" marR="9525" marT="9525" marB="0" anchor="ctr"/>
                </a:tc>
                <a:extLst>
                  <a:ext uri="{0D108BD9-81ED-4DB2-BD59-A6C34878D82A}">
                    <a16:rowId xmlns:a16="http://schemas.microsoft.com/office/drawing/2014/main" val="2310329303"/>
                  </a:ext>
                </a:extLst>
              </a:tr>
              <a:tr h="255351">
                <a:tc>
                  <a:txBody>
                    <a:bodyPr/>
                    <a:lstStyle/>
                    <a:p>
                      <a:pPr algn="ctr" fontAlgn="ctr"/>
                      <a:r>
                        <a:rPr lang="fr-FR" sz="1000" b="0" i="0" u="none" strike="noStrike" kern="1200" dirty="0">
                          <a:solidFill>
                            <a:srgbClr val="000000"/>
                          </a:solidFill>
                          <a:effectLst/>
                          <a:latin typeface="+mn-lt"/>
                          <a:ea typeface="+mn-ea"/>
                          <a:cs typeface="+mn-cs"/>
                        </a:rPr>
                        <a:t>0</a:t>
                      </a:r>
                    </a:p>
                  </a:txBody>
                  <a:tcPr marL="9525" marR="9525" marT="9525" marB="0" anchor="ctr"/>
                </a:tc>
                <a:tc>
                  <a:txBody>
                    <a:bodyPr/>
                    <a:lstStyle/>
                    <a:p>
                      <a:pPr algn="ctr" fontAlgn="ctr"/>
                      <a:r>
                        <a:rPr lang="fr-FR" sz="1000" b="0" i="0" u="none" strike="noStrike" kern="1200" dirty="0">
                          <a:solidFill>
                            <a:srgbClr val="000000"/>
                          </a:solidFill>
                          <a:effectLst/>
                          <a:latin typeface="+mn-lt"/>
                          <a:ea typeface="+mn-ea"/>
                          <a:cs typeface="+mn-cs"/>
                        </a:rPr>
                        <a:t>60.3</a:t>
                      </a:r>
                    </a:p>
                  </a:txBody>
                  <a:tcPr marL="9525" marR="9525" marT="9525" marB="0" anchor="ctr"/>
                </a:tc>
                <a:tc>
                  <a:txBody>
                    <a:bodyPr/>
                    <a:lstStyle/>
                    <a:p>
                      <a:pPr algn="ctr" fontAlgn="ctr"/>
                      <a:r>
                        <a:rPr lang="fr-FR" sz="1000" b="0" i="0" u="none" strike="noStrike" kern="1200" dirty="0">
                          <a:solidFill>
                            <a:srgbClr val="000000"/>
                          </a:solidFill>
                          <a:effectLst/>
                          <a:latin typeface="+mn-lt"/>
                          <a:ea typeface="+mn-ea"/>
                          <a:cs typeface="+mn-cs"/>
                        </a:rPr>
                        <a:t>210</a:t>
                      </a:r>
                    </a:p>
                  </a:txBody>
                  <a:tcPr marL="9525" marR="9525" marT="9525" marB="0" anchor="ctr"/>
                </a:tc>
                <a:tc>
                  <a:txBody>
                    <a:bodyPr/>
                    <a:lstStyle/>
                    <a:p>
                      <a:pPr algn="ctr" fontAlgn="ctr"/>
                      <a:r>
                        <a:rPr lang="fr-FR" sz="1000" b="0" i="0" u="none" strike="noStrike" kern="1200" dirty="0">
                          <a:solidFill>
                            <a:srgbClr val="000000"/>
                          </a:solidFill>
                          <a:effectLst/>
                          <a:latin typeface="+mn-lt"/>
                          <a:ea typeface="+mn-ea"/>
                          <a:cs typeface="+mn-cs"/>
                        </a:rPr>
                        <a:t>68   </a:t>
                      </a:r>
                    </a:p>
                  </a:txBody>
                  <a:tcPr marL="9525" marR="9525" marT="9525" marB="0" anchor="ctr"/>
                </a:tc>
                <a:tc>
                  <a:txBody>
                    <a:bodyPr/>
                    <a:lstStyle/>
                    <a:p>
                      <a:pPr algn="ctr" fontAlgn="ctr"/>
                      <a:r>
                        <a:rPr lang="fr-FR" sz="1000" b="0" i="0" u="none" strike="noStrike" kern="1200" dirty="0">
                          <a:solidFill>
                            <a:srgbClr val="000000"/>
                          </a:solidFill>
                          <a:effectLst/>
                          <a:latin typeface="+mn-lt"/>
                          <a:ea typeface="+mn-ea"/>
                          <a:cs typeface="+mn-cs"/>
                        </a:rPr>
                        <a:t>97</a:t>
                      </a:r>
                    </a:p>
                  </a:txBody>
                  <a:tcPr marL="9525" marR="9525" marT="9525" marB="0" anchor="ctr"/>
                </a:tc>
                <a:extLst>
                  <a:ext uri="{0D108BD9-81ED-4DB2-BD59-A6C34878D82A}">
                    <a16:rowId xmlns:a16="http://schemas.microsoft.com/office/drawing/2014/main" val="2407293559"/>
                  </a:ext>
                </a:extLst>
              </a:tr>
            </a:tbl>
          </a:graphicData>
        </a:graphic>
      </p:graphicFrame>
      <p:sp>
        <p:nvSpPr>
          <p:cNvPr id="3" name="Espace réservé du pied de page 2">
            <a:extLst>
              <a:ext uri="{FF2B5EF4-FFF2-40B4-BE49-F238E27FC236}">
                <a16:creationId xmlns:a16="http://schemas.microsoft.com/office/drawing/2014/main" id="{E9A5FF85-F675-44B2-BC5E-41CE91789848}"/>
              </a:ext>
            </a:extLst>
          </p:cNvPr>
          <p:cNvSpPr>
            <a:spLocks noGrp="1"/>
          </p:cNvSpPr>
          <p:nvPr>
            <p:ph type="ftr" sz="quarter" idx="13"/>
          </p:nvPr>
        </p:nvSpPr>
        <p:spPr/>
        <p:txBody>
          <a:bodyPr/>
          <a:lstStyle/>
          <a:p>
            <a:pPr algn="l"/>
            <a:r>
              <a:rPr lang="en-US"/>
              <a:t>GCCA GNR Concrete Pilot Project</a:t>
            </a:r>
            <a:endParaRPr lang="fr-FR" dirty="0"/>
          </a:p>
        </p:txBody>
      </p:sp>
      <p:sp>
        <p:nvSpPr>
          <p:cNvPr id="14" name="Espace réservé du contenu 2">
            <a:extLst>
              <a:ext uri="{FF2B5EF4-FFF2-40B4-BE49-F238E27FC236}">
                <a16:creationId xmlns:a16="http://schemas.microsoft.com/office/drawing/2014/main" id="{36360113-8924-4835-A69E-9261A1C24D5A}"/>
              </a:ext>
            </a:extLst>
          </p:cNvPr>
          <p:cNvSpPr>
            <a:spLocks noGrp="1"/>
          </p:cNvSpPr>
          <p:nvPr>
            <p:ph idx="1"/>
          </p:nvPr>
        </p:nvSpPr>
        <p:spPr>
          <a:xfrm>
            <a:off x="464292" y="5871216"/>
            <a:ext cx="5358963" cy="491148"/>
          </a:xfrm>
        </p:spPr>
        <p:txBody>
          <a:bodyPr/>
          <a:lstStyle/>
          <a:p>
            <a:pPr marL="342900" indent="-342900">
              <a:buFont typeface="Arial" panose="020B0604020202020204" pitchFamily="34" charset="0"/>
              <a:buChar char="•"/>
            </a:pPr>
            <a:r>
              <a:rPr lang="en-GB" sz="1600" dirty="0"/>
              <a:t>Around </a:t>
            </a:r>
            <a:r>
              <a:rPr lang="en-GB" sz="1600" b="1" dirty="0"/>
              <a:t>80% of values </a:t>
            </a:r>
            <a:r>
              <a:rPr lang="en-GB" sz="1600" dirty="0"/>
              <a:t>lie </a:t>
            </a:r>
            <a:r>
              <a:rPr lang="en-GB" sz="1600" b="1" dirty="0"/>
              <a:t>between 2 kWh/m</a:t>
            </a:r>
            <a:r>
              <a:rPr lang="en-GB" sz="1600" b="1" baseline="30000" dirty="0"/>
              <a:t>3</a:t>
            </a:r>
            <a:r>
              <a:rPr lang="en-GB" sz="1600" b="1" dirty="0"/>
              <a:t> and </a:t>
            </a:r>
            <a:br>
              <a:rPr lang="en-GB" sz="1600" b="1" dirty="0"/>
            </a:br>
            <a:r>
              <a:rPr lang="en-GB" sz="1600" b="1" dirty="0"/>
              <a:t>6 kWh/m</a:t>
            </a:r>
            <a:r>
              <a:rPr lang="en-GB" sz="1600" b="1" baseline="30000" dirty="0"/>
              <a:t>3 </a:t>
            </a:r>
            <a:r>
              <a:rPr lang="en-GB" sz="1600" b="1" dirty="0"/>
              <a:t>of total electricity consumption.</a:t>
            </a: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p:txBody>
      </p:sp>
      <p:sp>
        <p:nvSpPr>
          <p:cNvPr id="15" name="Espace réservé du contenu 2">
            <a:extLst>
              <a:ext uri="{FF2B5EF4-FFF2-40B4-BE49-F238E27FC236}">
                <a16:creationId xmlns:a16="http://schemas.microsoft.com/office/drawing/2014/main" id="{BD22637D-2599-49F9-9A02-DC3D3E6DD699}"/>
              </a:ext>
            </a:extLst>
          </p:cNvPr>
          <p:cNvSpPr txBox="1">
            <a:spLocks/>
          </p:cNvSpPr>
          <p:nvPr/>
        </p:nvSpPr>
        <p:spPr>
          <a:xfrm>
            <a:off x="6945364" y="5871216"/>
            <a:ext cx="4801360" cy="758184"/>
          </a:xfrm>
          <a:prstGeom prst="rect">
            <a:avLst/>
          </a:prstGeom>
        </p:spPr>
        <p:txBody>
          <a:bodyPr vert="horz" lIns="0" tIns="0" rIns="0" bIns="0" rtlCol="0">
            <a:noAutofit/>
          </a:bodyPr>
          <a:lstStyle>
            <a:lvl1pPr marL="730250" indent="-730250" algn="l" defTabSz="914400" rtl="0" eaLnBrk="1" latinLnBrk="0" hangingPunct="1">
              <a:lnSpc>
                <a:spcPct val="90000"/>
              </a:lnSpc>
              <a:spcBef>
                <a:spcPts val="0"/>
              </a:spcBef>
              <a:spcAft>
                <a:spcPts val="600"/>
              </a:spcAft>
              <a:buClr>
                <a:schemeClr val="accent1"/>
              </a:buClr>
              <a:buFont typeface="+mj-lt"/>
              <a:buAutoNum type="arabicPeriod"/>
              <a:tabLst>
                <a:tab pos="10623550" algn="r"/>
              </a:tabLst>
              <a:defRPr sz="2800" b="0" kern="1200">
                <a:solidFill>
                  <a:schemeClr val="tx1"/>
                </a:solidFill>
                <a:latin typeface="+mn-lt"/>
                <a:ea typeface="+mn-ea"/>
                <a:cs typeface="+mn-cs"/>
              </a:defRPr>
            </a:lvl1pPr>
            <a:lvl2pPr marL="730250" indent="0" algn="l" defTabSz="914400" rtl="0" eaLnBrk="1" latinLnBrk="0" hangingPunct="1">
              <a:lnSpc>
                <a:spcPct val="100000"/>
              </a:lnSpc>
              <a:spcBef>
                <a:spcPts val="0"/>
              </a:spcBef>
              <a:spcAft>
                <a:spcPts val="600"/>
              </a:spcAft>
              <a:buClr>
                <a:schemeClr val="accent4"/>
              </a:buClr>
              <a:buFont typeface="+mj-lt"/>
              <a:buNone/>
              <a:tabLst>
                <a:tab pos="10623550" algn="r"/>
              </a:tabLst>
              <a:defRPr sz="1600" kern="1200">
                <a:solidFill>
                  <a:schemeClr val="tx1"/>
                </a:solidFill>
                <a:latin typeface="+mn-lt"/>
                <a:ea typeface="+mn-ea"/>
                <a:cs typeface="+mn-cs"/>
              </a:defRPr>
            </a:lvl2pPr>
            <a:lvl3pPr marL="9144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3pPr>
            <a:lvl4pPr marL="10969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4pPr>
            <a:lvl5pPr marL="1279525"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5pPr>
            <a:lvl6pPr marL="1462088"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6pPr>
            <a:lvl7pPr marL="164465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7pPr>
            <a:lvl8pPr marL="18288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8pPr>
            <a:lvl9pPr marL="20113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9pPr>
          </a:lstStyle>
          <a:p>
            <a:pPr marL="342900" indent="-342900">
              <a:buFont typeface="Arial" panose="020B0604020202020204" pitchFamily="34" charset="0"/>
              <a:buChar char="•"/>
            </a:pPr>
            <a:r>
              <a:rPr lang="en-GB" sz="1600" dirty="0"/>
              <a:t>Around </a:t>
            </a:r>
            <a:r>
              <a:rPr lang="en-GB" sz="1600" b="1" dirty="0"/>
              <a:t>60% of values </a:t>
            </a:r>
            <a:r>
              <a:rPr lang="en-GB" sz="1600" dirty="0"/>
              <a:t>lie </a:t>
            </a:r>
            <a:r>
              <a:rPr lang="en-GB" sz="1600" b="1" dirty="0"/>
              <a:t>between 4 MJ/m</a:t>
            </a:r>
            <a:r>
              <a:rPr lang="en-GB" sz="1600" b="1" baseline="30000" dirty="0"/>
              <a:t>3</a:t>
            </a:r>
            <a:r>
              <a:rPr lang="en-GB" sz="1600" b="1" dirty="0"/>
              <a:t> and </a:t>
            </a:r>
            <a:br>
              <a:rPr lang="en-GB" sz="1600" b="1" dirty="0"/>
            </a:br>
            <a:r>
              <a:rPr lang="en-GB" sz="1600" b="1" dirty="0"/>
              <a:t>27 MJ/m</a:t>
            </a:r>
            <a:r>
              <a:rPr lang="en-GB" sz="1600" b="1" baseline="30000" dirty="0"/>
              <a:t>3 </a:t>
            </a:r>
            <a:r>
              <a:rPr lang="en-GB" sz="1600" b="1" dirty="0"/>
              <a:t>of total non-electricity consumption</a:t>
            </a:r>
            <a:r>
              <a:rPr lang="en-GB" sz="1600" dirty="0"/>
              <a:t>.</a:t>
            </a:r>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p:txBody>
      </p:sp>
      <p:sp>
        <p:nvSpPr>
          <p:cNvPr id="16" name="Rectangle 15">
            <a:extLst>
              <a:ext uri="{FF2B5EF4-FFF2-40B4-BE49-F238E27FC236}">
                <a16:creationId xmlns:a16="http://schemas.microsoft.com/office/drawing/2014/main" id="{B02CCC89-EAA6-4523-BB0A-897173A814A9}"/>
              </a:ext>
            </a:extLst>
          </p:cNvPr>
          <p:cNvSpPr/>
          <p:nvPr/>
        </p:nvSpPr>
        <p:spPr>
          <a:xfrm>
            <a:off x="10753344" y="88931"/>
            <a:ext cx="122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North America</a:t>
            </a:r>
          </a:p>
        </p:txBody>
      </p:sp>
      <p:graphicFrame>
        <p:nvGraphicFramePr>
          <p:cNvPr id="18" name="Graphique 17">
            <a:extLst>
              <a:ext uri="{FF2B5EF4-FFF2-40B4-BE49-F238E27FC236}">
                <a16:creationId xmlns:a16="http://schemas.microsoft.com/office/drawing/2014/main" id="{2D034C16-E44A-421A-A4C9-37BE4F87D964}"/>
              </a:ext>
            </a:extLst>
          </p:cNvPr>
          <p:cNvGraphicFramePr>
            <a:graphicFrameLocks/>
          </p:cNvGraphicFramePr>
          <p:nvPr>
            <p:extLst>
              <p:ext uri="{D42A27DB-BD31-4B8C-83A1-F6EECF244321}">
                <p14:modId xmlns:p14="http://schemas.microsoft.com/office/powerpoint/2010/main" val="490437685"/>
              </p:ext>
            </p:extLst>
          </p:nvPr>
        </p:nvGraphicFramePr>
        <p:xfrm>
          <a:off x="453603" y="2329321"/>
          <a:ext cx="5148000" cy="3600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1" name="Graphique 20">
            <a:extLst>
              <a:ext uri="{FF2B5EF4-FFF2-40B4-BE49-F238E27FC236}">
                <a16:creationId xmlns:a16="http://schemas.microsoft.com/office/drawing/2014/main" id="{ED49E89D-E1CB-4AA1-B1E2-B72774A95CA4}"/>
              </a:ext>
            </a:extLst>
          </p:cNvPr>
          <p:cNvGraphicFramePr>
            <a:graphicFrameLocks/>
          </p:cNvGraphicFramePr>
          <p:nvPr>
            <p:extLst>
              <p:ext uri="{D42A27DB-BD31-4B8C-83A1-F6EECF244321}">
                <p14:modId xmlns:p14="http://schemas.microsoft.com/office/powerpoint/2010/main" val="3528478941"/>
              </p:ext>
            </p:extLst>
          </p:nvPr>
        </p:nvGraphicFramePr>
        <p:xfrm>
          <a:off x="6680447" y="2329321"/>
          <a:ext cx="5148000" cy="3600000"/>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110434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 4" hidden="1">
            <a:extLst>
              <a:ext uri="{FF2B5EF4-FFF2-40B4-BE49-F238E27FC236}">
                <a16:creationId xmlns:a16="http://schemas.microsoft.com/office/drawing/2014/main" id="{BFF6FD58-5478-441F-A6D2-8E8896A93CE0}"/>
              </a:ext>
            </a:extLst>
          </p:cNvPr>
          <p:cNvGraphicFramePr>
            <a:graphicFrameLocks noChangeAspect="1"/>
          </p:cNvGraphicFramePr>
          <p:nvPr>
            <p:custDataLst>
              <p:tags r:id="rId1"/>
            </p:custDataLst>
            <p:extLst>
              <p:ext uri="{D42A27DB-BD31-4B8C-83A1-F6EECF244321}">
                <p14:modId xmlns:p14="http://schemas.microsoft.com/office/powerpoint/2010/main" val="14608259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5" name="Objet 4" hidden="1">
                        <a:extLst>
                          <a:ext uri="{FF2B5EF4-FFF2-40B4-BE49-F238E27FC236}">
                            <a16:creationId xmlns:a16="http://schemas.microsoft.com/office/drawing/2014/main" id="{BFF6FD58-5478-441F-A6D2-8E8896A93CE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F4ABA7D-1F0E-4AB3-9918-BD06E0C44E23}"/>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4000" dirty="0">
              <a:latin typeface="Arial" panose="020B0604020202020204" pitchFamily="34" charset="0"/>
              <a:ea typeface="+mj-ea"/>
              <a:cs typeface="+mj-cs"/>
              <a:sym typeface="Arial" panose="020B0604020202020204" pitchFamily="34" charset="0"/>
            </a:endParaRPr>
          </a:p>
        </p:txBody>
      </p:sp>
      <p:sp>
        <p:nvSpPr>
          <p:cNvPr id="2" name="Title 1"/>
          <p:cNvSpPr>
            <a:spLocks noGrp="1"/>
          </p:cNvSpPr>
          <p:nvPr>
            <p:ph type="title"/>
          </p:nvPr>
        </p:nvSpPr>
        <p:spPr/>
        <p:txBody>
          <a:bodyPr/>
          <a:lstStyle/>
          <a:p>
            <a:r>
              <a:rPr lang="en-GB" dirty="0"/>
              <a:t>Concrete Transport</a:t>
            </a:r>
          </a:p>
        </p:txBody>
      </p:sp>
      <p:sp>
        <p:nvSpPr>
          <p:cNvPr id="3" name="Text Placeholder 2"/>
          <p:cNvSpPr>
            <a:spLocks noGrp="1"/>
          </p:cNvSpPr>
          <p:nvPr>
            <p:ph type="body" sz="quarter" idx="1"/>
          </p:nvPr>
        </p:nvSpPr>
        <p:spPr/>
        <p:txBody>
          <a:bodyPr/>
          <a:lstStyle/>
          <a:p>
            <a:r>
              <a:rPr lang="fr-FR" dirty="0"/>
              <a:t>2</a:t>
            </a:r>
          </a:p>
        </p:txBody>
      </p:sp>
    </p:spTree>
    <p:extLst>
      <p:ext uri="{BB962C8B-B14F-4D97-AF65-F5344CB8AC3E}">
        <p14:creationId xmlns:p14="http://schemas.microsoft.com/office/powerpoint/2010/main" val="2062144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80B03C5C-F507-4522-A9F0-3FB72374CCAA}"/>
              </a:ext>
            </a:extLst>
          </p:cNvPr>
          <p:cNvGraphicFramePr>
            <a:graphicFrameLocks noChangeAspect="1"/>
          </p:cNvGraphicFramePr>
          <p:nvPr>
            <p:custDataLst>
              <p:tags r:id="rId1"/>
            </p:custDataLst>
            <p:extLst>
              <p:ext uri="{D42A27DB-BD31-4B8C-83A1-F6EECF244321}">
                <p14:modId xmlns:p14="http://schemas.microsoft.com/office/powerpoint/2010/main" val="21565440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8" name="Objet 7" hidden="1">
                        <a:extLst>
                          <a:ext uri="{FF2B5EF4-FFF2-40B4-BE49-F238E27FC236}">
                            <a16:creationId xmlns:a16="http://schemas.microsoft.com/office/drawing/2014/main" id="{80B03C5C-F507-4522-A9F0-3FB72374CCA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83CE031B-0FA3-4F5C-9334-40A58FE5457F}"/>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C3BA1AC6-A81D-4622-B52B-7172C69DD5F3}"/>
              </a:ext>
            </a:extLst>
          </p:cNvPr>
          <p:cNvSpPr>
            <a:spLocks noGrp="1"/>
          </p:cNvSpPr>
          <p:nvPr>
            <p:ph type="title"/>
          </p:nvPr>
        </p:nvSpPr>
        <p:spPr>
          <a:xfrm>
            <a:off x="442913" y="432000"/>
            <a:ext cx="11526583" cy="1387275"/>
          </a:xfrm>
        </p:spPr>
        <p:txBody>
          <a:bodyPr>
            <a:normAutofit/>
          </a:bodyPr>
          <a:lstStyle/>
          <a:p>
            <a:r>
              <a:rPr lang="en-GB" dirty="0"/>
              <a:t>The average distribution distance is patchily deployed</a:t>
            </a:r>
            <a:br>
              <a:rPr lang="en-GB" sz="2200" dirty="0"/>
            </a:br>
            <a:r>
              <a:rPr lang="en-GB" sz="2200" dirty="0"/>
              <a:t>The distribution distance varies according to GNR pilot participants </a:t>
            </a:r>
          </a:p>
        </p:txBody>
      </p:sp>
      <p:sp>
        <p:nvSpPr>
          <p:cNvPr id="5" name="Espace réservé de la date 4">
            <a:extLst>
              <a:ext uri="{FF2B5EF4-FFF2-40B4-BE49-F238E27FC236}">
                <a16:creationId xmlns:a16="http://schemas.microsoft.com/office/drawing/2014/main" id="{20823F14-EF10-4F56-BD97-C6812A33635B}"/>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DA3D5FEF-5EA3-43AC-BACB-F24CE91AA154}"/>
              </a:ext>
            </a:extLst>
          </p:cNvPr>
          <p:cNvSpPr>
            <a:spLocks noGrp="1"/>
          </p:cNvSpPr>
          <p:nvPr>
            <p:ph type="sldNum" sz="quarter" idx="11"/>
          </p:nvPr>
        </p:nvSpPr>
        <p:spPr/>
        <p:txBody>
          <a:bodyPr/>
          <a:lstStyle/>
          <a:p>
            <a:fld id="{7870704B-CE94-48CC-AF30-84932A1262A7}" type="slidenum">
              <a:rPr lang="fr-FR" smtClean="0"/>
              <a:pPr/>
              <a:t>12</a:t>
            </a:fld>
            <a:endParaRPr lang="fr-FR" dirty="0"/>
          </a:p>
        </p:txBody>
      </p:sp>
      <p:graphicFrame>
        <p:nvGraphicFramePr>
          <p:cNvPr id="10" name="Tableau 9">
            <a:extLst>
              <a:ext uri="{FF2B5EF4-FFF2-40B4-BE49-F238E27FC236}">
                <a16:creationId xmlns:a16="http://schemas.microsoft.com/office/drawing/2014/main" id="{35F28F85-F923-4262-B7DB-CCE62A03D3EA}"/>
              </a:ext>
            </a:extLst>
          </p:cNvPr>
          <p:cNvGraphicFramePr>
            <a:graphicFrameLocks noGrp="1"/>
          </p:cNvGraphicFramePr>
          <p:nvPr>
            <p:extLst>
              <p:ext uri="{D42A27DB-BD31-4B8C-83A1-F6EECF244321}">
                <p14:modId xmlns:p14="http://schemas.microsoft.com/office/powerpoint/2010/main" val="155757532"/>
              </p:ext>
            </p:extLst>
          </p:nvPr>
        </p:nvGraphicFramePr>
        <p:xfrm>
          <a:off x="6208745" y="1426463"/>
          <a:ext cx="4896000" cy="864000"/>
        </p:xfrm>
        <a:graphic>
          <a:graphicData uri="http://schemas.openxmlformats.org/drawingml/2006/table">
            <a:tbl>
              <a:tblPr firstRow="1" bandRow="1">
                <a:tableStyleId>{5C22544A-7EE6-4342-B048-85BDC9FD1C3A}</a:tableStyleId>
              </a:tblPr>
              <a:tblGrid>
                <a:gridCol w="979200">
                  <a:extLst>
                    <a:ext uri="{9D8B030D-6E8A-4147-A177-3AD203B41FA5}">
                      <a16:colId xmlns:a16="http://schemas.microsoft.com/office/drawing/2014/main" val="1504220348"/>
                    </a:ext>
                  </a:extLst>
                </a:gridCol>
                <a:gridCol w="979200">
                  <a:extLst>
                    <a:ext uri="{9D8B030D-6E8A-4147-A177-3AD203B41FA5}">
                      <a16:colId xmlns:a16="http://schemas.microsoft.com/office/drawing/2014/main" val="1413351609"/>
                    </a:ext>
                  </a:extLst>
                </a:gridCol>
                <a:gridCol w="979200">
                  <a:extLst>
                    <a:ext uri="{9D8B030D-6E8A-4147-A177-3AD203B41FA5}">
                      <a16:colId xmlns:a16="http://schemas.microsoft.com/office/drawing/2014/main" val="1239885802"/>
                    </a:ext>
                  </a:extLst>
                </a:gridCol>
                <a:gridCol w="979200">
                  <a:extLst>
                    <a:ext uri="{9D8B030D-6E8A-4147-A177-3AD203B41FA5}">
                      <a16:colId xmlns:a16="http://schemas.microsoft.com/office/drawing/2014/main" val="3091639623"/>
                    </a:ext>
                  </a:extLst>
                </a:gridCol>
                <a:gridCol w="979200">
                  <a:extLst>
                    <a:ext uri="{9D8B030D-6E8A-4147-A177-3AD203B41FA5}">
                      <a16:colId xmlns:a16="http://schemas.microsoft.com/office/drawing/2014/main" val="2904654360"/>
                    </a:ext>
                  </a:extLst>
                </a:gridCol>
              </a:tblGrid>
              <a:tr h="353298">
                <a:tc>
                  <a:txBody>
                    <a:bodyPr/>
                    <a:lstStyle/>
                    <a:p>
                      <a:pPr algn="ctr" fontAlgn="ctr"/>
                      <a:r>
                        <a:rPr lang="en-GB" sz="1100" b="1" u="none" strike="noStrike">
                          <a:solidFill>
                            <a:schemeClr val="tx1"/>
                          </a:solidFill>
                          <a:effectLst/>
                        </a:rPr>
                        <a:t>Minimum </a:t>
                      </a:r>
                      <a:endParaRPr lang="en-GB" sz="11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1" u="none" strike="noStrike" dirty="0">
                          <a:solidFill>
                            <a:schemeClr val="tx1"/>
                          </a:solidFill>
                          <a:effectLst/>
                        </a:rPr>
                        <a:t>Weighted average</a:t>
                      </a:r>
                      <a:endParaRPr lang="en-GB" sz="11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100" b="1" u="none" strike="noStrike" dirty="0">
                          <a:solidFill>
                            <a:schemeClr val="tx1"/>
                          </a:solidFill>
                          <a:effectLst/>
                        </a:rPr>
                        <a:t>Maximum</a:t>
                      </a:r>
                      <a:endParaRPr lang="en-GB" sz="11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100" b="1" u="none" strike="noStrike" dirty="0">
                          <a:solidFill>
                            <a:schemeClr val="tx1"/>
                          </a:solidFill>
                          <a:effectLst/>
                        </a:rPr>
                        <a:t>Standard Deviation</a:t>
                      </a:r>
                      <a:endParaRPr lang="en-GB" sz="11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100" b="1" u="none" strike="noStrike" noProof="0" dirty="0">
                          <a:solidFill>
                            <a:schemeClr val="tx1"/>
                          </a:solidFill>
                          <a:effectLst/>
                        </a:rPr>
                        <a:t>Coverage </a:t>
                      </a:r>
                      <a:br>
                        <a:rPr lang="en-GB" sz="1100" b="1" u="none" strike="noStrike" noProof="0" dirty="0">
                          <a:solidFill>
                            <a:schemeClr val="tx1"/>
                          </a:solidFill>
                          <a:effectLst/>
                        </a:rPr>
                      </a:br>
                      <a:r>
                        <a:rPr lang="en-GB" sz="1100" b="1" u="none" strike="noStrike" noProof="0" dirty="0">
                          <a:solidFill>
                            <a:schemeClr val="tx1"/>
                          </a:solidFill>
                          <a:effectLst/>
                        </a:rPr>
                        <a:t>for pilot</a:t>
                      </a:r>
                      <a:endParaRPr lang="en-GB" sz="11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55351">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a:ea typeface="+mn-ea"/>
                          <a:cs typeface="+mn-cs"/>
                        </a:rPr>
                        <a:t>km</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a:ln>
                            <a:noFill/>
                          </a:ln>
                          <a:solidFill>
                            <a:srgbClr val="000000"/>
                          </a:solidFill>
                          <a:effectLst/>
                          <a:uLnTx/>
                          <a:uFillTx/>
                          <a:latin typeface="Arial"/>
                          <a:ea typeface="+mn-ea"/>
                          <a:cs typeface="+mn-cs"/>
                        </a:rPr>
                        <a:t>km</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a:ea typeface="+mn-ea"/>
                          <a:cs typeface="+mn-cs"/>
                        </a:rPr>
                        <a:t>km</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100" b="0" i="1" u="none" strike="noStrike" kern="1200" cap="none" spc="0" normalizeH="0" baseline="0" noProof="0" dirty="0">
                          <a:ln>
                            <a:noFill/>
                          </a:ln>
                          <a:solidFill>
                            <a:srgbClr val="000000"/>
                          </a:solidFill>
                          <a:effectLst/>
                          <a:uLnTx/>
                          <a:uFillTx/>
                          <a:latin typeface="+mn-lt"/>
                          <a:ea typeface="+mn-ea"/>
                          <a:cs typeface="+mn-cs"/>
                        </a:rPr>
                        <a:t>km</a:t>
                      </a:r>
                      <a:endParaRPr lang="fr-FR" sz="11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1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2310329303"/>
                  </a:ext>
                </a:extLst>
              </a:tr>
              <a:tr h="255351">
                <a:tc>
                  <a:txBody>
                    <a:bodyPr/>
                    <a:lstStyle/>
                    <a:p>
                      <a:pPr algn="ctr" fontAlgn="ctr"/>
                      <a:r>
                        <a:rPr lang="fr-FR" sz="1100" b="0" i="0" u="none" strike="noStrike" kern="1200" dirty="0">
                          <a:solidFill>
                            <a:srgbClr val="000000"/>
                          </a:solidFill>
                          <a:effectLst/>
                          <a:latin typeface="Arial" panose="020B0604020202020204" pitchFamily="34" charset="0"/>
                          <a:ea typeface="+mn-ea"/>
                          <a:cs typeface="Arial" panose="020B0604020202020204" pitchFamily="34" charset="0"/>
                        </a:rPr>
                        <a:t>5</a:t>
                      </a:r>
                    </a:p>
                  </a:txBody>
                  <a:tcPr marL="9525" marR="9525" marT="9525" marB="0" anchor="ctr"/>
                </a:tc>
                <a:tc>
                  <a:txBody>
                    <a:bodyPr/>
                    <a:lstStyle/>
                    <a:p>
                      <a:pPr algn="ctr" fontAlgn="ctr"/>
                      <a:r>
                        <a:rPr lang="fr-FR" sz="1100" b="0" i="0" u="none" strike="noStrike" kern="1200" dirty="0">
                          <a:solidFill>
                            <a:srgbClr val="000000"/>
                          </a:solidFill>
                          <a:effectLst/>
                          <a:latin typeface="Arial" panose="020B0604020202020204" pitchFamily="34" charset="0"/>
                          <a:ea typeface="+mn-ea"/>
                          <a:cs typeface="Arial" panose="020B0604020202020204" pitchFamily="34" charset="0"/>
                        </a:rPr>
                        <a:t>16</a:t>
                      </a:r>
                    </a:p>
                  </a:txBody>
                  <a:tcPr marL="9525" marR="9525" marT="9525" marB="0" anchor="ctr"/>
                </a:tc>
                <a:tc>
                  <a:txBody>
                    <a:bodyPr/>
                    <a:lstStyle/>
                    <a:p>
                      <a:pPr algn="ctr" fontAlgn="ctr"/>
                      <a:r>
                        <a:rPr lang="fr-FR" sz="1100" b="0" i="0" u="none" strike="noStrike" kern="1200">
                          <a:solidFill>
                            <a:srgbClr val="000000"/>
                          </a:solidFill>
                          <a:effectLst/>
                          <a:latin typeface="Arial" panose="020B0604020202020204" pitchFamily="34" charset="0"/>
                          <a:ea typeface="+mn-ea"/>
                          <a:cs typeface="Arial" panose="020B0604020202020204" pitchFamily="34" charset="0"/>
                        </a:rPr>
                        <a:t>61</a:t>
                      </a:r>
                    </a:p>
                  </a:txBody>
                  <a:tcPr marL="9525" marR="9525" marT="9525" marB="0" anchor="ctr"/>
                </a:tc>
                <a:tc>
                  <a:txBody>
                    <a:bodyPr/>
                    <a:lstStyle/>
                    <a:p>
                      <a:pPr algn="ctr" fontAlgn="ctr"/>
                      <a:r>
                        <a:rPr lang="fr-FR" sz="1100" b="0" i="0" u="none" strike="noStrike" kern="1200" dirty="0">
                          <a:solidFill>
                            <a:srgbClr val="000000"/>
                          </a:solidFill>
                          <a:effectLst/>
                          <a:latin typeface="Arial" panose="020B0604020202020204" pitchFamily="34" charset="0"/>
                          <a:ea typeface="+mn-ea"/>
                          <a:cs typeface="Arial" panose="020B0604020202020204" pitchFamily="34" charset="0"/>
                        </a:rPr>
                        <a:t>9</a:t>
                      </a:r>
                    </a:p>
                  </a:txBody>
                  <a:tcPr marL="9525" marR="9525" marT="9525" marB="0" anchor="ctr"/>
                </a:tc>
                <a:tc>
                  <a:txBody>
                    <a:bodyPr/>
                    <a:lstStyle/>
                    <a:p>
                      <a:pPr algn="ctr" fontAlgn="ctr"/>
                      <a:r>
                        <a:rPr lang="fr-FR" sz="1100" b="0" i="0" u="none" strike="noStrike" dirty="0">
                          <a:solidFill>
                            <a:srgbClr val="000000"/>
                          </a:solidFill>
                          <a:effectLst/>
                          <a:latin typeface="Arial" panose="020B0604020202020204" pitchFamily="34" charset="0"/>
                          <a:cs typeface="Arial" panose="020B0604020202020204" pitchFamily="34" charset="0"/>
                        </a:rPr>
                        <a:t>100</a:t>
                      </a:r>
                    </a:p>
                  </a:txBody>
                  <a:tcPr marL="9525" marR="9525" marT="9525" marB="0" anchor="ctr"/>
                </a:tc>
                <a:extLst>
                  <a:ext uri="{0D108BD9-81ED-4DB2-BD59-A6C34878D82A}">
                    <a16:rowId xmlns:a16="http://schemas.microsoft.com/office/drawing/2014/main" val="2445748765"/>
                  </a:ext>
                </a:extLst>
              </a:tr>
            </a:tbl>
          </a:graphicData>
        </a:graphic>
      </p:graphicFrame>
      <p:sp>
        <p:nvSpPr>
          <p:cNvPr id="11" name="Espace réservé du contenu 2">
            <a:extLst>
              <a:ext uri="{FF2B5EF4-FFF2-40B4-BE49-F238E27FC236}">
                <a16:creationId xmlns:a16="http://schemas.microsoft.com/office/drawing/2014/main" id="{8B5C124F-CB92-4E84-BF6F-425F2E07B232}"/>
              </a:ext>
            </a:extLst>
          </p:cNvPr>
          <p:cNvSpPr>
            <a:spLocks noGrp="1"/>
          </p:cNvSpPr>
          <p:nvPr>
            <p:ph idx="1"/>
          </p:nvPr>
        </p:nvSpPr>
        <p:spPr>
          <a:xfrm>
            <a:off x="442911" y="1426464"/>
            <a:ext cx="5184000" cy="5256000"/>
          </a:xfrm>
        </p:spPr>
        <p:txBody>
          <a:bodyPr/>
          <a:lstStyle/>
          <a:p>
            <a:pPr marL="0" indent="0">
              <a:lnSpc>
                <a:spcPct val="100000"/>
              </a:lnSpc>
              <a:spcBef>
                <a:spcPts val="600"/>
              </a:spcBef>
              <a:buNone/>
            </a:pPr>
            <a:r>
              <a:rPr lang="en-GB" sz="1800" b="1" dirty="0">
                <a:solidFill>
                  <a:srgbClr val="D04A02"/>
                </a:solidFill>
              </a:rPr>
              <a:t>Observations and comments</a:t>
            </a:r>
          </a:p>
          <a:p>
            <a:pPr marL="285750" indent="-285750">
              <a:lnSpc>
                <a:spcPct val="100000"/>
              </a:lnSpc>
              <a:spcBef>
                <a:spcPts val="600"/>
              </a:spcBef>
              <a:buFont typeface="Arial" panose="020B0604020202020204" pitchFamily="34" charset="0"/>
              <a:buChar char="•"/>
            </a:pPr>
            <a:r>
              <a:rPr lang="en-GB" sz="1600" dirty="0"/>
              <a:t>The </a:t>
            </a:r>
            <a:r>
              <a:rPr lang="en-GB" sz="1600" b="1" dirty="0"/>
              <a:t>weighted average </a:t>
            </a:r>
            <a:r>
              <a:rPr lang="en-GB" sz="1600" dirty="0"/>
              <a:t>of journey distance in 2019 is of </a:t>
            </a:r>
            <a:r>
              <a:rPr lang="en-GB" sz="1600" b="1" dirty="0"/>
              <a:t>16</a:t>
            </a:r>
            <a:r>
              <a:rPr lang="en-GB" sz="1600" dirty="0"/>
              <a:t> </a:t>
            </a:r>
            <a:r>
              <a:rPr lang="en-GB" sz="1600" b="1" dirty="0"/>
              <a:t>km </a:t>
            </a:r>
            <a:r>
              <a:rPr lang="en-GB" sz="1600" dirty="0"/>
              <a:t>at world level for a single trip.</a:t>
            </a:r>
          </a:p>
          <a:p>
            <a:pPr marL="285750" indent="-285750">
              <a:lnSpc>
                <a:spcPct val="100000"/>
              </a:lnSpc>
              <a:spcBef>
                <a:spcPts val="600"/>
              </a:spcBef>
              <a:buFont typeface="Arial" panose="020B0604020202020204" pitchFamily="34" charset="0"/>
              <a:buChar char="•"/>
            </a:pPr>
            <a:r>
              <a:rPr lang="en-GB" sz="1600" dirty="0"/>
              <a:t>Around </a:t>
            </a:r>
            <a:r>
              <a:rPr lang="en-GB" sz="1600" b="1" dirty="0"/>
              <a:t>80% of values </a:t>
            </a:r>
            <a:r>
              <a:rPr lang="en-GB" sz="1600" dirty="0"/>
              <a:t>lie </a:t>
            </a:r>
            <a:r>
              <a:rPr lang="en-GB" sz="1600" b="1" dirty="0"/>
              <a:t>between 10 km and </a:t>
            </a:r>
            <a:br>
              <a:rPr lang="en-GB" sz="1600" b="1" dirty="0"/>
            </a:br>
            <a:r>
              <a:rPr lang="en-GB" sz="1600" b="1" dirty="0"/>
              <a:t>30 km</a:t>
            </a:r>
            <a:r>
              <a:rPr lang="en-GB" sz="1600" dirty="0"/>
              <a:t>.</a:t>
            </a:r>
          </a:p>
          <a:p>
            <a:pPr marL="285750" indent="-285750">
              <a:lnSpc>
                <a:spcPct val="100000"/>
              </a:lnSpc>
              <a:spcBef>
                <a:spcPts val="600"/>
              </a:spcBef>
              <a:buFont typeface="Arial" panose="020B0604020202020204" pitchFamily="34" charset="0"/>
              <a:buChar char="•"/>
            </a:pPr>
            <a:r>
              <a:rPr lang="en-GB" sz="1600" dirty="0"/>
              <a:t>The chart pictures </a:t>
            </a:r>
            <a:r>
              <a:rPr lang="en-GB" sz="1600" b="1" dirty="0"/>
              <a:t>100% of the world coverage</a:t>
            </a:r>
            <a:r>
              <a:rPr lang="en-GB" sz="1600" dirty="0"/>
              <a:t>.</a:t>
            </a:r>
          </a:p>
          <a:p>
            <a:pPr marL="285750" indent="-285750">
              <a:lnSpc>
                <a:spcPct val="100000"/>
              </a:lnSpc>
              <a:spcBef>
                <a:spcPts val="600"/>
              </a:spcBef>
              <a:buFont typeface="Arial" panose="020B0604020202020204" pitchFamily="34" charset="0"/>
              <a:buChar char="•"/>
            </a:pPr>
            <a:r>
              <a:rPr lang="en-GB" sz="1600" dirty="0"/>
              <a:t>Distribution distances can vary according to regions and presumably according to the </a:t>
            </a:r>
            <a:r>
              <a:rPr lang="en-GB" sz="1600" b="1" dirty="0"/>
              <a:t>distribution network </a:t>
            </a:r>
            <a:r>
              <a:rPr lang="en-GB" sz="1600" dirty="0"/>
              <a:t>of sites participating to the pilot project.</a:t>
            </a:r>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p:txBody>
      </p:sp>
      <p:sp>
        <p:nvSpPr>
          <p:cNvPr id="3" name="Espace réservé du pied de page 2">
            <a:extLst>
              <a:ext uri="{FF2B5EF4-FFF2-40B4-BE49-F238E27FC236}">
                <a16:creationId xmlns:a16="http://schemas.microsoft.com/office/drawing/2014/main" id="{52FBE72E-2ADD-462C-9F8F-C93758C2D35D}"/>
              </a:ext>
            </a:extLst>
          </p:cNvPr>
          <p:cNvSpPr>
            <a:spLocks noGrp="1"/>
          </p:cNvSpPr>
          <p:nvPr>
            <p:ph type="ftr" sz="quarter" idx="13"/>
          </p:nvPr>
        </p:nvSpPr>
        <p:spPr/>
        <p:txBody>
          <a:bodyPr/>
          <a:lstStyle/>
          <a:p>
            <a:pPr algn="l"/>
            <a:r>
              <a:rPr lang="en-US"/>
              <a:t>GCCA GNR Concrete Pilot Project</a:t>
            </a:r>
            <a:endParaRPr lang="fr-FR" dirty="0"/>
          </a:p>
        </p:txBody>
      </p:sp>
      <p:sp>
        <p:nvSpPr>
          <p:cNvPr id="12" name="Rectangle 11">
            <a:extLst>
              <a:ext uri="{FF2B5EF4-FFF2-40B4-BE49-F238E27FC236}">
                <a16:creationId xmlns:a16="http://schemas.microsoft.com/office/drawing/2014/main" id="{EDE4F185-0D62-4FD3-AB12-87C851E7F4BF}"/>
              </a:ext>
            </a:extLst>
          </p:cNvPr>
          <p:cNvSpPr/>
          <p:nvPr/>
        </p:nvSpPr>
        <p:spPr>
          <a:xfrm>
            <a:off x="10753344" y="88931"/>
            <a:ext cx="978408"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World level</a:t>
            </a:r>
          </a:p>
        </p:txBody>
      </p:sp>
      <p:graphicFrame>
        <p:nvGraphicFramePr>
          <p:cNvPr id="13" name="Graphique 12">
            <a:extLst>
              <a:ext uri="{FF2B5EF4-FFF2-40B4-BE49-F238E27FC236}">
                <a16:creationId xmlns:a16="http://schemas.microsoft.com/office/drawing/2014/main" id="{3DAB754A-D369-453D-9A9B-4A7DBBA27B25}"/>
              </a:ext>
            </a:extLst>
          </p:cNvPr>
          <p:cNvGraphicFramePr>
            <a:graphicFrameLocks/>
          </p:cNvGraphicFramePr>
          <p:nvPr>
            <p:extLst>
              <p:ext uri="{D42A27DB-BD31-4B8C-83A1-F6EECF244321}">
                <p14:modId xmlns:p14="http://schemas.microsoft.com/office/powerpoint/2010/main" val="2635386195"/>
              </p:ext>
            </p:extLst>
          </p:nvPr>
        </p:nvGraphicFramePr>
        <p:xfrm>
          <a:off x="5740745" y="2405743"/>
          <a:ext cx="5832000" cy="3996000"/>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3386364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80B03C5C-F507-4522-A9F0-3FB72374CC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8" name="Objet 7" hidden="1">
                        <a:extLst>
                          <a:ext uri="{FF2B5EF4-FFF2-40B4-BE49-F238E27FC236}">
                            <a16:creationId xmlns:a16="http://schemas.microsoft.com/office/drawing/2014/main" id="{80B03C5C-F507-4522-A9F0-3FB72374CCA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83CE031B-0FA3-4F5C-9334-40A58FE5457F}"/>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C3BA1AC6-A81D-4622-B52B-7172C69DD5F3}"/>
              </a:ext>
            </a:extLst>
          </p:cNvPr>
          <p:cNvSpPr>
            <a:spLocks noGrp="1"/>
          </p:cNvSpPr>
          <p:nvPr>
            <p:ph type="title"/>
          </p:nvPr>
        </p:nvSpPr>
        <p:spPr>
          <a:xfrm>
            <a:off x="442913" y="432000"/>
            <a:ext cx="11526583" cy="1387275"/>
          </a:xfrm>
        </p:spPr>
        <p:txBody>
          <a:bodyPr>
            <a:normAutofit/>
          </a:bodyPr>
          <a:lstStyle/>
          <a:p>
            <a:r>
              <a:rPr lang="en-GB" dirty="0"/>
              <a:t>The average distribution distance is patchily deployed</a:t>
            </a:r>
            <a:br>
              <a:rPr lang="en-GB" sz="2200" dirty="0"/>
            </a:br>
            <a:r>
              <a:rPr lang="en-GB" sz="2200" dirty="0"/>
              <a:t>The distribution distance varies according to GNR pilot participants </a:t>
            </a:r>
          </a:p>
        </p:txBody>
      </p:sp>
      <p:sp>
        <p:nvSpPr>
          <p:cNvPr id="5" name="Espace réservé de la date 4">
            <a:extLst>
              <a:ext uri="{FF2B5EF4-FFF2-40B4-BE49-F238E27FC236}">
                <a16:creationId xmlns:a16="http://schemas.microsoft.com/office/drawing/2014/main" id="{20823F14-EF10-4F56-BD97-C6812A33635B}"/>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DA3D5FEF-5EA3-43AC-BACB-F24CE91AA154}"/>
              </a:ext>
            </a:extLst>
          </p:cNvPr>
          <p:cNvSpPr>
            <a:spLocks noGrp="1"/>
          </p:cNvSpPr>
          <p:nvPr>
            <p:ph type="sldNum" sz="quarter" idx="11"/>
          </p:nvPr>
        </p:nvSpPr>
        <p:spPr/>
        <p:txBody>
          <a:bodyPr/>
          <a:lstStyle/>
          <a:p>
            <a:fld id="{7870704B-CE94-48CC-AF30-84932A1262A7}" type="slidenum">
              <a:rPr lang="fr-FR" smtClean="0"/>
              <a:pPr/>
              <a:t>13</a:t>
            </a:fld>
            <a:endParaRPr lang="fr-FR" dirty="0"/>
          </a:p>
        </p:txBody>
      </p:sp>
      <p:graphicFrame>
        <p:nvGraphicFramePr>
          <p:cNvPr id="10" name="Tableau 9">
            <a:extLst>
              <a:ext uri="{FF2B5EF4-FFF2-40B4-BE49-F238E27FC236}">
                <a16:creationId xmlns:a16="http://schemas.microsoft.com/office/drawing/2014/main" id="{35F28F85-F923-4262-B7DB-CCE62A03D3EA}"/>
              </a:ext>
            </a:extLst>
          </p:cNvPr>
          <p:cNvGraphicFramePr>
            <a:graphicFrameLocks noGrp="1"/>
          </p:cNvGraphicFramePr>
          <p:nvPr>
            <p:extLst>
              <p:ext uri="{D42A27DB-BD31-4B8C-83A1-F6EECF244321}">
                <p14:modId xmlns:p14="http://schemas.microsoft.com/office/powerpoint/2010/main" val="3147837010"/>
              </p:ext>
            </p:extLst>
          </p:nvPr>
        </p:nvGraphicFramePr>
        <p:xfrm>
          <a:off x="6208745" y="1426463"/>
          <a:ext cx="4896000" cy="864000"/>
        </p:xfrm>
        <a:graphic>
          <a:graphicData uri="http://schemas.openxmlformats.org/drawingml/2006/table">
            <a:tbl>
              <a:tblPr firstRow="1" bandRow="1">
                <a:tableStyleId>{5C22544A-7EE6-4342-B048-85BDC9FD1C3A}</a:tableStyleId>
              </a:tblPr>
              <a:tblGrid>
                <a:gridCol w="979200">
                  <a:extLst>
                    <a:ext uri="{9D8B030D-6E8A-4147-A177-3AD203B41FA5}">
                      <a16:colId xmlns:a16="http://schemas.microsoft.com/office/drawing/2014/main" val="1504220348"/>
                    </a:ext>
                  </a:extLst>
                </a:gridCol>
                <a:gridCol w="979200">
                  <a:extLst>
                    <a:ext uri="{9D8B030D-6E8A-4147-A177-3AD203B41FA5}">
                      <a16:colId xmlns:a16="http://schemas.microsoft.com/office/drawing/2014/main" val="1413351609"/>
                    </a:ext>
                  </a:extLst>
                </a:gridCol>
                <a:gridCol w="979200">
                  <a:extLst>
                    <a:ext uri="{9D8B030D-6E8A-4147-A177-3AD203B41FA5}">
                      <a16:colId xmlns:a16="http://schemas.microsoft.com/office/drawing/2014/main" val="1239885802"/>
                    </a:ext>
                  </a:extLst>
                </a:gridCol>
                <a:gridCol w="979200">
                  <a:extLst>
                    <a:ext uri="{9D8B030D-6E8A-4147-A177-3AD203B41FA5}">
                      <a16:colId xmlns:a16="http://schemas.microsoft.com/office/drawing/2014/main" val="3091639623"/>
                    </a:ext>
                  </a:extLst>
                </a:gridCol>
                <a:gridCol w="979200">
                  <a:extLst>
                    <a:ext uri="{9D8B030D-6E8A-4147-A177-3AD203B41FA5}">
                      <a16:colId xmlns:a16="http://schemas.microsoft.com/office/drawing/2014/main" val="2904654360"/>
                    </a:ext>
                  </a:extLst>
                </a:gridCol>
              </a:tblGrid>
              <a:tr h="353298">
                <a:tc>
                  <a:txBody>
                    <a:bodyPr/>
                    <a:lstStyle/>
                    <a:p>
                      <a:pPr algn="ctr" fontAlgn="ctr"/>
                      <a:r>
                        <a:rPr lang="en-GB" sz="1100" b="1" u="none" strike="noStrike">
                          <a:solidFill>
                            <a:schemeClr val="tx1"/>
                          </a:solidFill>
                          <a:effectLst/>
                        </a:rPr>
                        <a:t>Minimum </a:t>
                      </a:r>
                      <a:endParaRPr lang="en-GB" sz="11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1" u="none" strike="noStrike" dirty="0">
                          <a:solidFill>
                            <a:schemeClr val="tx1"/>
                          </a:solidFill>
                          <a:effectLst/>
                        </a:rPr>
                        <a:t>Weighted average</a:t>
                      </a:r>
                      <a:endParaRPr lang="en-GB" sz="11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100" b="1" u="none" strike="noStrike" dirty="0">
                          <a:solidFill>
                            <a:schemeClr val="tx1"/>
                          </a:solidFill>
                          <a:effectLst/>
                        </a:rPr>
                        <a:t>Maximum</a:t>
                      </a:r>
                      <a:endParaRPr lang="en-GB" sz="11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100" b="1" u="none" strike="noStrike" dirty="0">
                          <a:solidFill>
                            <a:schemeClr val="tx1"/>
                          </a:solidFill>
                          <a:effectLst/>
                        </a:rPr>
                        <a:t>Standard Deviation</a:t>
                      </a:r>
                      <a:endParaRPr lang="en-GB" sz="11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100" b="1" u="none" strike="noStrike" noProof="0" dirty="0">
                          <a:solidFill>
                            <a:schemeClr val="tx1"/>
                          </a:solidFill>
                          <a:effectLst/>
                        </a:rPr>
                        <a:t>Coverage </a:t>
                      </a:r>
                      <a:br>
                        <a:rPr lang="en-GB" sz="1100" b="1" u="none" strike="noStrike" noProof="0" dirty="0">
                          <a:solidFill>
                            <a:schemeClr val="tx1"/>
                          </a:solidFill>
                          <a:effectLst/>
                        </a:rPr>
                      </a:br>
                      <a:r>
                        <a:rPr lang="en-GB" sz="1100" b="1" u="none" strike="noStrike" noProof="0" dirty="0">
                          <a:solidFill>
                            <a:schemeClr val="tx1"/>
                          </a:solidFill>
                          <a:effectLst/>
                        </a:rPr>
                        <a:t>for pilot</a:t>
                      </a:r>
                      <a:endParaRPr lang="en-GB" sz="11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55351">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a:ea typeface="+mn-ea"/>
                          <a:cs typeface="+mn-cs"/>
                        </a:rPr>
                        <a:t>km</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a:ln>
                            <a:noFill/>
                          </a:ln>
                          <a:solidFill>
                            <a:srgbClr val="000000"/>
                          </a:solidFill>
                          <a:effectLst/>
                          <a:uLnTx/>
                          <a:uFillTx/>
                          <a:latin typeface="Arial"/>
                          <a:ea typeface="+mn-ea"/>
                          <a:cs typeface="+mn-cs"/>
                        </a:rPr>
                        <a:t>km</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a:ea typeface="+mn-ea"/>
                          <a:cs typeface="+mn-cs"/>
                        </a:rPr>
                        <a:t>km</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100" b="0" i="1" u="none" strike="noStrike" kern="1200" cap="none" spc="0" normalizeH="0" baseline="0" noProof="0" dirty="0">
                          <a:ln>
                            <a:noFill/>
                          </a:ln>
                          <a:solidFill>
                            <a:srgbClr val="000000"/>
                          </a:solidFill>
                          <a:effectLst/>
                          <a:uLnTx/>
                          <a:uFillTx/>
                          <a:latin typeface="+mn-lt"/>
                          <a:ea typeface="+mn-ea"/>
                          <a:cs typeface="+mn-cs"/>
                        </a:rPr>
                        <a:t>km</a:t>
                      </a:r>
                      <a:endParaRPr lang="fr-FR" sz="11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1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2310329303"/>
                  </a:ext>
                </a:extLst>
              </a:tr>
              <a:tr h="255351">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6.8</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12</a:t>
                      </a:r>
                    </a:p>
                  </a:txBody>
                  <a:tcPr marL="9525" marR="9525" marT="9525" marB="0" anchor="ctr"/>
                </a:tc>
                <a:tc>
                  <a:txBody>
                    <a:bodyPr/>
                    <a:lstStyle/>
                    <a:p>
                      <a:pPr algn="ctr" fontAlgn="ctr"/>
                      <a:r>
                        <a:rPr lang="fr-FR" sz="1000" b="0" i="0" u="none" strike="noStrike">
                          <a:solidFill>
                            <a:srgbClr val="000000"/>
                          </a:solidFill>
                          <a:effectLst/>
                          <a:latin typeface="Arial" panose="020B0604020202020204" pitchFamily="34" charset="0"/>
                          <a:cs typeface="Arial" panose="020B0604020202020204" pitchFamily="34" charset="0"/>
                        </a:rPr>
                        <a:t>26</a:t>
                      </a:r>
                    </a:p>
                  </a:txBody>
                  <a:tcPr marL="9525" marR="9525" marT="9525" marB="0" anchor="ctr"/>
                </a:tc>
                <a:tc>
                  <a:txBody>
                    <a:bodyPr/>
                    <a:lstStyle/>
                    <a:p>
                      <a:pPr algn="ctr" fontAlgn="ctr"/>
                      <a:r>
                        <a:rPr lang="fr-FR" sz="1000" b="0" i="0" u="none" strike="noStrike">
                          <a:solidFill>
                            <a:srgbClr val="000000"/>
                          </a:solidFill>
                          <a:effectLst/>
                          <a:latin typeface="Arial" panose="020B0604020202020204" pitchFamily="34" charset="0"/>
                          <a:cs typeface="Arial" panose="020B0604020202020204" pitchFamily="34" charset="0"/>
                        </a:rPr>
                        <a:t>5</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100%</a:t>
                      </a:r>
                    </a:p>
                  </a:txBody>
                  <a:tcPr marL="9525" marR="9525" marT="9525" marB="0" anchor="ctr"/>
                </a:tc>
                <a:extLst>
                  <a:ext uri="{0D108BD9-81ED-4DB2-BD59-A6C34878D82A}">
                    <a16:rowId xmlns:a16="http://schemas.microsoft.com/office/drawing/2014/main" val="2445748765"/>
                  </a:ext>
                </a:extLst>
              </a:tr>
            </a:tbl>
          </a:graphicData>
        </a:graphic>
      </p:graphicFrame>
      <p:sp>
        <p:nvSpPr>
          <p:cNvPr id="11" name="Espace réservé du contenu 2">
            <a:extLst>
              <a:ext uri="{FF2B5EF4-FFF2-40B4-BE49-F238E27FC236}">
                <a16:creationId xmlns:a16="http://schemas.microsoft.com/office/drawing/2014/main" id="{8B5C124F-CB92-4E84-BF6F-425F2E07B232}"/>
              </a:ext>
            </a:extLst>
          </p:cNvPr>
          <p:cNvSpPr>
            <a:spLocks noGrp="1"/>
          </p:cNvSpPr>
          <p:nvPr>
            <p:ph idx="1"/>
          </p:nvPr>
        </p:nvSpPr>
        <p:spPr>
          <a:xfrm>
            <a:off x="442912" y="1426464"/>
            <a:ext cx="5129121" cy="5256000"/>
          </a:xfrm>
        </p:spPr>
        <p:txBody>
          <a:bodyPr/>
          <a:lstStyle/>
          <a:p>
            <a:pPr marL="0" indent="0">
              <a:lnSpc>
                <a:spcPct val="100000"/>
              </a:lnSpc>
              <a:spcBef>
                <a:spcPts val="600"/>
              </a:spcBef>
              <a:buNone/>
            </a:pPr>
            <a:r>
              <a:rPr lang="en-GB" sz="1800" b="1" dirty="0">
                <a:solidFill>
                  <a:srgbClr val="D04A02"/>
                </a:solidFill>
              </a:rPr>
              <a:t>Observations and comments</a:t>
            </a:r>
          </a:p>
          <a:p>
            <a:pPr marL="285750" indent="-285750">
              <a:lnSpc>
                <a:spcPct val="100000"/>
              </a:lnSpc>
              <a:spcBef>
                <a:spcPts val="600"/>
              </a:spcBef>
              <a:buFont typeface="Arial" panose="020B0604020202020204" pitchFamily="34" charset="0"/>
              <a:buChar char="•"/>
            </a:pPr>
            <a:r>
              <a:rPr lang="en-GB" sz="1600" dirty="0"/>
              <a:t>The </a:t>
            </a:r>
            <a:r>
              <a:rPr lang="en-GB" sz="1600" b="1" dirty="0"/>
              <a:t>weighted average </a:t>
            </a:r>
            <a:r>
              <a:rPr lang="en-GB" sz="1600" dirty="0"/>
              <a:t>of journey distance in 2019 is of 1</a:t>
            </a:r>
            <a:r>
              <a:rPr lang="en-GB" sz="1600" b="1" dirty="0"/>
              <a:t>2</a:t>
            </a:r>
            <a:r>
              <a:rPr lang="en-GB" sz="1600" dirty="0"/>
              <a:t> </a:t>
            </a:r>
            <a:r>
              <a:rPr lang="en-GB" sz="1600" b="1" dirty="0"/>
              <a:t>km </a:t>
            </a:r>
            <a:r>
              <a:rPr lang="en-GB" sz="1600" dirty="0"/>
              <a:t>at European level for a single trip.</a:t>
            </a:r>
          </a:p>
          <a:p>
            <a:pPr marL="285750" indent="-285750">
              <a:lnSpc>
                <a:spcPct val="100000"/>
              </a:lnSpc>
              <a:spcBef>
                <a:spcPts val="600"/>
              </a:spcBef>
              <a:buFont typeface="Arial" panose="020B0604020202020204" pitchFamily="34" charset="0"/>
              <a:buChar char="•"/>
            </a:pPr>
            <a:r>
              <a:rPr lang="en-GB" sz="1600" dirty="0"/>
              <a:t>Around </a:t>
            </a:r>
            <a:r>
              <a:rPr lang="en-GB" sz="1600" b="1" dirty="0"/>
              <a:t>75% of values </a:t>
            </a:r>
            <a:r>
              <a:rPr lang="en-GB" sz="1600" dirty="0"/>
              <a:t>lie </a:t>
            </a:r>
            <a:r>
              <a:rPr lang="en-GB" sz="1600" b="1" dirty="0"/>
              <a:t>between 10 km and </a:t>
            </a:r>
            <a:br>
              <a:rPr lang="en-GB" sz="1600" b="1" dirty="0"/>
            </a:br>
            <a:r>
              <a:rPr lang="en-GB" sz="1600" b="1" dirty="0"/>
              <a:t>30 km</a:t>
            </a:r>
            <a:r>
              <a:rPr lang="en-GB" sz="1600" dirty="0"/>
              <a:t>.</a:t>
            </a:r>
          </a:p>
          <a:p>
            <a:pPr marL="285750" indent="-285750">
              <a:lnSpc>
                <a:spcPct val="100000"/>
              </a:lnSpc>
              <a:spcBef>
                <a:spcPts val="600"/>
              </a:spcBef>
              <a:buFont typeface="Arial" panose="020B0604020202020204" pitchFamily="34" charset="0"/>
              <a:buChar char="•"/>
            </a:pPr>
            <a:r>
              <a:rPr lang="en-GB" sz="1600" dirty="0"/>
              <a:t>The chart pictures </a:t>
            </a:r>
            <a:r>
              <a:rPr lang="en-GB" sz="1600" b="1" dirty="0"/>
              <a:t>100% of Europe coverage</a:t>
            </a:r>
            <a:r>
              <a:rPr lang="en-GB" sz="1600" dirty="0"/>
              <a:t>.</a:t>
            </a:r>
          </a:p>
          <a:p>
            <a:pPr marL="285750" indent="-285750">
              <a:lnSpc>
                <a:spcPct val="100000"/>
              </a:lnSpc>
              <a:spcBef>
                <a:spcPts val="600"/>
              </a:spcBef>
              <a:buFont typeface="Arial" panose="020B0604020202020204" pitchFamily="34" charset="0"/>
              <a:buChar char="•"/>
            </a:pPr>
            <a:r>
              <a:rPr lang="en-US" sz="1600" dirty="0"/>
              <a:t>There is </a:t>
            </a:r>
            <a:r>
              <a:rPr lang="en-US" sz="1600" b="1" dirty="0"/>
              <a:t>no identified common pattern </a:t>
            </a:r>
            <a:r>
              <a:rPr lang="en-US" sz="1600" dirty="0"/>
              <a:t>for the average distribution distance in reporting sites.</a:t>
            </a:r>
            <a:r>
              <a:rPr lang="en-GB" sz="1600" dirty="0"/>
              <a:t> </a:t>
            </a:r>
            <a:br>
              <a:rPr lang="en-GB" sz="1600" dirty="0"/>
            </a:br>
            <a:r>
              <a:rPr lang="en-GB" sz="1600" dirty="0"/>
              <a:t>The data on distribution distances do not vary according to the width of European reporting countries nor the size of concrete production.</a:t>
            </a:r>
          </a:p>
          <a:p>
            <a:pPr marL="285750" indent="-285750">
              <a:lnSpc>
                <a:spcPct val="100000"/>
              </a:lnSpc>
              <a:spcBef>
                <a:spcPts val="600"/>
              </a:spcBef>
              <a:buFont typeface="Arial" panose="020B0604020202020204" pitchFamily="34" charset="0"/>
              <a:buChar char="•"/>
            </a:pPr>
            <a:r>
              <a:rPr lang="en-GB" sz="1600" dirty="0"/>
              <a:t>One assumption that can be raised is that the average distance varies according to the </a:t>
            </a:r>
            <a:r>
              <a:rPr lang="en-GB" sz="1600" b="1" dirty="0"/>
              <a:t>distribution network </a:t>
            </a:r>
            <a:r>
              <a:rPr lang="en-GB" sz="1600" dirty="0"/>
              <a:t>of sites participating to the pilot project.</a:t>
            </a:r>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p:txBody>
      </p:sp>
      <p:sp>
        <p:nvSpPr>
          <p:cNvPr id="3" name="Espace réservé du pied de page 2">
            <a:extLst>
              <a:ext uri="{FF2B5EF4-FFF2-40B4-BE49-F238E27FC236}">
                <a16:creationId xmlns:a16="http://schemas.microsoft.com/office/drawing/2014/main" id="{52FBE72E-2ADD-462C-9F8F-C93758C2D35D}"/>
              </a:ext>
            </a:extLst>
          </p:cNvPr>
          <p:cNvSpPr>
            <a:spLocks noGrp="1"/>
          </p:cNvSpPr>
          <p:nvPr>
            <p:ph type="ftr" sz="quarter" idx="13"/>
          </p:nvPr>
        </p:nvSpPr>
        <p:spPr/>
        <p:txBody>
          <a:bodyPr/>
          <a:lstStyle/>
          <a:p>
            <a:pPr algn="l"/>
            <a:r>
              <a:rPr lang="en-US"/>
              <a:t>GCCA GNR Concrete Pilot Project</a:t>
            </a:r>
            <a:endParaRPr lang="fr-FR" dirty="0"/>
          </a:p>
        </p:txBody>
      </p:sp>
      <p:sp>
        <p:nvSpPr>
          <p:cNvPr id="12" name="Rectangle 11">
            <a:extLst>
              <a:ext uri="{FF2B5EF4-FFF2-40B4-BE49-F238E27FC236}">
                <a16:creationId xmlns:a16="http://schemas.microsoft.com/office/drawing/2014/main" id="{EDE4F185-0D62-4FD3-AB12-87C851E7F4BF}"/>
              </a:ext>
            </a:extLst>
          </p:cNvPr>
          <p:cNvSpPr/>
          <p:nvPr/>
        </p:nvSpPr>
        <p:spPr>
          <a:xfrm>
            <a:off x="10753344" y="88931"/>
            <a:ext cx="104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Europe level</a:t>
            </a:r>
          </a:p>
        </p:txBody>
      </p:sp>
      <p:graphicFrame>
        <p:nvGraphicFramePr>
          <p:cNvPr id="14" name="Graphique 13">
            <a:extLst>
              <a:ext uri="{FF2B5EF4-FFF2-40B4-BE49-F238E27FC236}">
                <a16:creationId xmlns:a16="http://schemas.microsoft.com/office/drawing/2014/main" id="{4D9742C9-2758-4505-93F8-0FE61BE74133}"/>
              </a:ext>
            </a:extLst>
          </p:cNvPr>
          <p:cNvGraphicFramePr>
            <a:graphicFrameLocks/>
          </p:cNvGraphicFramePr>
          <p:nvPr>
            <p:extLst>
              <p:ext uri="{D42A27DB-BD31-4B8C-83A1-F6EECF244321}">
                <p14:modId xmlns:p14="http://schemas.microsoft.com/office/powerpoint/2010/main" val="374497901"/>
              </p:ext>
            </p:extLst>
          </p:nvPr>
        </p:nvGraphicFramePr>
        <p:xfrm>
          <a:off x="5740745" y="2405743"/>
          <a:ext cx="5832000" cy="3996000"/>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971935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80B03C5C-F507-4522-A9F0-3FB72374CCAA}"/>
              </a:ext>
            </a:extLst>
          </p:cNvPr>
          <p:cNvGraphicFramePr>
            <a:graphicFrameLocks noChangeAspect="1"/>
          </p:cNvGraphicFramePr>
          <p:nvPr>
            <p:custDataLst>
              <p:tags r:id="rId1"/>
            </p:custDataLst>
            <p:extLst>
              <p:ext uri="{D42A27DB-BD31-4B8C-83A1-F6EECF244321}">
                <p14:modId xmlns:p14="http://schemas.microsoft.com/office/powerpoint/2010/main" val="5574845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8" name="Objet 7" hidden="1">
                        <a:extLst>
                          <a:ext uri="{FF2B5EF4-FFF2-40B4-BE49-F238E27FC236}">
                            <a16:creationId xmlns:a16="http://schemas.microsoft.com/office/drawing/2014/main" id="{80B03C5C-F507-4522-A9F0-3FB72374CCA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83CE031B-0FA3-4F5C-9334-40A58FE5457F}"/>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C3BA1AC6-A81D-4622-B52B-7172C69DD5F3}"/>
              </a:ext>
            </a:extLst>
          </p:cNvPr>
          <p:cNvSpPr>
            <a:spLocks noGrp="1"/>
          </p:cNvSpPr>
          <p:nvPr>
            <p:ph type="title"/>
          </p:nvPr>
        </p:nvSpPr>
        <p:spPr>
          <a:xfrm>
            <a:off x="442913" y="432000"/>
            <a:ext cx="11526583" cy="1387275"/>
          </a:xfrm>
        </p:spPr>
        <p:txBody>
          <a:bodyPr>
            <a:normAutofit/>
          </a:bodyPr>
          <a:lstStyle/>
          <a:p>
            <a:r>
              <a:rPr lang="en-GB" dirty="0"/>
              <a:t>The average distribution distance is homogeneous in America</a:t>
            </a:r>
            <a:br>
              <a:rPr lang="en-GB" sz="2200" dirty="0"/>
            </a:br>
            <a:r>
              <a:rPr lang="en-GB" sz="2200" dirty="0"/>
              <a:t>The distribution distance varies according to GNR pilot participants </a:t>
            </a:r>
          </a:p>
        </p:txBody>
      </p:sp>
      <p:sp>
        <p:nvSpPr>
          <p:cNvPr id="5" name="Espace réservé de la date 4">
            <a:extLst>
              <a:ext uri="{FF2B5EF4-FFF2-40B4-BE49-F238E27FC236}">
                <a16:creationId xmlns:a16="http://schemas.microsoft.com/office/drawing/2014/main" id="{20823F14-EF10-4F56-BD97-C6812A33635B}"/>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DA3D5FEF-5EA3-43AC-BACB-F24CE91AA154}"/>
              </a:ext>
            </a:extLst>
          </p:cNvPr>
          <p:cNvSpPr>
            <a:spLocks noGrp="1"/>
          </p:cNvSpPr>
          <p:nvPr>
            <p:ph type="sldNum" sz="quarter" idx="11"/>
          </p:nvPr>
        </p:nvSpPr>
        <p:spPr/>
        <p:txBody>
          <a:bodyPr/>
          <a:lstStyle/>
          <a:p>
            <a:fld id="{7870704B-CE94-48CC-AF30-84932A1262A7}" type="slidenum">
              <a:rPr lang="fr-FR" smtClean="0"/>
              <a:pPr/>
              <a:t>14</a:t>
            </a:fld>
            <a:endParaRPr lang="fr-FR" dirty="0"/>
          </a:p>
        </p:txBody>
      </p:sp>
      <p:graphicFrame>
        <p:nvGraphicFramePr>
          <p:cNvPr id="10" name="Tableau 9">
            <a:extLst>
              <a:ext uri="{FF2B5EF4-FFF2-40B4-BE49-F238E27FC236}">
                <a16:creationId xmlns:a16="http://schemas.microsoft.com/office/drawing/2014/main" id="{35F28F85-F923-4262-B7DB-CCE62A03D3EA}"/>
              </a:ext>
            </a:extLst>
          </p:cNvPr>
          <p:cNvGraphicFramePr>
            <a:graphicFrameLocks noGrp="1"/>
          </p:cNvGraphicFramePr>
          <p:nvPr>
            <p:extLst>
              <p:ext uri="{D42A27DB-BD31-4B8C-83A1-F6EECF244321}">
                <p14:modId xmlns:p14="http://schemas.microsoft.com/office/powerpoint/2010/main" val="4025115003"/>
              </p:ext>
            </p:extLst>
          </p:nvPr>
        </p:nvGraphicFramePr>
        <p:xfrm>
          <a:off x="6208745" y="1426463"/>
          <a:ext cx="4896000" cy="864000"/>
        </p:xfrm>
        <a:graphic>
          <a:graphicData uri="http://schemas.openxmlformats.org/drawingml/2006/table">
            <a:tbl>
              <a:tblPr firstRow="1" bandRow="1">
                <a:tableStyleId>{5C22544A-7EE6-4342-B048-85BDC9FD1C3A}</a:tableStyleId>
              </a:tblPr>
              <a:tblGrid>
                <a:gridCol w="979200">
                  <a:extLst>
                    <a:ext uri="{9D8B030D-6E8A-4147-A177-3AD203B41FA5}">
                      <a16:colId xmlns:a16="http://schemas.microsoft.com/office/drawing/2014/main" val="1504220348"/>
                    </a:ext>
                  </a:extLst>
                </a:gridCol>
                <a:gridCol w="979200">
                  <a:extLst>
                    <a:ext uri="{9D8B030D-6E8A-4147-A177-3AD203B41FA5}">
                      <a16:colId xmlns:a16="http://schemas.microsoft.com/office/drawing/2014/main" val="1413351609"/>
                    </a:ext>
                  </a:extLst>
                </a:gridCol>
                <a:gridCol w="979200">
                  <a:extLst>
                    <a:ext uri="{9D8B030D-6E8A-4147-A177-3AD203B41FA5}">
                      <a16:colId xmlns:a16="http://schemas.microsoft.com/office/drawing/2014/main" val="1239885802"/>
                    </a:ext>
                  </a:extLst>
                </a:gridCol>
                <a:gridCol w="979200">
                  <a:extLst>
                    <a:ext uri="{9D8B030D-6E8A-4147-A177-3AD203B41FA5}">
                      <a16:colId xmlns:a16="http://schemas.microsoft.com/office/drawing/2014/main" val="3091639623"/>
                    </a:ext>
                  </a:extLst>
                </a:gridCol>
                <a:gridCol w="979200">
                  <a:extLst>
                    <a:ext uri="{9D8B030D-6E8A-4147-A177-3AD203B41FA5}">
                      <a16:colId xmlns:a16="http://schemas.microsoft.com/office/drawing/2014/main" val="2904654360"/>
                    </a:ext>
                  </a:extLst>
                </a:gridCol>
              </a:tblGrid>
              <a:tr h="353298">
                <a:tc>
                  <a:txBody>
                    <a:bodyPr/>
                    <a:lstStyle/>
                    <a:p>
                      <a:pPr algn="ctr" fontAlgn="ctr"/>
                      <a:r>
                        <a:rPr lang="en-GB" sz="1100" b="1" u="none" strike="noStrike">
                          <a:solidFill>
                            <a:schemeClr val="tx1"/>
                          </a:solidFill>
                          <a:effectLst/>
                        </a:rPr>
                        <a:t>Minimum </a:t>
                      </a:r>
                      <a:endParaRPr lang="en-GB" sz="11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1" u="none" strike="noStrike" dirty="0">
                          <a:solidFill>
                            <a:schemeClr val="tx1"/>
                          </a:solidFill>
                          <a:effectLst/>
                        </a:rPr>
                        <a:t>Weighted average</a:t>
                      </a:r>
                      <a:endParaRPr lang="en-GB" sz="11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100" b="1" u="none" strike="noStrike" dirty="0">
                          <a:solidFill>
                            <a:schemeClr val="tx1"/>
                          </a:solidFill>
                          <a:effectLst/>
                        </a:rPr>
                        <a:t>Maximum</a:t>
                      </a:r>
                      <a:endParaRPr lang="en-GB" sz="11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100" b="1" u="none" strike="noStrike" dirty="0">
                          <a:solidFill>
                            <a:schemeClr val="tx1"/>
                          </a:solidFill>
                          <a:effectLst/>
                        </a:rPr>
                        <a:t>Standard Deviation</a:t>
                      </a:r>
                      <a:endParaRPr lang="en-GB" sz="11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100" b="1" u="none" strike="noStrike" noProof="0" dirty="0">
                          <a:solidFill>
                            <a:schemeClr val="tx1"/>
                          </a:solidFill>
                          <a:effectLst/>
                        </a:rPr>
                        <a:t>Coverage </a:t>
                      </a:r>
                      <a:br>
                        <a:rPr lang="en-GB" sz="1100" b="1" u="none" strike="noStrike" noProof="0" dirty="0">
                          <a:solidFill>
                            <a:schemeClr val="tx1"/>
                          </a:solidFill>
                          <a:effectLst/>
                        </a:rPr>
                      </a:br>
                      <a:r>
                        <a:rPr lang="en-GB" sz="1100" b="1" u="none" strike="noStrike" noProof="0" dirty="0">
                          <a:solidFill>
                            <a:schemeClr val="tx1"/>
                          </a:solidFill>
                          <a:effectLst/>
                        </a:rPr>
                        <a:t>for pilot</a:t>
                      </a:r>
                      <a:endParaRPr lang="en-GB" sz="11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55351">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a:ea typeface="+mn-ea"/>
                          <a:cs typeface="+mn-cs"/>
                        </a:rPr>
                        <a:t>km</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a:ea typeface="+mn-ea"/>
                          <a:cs typeface="+mn-cs"/>
                        </a:rPr>
                        <a:t>km</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a:ea typeface="+mn-ea"/>
                          <a:cs typeface="+mn-cs"/>
                        </a:rPr>
                        <a:t>km</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100" b="0" i="1" u="none" strike="noStrike" kern="1200" cap="none" spc="0" normalizeH="0" baseline="0" noProof="0" dirty="0">
                          <a:ln>
                            <a:noFill/>
                          </a:ln>
                          <a:solidFill>
                            <a:srgbClr val="000000"/>
                          </a:solidFill>
                          <a:effectLst/>
                          <a:uLnTx/>
                          <a:uFillTx/>
                          <a:latin typeface="+mn-lt"/>
                          <a:ea typeface="+mn-ea"/>
                          <a:cs typeface="+mn-cs"/>
                        </a:rPr>
                        <a:t>km</a:t>
                      </a:r>
                      <a:endParaRPr lang="fr-FR" sz="11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1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2310329303"/>
                  </a:ext>
                </a:extLst>
              </a:tr>
              <a:tr h="255351">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8.6</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23</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29</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7</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100</a:t>
                      </a:r>
                    </a:p>
                  </a:txBody>
                  <a:tcPr marL="9525" marR="9525" marT="9525" marB="0" anchor="ctr"/>
                </a:tc>
                <a:extLst>
                  <a:ext uri="{0D108BD9-81ED-4DB2-BD59-A6C34878D82A}">
                    <a16:rowId xmlns:a16="http://schemas.microsoft.com/office/drawing/2014/main" val="2445748765"/>
                  </a:ext>
                </a:extLst>
              </a:tr>
            </a:tbl>
          </a:graphicData>
        </a:graphic>
      </p:graphicFrame>
      <p:sp>
        <p:nvSpPr>
          <p:cNvPr id="11" name="Espace réservé du contenu 2">
            <a:extLst>
              <a:ext uri="{FF2B5EF4-FFF2-40B4-BE49-F238E27FC236}">
                <a16:creationId xmlns:a16="http://schemas.microsoft.com/office/drawing/2014/main" id="{8B5C124F-CB92-4E84-BF6F-425F2E07B232}"/>
              </a:ext>
            </a:extLst>
          </p:cNvPr>
          <p:cNvSpPr>
            <a:spLocks noGrp="1"/>
          </p:cNvSpPr>
          <p:nvPr>
            <p:ph idx="1"/>
          </p:nvPr>
        </p:nvSpPr>
        <p:spPr>
          <a:xfrm>
            <a:off x="442912" y="1426464"/>
            <a:ext cx="5129121" cy="5256000"/>
          </a:xfrm>
        </p:spPr>
        <p:txBody>
          <a:bodyPr/>
          <a:lstStyle/>
          <a:p>
            <a:pPr marL="0" indent="0">
              <a:lnSpc>
                <a:spcPct val="100000"/>
              </a:lnSpc>
              <a:spcBef>
                <a:spcPts val="600"/>
              </a:spcBef>
              <a:buNone/>
            </a:pPr>
            <a:r>
              <a:rPr lang="en-GB" sz="1800" b="1" dirty="0">
                <a:solidFill>
                  <a:srgbClr val="D04A02"/>
                </a:solidFill>
              </a:rPr>
              <a:t>Observations and comments</a:t>
            </a:r>
          </a:p>
          <a:p>
            <a:pPr marL="285750" indent="-285750">
              <a:lnSpc>
                <a:spcPct val="100000"/>
              </a:lnSpc>
              <a:spcBef>
                <a:spcPts val="600"/>
              </a:spcBef>
              <a:buFont typeface="Arial" panose="020B0604020202020204" pitchFamily="34" charset="0"/>
              <a:buChar char="•"/>
            </a:pPr>
            <a:r>
              <a:rPr lang="en-GB" sz="1600" dirty="0"/>
              <a:t>The </a:t>
            </a:r>
            <a:r>
              <a:rPr lang="en-GB" sz="1600" b="1" dirty="0"/>
              <a:t>weighted average </a:t>
            </a:r>
            <a:r>
              <a:rPr lang="en-GB" sz="1600" dirty="0"/>
              <a:t>of journey distance in 2019 is of </a:t>
            </a:r>
            <a:r>
              <a:rPr lang="en-GB" sz="1600" b="1" dirty="0"/>
              <a:t>23</a:t>
            </a:r>
            <a:r>
              <a:rPr lang="en-GB" sz="1600" dirty="0"/>
              <a:t> </a:t>
            </a:r>
            <a:r>
              <a:rPr lang="en-GB" sz="1600" b="1" dirty="0"/>
              <a:t>km </a:t>
            </a:r>
            <a:r>
              <a:rPr lang="en-GB" sz="1600" dirty="0"/>
              <a:t>for a single trip in North America.</a:t>
            </a:r>
          </a:p>
          <a:p>
            <a:pPr marL="285750" indent="-285750">
              <a:lnSpc>
                <a:spcPct val="100000"/>
              </a:lnSpc>
              <a:spcBef>
                <a:spcPts val="600"/>
              </a:spcBef>
              <a:buFont typeface="Arial" panose="020B0604020202020204" pitchFamily="34" charset="0"/>
              <a:buChar char="•"/>
            </a:pPr>
            <a:r>
              <a:rPr lang="en-GB" sz="1600" dirty="0"/>
              <a:t>Around </a:t>
            </a:r>
            <a:r>
              <a:rPr lang="en-GB" sz="1600" b="1" dirty="0"/>
              <a:t>70% of values </a:t>
            </a:r>
            <a:r>
              <a:rPr lang="en-GB" sz="1600" dirty="0"/>
              <a:t>lie </a:t>
            </a:r>
            <a:r>
              <a:rPr lang="en-GB" sz="1600" b="1" dirty="0"/>
              <a:t>between 8 km and </a:t>
            </a:r>
            <a:br>
              <a:rPr lang="en-GB" sz="1600" b="1" dirty="0"/>
            </a:br>
            <a:r>
              <a:rPr lang="en-GB" sz="1600" b="1" dirty="0"/>
              <a:t>20 km</a:t>
            </a:r>
            <a:r>
              <a:rPr lang="en-GB" sz="1600" dirty="0"/>
              <a:t>.</a:t>
            </a:r>
          </a:p>
          <a:p>
            <a:pPr marL="285750" indent="-285750">
              <a:lnSpc>
                <a:spcPct val="100000"/>
              </a:lnSpc>
              <a:spcBef>
                <a:spcPts val="600"/>
              </a:spcBef>
              <a:buFont typeface="Arial" panose="020B0604020202020204" pitchFamily="34" charset="0"/>
              <a:buChar char="•"/>
            </a:pPr>
            <a:r>
              <a:rPr lang="en-GB" sz="1600" dirty="0"/>
              <a:t>The chart pictures </a:t>
            </a:r>
            <a:r>
              <a:rPr lang="en-GB" sz="1600" b="1" dirty="0"/>
              <a:t>100% of the coverage in North America</a:t>
            </a:r>
            <a:r>
              <a:rPr lang="en-GB" sz="1600" dirty="0"/>
              <a:t>.</a:t>
            </a:r>
          </a:p>
          <a:p>
            <a:pPr marL="285750" indent="-285750">
              <a:lnSpc>
                <a:spcPct val="100000"/>
              </a:lnSpc>
              <a:spcBef>
                <a:spcPts val="600"/>
              </a:spcBef>
              <a:buFont typeface="Arial" panose="020B0604020202020204" pitchFamily="34" charset="0"/>
              <a:buChar char="•"/>
            </a:pPr>
            <a:r>
              <a:rPr lang="en-GB" sz="1600" dirty="0"/>
              <a:t>The average distribution distance in North America is </a:t>
            </a:r>
            <a:r>
              <a:rPr lang="en-GB" sz="1600" b="1" dirty="0"/>
              <a:t>almost twice </a:t>
            </a:r>
            <a:r>
              <a:rPr lang="en-GB" sz="1600" dirty="0"/>
              <a:t>the</a:t>
            </a:r>
            <a:r>
              <a:rPr lang="en-GB" sz="1600" b="1" dirty="0"/>
              <a:t> </a:t>
            </a:r>
            <a:r>
              <a:rPr lang="en-GB" sz="1600" dirty="0"/>
              <a:t>average of Europe, with respectively 23 km and 12 km as weighted averages for a single trip.</a:t>
            </a:r>
          </a:p>
          <a:p>
            <a:pPr marL="285750" indent="-285750">
              <a:lnSpc>
                <a:spcPct val="100000"/>
              </a:lnSpc>
              <a:spcBef>
                <a:spcPts val="600"/>
              </a:spcBef>
              <a:buFont typeface="Arial" panose="020B0604020202020204" pitchFamily="34" charset="0"/>
              <a:buChar char="•"/>
            </a:pPr>
            <a:r>
              <a:rPr lang="en-GB" sz="1600" dirty="0"/>
              <a:t>This can be explain by the width of countries in North America, which is higher than the one of European countries.</a:t>
            </a:r>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p:txBody>
      </p:sp>
      <p:sp>
        <p:nvSpPr>
          <p:cNvPr id="3" name="Espace réservé du pied de page 2">
            <a:extLst>
              <a:ext uri="{FF2B5EF4-FFF2-40B4-BE49-F238E27FC236}">
                <a16:creationId xmlns:a16="http://schemas.microsoft.com/office/drawing/2014/main" id="{52FBE72E-2ADD-462C-9F8F-C93758C2D35D}"/>
              </a:ext>
            </a:extLst>
          </p:cNvPr>
          <p:cNvSpPr>
            <a:spLocks noGrp="1"/>
          </p:cNvSpPr>
          <p:nvPr>
            <p:ph type="ftr" sz="quarter" idx="13"/>
          </p:nvPr>
        </p:nvSpPr>
        <p:spPr/>
        <p:txBody>
          <a:bodyPr/>
          <a:lstStyle/>
          <a:p>
            <a:pPr algn="l"/>
            <a:r>
              <a:rPr lang="en-US"/>
              <a:t>GCCA GNR Concrete Pilot Project</a:t>
            </a:r>
            <a:endParaRPr lang="fr-FR" dirty="0"/>
          </a:p>
        </p:txBody>
      </p:sp>
      <p:sp>
        <p:nvSpPr>
          <p:cNvPr id="12" name="Rectangle 11">
            <a:extLst>
              <a:ext uri="{FF2B5EF4-FFF2-40B4-BE49-F238E27FC236}">
                <a16:creationId xmlns:a16="http://schemas.microsoft.com/office/drawing/2014/main" id="{EDE4F185-0D62-4FD3-AB12-87C851E7F4BF}"/>
              </a:ext>
            </a:extLst>
          </p:cNvPr>
          <p:cNvSpPr/>
          <p:nvPr/>
        </p:nvSpPr>
        <p:spPr>
          <a:xfrm>
            <a:off x="10753344" y="88931"/>
            <a:ext cx="122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North America</a:t>
            </a:r>
          </a:p>
        </p:txBody>
      </p:sp>
      <p:graphicFrame>
        <p:nvGraphicFramePr>
          <p:cNvPr id="14" name="Graphique 13">
            <a:extLst>
              <a:ext uri="{FF2B5EF4-FFF2-40B4-BE49-F238E27FC236}">
                <a16:creationId xmlns:a16="http://schemas.microsoft.com/office/drawing/2014/main" id="{685160DA-FDDE-40DB-981F-1901A2A1F7A8}"/>
              </a:ext>
            </a:extLst>
          </p:cNvPr>
          <p:cNvGraphicFramePr>
            <a:graphicFrameLocks/>
          </p:cNvGraphicFramePr>
          <p:nvPr>
            <p:extLst>
              <p:ext uri="{D42A27DB-BD31-4B8C-83A1-F6EECF244321}">
                <p14:modId xmlns:p14="http://schemas.microsoft.com/office/powerpoint/2010/main" val="508034477"/>
              </p:ext>
            </p:extLst>
          </p:nvPr>
        </p:nvGraphicFramePr>
        <p:xfrm>
          <a:off x="5740745" y="2405743"/>
          <a:ext cx="5832000" cy="3996000"/>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635861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CCC56FB7-C937-4EDE-8F75-6271BB78CCC1}"/>
              </a:ext>
            </a:extLst>
          </p:cNvPr>
          <p:cNvGraphicFramePr>
            <a:graphicFrameLocks noChangeAspect="1"/>
          </p:cNvGraphicFramePr>
          <p:nvPr>
            <p:custDataLst>
              <p:tags r:id="rId1"/>
            </p:custDataLst>
            <p:extLst>
              <p:ext uri="{D42A27DB-BD31-4B8C-83A1-F6EECF244321}">
                <p14:modId xmlns:p14="http://schemas.microsoft.com/office/powerpoint/2010/main" val="36769900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8" name="Objet 7" hidden="1">
                        <a:extLst>
                          <a:ext uri="{FF2B5EF4-FFF2-40B4-BE49-F238E27FC236}">
                            <a16:creationId xmlns:a16="http://schemas.microsoft.com/office/drawing/2014/main" id="{CCC56FB7-C937-4EDE-8F75-6271BB78CCC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847DBCA7-A0A2-4EDE-93E3-A1FAB35299D8}"/>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E758023D-E7BA-4156-895A-A164A330D083}"/>
              </a:ext>
            </a:extLst>
          </p:cNvPr>
          <p:cNvSpPr>
            <a:spLocks noGrp="1"/>
          </p:cNvSpPr>
          <p:nvPr>
            <p:ph type="title"/>
          </p:nvPr>
        </p:nvSpPr>
        <p:spPr/>
        <p:txBody>
          <a:bodyPr/>
          <a:lstStyle/>
          <a:p>
            <a:r>
              <a:rPr lang="en-GB" dirty="0"/>
              <a:t>The average concrete volume transported is balanced</a:t>
            </a:r>
            <a:br>
              <a:rPr lang="en-GB" dirty="0"/>
            </a:br>
            <a:r>
              <a:rPr lang="en-GB" sz="2200" dirty="0"/>
              <a:t>The data correspond to the average shipping volume of a concrete truck</a:t>
            </a:r>
          </a:p>
        </p:txBody>
      </p:sp>
      <p:sp>
        <p:nvSpPr>
          <p:cNvPr id="5" name="Espace réservé de la date 4">
            <a:extLst>
              <a:ext uri="{FF2B5EF4-FFF2-40B4-BE49-F238E27FC236}">
                <a16:creationId xmlns:a16="http://schemas.microsoft.com/office/drawing/2014/main" id="{26703285-EE82-45F6-926A-795128C6DCDE}"/>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9A119A6F-05D8-420B-95E4-6195D091C5EB}"/>
              </a:ext>
            </a:extLst>
          </p:cNvPr>
          <p:cNvSpPr>
            <a:spLocks noGrp="1"/>
          </p:cNvSpPr>
          <p:nvPr>
            <p:ph type="sldNum" sz="quarter" idx="11"/>
          </p:nvPr>
        </p:nvSpPr>
        <p:spPr/>
        <p:txBody>
          <a:bodyPr/>
          <a:lstStyle/>
          <a:p>
            <a:fld id="{7870704B-CE94-48CC-AF30-84932A1262A7}" type="slidenum">
              <a:rPr lang="fr-FR" smtClean="0"/>
              <a:pPr/>
              <a:t>15</a:t>
            </a:fld>
            <a:endParaRPr lang="fr-FR" dirty="0"/>
          </a:p>
        </p:txBody>
      </p:sp>
      <p:graphicFrame>
        <p:nvGraphicFramePr>
          <p:cNvPr id="10" name="Tableau 9">
            <a:extLst>
              <a:ext uri="{FF2B5EF4-FFF2-40B4-BE49-F238E27FC236}">
                <a16:creationId xmlns:a16="http://schemas.microsoft.com/office/drawing/2014/main" id="{B4354334-FD6E-4ED4-B024-4439EE9F2CBB}"/>
              </a:ext>
            </a:extLst>
          </p:cNvPr>
          <p:cNvGraphicFramePr>
            <a:graphicFrameLocks noGrp="1"/>
          </p:cNvGraphicFramePr>
          <p:nvPr>
            <p:extLst>
              <p:ext uri="{D42A27DB-BD31-4B8C-83A1-F6EECF244321}">
                <p14:modId xmlns:p14="http://schemas.microsoft.com/office/powerpoint/2010/main" val="297924124"/>
              </p:ext>
            </p:extLst>
          </p:nvPr>
        </p:nvGraphicFramePr>
        <p:xfrm>
          <a:off x="6208745" y="1426463"/>
          <a:ext cx="4896000" cy="864000"/>
        </p:xfrm>
        <a:graphic>
          <a:graphicData uri="http://schemas.openxmlformats.org/drawingml/2006/table">
            <a:tbl>
              <a:tblPr firstRow="1" bandRow="1">
                <a:tableStyleId>{5C22544A-7EE6-4342-B048-85BDC9FD1C3A}</a:tableStyleId>
              </a:tblPr>
              <a:tblGrid>
                <a:gridCol w="979200">
                  <a:extLst>
                    <a:ext uri="{9D8B030D-6E8A-4147-A177-3AD203B41FA5}">
                      <a16:colId xmlns:a16="http://schemas.microsoft.com/office/drawing/2014/main" val="3605666383"/>
                    </a:ext>
                  </a:extLst>
                </a:gridCol>
                <a:gridCol w="979200">
                  <a:extLst>
                    <a:ext uri="{9D8B030D-6E8A-4147-A177-3AD203B41FA5}">
                      <a16:colId xmlns:a16="http://schemas.microsoft.com/office/drawing/2014/main" val="4135103201"/>
                    </a:ext>
                  </a:extLst>
                </a:gridCol>
                <a:gridCol w="979200">
                  <a:extLst>
                    <a:ext uri="{9D8B030D-6E8A-4147-A177-3AD203B41FA5}">
                      <a16:colId xmlns:a16="http://schemas.microsoft.com/office/drawing/2014/main" val="4276878264"/>
                    </a:ext>
                  </a:extLst>
                </a:gridCol>
                <a:gridCol w="979200">
                  <a:extLst>
                    <a:ext uri="{9D8B030D-6E8A-4147-A177-3AD203B41FA5}">
                      <a16:colId xmlns:a16="http://schemas.microsoft.com/office/drawing/2014/main" val="3288090762"/>
                    </a:ext>
                  </a:extLst>
                </a:gridCol>
                <a:gridCol w="979200">
                  <a:extLst>
                    <a:ext uri="{9D8B030D-6E8A-4147-A177-3AD203B41FA5}">
                      <a16:colId xmlns:a16="http://schemas.microsoft.com/office/drawing/2014/main" val="1746470674"/>
                    </a:ext>
                  </a:extLst>
                </a:gridCol>
              </a:tblGrid>
              <a:tr h="353298">
                <a:tc>
                  <a:txBody>
                    <a:bodyPr/>
                    <a:lstStyle/>
                    <a:p>
                      <a:pPr algn="ctr" fontAlgn="ctr"/>
                      <a:r>
                        <a:rPr lang="en-GB" sz="1000" b="1" u="none" strike="noStrike">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 </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43307530"/>
                  </a:ext>
                </a:extLst>
              </a:tr>
              <a:tr h="255351">
                <a:tc>
                  <a:txBody>
                    <a:bodyPr/>
                    <a:lstStyle/>
                    <a:p>
                      <a:pPr algn="ctr" fontAlgn="ctr"/>
                      <a:r>
                        <a:rPr lang="en-GB" sz="1000" b="0" i="1" dirty="0">
                          <a:latin typeface="Arial" panose="020B0604020202020204" pitchFamily="34" charset="0"/>
                          <a:cs typeface="Arial" panose="020B0604020202020204" pitchFamily="34" charset="0"/>
                        </a:rPr>
                        <a:t>m</a:t>
                      </a:r>
                      <a:r>
                        <a:rPr lang="en-GB" sz="1000" b="0" i="1" baseline="30000" dirty="0">
                          <a:latin typeface="Arial" panose="020B0604020202020204" pitchFamily="34" charset="0"/>
                          <a:cs typeface="Arial" panose="020B0604020202020204" pitchFamily="34" charset="0"/>
                        </a:rPr>
                        <a:t>3</a:t>
                      </a:r>
                      <a:r>
                        <a:rPr lang="en-GB" sz="1000" b="0" i="1" dirty="0">
                          <a:latin typeface="Arial" panose="020B0604020202020204" pitchFamily="34" charset="0"/>
                          <a:cs typeface="Arial" panose="020B0604020202020204" pitchFamily="34" charset="0"/>
                        </a:rPr>
                        <a:t>/delivery</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t>
                      </a:r>
                      <a:r>
                        <a:rPr kumimoji="0" lang="en-GB" sz="1000" b="0" i="1" u="none" strike="noStrike" kern="1200" cap="none" spc="0" normalizeH="0" baseline="30000" noProof="0">
                          <a:ln>
                            <a:noFill/>
                          </a:ln>
                          <a:solidFill>
                            <a:srgbClr val="000000"/>
                          </a:solidFill>
                          <a:effectLst/>
                          <a:uLnTx/>
                          <a:uFillTx/>
                          <a:latin typeface="Arial" panose="020B0604020202020204" pitchFamily="34" charset="0"/>
                          <a:ea typeface="+mn-ea"/>
                          <a:cs typeface="Arial" panose="020B0604020202020204" pitchFamily="34" charset="0"/>
                        </a:rPr>
                        <a:t>3</a:t>
                      </a:r>
                      <a:r>
                        <a:rPr kumimoji="0" lang="en-GB" sz="1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/delivery</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t>
                      </a:r>
                      <a:r>
                        <a:rPr kumimoji="0" lang="en-GB" sz="1000" b="0" i="1"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3</a:t>
                      </a:r>
                      <a:r>
                        <a:rPr kumimoji="0" lang="en-GB"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/delivery</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t>
                      </a:r>
                      <a:r>
                        <a:rPr kumimoji="0" lang="en-GB" sz="1000" b="0" i="1"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3</a:t>
                      </a:r>
                      <a:r>
                        <a:rPr kumimoji="0" lang="en-GB"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/delivery</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3068898696"/>
                  </a:ext>
                </a:extLst>
              </a:tr>
              <a:tr h="255351">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4.5</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6.6</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10</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100</a:t>
                      </a:r>
                    </a:p>
                  </a:txBody>
                  <a:tcPr marL="9525" marR="9525" marT="9525" marB="0" anchor="ctr"/>
                </a:tc>
                <a:extLst>
                  <a:ext uri="{0D108BD9-81ED-4DB2-BD59-A6C34878D82A}">
                    <a16:rowId xmlns:a16="http://schemas.microsoft.com/office/drawing/2014/main" val="1465069273"/>
                  </a:ext>
                </a:extLst>
              </a:tr>
            </a:tbl>
          </a:graphicData>
        </a:graphic>
      </p:graphicFrame>
      <p:sp>
        <p:nvSpPr>
          <p:cNvPr id="11" name="Espace réservé du contenu 2">
            <a:extLst>
              <a:ext uri="{FF2B5EF4-FFF2-40B4-BE49-F238E27FC236}">
                <a16:creationId xmlns:a16="http://schemas.microsoft.com/office/drawing/2014/main" id="{CE7308C3-14DD-416B-AA5D-2E8B12E09EBA}"/>
              </a:ext>
            </a:extLst>
          </p:cNvPr>
          <p:cNvSpPr>
            <a:spLocks noGrp="1"/>
          </p:cNvSpPr>
          <p:nvPr>
            <p:ph idx="1"/>
          </p:nvPr>
        </p:nvSpPr>
        <p:spPr>
          <a:xfrm>
            <a:off x="442913" y="1426464"/>
            <a:ext cx="5061776" cy="5256000"/>
          </a:xfrm>
        </p:spPr>
        <p:txBody>
          <a:bodyPr/>
          <a:lstStyle/>
          <a:p>
            <a:pPr marL="0" indent="0">
              <a:lnSpc>
                <a:spcPct val="100000"/>
              </a:lnSpc>
              <a:spcBef>
                <a:spcPts val="600"/>
              </a:spcBef>
              <a:buNone/>
            </a:pPr>
            <a:r>
              <a:rPr lang="en-GB" sz="1800" b="1" dirty="0">
                <a:solidFill>
                  <a:srgbClr val="D04A02"/>
                </a:solidFill>
              </a:rPr>
              <a:t>Observations and comments</a:t>
            </a:r>
          </a:p>
          <a:p>
            <a:pPr marL="285750" indent="-285750">
              <a:lnSpc>
                <a:spcPct val="100000"/>
              </a:lnSpc>
              <a:spcBef>
                <a:spcPts val="600"/>
              </a:spcBef>
              <a:buFont typeface="Arial" panose="020B0604020202020204" pitchFamily="34" charset="0"/>
              <a:buChar char="•"/>
            </a:pPr>
            <a:r>
              <a:rPr lang="en-GB" sz="1600" dirty="0"/>
              <a:t>The </a:t>
            </a:r>
            <a:r>
              <a:rPr lang="en-GB" sz="1600" b="1" dirty="0"/>
              <a:t>weighted average </a:t>
            </a:r>
            <a:r>
              <a:rPr lang="en-GB" sz="1600" dirty="0"/>
              <a:t>of the concrete volume transported in 2019 is of </a:t>
            </a:r>
            <a:r>
              <a:rPr lang="en-GB" sz="1600" b="1" dirty="0"/>
              <a:t>7 m</a:t>
            </a:r>
            <a:r>
              <a:rPr lang="en-GB" sz="1600" b="1" baseline="30000" dirty="0"/>
              <a:t>3</a:t>
            </a:r>
            <a:r>
              <a:rPr lang="en-GB" sz="1600" b="1" dirty="0"/>
              <a:t>/delivery </a:t>
            </a:r>
            <a:r>
              <a:rPr lang="en-GB" sz="1600" dirty="0"/>
              <a:t>at world level.</a:t>
            </a:r>
          </a:p>
          <a:p>
            <a:pPr marL="285750" indent="-285750">
              <a:lnSpc>
                <a:spcPct val="100000"/>
              </a:lnSpc>
              <a:spcBef>
                <a:spcPts val="600"/>
              </a:spcBef>
              <a:buFont typeface="Arial" panose="020B0604020202020204" pitchFamily="34" charset="0"/>
              <a:buChar char="•"/>
            </a:pPr>
            <a:r>
              <a:rPr lang="en-GB" sz="1600" dirty="0"/>
              <a:t>Around </a:t>
            </a:r>
            <a:r>
              <a:rPr lang="en-GB" sz="1600" b="1" dirty="0"/>
              <a:t>80% of values </a:t>
            </a:r>
            <a:r>
              <a:rPr lang="en-GB" sz="1600" dirty="0"/>
              <a:t>lie </a:t>
            </a:r>
            <a:r>
              <a:rPr lang="en-GB" sz="1600" b="1" dirty="0"/>
              <a:t>between 4.5 and </a:t>
            </a:r>
            <a:br>
              <a:rPr lang="en-GB" sz="1600" b="1" dirty="0"/>
            </a:br>
            <a:r>
              <a:rPr lang="en-GB" sz="1600" b="1" dirty="0"/>
              <a:t>8 m</a:t>
            </a:r>
            <a:r>
              <a:rPr lang="en-GB" sz="1600" b="1" baseline="30000" dirty="0"/>
              <a:t>3</a:t>
            </a:r>
            <a:r>
              <a:rPr lang="en-GB" sz="1600" b="1" dirty="0"/>
              <a:t>/delivery</a:t>
            </a:r>
            <a:r>
              <a:rPr lang="en-GB" sz="1600" dirty="0"/>
              <a:t>.</a:t>
            </a:r>
          </a:p>
          <a:p>
            <a:pPr marL="285750" indent="-285750">
              <a:lnSpc>
                <a:spcPct val="100000"/>
              </a:lnSpc>
              <a:spcBef>
                <a:spcPts val="600"/>
              </a:spcBef>
              <a:buFont typeface="Arial" panose="020B0604020202020204" pitchFamily="34" charset="0"/>
              <a:buChar char="•"/>
            </a:pPr>
            <a:r>
              <a:rPr lang="en-GB" sz="1600" dirty="0"/>
              <a:t>The </a:t>
            </a:r>
            <a:r>
              <a:rPr lang="en-GB" sz="1600" b="1" dirty="0"/>
              <a:t>standard deviation </a:t>
            </a:r>
            <a:r>
              <a:rPr lang="en-GB" sz="1600" dirty="0"/>
              <a:t>of average concrete volume transported is low, as figures vary </a:t>
            </a:r>
            <a:r>
              <a:rPr lang="en-GB" sz="1600" b="1" dirty="0"/>
              <a:t>from 4.5 to 10</a:t>
            </a:r>
            <a:r>
              <a:rPr lang="en-GB" sz="1600" dirty="0"/>
              <a:t> </a:t>
            </a:r>
            <a:r>
              <a:rPr lang="en-GB" sz="1600" b="1" dirty="0"/>
              <a:t>m</a:t>
            </a:r>
            <a:r>
              <a:rPr lang="en-GB" sz="1600" b="1" baseline="30000" dirty="0"/>
              <a:t>3</a:t>
            </a:r>
            <a:r>
              <a:rPr lang="en-GB" sz="1600" b="1" dirty="0"/>
              <a:t>/delivery</a:t>
            </a:r>
            <a:r>
              <a:rPr lang="en-GB" sz="1600" dirty="0"/>
              <a:t>. </a:t>
            </a:r>
          </a:p>
          <a:p>
            <a:pPr marL="285750" indent="-285750">
              <a:lnSpc>
                <a:spcPct val="100000"/>
              </a:lnSpc>
              <a:spcBef>
                <a:spcPts val="600"/>
              </a:spcBef>
              <a:buFont typeface="Arial" panose="020B0604020202020204" pitchFamily="34" charset="0"/>
              <a:buChar char="•"/>
            </a:pPr>
            <a:r>
              <a:rPr lang="en-GB" sz="1600" dirty="0"/>
              <a:t>Most of the pilots participants data are close to the </a:t>
            </a:r>
            <a:r>
              <a:rPr lang="en-GB" sz="1600" b="1" dirty="0"/>
              <a:t>average truck capacity of 8 m</a:t>
            </a:r>
            <a:r>
              <a:rPr lang="en-GB" sz="1600" b="1" baseline="30000" dirty="0"/>
              <a:t>3</a:t>
            </a:r>
            <a:r>
              <a:rPr lang="en-GB" sz="1600" dirty="0"/>
              <a:t>, which means that most of the trucks circulating in reporting countries are optimally loaded.</a:t>
            </a:r>
          </a:p>
          <a:p>
            <a:pPr marL="285750" indent="-285750">
              <a:lnSpc>
                <a:spcPct val="100000"/>
              </a:lnSpc>
              <a:spcBef>
                <a:spcPts val="600"/>
              </a:spcBef>
              <a:buFont typeface="Arial" panose="020B0604020202020204" pitchFamily="34" charset="0"/>
              <a:buChar char="•"/>
            </a:pPr>
            <a:r>
              <a:rPr lang="en-GB" sz="1600" dirty="0"/>
              <a:t>The chart pictures </a:t>
            </a:r>
            <a:r>
              <a:rPr lang="en-GB" sz="1600" b="1" dirty="0"/>
              <a:t>100% of the world coverage</a:t>
            </a:r>
            <a:r>
              <a:rPr lang="en-GB" sz="1600" dirty="0"/>
              <a:t>.</a:t>
            </a:r>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p:txBody>
      </p:sp>
      <p:sp>
        <p:nvSpPr>
          <p:cNvPr id="3" name="Espace réservé du pied de page 2">
            <a:extLst>
              <a:ext uri="{FF2B5EF4-FFF2-40B4-BE49-F238E27FC236}">
                <a16:creationId xmlns:a16="http://schemas.microsoft.com/office/drawing/2014/main" id="{323A617E-D702-4073-BB65-9E1AD8A0041C}"/>
              </a:ext>
            </a:extLst>
          </p:cNvPr>
          <p:cNvSpPr>
            <a:spLocks noGrp="1"/>
          </p:cNvSpPr>
          <p:nvPr>
            <p:ph type="ftr" sz="quarter" idx="13"/>
          </p:nvPr>
        </p:nvSpPr>
        <p:spPr/>
        <p:txBody>
          <a:bodyPr/>
          <a:lstStyle/>
          <a:p>
            <a:pPr algn="l"/>
            <a:r>
              <a:rPr lang="en-US"/>
              <a:t>GCCA GNR Concrete Pilot Project</a:t>
            </a:r>
            <a:endParaRPr lang="fr-FR" dirty="0"/>
          </a:p>
        </p:txBody>
      </p:sp>
      <p:sp>
        <p:nvSpPr>
          <p:cNvPr id="13" name="Rectangle 12">
            <a:extLst>
              <a:ext uri="{FF2B5EF4-FFF2-40B4-BE49-F238E27FC236}">
                <a16:creationId xmlns:a16="http://schemas.microsoft.com/office/drawing/2014/main" id="{B2FFDCDC-5560-4476-8ACD-EC59C4252FEE}"/>
              </a:ext>
            </a:extLst>
          </p:cNvPr>
          <p:cNvSpPr/>
          <p:nvPr/>
        </p:nvSpPr>
        <p:spPr>
          <a:xfrm>
            <a:off x="10753344" y="88931"/>
            <a:ext cx="978408"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World level</a:t>
            </a:r>
          </a:p>
        </p:txBody>
      </p:sp>
      <p:graphicFrame>
        <p:nvGraphicFramePr>
          <p:cNvPr id="14" name="Graphique 13">
            <a:extLst>
              <a:ext uri="{FF2B5EF4-FFF2-40B4-BE49-F238E27FC236}">
                <a16:creationId xmlns:a16="http://schemas.microsoft.com/office/drawing/2014/main" id="{69B9EA03-9481-4544-95CA-7F67D3E145A1}"/>
              </a:ext>
            </a:extLst>
          </p:cNvPr>
          <p:cNvGraphicFramePr>
            <a:graphicFrameLocks/>
          </p:cNvGraphicFramePr>
          <p:nvPr>
            <p:extLst>
              <p:ext uri="{D42A27DB-BD31-4B8C-83A1-F6EECF244321}">
                <p14:modId xmlns:p14="http://schemas.microsoft.com/office/powerpoint/2010/main" val="598798191"/>
              </p:ext>
            </p:extLst>
          </p:nvPr>
        </p:nvGraphicFramePr>
        <p:xfrm>
          <a:off x="5740745" y="2405743"/>
          <a:ext cx="5832000" cy="399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238846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CCC56FB7-C937-4EDE-8F75-6271BB78CCC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8" name="Objet 7" hidden="1">
                        <a:extLst>
                          <a:ext uri="{FF2B5EF4-FFF2-40B4-BE49-F238E27FC236}">
                            <a16:creationId xmlns:a16="http://schemas.microsoft.com/office/drawing/2014/main" id="{CCC56FB7-C937-4EDE-8F75-6271BB78CCC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847DBCA7-A0A2-4EDE-93E3-A1FAB35299D8}"/>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E758023D-E7BA-4156-895A-A164A330D083}"/>
              </a:ext>
            </a:extLst>
          </p:cNvPr>
          <p:cNvSpPr>
            <a:spLocks noGrp="1"/>
          </p:cNvSpPr>
          <p:nvPr>
            <p:ph type="title"/>
          </p:nvPr>
        </p:nvSpPr>
        <p:spPr/>
        <p:txBody>
          <a:bodyPr/>
          <a:lstStyle/>
          <a:p>
            <a:r>
              <a:rPr lang="en-GB" dirty="0"/>
              <a:t>The average concrete volume transported is balanced</a:t>
            </a:r>
            <a:br>
              <a:rPr lang="en-GB" dirty="0"/>
            </a:br>
            <a:r>
              <a:rPr lang="en-GB" sz="2200" dirty="0"/>
              <a:t>The data correspond to the average shipping volume of a concrete truck</a:t>
            </a:r>
          </a:p>
        </p:txBody>
      </p:sp>
      <p:sp>
        <p:nvSpPr>
          <p:cNvPr id="5" name="Espace réservé de la date 4">
            <a:extLst>
              <a:ext uri="{FF2B5EF4-FFF2-40B4-BE49-F238E27FC236}">
                <a16:creationId xmlns:a16="http://schemas.microsoft.com/office/drawing/2014/main" id="{26703285-EE82-45F6-926A-795128C6DCDE}"/>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9A119A6F-05D8-420B-95E4-6195D091C5EB}"/>
              </a:ext>
            </a:extLst>
          </p:cNvPr>
          <p:cNvSpPr>
            <a:spLocks noGrp="1"/>
          </p:cNvSpPr>
          <p:nvPr>
            <p:ph type="sldNum" sz="quarter" idx="11"/>
          </p:nvPr>
        </p:nvSpPr>
        <p:spPr/>
        <p:txBody>
          <a:bodyPr/>
          <a:lstStyle/>
          <a:p>
            <a:fld id="{7870704B-CE94-48CC-AF30-84932A1262A7}" type="slidenum">
              <a:rPr lang="fr-FR" smtClean="0"/>
              <a:pPr/>
              <a:t>16</a:t>
            </a:fld>
            <a:endParaRPr lang="fr-FR" dirty="0"/>
          </a:p>
        </p:txBody>
      </p:sp>
      <p:graphicFrame>
        <p:nvGraphicFramePr>
          <p:cNvPr id="10" name="Tableau 9">
            <a:extLst>
              <a:ext uri="{FF2B5EF4-FFF2-40B4-BE49-F238E27FC236}">
                <a16:creationId xmlns:a16="http://schemas.microsoft.com/office/drawing/2014/main" id="{B4354334-FD6E-4ED4-B024-4439EE9F2CBB}"/>
              </a:ext>
            </a:extLst>
          </p:cNvPr>
          <p:cNvGraphicFramePr>
            <a:graphicFrameLocks noGrp="1"/>
          </p:cNvGraphicFramePr>
          <p:nvPr>
            <p:extLst>
              <p:ext uri="{D42A27DB-BD31-4B8C-83A1-F6EECF244321}">
                <p14:modId xmlns:p14="http://schemas.microsoft.com/office/powerpoint/2010/main" val="3773821229"/>
              </p:ext>
            </p:extLst>
          </p:nvPr>
        </p:nvGraphicFramePr>
        <p:xfrm>
          <a:off x="6208745" y="1426463"/>
          <a:ext cx="4897460" cy="864000"/>
        </p:xfrm>
        <a:graphic>
          <a:graphicData uri="http://schemas.openxmlformats.org/drawingml/2006/table">
            <a:tbl>
              <a:tblPr firstRow="1" bandRow="1">
                <a:tableStyleId>{5C22544A-7EE6-4342-B048-85BDC9FD1C3A}</a:tableStyleId>
              </a:tblPr>
              <a:tblGrid>
                <a:gridCol w="979492">
                  <a:extLst>
                    <a:ext uri="{9D8B030D-6E8A-4147-A177-3AD203B41FA5}">
                      <a16:colId xmlns:a16="http://schemas.microsoft.com/office/drawing/2014/main" val="3605666383"/>
                    </a:ext>
                  </a:extLst>
                </a:gridCol>
                <a:gridCol w="979492">
                  <a:extLst>
                    <a:ext uri="{9D8B030D-6E8A-4147-A177-3AD203B41FA5}">
                      <a16:colId xmlns:a16="http://schemas.microsoft.com/office/drawing/2014/main" val="4135103201"/>
                    </a:ext>
                  </a:extLst>
                </a:gridCol>
                <a:gridCol w="979492">
                  <a:extLst>
                    <a:ext uri="{9D8B030D-6E8A-4147-A177-3AD203B41FA5}">
                      <a16:colId xmlns:a16="http://schemas.microsoft.com/office/drawing/2014/main" val="4276878264"/>
                    </a:ext>
                  </a:extLst>
                </a:gridCol>
                <a:gridCol w="979492">
                  <a:extLst>
                    <a:ext uri="{9D8B030D-6E8A-4147-A177-3AD203B41FA5}">
                      <a16:colId xmlns:a16="http://schemas.microsoft.com/office/drawing/2014/main" val="3288090762"/>
                    </a:ext>
                  </a:extLst>
                </a:gridCol>
                <a:gridCol w="979492">
                  <a:extLst>
                    <a:ext uri="{9D8B030D-6E8A-4147-A177-3AD203B41FA5}">
                      <a16:colId xmlns:a16="http://schemas.microsoft.com/office/drawing/2014/main" val="1746470674"/>
                    </a:ext>
                  </a:extLst>
                </a:gridCol>
              </a:tblGrid>
              <a:tr h="353298">
                <a:tc>
                  <a:txBody>
                    <a:bodyPr/>
                    <a:lstStyle/>
                    <a:p>
                      <a:pPr algn="ctr" fontAlgn="ctr"/>
                      <a:r>
                        <a:rPr lang="en-GB" sz="1000" b="1" u="none" strike="noStrike">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 </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43307530"/>
                  </a:ext>
                </a:extLst>
              </a:tr>
              <a:tr h="255351">
                <a:tc>
                  <a:txBody>
                    <a:bodyPr/>
                    <a:lstStyle/>
                    <a:p>
                      <a:pPr algn="ctr" fontAlgn="ctr"/>
                      <a:r>
                        <a:rPr lang="en-GB" sz="1000" b="0" i="1" dirty="0">
                          <a:latin typeface="Arial" panose="020B0604020202020204" pitchFamily="34" charset="0"/>
                          <a:cs typeface="Arial" panose="020B0604020202020204" pitchFamily="34" charset="0"/>
                        </a:rPr>
                        <a:t>m</a:t>
                      </a:r>
                      <a:r>
                        <a:rPr lang="en-GB" sz="1000" b="0" i="1" baseline="30000" dirty="0">
                          <a:latin typeface="Arial" panose="020B0604020202020204" pitchFamily="34" charset="0"/>
                          <a:cs typeface="Arial" panose="020B0604020202020204" pitchFamily="34" charset="0"/>
                        </a:rPr>
                        <a:t>3</a:t>
                      </a:r>
                      <a:r>
                        <a:rPr lang="en-GB" sz="1000" b="0" i="1" dirty="0">
                          <a:latin typeface="Arial" panose="020B0604020202020204" pitchFamily="34" charset="0"/>
                          <a:cs typeface="Arial" panose="020B0604020202020204" pitchFamily="34" charset="0"/>
                        </a:rPr>
                        <a:t>/delivery</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t>
                      </a:r>
                      <a:r>
                        <a:rPr kumimoji="0" lang="en-GB" sz="1000" b="0" i="1"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3</a:t>
                      </a:r>
                      <a:r>
                        <a:rPr kumimoji="0" lang="en-GB"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/delivery</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t>
                      </a:r>
                      <a:r>
                        <a:rPr kumimoji="0" lang="en-GB" sz="1000" b="0" i="1"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3</a:t>
                      </a:r>
                      <a:r>
                        <a:rPr kumimoji="0" lang="en-GB"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/delivery</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t>
                      </a:r>
                      <a:r>
                        <a:rPr kumimoji="0" lang="en-GB" sz="1000" b="0" i="1"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3</a:t>
                      </a:r>
                      <a:r>
                        <a:rPr kumimoji="0" lang="en-GB"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/delivery</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3068898696"/>
                  </a:ext>
                </a:extLst>
              </a:tr>
              <a:tr h="255351">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4.6</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7</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10</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100</a:t>
                      </a:r>
                    </a:p>
                  </a:txBody>
                  <a:tcPr marL="9525" marR="9525" marT="9525" marB="0" anchor="ctr"/>
                </a:tc>
                <a:extLst>
                  <a:ext uri="{0D108BD9-81ED-4DB2-BD59-A6C34878D82A}">
                    <a16:rowId xmlns:a16="http://schemas.microsoft.com/office/drawing/2014/main" val="1465069273"/>
                  </a:ext>
                </a:extLst>
              </a:tr>
            </a:tbl>
          </a:graphicData>
        </a:graphic>
      </p:graphicFrame>
      <p:sp>
        <p:nvSpPr>
          <p:cNvPr id="11" name="Espace réservé du contenu 2">
            <a:extLst>
              <a:ext uri="{FF2B5EF4-FFF2-40B4-BE49-F238E27FC236}">
                <a16:creationId xmlns:a16="http://schemas.microsoft.com/office/drawing/2014/main" id="{CE7308C3-14DD-416B-AA5D-2E8B12E09EBA}"/>
              </a:ext>
            </a:extLst>
          </p:cNvPr>
          <p:cNvSpPr>
            <a:spLocks noGrp="1"/>
          </p:cNvSpPr>
          <p:nvPr>
            <p:ph idx="1"/>
          </p:nvPr>
        </p:nvSpPr>
        <p:spPr>
          <a:xfrm>
            <a:off x="442913" y="1426464"/>
            <a:ext cx="5061776" cy="5256000"/>
          </a:xfrm>
        </p:spPr>
        <p:txBody>
          <a:bodyPr/>
          <a:lstStyle/>
          <a:p>
            <a:pPr marL="0" indent="0">
              <a:lnSpc>
                <a:spcPct val="100000"/>
              </a:lnSpc>
              <a:spcBef>
                <a:spcPts val="600"/>
              </a:spcBef>
              <a:buNone/>
            </a:pPr>
            <a:r>
              <a:rPr lang="en-GB" sz="1800" b="1" dirty="0">
                <a:solidFill>
                  <a:srgbClr val="D04A02"/>
                </a:solidFill>
              </a:rPr>
              <a:t>Observations and comments</a:t>
            </a:r>
          </a:p>
          <a:p>
            <a:pPr marL="285750" indent="-285750">
              <a:lnSpc>
                <a:spcPct val="100000"/>
              </a:lnSpc>
              <a:spcBef>
                <a:spcPts val="600"/>
              </a:spcBef>
              <a:buFont typeface="Arial" panose="020B0604020202020204" pitchFamily="34" charset="0"/>
              <a:buChar char="•"/>
            </a:pPr>
            <a:r>
              <a:rPr lang="en-GB" sz="1600" dirty="0"/>
              <a:t>The </a:t>
            </a:r>
            <a:r>
              <a:rPr lang="en-GB" sz="1600" b="1" dirty="0"/>
              <a:t>weighted average </a:t>
            </a:r>
            <a:r>
              <a:rPr lang="en-GB" sz="1600" dirty="0"/>
              <a:t>of the concrete volume transported in 2019 is of </a:t>
            </a:r>
            <a:r>
              <a:rPr lang="en-GB" sz="1600" b="1" dirty="0"/>
              <a:t>7 m</a:t>
            </a:r>
            <a:r>
              <a:rPr lang="en-GB" sz="1600" b="1" baseline="30000" dirty="0"/>
              <a:t>3</a:t>
            </a:r>
            <a:r>
              <a:rPr lang="en-GB" sz="1600" b="1" dirty="0"/>
              <a:t>/delivery </a:t>
            </a:r>
            <a:r>
              <a:rPr lang="en-GB" sz="1600" dirty="0"/>
              <a:t>at European level.</a:t>
            </a:r>
          </a:p>
          <a:p>
            <a:pPr marL="285750" indent="-285750">
              <a:lnSpc>
                <a:spcPct val="100000"/>
              </a:lnSpc>
              <a:spcBef>
                <a:spcPts val="600"/>
              </a:spcBef>
              <a:buFont typeface="Arial" panose="020B0604020202020204" pitchFamily="34" charset="0"/>
              <a:buChar char="•"/>
            </a:pPr>
            <a:r>
              <a:rPr lang="en-GB" sz="1600" dirty="0"/>
              <a:t>Around </a:t>
            </a:r>
            <a:r>
              <a:rPr lang="en-GB" sz="1600" b="1" dirty="0"/>
              <a:t>80% of values </a:t>
            </a:r>
            <a:r>
              <a:rPr lang="en-GB" sz="1600" dirty="0"/>
              <a:t>lie </a:t>
            </a:r>
            <a:r>
              <a:rPr lang="en-GB" sz="1600" b="1" dirty="0"/>
              <a:t>between 4.5 and </a:t>
            </a:r>
            <a:br>
              <a:rPr lang="en-GB" sz="1600" b="1" dirty="0"/>
            </a:br>
            <a:r>
              <a:rPr lang="en-GB" sz="1600" b="1" dirty="0"/>
              <a:t>8 m</a:t>
            </a:r>
            <a:r>
              <a:rPr lang="en-GB" sz="1600" b="1" baseline="30000" dirty="0"/>
              <a:t>3</a:t>
            </a:r>
            <a:r>
              <a:rPr lang="en-GB" sz="1600" b="1" dirty="0"/>
              <a:t>/delivery</a:t>
            </a:r>
            <a:r>
              <a:rPr lang="en-GB" sz="1600" dirty="0"/>
              <a:t>.</a:t>
            </a:r>
          </a:p>
          <a:p>
            <a:pPr marL="285750" indent="-285750">
              <a:lnSpc>
                <a:spcPct val="100000"/>
              </a:lnSpc>
              <a:spcBef>
                <a:spcPts val="600"/>
              </a:spcBef>
              <a:buFont typeface="Arial" panose="020B0604020202020204" pitchFamily="34" charset="0"/>
              <a:buChar char="•"/>
            </a:pPr>
            <a:r>
              <a:rPr lang="en-GB" sz="1600" dirty="0"/>
              <a:t>The </a:t>
            </a:r>
            <a:r>
              <a:rPr lang="en-GB" sz="1600" b="1" dirty="0"/>
              <a:t>standard deviation </a:t>
            </a:r>
            <a:r>
              <a:rPr lang="en-GB" sz="1600" dirty="0"/>
              <a:t>of average concrete volume transported is low, as figures vary </a:t>
            </a:r>
            <a:r>
              <a:rPr lang="en-GB" sz="1600" b="1" dirty="0"/>
              <a:t>from 4.5 to 10</a:t>
            </a:r>
            <a:r>
              <a:rPr lang="en-GB" sz="1600" dirty="0"/>
              <a:t> </a:t>
            </a:r>
            <a:r>
              <a:rPr lang="en-GB" sz="1600" b="1" dirty="0"/>
              <a:t>m</a:t>
            </a:r>
            <a:r>
              <a:rPr lang="en-GB" sz="1600" b="1" baseline="30000" dirty="0"/>
              <a:t>3</a:t>
            </a:r>
            <a:r>
              <a:rPr lang="en-GB" sz="1600" b="1" dirty="0"/>
              <a:t>/delivery</a:t>
            </a:r>
            <a:r>
              <a:rPr lang="en-GB" sz="1600" dirty="0"/>
              <a:t>. </a:t>
            </a:r>
          </a:p>
          <a:p>
            <a:pPr marL="285750" indent="-285750">
              <a:lnSpc>
                <a:spcPct val="100000"/>
              </a:lnSpc>
              <a:spcBef>
                <a:spcPts val="600"/>
              </a:spcBef>
              <a:buFont typeface="Arial" panose="020B0604020202020204" pitchFamily="34" charset="0"/>
              <a:buChar char="•"/>
            </a:pPr>
            <a:r>
              <a:rPr lang="en-GB" sz="1600" dirty="0"/>
              <a:t>Most of the pilots participants data are close to the </a:t>
            </a:r>
            <a:r>
              <a:rPr lang="en-GB" sz="1600" b="1" dirty="0"/>
              <a:t>average truck capacity of 8 m</a:t>
            </a:r>
            <a:r>
              <a:rPr lang="en-GB" sz="1600" b="1" baseline="30000" dirty="0"/>
              <a:t>3</a:t>
            </a:r>
            <a:r>
              <a:rPr lang="en-GB" sz="1600" dirty="0"/>
              <a:t>, which means that most of the trucks circulating in reporting countries are optimally loaded.</a:t>
            </a:r>
          </a:p>
          <a:p>
            <a:pPr marL="285750" indent="-285750">
              <a:lnSpc>
                <a:spcPct val="100000"/>
              </a:lnSpc>
              <a:spcBef>
                <a:spcPts val="600"/>
              </a:spcBef>
              <a:buFont typeface="Arial" panose="020B0604020202020204" pitchFamily="34" charset="0"/>
              <a:buChar char="•"/>
            </a:pPr>
            <a:r>
              <a:rPr lang="en-GB" sz="1600" dirty="0"/>
              <a:t>The chart pictures </a:t>
            </a:r>
            <a:r>
              <a:rPr lang="en-GB" sz="1600" b="1" dirty="0"/>
              <a:t>100% of Europe coverage</a:t>
            </a:r>
            <a:r>
              <a:rPr lang="en-GB" sz="1600" dirty="0"/>
              <a:t>.</a:t>
            </a:r>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p:txBody>
      </p:sp>
      <p:sp>
        <p:nvSpPr>
          <p:cNvPr id="3" name="Espace réservé du pied de page 2">
            <a:extLst>
              <a:ext uri="{FF2B5EF4-FFF2-40B4-BE49-F238E27FC236}">
                <a16:creationId xmlns:a16="http://schemas.microsoft.com/office/drawing/2014/main" id="{323A617E-D702-4073-BB65-9E1AD8A0041C}"/>
              </a:ext>
            </a:extLst>
          </p:cNvPr>
          <p:cNvSpPr>
            <a:spLocks noGrp="1"/>
          </p:cNvSpPr>
          <p:nvPr>
            <p:ph type="ftr" sz="quarter" idx="13"/>
          </p:nvPr>
        </p:nvSpPr>
        <p:spPr/>
        <p:txBody>
          <a:bodyPr/>
          <a:lstStyle/>
          <a:p>
            <a:pPr algn="l"/>
            <a:r>
              <a:rPr lang="en-US"/>
              <a:t>GCCA GNR Concrete Pilot Project</a:t>
            </a:r>
            <a:endParaRPr lang="fr-FR" dirty="0"/>
          </a:p>
        </p:txBody>
      </p:sp>
      <p:sp>
        <p:nvSpPr>
          <p:cNvPr id="13" name="Rectangle 12">
            <a:extLst>
              <a:ext uri="{FF2B5EF4-FFF2-40B4-BE49-F238E27FC236}">
                <a16:creationId xmlns:a16="http://schemas.microsoft.com/office/drawing/2014/main" id="{B2FFDCDC-5560-4476-8ACD-EC59C4252FEE}"/>
              </a:ext>
            </a:extLst>
          </p:cNvPr>
          <p:cNvSpPr/>
          <p:nvPr/>
        </p:nvSpPr>
        <p:spPr>
          <a:xfrm>
            <a:off x="10753344" y="88931"/>
            <a:ext cx="104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Europe level</a:t>
            </a:r>
          </a:p>
        </p:txBody>
      </p:sp>
      <p:graphicFrame>
        <p:nvGraphicFramePr>
          <p:cNvPr id="12" name="Graphique 11">
            <a:extLst>
              <a:ext uri="{FF2B5EF4-FFF2-40B4-BE49-F238E27FC236}">
                <a16:creationId xmlns:a16="http://schemas.microsoft.com/office/drawing/2014/main" id="{F17518CD-61E7-4F21-BF78-47C224784A02}"/>
              </a:ext>
            </a:extLst>
          </p:cNvPr>
          <p:cNvGraphicFramePr>
            <a:graphicFrameLocks/>
          </p:cNvGraphicFramePr>
          <p:nvPr>
            <p:extLst>
              <p:ext uri="{D42A27DB-BD31-4B8C-83A1-F6EECF244321}">
                <p14:modId xmlns:p14="http://schemas.microsoft.com/office/powerpoint/2010/main" val="3592550334"/>
              </p:ext>
            </p:extLst>
          </p:nvPr>
        </p:nvGraphicFramePr>
        <p:xfrm>
          <a:off x="5740745" y="2405743"/>
          <a:ext cx="5832000" cy="399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4164628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CCC56FB7-C937-4EDE-8F75-6271BB78CCC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8" name="Objet 7" hidden="1">
                        <a:extLst>
                          <a:ext uri="{FF2B5EF4-FFF2-40B4-BE49-F238E27FC236}">
                            <a16:creationId xmlns:a16="http://schemas.microsoft.com/office/drawing/2014/main" id="{CCC56FB7-C937-4EDE-8F75-6271BB78CCC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847DBCA7-A0A2-4EDE-93E3-A1FAB35299D8}"/>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E758023D-E7BA-4156-895A-A164A330D083}"/>
              </a:ext>
            </a:extLst>
          </p:cNvPr>
          <p:cNvSpPr>
            <a:spLocks noGrp="1"/>
          </p:cNvSpPr>
          <p:nvPr>
            <p:ph type="title"/>
          </p:nvPr>
        </p:nvSpPr>
        <p:spPr/>
        <p:txBody>
          <a:bodyPr/>
          <a:lstStyle/>
          <a:p>
            <a:r>
              <a:rPr lang="en-GB" dirty="0"/>
              <a:t>The average concrete volume transported is balanced</a:t>
            </a:r>
            <a:br>
              <a:rPr lang="en-GB" dirty="0"/>
            </a:br>
            <a:r>
              <a:rPr lang="en-GB" sz="2200" dirty="0"/>
              <a:t>The data correspond to the average shipping volume of a concrete truck</a:t>
            </a:r>
          </a:p>
        </p:txBody>
      </p:sp>
      <p:sp>
        <p:nvSpPr>
          <p:cNvPr id="5" name="Espace réservé de la date 4">
            <a:extLst>
              <a:ext uri="{FF2B5EF4-FFF2-40B4-BE49-F238E27FC236}">
                <a16:creationId xmlns:a16="http://schemas.microsoft.com/office/drawing/2014/main" id="{26703285-EE82-45F6-926A-795128C6DCDE}"/>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9A119A6F-05D8-420B-95E4-6195D091C5EB}"/>
              </a:ext>
            </a:extLst>
          </p:cNvPr>
          <p:cNvSpPr>
            <a:spLocks noGrp="1"/>
          </p:cNvSpPr>
          <p:nvPr>
            <p:ph type="sldNum" sz="quarter" idx="11"/>
          </p:nvPr>
        </p:nvSpPr>
        <p:spPr/>
        <p:txBody>
          <a:bodyPr/>
          <a:lstStyle/>
          <a:p>
            <a:fld id="{7870704B-CE94-48CC-AF30-84932A1262A7}" type="slidenum">
              <a:rPr lang="fr-FR" smtClean="0"/>
              <a:pPr/>
              <a:t>17</a:t>
            </a:fld>
            <a:endParaRPr lang="fr-FR" dirty="0"/>
          </a:p>
        </p:txBody>
      </p:sp>
      <p:graphicFrame>
        <p:nvGraphicFramePr>
          <p:cNvPr id="10" name="Tableau 9">
            <a:extLst>
              <a:ext uri="{FF2B5EF4-FFF2-40B4-BE49-F238E27FC236}">
                <a16:creationId xmlns:a16="http://schemas.microsoft.com/office/drawing/2014/main" id="{B4354334-FD6E-4ED4-B024-4439EE9F2CBB}"/>
              </a:ext>
            </a:extLst>
          </p:cNvPr>
          <p:cNvGraphicFramePr>
            <a:graphicFrameLocks noGrp="1"/>
          </p:cNvGraphicFramePr>
          <p:nvPr>
            <p:extLst>
              <p:ext uri="{D42A27DB-BD31-4B8C-83A1-F6EECF244321}">
                <p14:modId xmlns:p14="http://schemas.microsoft.com/office/powerpoint/2010/main" val="3237060083"/>
              </p:ext>
            </p:extLst>
          </p:nvPr>
        </p:nvGraphicFramePr>
        <p:xfrm>
          <a:off x="6208745" y="1426463"/>
          <a:ext cx="4896000" cy="864000"/>
        </p:xfrm>
        <a:graphic>
          <a:graphicData uri="http://schemas.openxmlformats.org/drawingml/2006/table">
            <a:tbl>
              <a:tblPr firstRow="1" bandRow="1">
                <a:tableStyleId>{5C22544A-7EE6-4342-B048-85BDC9FD1C3A}</a:tableStyleId>
              </a:tblPr>
              <a:tblGrid>
                <a:gridCol w="979200">
                  <a:extLst>
                    <a:ext uri="{9D8B030D-6E8A-4147-A177-3AD203B41FA5}">
                      <a16:colId xmlns:a16="http://schemas.microsoft.com/office/drawing/2014/main" val="3605666383"/>
                    </a:ext>
                  </a:extLst>
                </a:gridCol>
                <a:gridCol w="979200">
                  <a:extLst>
                    <a:ext uri="{9D8B030D-6E8A-4147-A177-3AD203B41FA5}">
                      <a16:colId xmlns:a16="http://schemas.microsoft.com/office/drawing/2014/main" val="4135103201"/>
                    </a:ext>
                  </a:extLst>
                </a:gridCol>
                <a:gridCol w="979200">
                  <a:extLst>
                    <a:ext uri="{9D8B030D-6E8A-4147-A177-3AD203B41FA5}">
                      <a16:colId xmlns:a16="http://schemas.microsoft.com/office/drawing/2014/main" val="4276878264"/>
                    </a:ext>
                  </a:extLst>
                </a:gridCol>
                <a:gridCol w="979200">
                  <a:extLst>
                    <a:ext uri="{9D8B030D-6E8A-4147-A177-3AD203B41FA5}">
                      <a16:colId xmlns:a16="http://schemas.microsoft.com/office/drawing/2014/main" val="3288090762"/>
                    </a:ext>
                  </a:extLst>
                </a:gridCol>
                <a:gridCol w="979200">
                  <a:extLst>
                    <a:ext uri="{9D8B030D-6E8A-4147-A177-3AD203B41FA5}">
                      <a16:colId xmlns:a16="http://schemas.microsoft.com/office/drawing/2014/main" val="1746470674"/>
                    </a:ext>
                  </a:extLst>
                </a:gridCol>
              </a:tblGrid>
              <a:tr h="353298">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 </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43307530"/>
                  </a:ext>
                </a:extLst>
              </a:tr>
              <a:tr h="255351">
                <a:tc>
                  <a:txBody>
                    <a:bodyPr/>
                    <a:lstStyle/>
                    <a:p>
                      <a:pPr algn="ctr" fontAlgn="ctr"/>
                      <a:r>
                        <a:rPr lang="en-GB" sz="1000" b="0" i="1" dirty="0">
                          <a:latin typeface="Arial" panose="020B0604020202020204" pitchFamily="34" charset="0"/>
                          <a:cs typeface="Arial" panose="020B0604020202020204" pitchFamily="34" charset="0"/>
                        </a:rPr>
                        <a:t>m</a:t>
                      </a:r>
                      <a:r>
                        <a:rPr lang="en-GB" sz="1000" b="0" i="1" baseline="30000" dirty="0">
                          <a:latin typeface="Arial" panose="020B0604020202020204" pitchFamily="34" charset="0"/>
                          <a:cs typeface="Arial" panose="020B0604020202020204" pitchFamily="34" charset="0"/>
                        </a:rPr>
                        <a:t>3</a:t>
                      </a:r>
                      <a:r>
                        <a:rPr lang="en-GB" sz="1000" b="0" i="1" dirty="0">
                          <a:latin typeface="Arial" panose="020B0604020202020204" pitchFamily="34" charset="0"/>
                          <a:cs typeface="Arial" panose="020B0604020202020204" pitchFamily="34" charset="0"/>
                        </a:rPr>
                        <a:t>/delivery</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t>
                      </a:r>
                      <a:r>
                        <a:rPr kumimoji="0" lang="en-GB" sz="1000" b="0" i="1" u="none" strike="noStrike" kern="1200" cap="none" spc="0" normalizeH="0" baseline="30000" noProof="0">
                          <a:ln>
                            <a:noFill/>
                          </a:ln>
                          <a:solidFill>
                            <a:srgbClr val="000000"/>
                          </a:solidFill>
                          <a:effectLst/>
                          <a:uLnTx/>
                          <a:uFillTx/>
                          <a:latin typeface="Arial" panose="020B0604020202020204" pitchFamily="34" charset="0"/>
                          <a:ea typeface="+mn-ea"/>
                          <a:cs typeface="Arial" panose="020B0604020202020204" pitchFamily="34" charset="0"/>
                        </a:rPr>
                        <a:t>3</a:t>
                      </a:r>
                      <a:r>
                        <a:rPr kumimoji="0" lang="en-GB" sz="1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/delivery</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t>
                      </a:r>
                      <a:r>
                        <a:rPr kumimoji="0" lang="en-GB" sz="1000" b="0" i="1"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3</a:t>
                      </a:r>
                      <a:r>
                        <a:rPr kumimoji="0" lang="en-GB"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/delivery</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kumimoji="0" lang="en-GB"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t>
                      </a:r>
                      <a:r>
                        <a:rPr kumimoji="0" lang="en-GB" sz="1000" b="0" i="1"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3</a:t>
                      </a:r>
                      <a:r>
                        <a:rPr kumimoji="0" lang="en-GB"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/delivery</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3068898696"/>
                  </a:ext>
                </a:extLst>
              </a:tr>
              <a:tr h="255351">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5.5</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6.4</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8</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&gt; 60</a:t>
                      </a:r>
                    </a:p>
                  </a:txBody>
                  <a:tcPr marL="9525" marR="9525" marT="9525" marB="0" anchor="ctr"/>
                </a:tc>
                <a:extLst>
                  <a:ext uri="{0D108BD9-81ED-4DB2-BD59-A6C34878D82A}">
                    <a16:rowId xmlns:a16="http://schemas.microsoft.com/office/drawing/2014/main" val="1465069273"/>
                  </a:ext>
                </a:extLst>
              </a:tr>
            </a:tbl>
          </a:graphicData>
        </a:graphic>
      </p:graphicFrame>
      <p:sp>
        <p:nvSpPr>
          <p:cNvPr id="11" name="Espace réservé du contenu 2">
            <a:extLst>
              <a:ext uri="{FF2B5EF4-FFF2-40B4-BE49-F238E27FC236}">
                <a16:creationId xmlns:a16="http://schemas.microsoft.com/office/drawing/2014/main" id="{CE7308C3-14DD-416B-AA5D-2E8B12E09EBA}"/>
              </a:ext>
            </a:extLst>
          </p:cNvPr>
          <p:cNvSpPr>
            <a:spLocks noGrp="1"/>
          </p:cNvSpPr>
          <p:nvPr>
            <p:ph idx="1"/>
          </p:nvPr>
        </p:nvSpPr>
        <p:spPr>
          <a:xfrm>
            <a:off x="442913" y="1426464"/>
            <a:ext cx="5061776" cy="5256000"/>
          </a:xfrm>
        </p:spPr>
        <p:txBody>
          <a:bodyPr/>
          <a:lstStyle/>
          <a:p>
            <a:pPr marL="0" indent="0">
              <a:lnSpc>
                <a:spcPct val="100000"/>
              </a:lnSpc>
              <a:spcBef>
                <a:spcPts val="600"/>
              </a:spcBef>
              <a:buNone/>
            </a:pPr>
            <a:r>
              <a:rPr lang="en-GB" sz="1800" b="1" dirty="0">
                <a:solidFill>
                  <a:srgbClr val="D04A02"/>
                </a:solidFill>
              </a:rPr>
              <a:t>Observations and comments</a:t>
            </a:r>
          </a:p>
          <a:p>
            <a:pPr marL="285750" indent="-285750">
              <a:lnSpc>
                <a:spcPct val="100000"/>
              </a:lnSpc>
              <a:spcBef>
                <a:spcPts val="600"/>
              </a:spcBef>
              <a:buFont typeface="Arial" panose="020B0604020202020204" pitchFamily="34" charset="0"/>
              <a:buChar char="•"/>
            </a:pPr>
            <a:r>
              <a:rPr lang="en-GB" sz="1600" dirty="0"/>
              <a:t>The </a:t>
            </a:r>
            <a:r>
              <a:rPr lang="en-GB" sz="1600" b="1" dirty="0"/>
              <a:t>weighted average </a:t>
            </a:r>
            <a:r>
              <a:rPr lang="en-GB" sz="1600" dirty="0"/>
              <a:t>of the concrete volume transported in 2019 is of </a:t>
            </a:r>
            <a:r>
              <a:rPr lang="en-GB" sz="1600" b="1" dirty="0"/>
              <a:t>6.4 m</a:t>
            </a:r>
            <a:r>
              <a:rPr lang="en-GB" sz="1600" b="1" baseline="30000" dirty="0"/>
              <a:t>3</a:t>
            </a:r>
            <a:r>
              <a:rPr lang="en-GB" sz="1600" b="1" dirty="0"/>
              <a:t>/delivery </a:t>
            </a:r>
            <a:r>
              <a:rPr lang="en-GB" sz="1600" dirty="0"/>
              <a:t>at European level.</a:t>
            </a:r>
          </a:p>
          <a:p>
            <a:pPr marL="285750" indent="-285750">
              <a:lnSpc>
                <a:spcPct val="100000"/>
              </a:lnSpc>
              <a:spcBef>
                <a:spcPts val="600"/>
              </a:spcBef>
              <a:buFont typeface="Arial" panose="020B0604020202020204" pitchFamily="34" charset="0"/>
              <a:buChar char="•"/>
            </a:pPr>
            <a:r>
              <a:rPr lang="en-GB" sz="1600" dirty="0"/>
              <a:t>Around </a:t>
            </a:r>
            <a:r>
              <a:rPr lang="en-GB" sz="1600" b="1" dirty="0"/>
              <a:t>80% of values </a:t>
            </a:r>
            <a:r>
              <a:rPr lang="en-GB" sz="1600" dirty="0"/>
              <a:t>lie </a:t>
            </a:r>
            <a:r>
              <a:rPr lang="en-GB" sz="1600" b="1" dirty="0"/>
              <a:t>between 5.5 and </a:t>
            </a:r>
            <a:br>
              <a:rPr lang="en-GB" sz="1600" b="1" dirty="0"/>
            </a:br>
            <a:r>
              <a:rPr lang="en-GB" sz="1600" b="1" dirty="0"/>
              <a:t>7 m</a:t>
            </a:r>
            <a:r>
              <a:rPr lang="en-GB" sz="1600" b="1" baseline="30000" dirty="0"/>
              <a:t>3</a:t>
            </a:r>
            <a:r>
              <a:rPr lang="en-GB" sz="1600" b="1" dirty="0"/>
              <a:t>/delivery</a:t>
            </a:r>
            <a:r>
              <a:rPr lang="en-GB" sz="1600" dirty="0"/>
              <a:t>.</a:t>
            </a:r>
          </a:p>
          <a:p>
            <a:pPr marL="285750" indent="-285750">
              <a:lnSpc>
                <a:spcPct val="100000"/>
              </a:lnSpc>
              <a:spcBef>
                <a:spcPts val="600"/>
              </a:spcBef>
              <a:buFont typeface="Arial" panose="020B0604020202020204" pitchFamily="34" charset="0"/>
              <a:buChar char="•"/>
            </a:pPr>
            <a:r>
              <a:rPr lang="en-GB" sz="1600" dirty="0"/>
              <a:t>Most of the pilots participants data are around to the </a:t>
            </a:r>
            <a:r>
              <a:rPr lang="en-GB" sz="1600" b="1" dirty="0"/>
              <a:t>average truck capacity of 8 m</a:t>
            </a:r>
            <a:r>
              <a:rPr lang="en-GB" sz="1600" b="1" baseline="30000" dirty="0"/>
              <a:t>3</a:t>
            </a:r>
            <a:r>
              <a:rPr lang="en-GB" sz="1600" dirty="0"/>
              <a:t>, which means that most of the trucks circulating in reporting countries are almost optimally loaded.</a:t>
            </a:r>
          </a:p>
          <a:p>
            <a:pPr marL="285750" indent="-285750">
              <a:lnSpc>
                <a:spcPct val="100000"/>
              </a:lnSpc>
              <a:spcBef>
                <a:spcPts val="600"/>
              </a:spcBef>
              <a:buFont typeface="Arial" panose="020B0604020202020204" pitchFamily="34" charset="0"/>
              <a:buChar char="•"/>
            </a:pPr>
            <a:r>
              <a:rPr lang="en-GB" sz="1600" dirty="0"/>
              <a:t>The chart pictures </a:t>
            </a:r>
            <a:r>
              <a:rPr lang="en-GB" sz="1600" b="1" dirty="0"/>
              <a:t>&gt; 60% of the coverage in North America</a:t>
            </a:r>
            <a:r>
              <a:rPr lang="en-GB" sz="1600" dirty="0"/>
              <a:t>.</a:t>
            </a:r>
          </a:p>
          <a:p>
            <a:pPr marL="265113" indent="0">
              <a:lnSpc>
                <a:spcPct val="100000"/>
              </a:lnSpc>
              <a:spcBef>
                <a:spcPts val="600"/>
              </a:spcBef>
              <a:buNone/>
            </a:pPr>
            <a:r>
              <a:rPr lang="en-GB" sz="1600" b="1" u="sng" dirty="0"/>
              <a:t>Note</a:t>
            </a:r>
            <a:r>
              <a:rPr lang="en-GB" sz="1600" dirty="0"/>
              <a:t>: Coverage is not provided for confidentiality reasons.</a:t>
            </a:r>
            <a:endParaRPr lang="fr-FR"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a:p>
            <a:pPr marL="285750" indent="-285750">
              <a:lnSpc>
                <a:spcPct val="100000"/>
              </a:lnSpc>
              <a:spcBef>
                <a:spcPts val="600"/>
              </a:spcBef>
              <a:buFont typeface="Arial" panose="020B0604020202020204" pitchFamily="34" charset="0"/>
              <a:buChar char="•"/>
            </a:pPr>
            <a:endParaRPr lang="en-GB" sz="1600" dirty="0"/>
          </a:p>
        </p:txBody>
      </p:sp>
      <p:sp>
        <p:nvSpPr>
          <p:cNvPr id="3" name="Espace réservé du pied de page 2">
            <a:extLst>
              <a:ext uri="{FF2B5EF4-FFF2-40B4-BE49-F238E27FC236}">
                <a16:creationId xmlns:a16="http://schemas.microsoft.com/office/drawing/2014/main" id="{323A617E-D702-4073-BB65-9E1AD8A0041C}"/>
              </a:ext>
            </a:extLst>
          </p:cNvPr>
          <p:cNvSpPr>
            <a:spLocks noGrp="1"/>
          </p:cNvSpPr>
          <p:nvPr>
            <p:ph type="ftr" sz="quarter" idx="13"/>
          </p:nvPr>
        </p:nvSpPr>
        <p:spPr/>
        <p:txBody>
          <a:bodyPr/>
          <a:lstStyle/>
          <a:p>
            <a:pPr algn="l"/>
            <a:r>
              <a:rPr lang="en-US"/>
              <a:t>GCCA GNR Concrete Pilot Project</a:t>
            </a:r>
            <a:endParaRPr lang="fr-FR" dirty="0"/>
          </a:p>
        </p:txBody>
      </p:sp>
      <p:sp>
        <p:nvSpPr>
          <p:cNvPr id="13" name="Rectangle 12">
            <a:extLst>
              <a:ext uri="{FF2B5EF4-FFF2-40B4-BE49-F238E27FC236}">
                <a16:creationId xmlns:a16="http://schemas.microsoft.com/office/drawing/2014/main" id="{B2FFDCDC-5560-4476-8ACD-EC59C4252FEE}"/>
              </a:ext>
            </a:extLst>
          </p:cNvPr>
          <p:cNvSpPr/>
          <p:nvPr/>
        </p:nvSpPr>
        <p:spPr>
          <a:xfrm>
            <a:off x="10753344" y="88931"/>
            <a:ext cx="122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North America</a:t>
            </a:r>
          </a:p>
        </p:txBody>
      </p:sp>
      <p:graphicFrame>
        <p:nvGraphicFramePr>
          <p:cNvPr id="14" name="Graphique 13">
            <a:extLst>
              <a:ext uri="{FF2B5EF4-FFF2-40B4-BE49-F238E27FC236}">
                <a16:creationId xmlns:a16="http://schemas.microsoft.com/office/drawing/2014/main" id="{02ADE4FA-1F76-435A-B5EE-04BF8CA173F1}"/>
              </a:ext>
            </a:extLst>
          </p:cNvPr>
          <p:cNvGraphicFramePr>
            <a:graphicFrameLocks/>
          </p:cNvGraphicFramePr>
          <p:nvPr>
            <p:extLst>
              <p:ext uri="{D42A27DB-BD31-4B8C-83A1-F6EECF244321}">
                <p14:modId xmlns:p14="http://schemas.microsoft.com/office/powerpoint/2010/main" val="1870615304"/>
              </p:ext>
            </p:extLst>
          </p:nvPr>
        </p:nvGraphicFramePr>
        <p:xfrm>
          <a:off x="5740745" y="2405743"/>
          <a:ext cx="5832000" cy="399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722676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4DC08919-1AD6-4A1D-82ED-1FFC08155EE5}"/>
              </a:ext>
            </a:extLst>
          </p:cNvPr>
          <p:cNvGraphicFramePr>
            <a:graphicFrameLocks noChangeAspect="1"/>
          </p:cNvGraphicFramePr>
          <p:nvPr>
            <p:custDataLst>
              <p:tags r:id="rId1"/>
            </p:custDataLst>
            <p:extLst>
              <p:ext uri="{D42A27DB-BD31-4B8C-83A1-F6EECF244321}">
                <p14:modId xmlns:p14="http://schemas.microsoft.com/office/powerpoint/2010/main" val="42549546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8" name="Objet 7" hidden="1">
                        <a:extLst>
                          <a:ext uri="{FF2B5EF4-FFF2-40B4-BE49-F238E27FC236}">
                            <a16:creationId xmlns:a16="http://schemas.microsoft.com/office/drawing/2014/main" id="{4DC08919-1AD6-4A1D-82ED-1FFC08155EE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0C8D7339-FFB3-4C28-BCB9-BA812BD7C80D}"/>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8B2CD29C-36E9-4545-9BB0-F5621863D39B}"/>
              </a:ext>
            </a:extLst>
          </p:cNvPr>
          <p:cNvSpPr>
            <a:spLocks noGrp="1"/>
          </p:cNvSpPr>
          <p:nvPr>
            <p:ph type="title"/>
          </p:nvPr>
        </p:nvSpPr>
        <p:spPr/>
        <p:txBody>
          <a:bodyPr/>
          <a:lstStyle/>
          <a:p>
            <a:r>
              <a:rPr lang="en-GB" dirty="0"/>
              <a:t>Fuel consumption patterns can be observed at a country scale</a:t>
            </a:r>
            <a:br>
              <a:rPr lang="en-GB" dirty="0"/>
            </a:br>
            <a:r>
              <a:rPr lang="en-GB" sz="2200" dirty="0"/>
              <a:t>The reported type of fuel of all GNR pilot participants is diesel.</a:t>
            </a:r>
            <a:br>
              <a:rPr lang="en-GB" dirty="0"/>
            </a:br>
            <a:endParaRPr lang="en-GB" sz="2200" dirty="0"/>
          </a:p>
        </p:txBody>
      </p:sp>
      <p:sp>
        <p:nvSpPr>
          <p:cNvPr id="5" name="Espace réservé de la date 4">
            <a:extLst>
              <a:ext uri="{FF2B5EF4-FFF2-40B4-BE49-F238E27FC236}">
                <a16:creationId xmlns:a16="http://schemas.microsoft.com/office/drawing/2014/main" id="{FCAEDFAB-D1BA-4606-8F4F-1A6F2E84D477}"/>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380AC267-285D-45E7-80F9-1E7CBC90EDEA}"/>
              </a:ext>
            </a:extLst>
          </p:cNvPr>
          <p:cNvSpPr>
            <a:spLocks noGrp="1"/>
          </p:cNvSpPr>
          <p:nvPr>
            <p:ph type="sldNum" sz="quarter" idx="11"/>
          </p:nvPr>
        </p:nvSpPr>
        <p:spPr/>
        <p:txBody>
          <a:bodyPr/>
          <a:lstStyle/>
          <a:p>
            <a:fld id="{7870704B-CE94-48CC-AF30-84932A1262A7}" type="slidenum">
              <a:rPr lang="fr-FR" smtClean="0"/>
              <a:pPr/>
              <a:t>18</a:t>
            </a:fld>
            <a:endParaRPr lang="fr-FR" dirty="0"/>
          </a:p>
        </p:txBody>
      </p:sp>
      <p:graphicFrame>
        <p:nvGraphicFramePr>
          <p:cNvPr id="11" name="Tableau 10">
            <a:extLst>
              <a:ext uri="{FF2B5EF4-FFF2-40B4-BE49-F238E27FC236}">
                <a16:creationId xmlns:a16="http://schemas.microsoft.com/office/drawing/2014/main" id="{64C28D34-D414-4353-86EE-F3E945657185}"/>
              </a:ext>
            </a:extLst>
          </p:cNvPr>
          <p:cNvGraphicFramePr>
            <a:graphicFrameLocks noGrp="1"/>
          </p:cNvGraphicFramePr>
          <p:nvPr>
            <p:extLst>
              <p:ext uri="{D42A27DB-BD31-4B8C-83A1-F6EECF244321}">
                <p14:modId xmlns:p14="http://schemas.microsoft.com/office/powerpoint/2010/main" val="177509780"/>
              </p:ext>
            </p:extLst>
          </p:nvPr>
        </p:nvGraphicFramePr>
        <p:xfrm>
          <a:off x="831603" y="1225425"/>
          <a:ext cx="4320000" cy="827999"/>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3605666383"/>
                    </a:ext>
                  </a:extLst>
                </a:gridCol>
                <a:gridCol w="864000">
                  <a:extLst>
                    <a:ext uri="{9D8B030D-6E8A-4147-A177-3AD203B41FA5}">
                      <a16:colId xmlns:a16="http://schemas.microsoft.com/office/drawing/2014/main" val="4135103201"/>
                    </a:ext>
                  </a:extLst>
                </a:gridCol>
                <a:gridCol w="864000">
                  <a:extLst>
                    <a:ext uri="{9D8B030D-6E8A-4147-A177-3AD203B41FA5}">
                      <a16:colId xmlns:a16="http://schemas.microsoft.com/office/drawing/2014/main" val="4276878264"/>
                    </a:ext>
                  </a:extLst>
                </a:gridCol>
                <a:gridCol w="864000">
                  <a:extLst>
                    <a:ext uri="{9D8B030D-6E8A-4147-A177-3AD203B41FA5}">
                      <a16:colId xmlns:a16="http://schemas.microsoft.com/office/drawing/2014/main" val="3288090762"/>
                    </a:ext>
                  </a:extLst>
                </a:gridCol>
                <a:gridCol w="864000">
                  <a:extLst>
                    <a:ext uri="{9D8B030D-6E8A-4147-A177-3AD203B41FA5}">
                      <a16:colId xmlns:a16="http://schemas.microsoft.com/office/drawing/2014/main" val="1746470674"/>
                    </a:ext>
                  </a:extLst>
                </a:gridCol>
              </a:tblGrid>
              <a:tr h="338577">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 </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43307530"/>
                  </a:ext>
                </a:extLst>
              </a:tr>
              <a:tr h="244711">
                <a:tc>
                  <a:txBody>
                    <a:bodyPr/>
                    <a:lstStyle/>
                    <a:p>
                      <a:pPr marL="0" algn="ctr" defTabSz="914400" rtl="0" eaLnBrk="1" fontAlgn="ctr" latinLnBrk="0" hangingPunct="1"/>
                      <a:r>
                        <a:rPr lang="fr-FR" sz="1000" b="0" i="1" u="none" strike="noStrike" kern="1200" dirty="0">
                          <a:solidFill>
                            <a:srgbClr val="000000"/>
                          </a:solidFill>
                          <a:effectLst/>
                          <a:latin typeface="Arial" panose="020B0604020202020204" pitchFamily="34" charset="0"/>
                          <a:ea typeface="+mn-ea"/>
                          <a:cs typeface="Arial" panose="020B0604020202020204" pitchFamily="34" charset="0"/>
                        </a:rPr>
                        <a:t>km/l</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km/l</a:t>
                      </a:r>
                      <a:endPar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km/l</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km/l</a:t>
                      </a:r>
                    </a:p>
                  </a:txBody>
                  <a:tcPr marL="9525" marR="9525" marT="9525" marB="0" anchor="ctr"/>
                </a:tc>
                <a:tc>
                  <a:txBody>
                    <a:bodyPr/>
                    <a:lstStyle/>
                    <a:p>
                      <a:pPr marL="0" algn="ctr" defTabSz="914400" rtl="0" eaLnBrk="1" fontAlgn="ctr" latinLnBrk="0" hangingPunct="1"/>
                      <a:r>
                        <a:rPr lang="fr-FR" sz="1000" b="0" i="1" u="none" strike="noStrike" kern="1200" dirty="0">
                          <a:solidFill>
                            <a:srgbClr val="000000"/>
                          </a:solidFill>
                          <a:effectLst/>
                          <a:latin typeface="Arial" panose="020B0604020202020204" pitchFamily="34" charset="0"/>
                          <a:ea typeface="+mn-ea"/>
                          <a:cs typeface="Arial" panose="020B0604020202020204" pitchFamily="34" charset="0"/>
                        </a:rPr>
                        <a:t>%</a:t>
                      </a:r>
                    </a:p>
                  </a:txBody>
                  <a:tcPr marL="9525" marR="9525" marT="9525" marB="0" anchor="ctr"/>
                </a:tc>
                <a:extLst>
                  <a:ext uri="{0D108BD9-81ED-4DB2-BD59-A6C34878D82A}">
                    <a16:rowId xmlns:a16="http://schemas.microsoft.com/office/drawing/2014/main" val="3068898696"/>
                  </a:ext>
                </a:extLst>
              </a:tr>
              <a:tr h="244711">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0.1</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1.15</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2,6</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1</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79</a:t>
                      </a:r>
                    </a:p>
                  </a:txBody>
                  <a:tcPr marL="9525" marR="9525" marT="9525" marB="0" anchor="ctr"/>
                </a:tc>
                <a:extLst>
                  <a:ext uri="{0D108BD9-81ED-4DB2-BD59-A6C34878D82A}">
                    <a16:rowId xmlns:a16="http://schemas.microsoft.com/office/drawing/2014/main" val="146870694"/>
                  </a:ext>
                </a:extLst>
              </a:tr>
            </a:tbl>
          </a:graphicData>
        </a:graphic>
      </p:graphicFrame>
      <p:graphicFrame>
        <p:nvGraphicFramePr>
          <p:cNvPr id="12" name="Tableau 11">
            <a:extLst>
              <a:ext uri="{FF2B5EF4-FFF2-40B4-BE49-F238E27FC236}">
                <a16:creationId xmlns:a16="http://schemas.microsoft.com/office/drawing/2014/main" id="{D9B4F707-8CF8-4449-87C1-E915A193C4D3}"/>
              </a:ext>
            </a:extLst>
          </p:cNvPr>
          <p:cNvGraphicFramePr>
            <a:graphicFrameLocks noGrp="1"/>
          </p:cNvGraphicFramePr>
          <p:nvPr>
            <p:extLst>
              <p:ext uri="{D42A27DB-BD31-4B8C-83A1-F6EECF244321}">
                <p14:modId xmlns:p14="http://schemas.microsoft.com/office/powerpoint/2010/main" val="40365868"/>
              </p:ext>
            </p:extLst>
          </p:nvPr>
        </p:nvGraphicFramePr>
        <p:xfrm>
          <a:off x="7058447" y="1225425"/>
          <a:ext cx="4320000" cy="827999"/>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3605666383"/>
                    </a:ext>
                  </a:extLst>
                </a:gridCol>
                <a:gridCol w="864000">
                  <a:extLst>
                    <a:ext uri="{9D8B030D-6E8A-4147-A177-3AD203B41FA5}">
                      <a16:colId xmlns:a16="http://schemas.microsoft.com/office/drawing/2014/main" val="4135103201"/>
                    </a:ext>
                  </a:extLst>
                </a:gridCol>
                <a:gridCol w="864000">
                  <a:extLst>
                    <a:ext uri="{9D8B030D-6E8A-4147-A177-3AD203B41FA5}">
                      <a16:colId xmlns:a16="http://schemas.microsoft.com/office/drawing/2014/main" val="4276878264"/>
                    </a:ext>
                  </a:extLst>
                </a:gridCol>
                <a:gridCol w="864000">
                  <a:extLst>
                    <a:ext uri="{9D8B030D-6E8A-4147-A177-3AD203B41FA5}">
                      <a16:colId xmlns:a16="http://schemas.microsoft.com/office/drawing/2014/main" val="3288090762"/>
                    </a:ext>
                  </a:extLst>
                </a:gridCol>
                <a:gridCol w="864000">
                  <a:extLst>
                    <a:ext uri="{9D8B030D-6E8A-4147-A177-3AD203B41FA5}">
                      <a16:colId xmlns:a16="http://schemas.microsoft.com/office/drawing/2014/main" val="1746470674"/>
                    </a:ext>
                  </a:extLst>
                </a:gridCol>
              </a:tblGrid>
              <a:tr h="338577">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 </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43307530"/>
                  </a:ext>
                </a:extLst>
              </a:tr>
              <a:tr h="244711">
                <a:tc>
                  <a:txBody>
                    <a:bodyPr/>
                    <a:lstStyle/>
                    <a:p>
                      <a:pPr algn="ctr" fontAlgn="ctr"/>
                      <a:r>
                        <a:rPr lang="en-GB" sz="1000" i="1" dirty="0"/>
                        <a:t>l/km/m</a:t>
                      </a:r>
                      <a:r>
                        <a:rPr lang="en-GB" sz="100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i="1" dirty="0"/>
                        <a:t>l/km/m</a:t>
                      </a:r>
                      <a:r>
                        <a:rPr lang="en-GB" sz="100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i="1" dirty="0"/>
                        <a:t>l/km/m</a:t>
                      </a:r>
                      <a:r>
                        <a:rPr lang="en-GB" sz="100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i="1" dirty="0"/>
                        <a:t>l/km/m</a:t>
                      </a:r>
                      <a:r>
                        <a:rPr lang="en-GB" sz="100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1" u="none" strike="noStrike" kern="1200" dirty="0">
                          <a:solidFill>
                            <a:srgbClr val="000000"/>
                          </a:solidFill>
                          <a:effectLst/>
                          <a:latin typeface="Arial" panose="020B0604020202020204" pitchFamily="34" charset="0"/>
                          <a:ea typeface="+mn-ea"/>
                          <a:cs typeface="Arial" panose="020B0604020202020204" pitchFamily="34" charset="0"/>
                        </a:rPr>
                        <a:t>%</a:t>
                      </a:r>
                    </a:p>
                  </a:txBody>
                  <a:tcPr marL="9525" marR="9525" marT="9525" marB="0" anchor="ctr"/>
                </a:tc>
                <a:extLst>
                  <a:ext uri="{0D108BD9-81ED-4DB2-BD59-A6C34878D82A}">
                    <a16:rowId xmlns:a16="http://schemas.microsoft.com/office/drawing/2014/main" val="3068898696"/>
                  </a:ext>
                </a:extLst>
              </a:tr>
              <a:tr h="244711">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0.5</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4.8</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13.8</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3</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80</a:t>
                      </a:r>
                    </a:p>
                  </a:txBody>
                  <a:tcPr marL="9525" marR="9525" marT="9525" marB="0" anchor="ctr"/>
                </a:tc>
                <a:extLst>
                  <a:ext uri="{0D108BD9-81ED-4DB2-BD59-A6C34878D82A}">
                    <a16:rowId xmlns:a16="http://schemas.microsoft.com/office/drawing/2014/main" val="3057588811"/>
                  </a:ext>
                </a:extLst>
              </a:tr>
            </a:tbl>
          </a:graphicData>
        </a:graphic>
      </p:graphicFrame>
      <p:sp>
        <p:nvSpPr>
          <p:cNvPr id="3" name="Espace réservé du pied de page 2">
            <a:extLst>
              <a:ext uri="{FF2B5EF4-FFF2-40B4-BE49-F238E27FC236}">
                <a16:creationId xmlns:a16="http://schemas.microsoft.com/office/drawing/2014/main" id="{E8588C80-6D93-4B78-9FD0-F65EC9F2DE7E}"/>
              </a:ext>
            </a:extLst>
          </p:cNvPr>
          <p:cNvSpPr>
            <a:spLocks noGrp="1"/>
          </p:cNvSpPr>
          <p:nvPr>
            <p:ph type="ftr" sz="quarter" idx="13"/>
          </p:nvPr>
        </p:nvSpPr>
        <p:spPr/>
        <p:txBody>
          <a:bodyPr/>
          <a:lstStyle/>
          <a:p>
            <a:pPr algn="l"/>
            <a:r>
              <a:rPr lang="en-US"/>
              <a:t>GCCA GNR Concrete Pilot Project</a:t>
            </a:r>
            <a:endParaRPr lang="fr-FR" dirty="0"/>
          </a:p>
        </p:txBody>
      </p:sp>
      <p:sp>
        <p:nvSpPr>
          <p:cNvPr id="14" name="Espace réservé du contenu 2">
            <a:extLst>
              <a:ext uri="{FF2B5EF4-FFF2-40B4-BE49-F238E27FC236}">
                <a16:creationId xmlns:a16="http://schemas.microsoft.com/office/drawing/2014/main" id="{3FF83B13-4245-4B69-911B-7D51FA7A2582}"/>
              </a:ext>
            </a:extLst>
          </p:cNvPr>
          <p:cNvSpPr>
            <a:spLocks noGrp="1"/>
          </p:cNvSpPr>
          <p:nvPr>
            <p:ph idx="1"/>
          </p:nvPr>
        </p:nvSpPr>
        <p:spPr>
          <a:xfrm>
            <a:off x="464293" y="5569464"/>
            <a:ext cx="5204988" cy="637080"/>
          </a:xfrm>
        </p:spPr>
        <p:txBody>
          <a:bodyPr/>
          <a:lstStyle/>
          <a:p>
            <a:pPr marL="342900" indent="-342900">
              <a:spcAft>
                <a:spcPts val="300"/>
              </a:spcAft>
              <a:buFont typeface="Arial" panose="020B0604020202020204" pitchFamily="34" charset="0"/>
              <a:buChar char="•"/>
            </a:pPr>
            <a:r>
              <a:rPr lang="en-GB" sz="1400" dirty="0"/>
              <a:t>Around </a:t>
            </a:r>
            <a:r>
              <a:rPr lang="en-GB" sz="1400" b="1" dirty="0"/>
              <a:t>75% of values </a:t>
            </a:r>
            <a:r>
              <a:rPr lang="en-GB" sz="1400" dirty="0"/>
              <a:t>lie between </a:t>
            </a:r>
            <a:r>
              <a:rPr lang="en-GB" sz="1400" b="1" dirty="0"/>
              <a:t>0 and 2 km/l</a:t>
            </a:r>
            <a:r>
              <a:rPr lang="en-GB" sz="1400" dirty="0"/>
              <a:t>.</a:t>
            </a:r>
          </a:p>
          <a:p>
            <a:pPr marL="342900" indent="-342900">
              <a:spcAft>
                <a:spcPts val="300"/>
              </a:spcAft>
              <a:buFont typeface="Arial" panose="020B0604020202020204" pitchFamily="34" charset="0"/>
              <a:buChar char="•"/>
            </a:pPr>
            <a:r>
              <a:rPr lang="en-GB" sz="1400" dirty="0"/>
              <a:t>Almost </a:t>
            </a:r>
            <a:r>
              <a:rPr lang="en-GB" sz="1400" b="1" dirty="0"/>
              <a:t>24% of the sample data </a:t>
            </a:r>
            <a:r>
              <a:rPr lang="en-GB" sz="1400" dirty="0"/>
              <a:t>are based on the </a:t>
            </a:r>
            <a:r>
              <a:rPr lang="en-GB" sz="1400" b="1" dirty="0"/>
              <a:t>estimated value of 2.6 km/l </a:t>
            </a:r>
            <a:r>
              <a:rPr lang="en-GB" sz="1400" dirty="0"/>
              <a:t>average fuel consumption, that is used for several countries by one contributor.</a:t>
            </a:r>
            <a:endParaRPr lang="fr-FR" sz="1400" dirty="0"/>
          </a:p>
          <a:p>
            <a:pPr marL="285750" indent="-285750">
              <a:lnSpc>
                <a:spcPct val="100000"/>
              </a:lnSpc>
              <a:spcBef>
                <a:spcPts val="600"/>
              </a:spcBef>
              <a:buFont typeface="Arial" panose="020B0604020202020204" pitchFamily="34" charset="0"/>
              <a:buChar char="•"/>
            </a:pPr>
            <a:endParaRPr lang="en-GB" sz="1400" dirty="0"/>
          </a:p>
          <a:p>
            <a:pPr marL="285750" indent="-285750">
              <a:lnSpc>
                <a:spcPct val="100000"/>
              </a:lnSpc>
              <a:spcBef>
                <a:spcPts val="600"/>
              </a:spcBef>
              <a:buFont typeface="Arial" panose="020B0604020202020204" pitchFamily="34" charset="0"/>
              <a:buChar char="•"/>
            </a:pPr>
            <a:endParaRPr lang="en-GB" sz="1400" dirty="0"/>
          </a:p>
          <a:p>
            <a:pPr marL="285750" indent="-285750">
              <a:lnSpc>
                <a:spcPct val="100000"/>
              </a:lnSpc>
              <a:spcBef>
                <a:spcPts val="600"/>
              </a:spcBef>
              <a:buFont typeface="Arial" panose="020B0604020202020204" pitchFamily="34" charset="0"/>
              <a:buChar char="•"/>
            </a:pPr>
            <a:endParaRPr lang="en-GB" sz="1400" dirty="0"/>
          </a:p>
          <a:p>
            <a:pPr marL="285750" indent="-285750">
              <a:lnSpc>
                <a:spcPct val="100000"/>
              </a:lnSpc>
              <a:spcBef>
                <a:spcPts val="600"/>
              </a:spcBef>
              <a:buFont typeface="Arial" panose="020B0604020202020204" pitchFamily="34" charset="0"/>
              <a:buChar char="•"/>
            </a:pPr>
            <a:endParaRPr lang="en-GB" sz="1400" dirty="0"/>
          </a:p>
        </p:txBody>
      </p:sp>
      <p:sp>
        <p:nvSpPr>
          <p:cNvPr id="15" name="Espace réservé du contenu 2">
            <a:extLst>
              <a:ext uri="{FF2B5EF4-FFF2-40B4-BE49-F238E27FC236}">
                <a16:creationId xmlns:a16="http://schemas.microsoft.com/office/drawing/2014/main" id="{B64BAF40-92FB-40BE-9C7E-FC8EC7AC341A}"/>
              </a:ext>
            </a:extLst>
          </p:cNvPr>
          <p:cNvSpPr txBox="1">
            <a:spLocks/>
          </p:cNvSpPr>
          <p:nvPr/>
        </p:nvSpPr>
        <p:spPr>
          <a:xfrm>
            <a:off x="6945364" y="5642430"/>
            <a:ext cx="4801360" cy="491148"/>
          </a:xfrm>
          <a:prstGeom prst="rect">
            <a:avLst/>
          </a:prstGeom>
        </p:spPr>
        <p:txBody>
          <a:bodyPr vert="horz" lIns="0" tIns="0" rIns="0" bIns="0" rtlCol="0">
            <a:noAutofit/>
          </a:bodyPr>
          <a:lstStyle>
            <a:lvl1pPr marL="730250" indent="-730250" algn="l" defTabSz="914400" rtl="0" eaLnBrk="1" latinLnBrk="0" hangingPunct="1">
              <a:lnSpc>
                <a:spcPct val="90000"/>
              </a:lnSpc>
              <a:spcBef>
                <a:spcPts val="0"/>
              </a:spcBef>
              <a:spcAft>
                <a:spcPts val="600"/>
              </a:spcAft>
              <a:buClr>
                <a:schemeClr val="accent1"/>
              </a:buClr>
              <a:buFont typeface="+mj-lt"/>
              <a:buAutoNum type="arabicPeriod"/>
              <a:tabLst>
                <a:tab pos="10623550" algn="r"/>
              </a:tabLst>
              <a:defRPr sz="2800" b="0" kern="1200">
                <a:solidFill>
                  <a:schemeClr val="tx1"/>
                </a:solidFill>
                <a:latin typeface="+mn-lt"/>
                <a:ea typeface="+mn-ea"/>
                <a:cs typeface="+mn-cs"/>
              </a:defRPr>
            </a:lvl1pPr>
            <a:lvl2pPr marL="730250" indent="0" algn="l" defTabSz="914400" rtl="0" eaLnBrk="1" latinLnBrk="0" hangingPunct="1">
              <a:lnSpc>
                <a:spcPct val="100000"/>
              </a:lnSpc>
              <a:spcBef>
                <a:spcPts val="0"/>
              </a:spcBef>
              <a:spcAft>
                <a:spcPts val="600"/>
              </a:spcAft>
              <a:buClr>
                <a:schemeClr val="accent4"/>
              </a:buClr>
              <a:buFont typeface="+mj-lt"/>
              <a:buNone/>
              <a:tabLst>
                <a:tab pos="10623550" algn="r"/>
              </a:tabLst>
              <a:defRPr sz="1600" kern="1200">
                <a:solidFill>
                  <a:schemeClr val="tx1"/>
                </a:solidFill>
                <a:latin typeface="+mn-lt"/>
                <a:ea typeface="+mn-ea"/>
                <a:cs typeface="+mn-cs"/>
              </a:defRPr>
            </a:lvl2pPr>
            <a:lvl3pPr marL="9144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3pPr>
            <a:lvl4pPr marL="10969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4pPr>
            <a:lvl5pPr marL="1279525"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5pPr>
            <a:lvl6pPr marL="1462088"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6pPr>
            <a:lvl7pPr marL="164465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7pPr>
            <a:lvl8pPr marL="18288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8pPr>
            <a:lvl9pPr marL="20113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9pPr>
          </a:lstStyle>
          <a:p>
            <a:pPr marL="342900" indent="-342900">
              <a:buFont typeface="Arial" panose="020B0604020202020204" pitchFamily="34" charset="0"/>
              <a:buChar char="•"/>
            </a:pPr>
            <a:r>
              <a:rPr lang="en-GB" sz="1400" dirty="0"/>
              <a:t>Around </a:t>
            </a:r>
            <a:r>
              <a:rPr lang="en-GB" sz="1400" b="1" dirty="0"/>
              <a:t>80% of values </a:t>
            </a:r>
            <a:r>
              <a:rPr lang="en-GB" sz="1400" dirty="0"/>
              <a:t>lie between </a:t>
            </a:r>
            <a:r>
              <a:rPr lang="en-GB" sz="1400" b="1" dirty="0"/>
              <a:t>1 and 5 l/km/m</a:t>
            </a:r>
            <a:r>
              <a:rPr lang="en-GB" sz="1400" b="1" baseline="30000" dirty="0"/>
              <a:t>3</a:t>
            </a:r>
            <a:r>
              <a:rPr lang="en-GB" sz="1400" dirty="0"/>
              <a:t>.</a:t>
            </a:r>
          </a:p>
        </p:txBody>
      </p:sp>
      <p:sp>
        <p:nvSpPr>
          <p:cNvPr id="16" name="Rectangle 15">
            <a:extLst>
              <a:ext uri="{FF2B5EF4-FFF2-40B4-BE49-F238E27FC236}">
                <a16:creationId xmlns:a16="http://schemas.microsoft.com/office/drawing/2014/main" id="{58FB681F-5A46-4AAB-BBD5-EEBC30CE5E5C}"/>
              </a:ext>
            </a:extLst>
          </p:cNvPr>
          <p:cNvSpPr/>
          <p:nvPr/>
        </p:nvSpPr>
        <p:spPr>
          <a:xfrm>
            <a:off x="10753344" y="88931"/>
            <a:ext cx="978408"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World level</a:t>
            </a:r>
          </a:p>
        </p:txBody>
      </p:sp>
      <p:graphicFrame>
        <p:nvGraphicFramePr>
          <p:cNvPr id="18" name="Graphique 17">
            <a:extLst>
              <a:ext uri="{FF2B5EF4-FFF2-40B4-BE49-F238E27FC236}">
                <a16:creationId xmlns:a16="http://schemas.microsoft.com/office/drawing/2014/main" id="{F12D349B-4E49-4142-A518-5895B3CE8223}"/>
              </a:ext>
            </a:extLst>
          </p:cNvPr>
          <p:cNvGraphicFramePr>
            <a:graphicFrameLocks/>
          </p:cNvGraphicFramePr>
          <p:nvPr>
            <p:extLst>
              <p:ext uri="{D42A27DB-BD31-4B8C-83A1-F6EECF244321}">
                <p14:modId xmlns:p14="http://schemas.microsoft.com/office/powerpoint/2010/main" val="3039497616"/>
              </p:ext>
            </p:extLst>
          </p:nvPr>
        </p:nvGraphicFramePr>
        <p:xfrm>
          <a:off x="453603" y="2073289"/>
          <a:ext cx="5148000" cy="3600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9" name="Graphique 18">
            <a:extLst>
              <a:ext uri="{FF2B5EF4-FFF2-40B4-BE49-F238E27FC236}">
                <a16:creationId xmlns:a16="http://schemas.microsoft.com/office/drawing/2014/main" id="{683ED596-91FB-40B2-AD41-9BB03295E3F6}"/>
              </a:ext>
            </a:extLst>
          </p:cNvPr>
          <p:cNvGraphicFramePr>
            <a:graphicFrameLocks/>
          </p:cNvGraphicFramePr>
          <p:nvPr>
            <p:extLst>
              <p:ext uri="{D42A27DB-BD31-4B8C-83A1-F6EECF244321}">
                <p14:modId xmlns:p14="http://schemas.microsoft.com/office/powerpoint/2010/main" val="1946081475"/>
              </p:ext>
            </p:extLst>
          </p:nvPr>
        </p:nvGraphicFramePr>
        <p:xfrm>
          <a:off x="6680447" y="2128153"/>
          <a:ext cx="5148000" cy="3600000"/>
        </p:xfrm>
        <a:graphic>
          <a:graphicData uri="http://schemas.openxmlformats.org/drawingml/2006/chart">
            <c:chart xmlns:c="http://schemas.openxmlformats.org/drawingml/2006/chart" xmlns:r="http://schemas.openxmlformats.org/officeDocument/2006/relationships" r:id="rId7"/>
          </a:graphicData>
        </a:graphic>
      </p:graphicFrame>
      <p:sp>
        <p:nvSpPr>
          <p:cNvPr id="4" name="ZoneTexte 3">
            <a:extLst>
              <a:ext uri="{FF2B5EF4-FFF2-40B4-BE49-F238E27FC236}">
                <a16:creationId xmlns:a16="http://schemas.microsoft.com/office/drawing/2014/main" id="{6A0E7DE8-EB33-48CC-8558-584C9766A155}"/>
              </a:ext>
            </a:extLst>
          </p:cNvPr>
          <p:cNvSpPr txBox="1"/>
          <p:nvPr/>
        </p:nvSpPr>
        <p:spPr>
          <a:xfrm>
            <a:off x="2355075" y="6423660"/>
            <a:ext cx="3936441" cy="138499"/>
          </a:xfrm>
          <a:prstGeom prst="rect">
            <a:avLst/>
          </a:prstGeom>
          <a:noFill/>
        </p:spPr>
        <p:txBody>
          <a:bodyPr wrap="square" lIns="0" tIns="0" rIns="0" bIns="0" rtlCol="0">
            <a:spAutoFit/>
          </a:bodyPr>
          <a:lstStyle/>
          <a:p>
            <a:pPr>
              <a:lnSpc>
                <a:spcPct val="100000"/>
              </a:lnSpc>
              <a:spcAft>
                <a:spcPts val="600"/>
              </a:spcAft>
              <a:buSzPct val="100000"/>
            </a:pPr>
            <a:r>
              <a:rPr lang="fr-FR" sz="900" dirty="0"/>
              <a:t>*corresponds to </a:t>
            </a:r>
            <a:r>
              <a:rPr lang="fr-FR" sz="900" dirty="0" err="1"/>
              <a:t>Concrete</a:t>
            </a:r>
            <a:r>
              <a:rPr lang="fr-FR" sz="900" dirty="0"/>
              <a:t> Transport KPI #4 </a:t>
            </a:r>
            <a:r>
              <a:rPr lang="fr-FR" sz="900" dirty="0" err="1"/>
              <a:t>Average</a:t>
            </a:r>
            <a:r>
              <a:rPr lang="fr-FR" sz="900" dirty="0"/>
              <a:t> fuel </a:t>
            </a:r>
            <a:r>
              <a:rPr lang="fr-FR" sz="900" dirty="0" err="1"/>
              <a:t>consumption</a:t>
            </a:r>
            <a:r>
              <a:rPr lang="fr-FR" sz="900" dirty="0"/>
              <a:t> </a:t>
            </a:r>
          </a:p>
        </p:txBody>
      </p:sp>
    </p:spTree>
    <p:extLst>
      <p:ext uri="{BB962C8B-B14F-4D97-AF65-F5344CB8AC3E}">
        <p14:creationId xmlns:p14="http://schemas.microsoft.com/office/powerpoint/2010/main" val="1425187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4DC08919-1AD6-4A1D-82ED-1FFC08155E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8" name="Objet 7" hidden="1">
                        <a:extLst>
                          <a:ext uri="{FF2B5EF4-FFF2-40B4-BE49-F238E27FC236}">
                            <a16:creationId xmlns:a16="http://schemas.microsoft.com/office/drawing/2014/main" id="{4DC08919-1AD6-4A1D-82ED-1FFC08155EE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0C8D7339-FFB3-4C28-BCB9-BA812BD7C80D}"/>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8B2CD29C-36E9-4545-9BB0-F5621863D39B}"/>
              </a:ext>
            </a:extLst>
          </p:cNvPr>
          <p:cNvSpPr>
            <a:spLocks noGrp="1"/>
          </p:cNvSpPr>
          <p:nvPr>
            <p:ph type="title"/>
          </p:nvPr>
        </p:nvSpPr>
        <p:spPr/>
        <p:txBody>
          <a:bodyPr/>
          <a:lstStyle/>
          <a:p>
            <a:r>
              <a:rPr lang="en-GB" dirty="0"/>
              <a:t>Fuel consumption patterns can be observed at a country scale</a:t>
            </a:r>
            <a:br>
              <a:rPr lang="en-GB" dirty="0"/>
            </a:br>
            <a:r>
              <a:rPr lang="en-GB" sz="2200" dirty="0"/>
              <a:t>The reported type of fuel of all GNR pilot participants is diesel.</a:t>
            </a:r>
            <a:br>
              <a:rPr lang="en-GB" dirty="0"/>
            </a:br>
            <a:endParaRPr lang="en-GB" sz="2200" dirty="0"/>
          </a:p>
        </p:txBody>
      </p:sp>
      <p:sp>
        <p:nvSpPr>
          <p:cNvPr id="5" name="Espace réservé de la date 4">
            <a:extLst>
              <a:ext uri="{FF2B5EF4-FFF2-40B4-BE49-F238E27FC236}">
                <a16:creationId xmlns:a16="http://schemas.microsoft.com/office/drawing/2014/main" id="{FCAEDFAB-D1BA-4606-8F4F-1A6F2E84D477}"/>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380AC267-285D-45E7-80F9-1E7CBC90EDEA}"/>
              </a:ext>
            </a:extLst>
          </p:cNvPr>
          <p:cNvSpPr>
            <a:spLocks noGrp="1"/>
          </p:cNvSpPr>
          <p:nvPr>
            <p:ph type="sldNum" sz="quarter" idx="11"/>
          </p:nvPr>
        </p:nvSpPr>
        <p:spPr/>
        <p:txBody>
          <a:bodyPr/>
          <a:lstStyle/>
          <a:p>
            <a:fld id="{7870704B-CE94-48CC-AF30-84932A1262A7}" type="slidenum">
              <a:rPr lang="fr-FR" smtClean="0"/>
              <a:pPr/>
              <a:t>19</a:t>
            </a:fld>
            <a:endParaRPr lang="fr-FR" dirty="0"/>
          </a:p>
        </p:txBody>
      </p:sp>
      <p:graphicFrame>
        <p:nvGraphicFramePr>
          <p:cNvPr id="11" name="Tableau 10">
            <a:extLst>
              <a:ext uri="{FF2B5EF4-FFF2-40B4-BE49-F238E27FC236}">
                <a16:creationId xmlns:a16="http://schemas.microsoft.com/office/drawing/2014/main" id="{64C28D34-D414-4353-86EE-F3E945657185}"/>
              </a:ext>
            </a:extLst>
          </p:cNvPr>
          <p:cNvGraphicFramePr>
            <a:graphicFrameLocks noGrp="1"/>
          </p:cNvGraphicFramePr>
          <p:nvPr>
            <p:extLst>
              <p:ext uri="{D42A27DB-BD31-4B8C-83A1-F6EECF244321}">
                <p14:modId xmlns:p14="http://schemas.microsoft.com/office/powerpoint/2010/main" val="3773915882"/>
              </p:ext>
            </p:extLst>
          </p:nvPr>
        </p:nvGraphicFramePr>
        <p:xfrm>
          <a:off x="831603" y="1225425"/>
          <a:ext cx="4320000" cy="827999"/>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3605666383"/>
                    </a:ext>
                  </a:extLst>
                </a:gridCol>
                <a:gridCol w="864000">
                  <a:extLst>
                    <a:ext uri="{9D8B030D-6E8A-4147-A177-3AD203B41FA5}">
                      <a16:colId xmlns:a16="http://schemas.microsoft.com/office/drawing/2014/main" val="4135103201"/>
                    </a:ext>
                  </a:extLst>
                </a:gridCol>
                <a:gridCol w="864000">
                  <a:extLst>
                    <a:ext uri="{9D8B030D-6E8A-4147-A177-3AD203B41FA5}">
                      <a16:colId xmlns:a16="http://schemas.microsoft.com/office/drawing/2014/main" val="4276878264"/>
                    </a:ext>
                  </a:extLst>
                </a:gridCol>
                <a:gridCol w="864000">
                  <a:extLst>
                    <a:ext uri="{9D8B030D-6E8A-4147-A177-3AD203B41FA5}">
                      <a16:colId xmlns:a16="http://schemas.microsoft.com/office/drawing/2014/main" val="3288090762"/>
                    </a:ext>
                  </a:extLst>
                </a:gridCol>
                <a:gridCol w="864000">
                  <a:extLst>
                    <a:ext uri="{9D8B030D-6E8A-4147-A177-3AD203B41FA5}">
                      <a16:colId xmlns:a16="http://schemas.microsoft.com/office/drawing/2014/main" val="1746470674"/>
                    </a:ext>
                  </a:extLst>
                </a:gridCol>
              </a:tblGrid>
              <a:tr h="338577">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 </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43307530"/>
                  </a:ext>
                </a:extLst>
              </a:tr>
              <a:tr h="244711">
                <a:tc>
                  <a:txBody>
                    <a:bodyPr/>
                    <a:lstStyle/>
                    <a:p>
                      <a:pPr marL="0" algn="ctr" defTabSz="914400" rtl="0" eaLnBrk="1" fontAlgn="ctr" latinLnBrk="0" hangingPunct="1"/>
                      <a:r>
                        <a:rPr lang="fr-FR" sz="1000" b="0" i="1" u="none" strike="noStrike" kern="1200" dirty="0">
                          <a:solidFill>
                            <a:srgbClr val="000000"/>
                          </a:solidFill>
                          <a:effectLst/>
                          <a:latin typeface="Arial" panose="020B0604020202020204" pitchFamily="34" charset="0"/>
                          <a:ea typeface="+mn-ea"/>
                          <a:cs typeface="Arial" panose="020B0604020202020204" pitchFamily="34" charset="0"/>
                        </a:rPr>
                        <a:t>km/l</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km/l</a:t>
                      </a:r>
                      <a:endPar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km/l</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km/l</a:t>
                      </a:r>
                    </a:p>
                  </a:txBody>
                  <a:tcPr marL="9525" marR="9525" marT="9525" marB="0" anchor="ctr"/>
                </a:tc>
                <a:tc>
                  <a:txBody>
                    <a:bodyPr/>
                    <a:lstStyle/>
                    <a:p>
                      <a:pPr marL="0" algn="ctr" defTabSz="914400" rtl="0" eaLnBrk="1" fontAlgn="ctr" latinLnBrk="0" hangingPunct="1"/>
                      <a:r>
                        <a:rPr lang="fr-FR" sz="1000" b="0" i="1" u="none" strike="noStrike" kern="1200" dirty="0">
                          <a:solidFill>
                            <a:srgbClr val="000000"/>
                          </a:solidFill>
                          <a:effectLst/>
                          <a:latin typeface="Arial" panose="020B0604020202020204" pitchFamily="34" charset="0"/>
                          <a:ea typeface="+mn-ea"/>
                          <a:cs typeface="Arial" panose="020B0604020202020204" pitchFamily="34" charset="0"/>
                        </a:rPr>
                        <a:t>%</a:t>
                      </a:r>
                    </a:p>
                  </a:txBody>
                  <a:tcPr marL="9525" marR="9525" marT="9525" marB="0" anchor="ctr"/>
                </a:tc>
                <a:extLst>
                  <a:ext uri="{0D108BD9-81ED-4DB2-BD59-A6C34878D82A}">
                    <a16:rowId xmlns:a16="http://schemas.microsoft.com/office/drawing/2014/main" val="3068898696"/>
                  </a:ext>
                </a:extLst>
              </a:tr>
              <a:tr h="244711">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0.1</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1.4</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3</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1</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70</a:t>
                      </a:r>
                    </a:p>
                  </a:txBody>
                  <a:tcPr marL="9525" marR="9525" marT="9525" marB="0" anchor="ctr"/>
                </a:tc>
                <a:extLst>
                  <a:ext uri="{0D108BD9-81ED-4DB2-BD59-A6C34878D82A}">
                    <a16:rowId xmlns:a16="http://schemas.microsoft.com/office/drawing/2014/main" val="146870694"/>
                  </a:ext>
                </a:extLst>
              </a:tr>
            </a:tbl>
          </a:graphicData>
        </a:graphic>
      </p:graphicFrame>
      <p:graphicFrame>
        <p:nvGraphicFramePr>
          <p:cNvPr id="12" name="Tableau 11">
            <a:extLst>
              <a:ext uri="{FF2B5EF4-FFF2-40B4-BE49-F238E27FC236}">
                <a16:creationId xmlns:a16="http://schemas.microsoft.com/office/drawing/2014/main" id="{D9B4F707-8CF8-4449-87C1-E915A193C4D3}"/>
              </a:ext>
            </a:extLst>
          </p:cNvPr>
          <p:cNvGraphicFramePr>
            <a:graphicFrameLocks noGrp="1"/>
          </p:cNvGraphicFramePr>
          <p:nvPr>
            <p:extLst>
              <p:ext uri="{D42A27DB-BD31-4B8C-83A1-F6EECF244321}">
                <p14:modId xmlns:p14="http://schemas.microsoft.com/office/powerpoint/2010/main" val="737986330"/>
              </p:ext>
            </p:extLst>
          </p:nvPr>
        </p:nvGraphicFramePr>
        <p:xfrm>
          <a:off x="7058447" y="1225425"/>
          <a:ext cx="4320000" cy="827999"/>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3605666383"/>
                    </a:ext>
                  </a:extLst>
                </a:gridCol>
                <a:gridCol w="864000">
                  <a:extLst>
                    <a:ext uri="{9D8B030D-6E8A-4147-A177-3AD203B41FA5}">
                      <a16:colId xmlns:a16="http://schemas.microsoft.com/office/drawing/2014/main" val="4135103201"/>
                    </a:ext>
                  </a:extLst>
                </a:gridCol>
                <a:gridCol w="864000">
                  <a:extLst>
                    <a:ext uri="{9D8B030D-6E8A-4147-A177-3AD203B41FA5}">
                      <a16:colId xmlns:a16="http://schemas.microsoft.com/office/drawing/2014/main" val="4276878264"/>
                    </a:ext>
                  </a:extLst>
                </a:gridCol>
                <a:gridCol w="864000">
                  <a:extLst>
                    <a:ext uri="{9D8B030D-6E8A-4147-A177-3AD203B41FA5}">
                      <a16:colId xmlns:a16="http://schemas.microsoft.com/office/drawing/2014/main" val="3288090762"/>
                    </a:ext>
                  </a:extLst>
                </a:gridCol>
                <a:gridCol w="864000">
                  <a:extLst>
                    <a:ext uri="{9D8B030D-6E8A-4147-A177-3AD203B41FA5}">
                      <a16:colId xmlns:a16="http://schemas.microsoft.com/office/drawing/2014/main" val="1746470674"/>
                    </a:ext>
                  </a:extLst>
                </a:gridCol>
              </a:tblGrid>
              <a:tr h="338577">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 </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43307530"/>
                  </a:ext>
                </a:extLst>
              </a:tr>
              <a:tr h="244711">
                <a:tc>
                  <a:txBody>
                    <a:bodyPr/>
                    <a:lstStyle/>
                    <a:p>
                      <a:pPr algn="ctr" fontAlgn="ctr"/>
                      <a:r>
                        <a:rPr lang="en-GB" sz="1000" i="1" dirty="0"/>
                        <a:t>l/km/m</a:t>
                      </a:r>
                      <a:r>
                        <a:rPr lang="en-GB" sz="100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i="1" dirty="0"/>
                        <a:t>l/km/m</a:t>
                      </a:r>
                      <a:r>
                        <a:rPr lang="en-GB" sz="100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i="1" dirty="0"/>
                        <a:t>l/km/m</a:t>
                      </a:r>
                      <a:r>
                        <a:rPr lang="en-GB" sz="100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i="1" dirty="0"/>
                        <a:t>l/km/m</a:t>
                      </a:r>
                      <a:r>
                        <a:rPr lang="en-GB" sz="100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1" u="none" strike="noStrike" kern="1200" dirty="0">
                          <a:solidFill>
                            <a:srgbClr val="000000"/>
                          </a:solidFill>
                          <a:effectLst/>
                          <a:latin typeface="Arial" panose="020B0604020202020204" pitchFamily="34" charset="0"/>
                          <a:ea typeface="+mn-ea"/>
                          <a:cs typeface="Arial" panose="020B0604020202020204" pitchFamily="34" charset="0"/>
                        </a:rPr>
                        <a:t>%</a:t>
                      </a:r>
                    </a:p>
                  </a:txBody>
                  <a:tcPr marL="9525" marR="9525" marT="9525" marB="0" anchor="ctr"/>
                </a:tc>
                <a:extLst>
                  <a:ext uri="{0D108BD9-81ED-4DB2-BD59-A6C34878D82A}">
                    <a16:rowId xmlns:a16="http://schemas.microsoft.com/office/drawing/2014/main" val="3068898696"/>
                  </a:ext>
                </a:extLst>
              </a:tr>
              <a:tr h="244711">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0.4</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3.3</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13.8</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3</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70</a:t>
                      </a:r>
                    </a:p>
                  </a:txBody>
                  <a:tcPr marL="9525" marR="9525" marT="9525" marB="0" anchor="ctr"/>
                </a:tc>
                <a:extLst>
                  <a:ext uri="{0D108BD9-81ED-4DB2-BD59-A6C34878D82A}">
                    <a16:rowId xmlns:a16="http://schemas.microsoft.com/office/drawing/2014/main" val="3057588811"/>
                  </a:ext>
                </a:extLst>
              </a:tr>
            </a:tbl>
          </a:graphicData>
        </a:graphic>
      </p:graphicFrame>
      <p:sp>
        <p:nvSpPr>
          <p:cNvPr id="3" name="Espace réservé du pied de page 2">
            <a:extLst>
              <a:ext uri="{FF2B5EF4-FFF2-40B4-BE49-F238E27FC236}">
                <a16:creationId xmlns:a16="http://schemas.microsoft.com/office/drawing/2014/main" id="{E8588C80-6D93-4B78-9FD0-F65EC9F2DE7E}"/>
              </a:ext>
            </a:extLst>
          </p:cNvPr>
          <p:cNvSpPr>
            <a:spLocks noGrp="1"/>
          </p:cNvSpPr>
          <p:nvPr>
            <p:ph type="ftr" sz="quarter" idx="13"/>
          </p:nvPr>
        </p:nvSpPr>
        <p:spPr/>
        <p:txBody>
          <a:bodyPr/>
          <a:lstStyle/>
          <a:p>
            <a:pPr algn="l"/>
            <a:r>
              <a:rPr lang="en-US"/>
              <a:t>GCCA GNR Concrete Pilot Project</a:t>
            </a:r>
            <a:endParaRPr lang="fr-FR" dirty="0"/>
          </a:p>
        </p:txBody>
      </p:sp>
      <p:sp>
        <p:nvSpPr>
          <p:cNvPr id="14" name="Espace réservé du contenu 2">
            <a:extLst>
              <a:ext uri="{FF2B5EF4-FFF2-40B4-BE49-F238E27FC236}">
                <a16:creationId xmlns:a16="http://schemas.microsoft.com/office/drawing/2014/main" id="{3FF83B13-4245-4B69-911B-7D51FA7A2582}"/>
              </a:ext>
            </a:extLst>
          </p:cNvPr>
          <p:cNvSpPr>
            <a:spLocks noGrp="1"/>
          </p:cNvSpPr>
          <p:nvPr>
            <p:ph idx="1"/>
          </p:nvPr>
        </p:nvSpPr>
        <p:spPr>
          <a:xfrm>
            <a:off x="464293" y="5569464"/>
            <a:ext cx="5204988" cy="637080"/>
          </a:xfrm>
        </p:spPr>
        <p:txBody>
          <a:bodyPr/>
          <a:lstStyle/>
          <a:p>
            <a:pPr marL="342900" indent="-342900">
              <a:spcAft>
                <a:spcPts val="300"/>
              </a:spcAft>
              <a:buFont typeface="Arial" panose="020B0604020202020204" pitchFamily="34" charset="0"/>
              <a:buChar char="•"/>
            </a:pPr>
            <a:r>
              <a:rPr lang="en-GB" sz="1400" dirty="0"/>
              <a:t>Around </a:t>
            </a:r>
            <a:r>
              <a:rPr lang="en-GB" sz="1400" b="1" dirty="0"/>
              <a:t>70% of values </a:t>
            </a:r>
            <a:r>
              <a:rPr lang="en-GB" sz="1400" dirty="0"/>
              <a:t>lie between </a:t>
            </a:r>
            <a:r>
              <a:rPr lang="en-GB" sz="1400" b="1" dirty="0"/>
              <a:t>0 and 2 km/l</a:t>
            </a:r>
            <a:r>
              <a:rPr lang="en-GB" sz="1400" dirty="0"/>
              <a:t>.</a:t>
            </a:r>
          </a:p>
          <a:p>
            <a:pPr marL="342900" indent="-342900">
              <a:spcAft>
                <a:spcPts val="300"/>
              </a:spcAft>
              <a:buFont typeface="Arial" panose="020B0604020202020204" pitchFamily="34" charset="0"/>
              <a:buChar char="•"/>
            </a:pPr>
            <a:r>
              <a:rPr lang="en-GB" sz="1400" dirty="0"/>
              <a:t>Almost </a:t>
            </a:r>
            <a:r>
              <a:rPr lang="en-GB" sz="1400" b="1" dirty="0"/>
              <a:t>30% of the sample data </a:t>
            </a:r>
            <a:r>
              <a:rPr lang="en-GB" sz="1400" dirty="0"/>
              <a:t>are based on the </a:t>
            </a:r>
            <a:r>
              <a:rPr lang="en-GB" sz="1400" b="1" dirty="0"/>
              <a:t>estimated value of 2.6 km/l </a:t>
            </a:r>
            <a:r>
              <a:rPr lang="en-GB" sz="1400" dirty="0"/>
              <a:t>average fuel consumption, that is used for several countries by one contributor.</a:t>
            </a:r>
            <a:endParaRPr lang="fr-FR" sz="1400" dirty="0"/>
          </a:p>
          <a:p>
            <a:pPr marL="285750" indent="-285750">
              <a:lnSpc>
                <a:spcPct val="100000"/>
              </a:lnSpc>
              <a:spcBef>
                <a:spcPts val="600"/>
              </a:spcBef>
              <a:buFont typeface="Arial" panose="020B0604020202020204" pitchFamily="34" charset="0"/>
              <a:buChar char="•"/>
            </a:pPr>
            <a:endParaRPr lang="en-GB" sz="1400" dirty="0"/>
          </a:p>
          <a:p>
            <a:pPr marL="285750" indent="-285750">
              <a:lnSpc>
                <a:spcPct val="100000"/>
              </a:lnSpc>
              <a:spcBef>
                <a:spcPts val="600"/>
              </a:spcBef>
              <a:buFont typeface="Arial" panose="020B0604020202020204" pitchFamily="34" charset="0"/>
              <a:buChar char="•"/>
            </a:pPr>
            <a:endParaRPr lang="en-GB" sz="1400" dirty="0"/>
          </a:p>
          <a:p>
            <a:pPr marL="285750" indent="-285750">
              <a:lnSpc>
                <a:spcPct val="100000"/>
              </a:lnSpc>
              <a:spcBef>
                <a:spcPts val="600"/>
              </a:spcBef>
              <a:buFont typeface="Arial" panose="020B0604020202020204" pitchFamily="34" charset="0"/>
              <a:buChar char="•"/>
            </a:pPr>
            <a:endParaRPr lang="en-GB" sz="1400" dirty="0"/>
          </a:p>
          <a:p>
            <a:pPr marL="285750" indent="-285750">
              <a:lnSpc>
                <a:spcPct val="100000"/>
              </a:lnSpc>
              <a:spcBef>
                <a:spcPts val="600"/>
              </a:spcBef>
              <a:buFont typeface="Arial" panose="020B0604020202020204" pitchFamily="34" charset="0"/>
              <a:buChar char="•"/>
            </a:pPr>
            <a:endParaRPr lang="en-GB" sz="1400" dirty="0"/>
          </a:p>
        </p:txBody>
      </p:sp>
      <p:sp>
        <p:nvSpPr>
          <p:cNvPr id="15" name="Espace réservé du contenu 2">
            <a:extLst>
              <a:ext uri="{FF2B5EF4-FFF2-40B4-BE49-F238E27FC236}">
                <a16:creationId xmlns:a16="http://schemas.microsoft.com/office/drawing/2014/main" id="{B64BAF40-92FB-40BE-9C7E-FC8EC7AC341A}"/>
              </a:ext>
            </a:extLst>
          </p:cNvPr>
          <p:cNvSpPr txBox="1">
            <a:spLocks/>
          </p:cNvSpPr>
          <p:nvPr/>
        </p:nvSpPr>
        <p:spPr>
          <a:xfrm>
            <a:off x="6945364" y="5642430"/>
            <a:ext cx="4801360" cy="491148"/>
          </a:xfrm>
          <a:prstGeom prst="rect">
            <a:avLst/>
          </a:prstGeom>
        </p:spPr>
        <p:txBody>
          <a:bodyPr vert="horz" lIns="0" tIns="0" rIns="0" bIns="0" rtlCol="0">
            <a:noAutofit/>
          </a:bodyPr>
          <a:lstStyle>
            <a:lvl1pPr marL="730250" indent="-730250" algn="l" defTabSz="914400" rtl="0" eaLnBrk="1" latinLnBrk="0" hangingPunct="1">
              <a:lnSpc>
                <a:spcPct val="90000"/>
              </a:lnSpc>
              <a:spcBef>
                <a:spcPts val="0"/>
              </a:spcBef>
              <a:spcAft>
                <a:spcPts val="600"/>
              </a:spcAft>
              <a:buClr>
                <a:schemeClr val="accent1"/>
              </a:buClr>
              <a:buFont typeface="+mj-lt"/>
              <a:buAutoNum type="arabicPeriod"/>
              <a:tabLst>
                <a:tab pos="10623550" algn="r"/>
              </a:tabLst>
              <a:defRPr sz="2800" b="0" kern="1200">
                <a:solidFill>
                  <a:schemeClr val="tx1"/>
                </a:solidFill>
                <a:latin typeface="+mn-lt"/>
                <a:ea typeface="+mn-ea"/>
                <a:cs typeface="+mn-cs"/>
              </a:defRPr>
            </a:lvl1pPr>
            <a:lvl2pPr marL="730250" indent="0" algn="l" defTabSz="914400" rtl="0" eaLnBrk="1" latinLnBrk="0" hangingPunct="1">
              <a:lnSpc>
                <a:spcPct val="100000"/>
              </a:lnSpc>
              <a:spcBef>
                <a:spcPts val="0"/>
              </a:spcBef>
              <a:spcAft>
                <a:spcPts val="600"/>
              </a:spcAft>
              <a:buClr>
                <a:schemeClr val="accent4"/>
              </a:buClr>
              <a:buFont typeface="+mj-lt"/>
              <a:buNone/>
              <a:tabLst>
                <a:tab pos="10623550" algn="r"/>
              </a:tabLst>
              <a:defRPr sz="1600" kern="1200">
                <a:solidFill>
                  <a:schemeClr val="tx1"/>
                </a:solidFill>
                <a:latin typeface="+mn-lt"/>
                <a:ea typeface="+mn-ea"/>
                <a:cs typeface="+mn-cs"/>
              </a:defRPr>
            </a:lvl2pPr>
            <a:lvl3pPr marL="9144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3pPr>
            <a:lvl4pPr marL="10969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4pPr>
            <a:lvl5pPr marL="1279525"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5pPr>
            <a:lvl6pPr marL="1462088"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6pPr>
            <a:lvl7pPr marL="164465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7pPr>
            <a:lvl8pPr marL="18288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8pPr>
            <a:lvl9pPr marL="20113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9pPr>
          </a:lstStyle>
          <a:p>
            <a:pPr marL="342900" indent="-342900">
              <a:buFont typeface="Arial" panose="020B0604020202020204" pitchFamily="34" charset="0"/>
              <a:buChar char="•"/>
            </a:pPr>
            <a:r>
              <a:rPr lang="en-GB" sz="1400" dirty="0"/>
              <a:t>Around </a:t>
            </a:r>
            <a:r>
              <a:rPr lang="en-GB" sz="1400" b="1" dirty="0"/>
              <a:t>70% of values </a:t>
            </a:r>
            <a:r>
              <a:rPr lang="en-GB" sz="1400" dirty="0"/>
              <a:t>lie between </a:t>
            </a:r>
            <a:r>
              <a:rPr lang="en-GB" sz="1400" b="1" dirty="0"/>
              <a:t>1 and 5 l/km/m</a:t>
            </a:r>
            <a:r>
              <a:rPr lang="en-GB" sz="1400" b="1" baseline="30000" dirty="0"/>
              <a:t>3</a:t>
            </a:r>
            <a:r>
              <a:rPr lang="en-GB" sz="1400" dirty="0"/>
              <a:t>.</a:t>
            </a:r>
          </a:p>
        </p:txBody>
      </p:sp>
      <p:sp>
        <p:nvSpPr>
          <p:cNvPr id="16" name="Rectangle 15">
            <a:extLst>
              <a:ext uri="{FF2B5EF4-FFF2-40B4-BE49-F238E27FC236}">
                <a16:creationId xmlns:a16="http://schemas.microsoft.com/office/drawing/2014/main" id="{58FB681F-5A46-4AAB-BBD5-EEBC30CE5E5C}"/>
              </a:ext>
            </a:extLst>
          </p:cNvPr>
          <p:cNvSpPr/>
          <p:nvPr/>
        </p:nvSpPr>
        <p:spPr>
          <a:xfrm>
            <a:off x="10753344" y="88931"/>
            <a:ext cx="104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Europe level</a:t>
            </a:r>
          </a:p>
        </p:txBody>
      </p:sp>
      <p:graphicFrame>
        <p:nvGraphicFramePr>
          <p:cNvPr id="21" name="Graphique 20">
            <a:extLst>
              <a:ext uri="{FF2B5EF4-FFF2-40B4-BE49-F238E27FC236}">
                <a16:creationId xmlns:a16="http://schemas.microsoft.com/office/drawing/2014/main" id="{7D5FF19C-4A9E-40AA-BBC2-37CBAB5583FD}"/>
              </a:ext>
            </a:extLst>
          </p:cNvPr>
          <p:cNvGraphicFramePr>
            <a:graphicFrameLocks/>
          </p:cNvGraphicFramePr>
          <p:nvPr>
            <p:extLst>
              <p:ext uri="{D42A27DB-BD31-4B8C-83A1-F6EECF244321}">
                <p14:modId xmlns:p14="http://schemas.microsoft.com/office/powerpoint/2010/main" val="1535705663"/>
              </p:ext>
            </p:extLst>
          </p:nvPr>
        </p:nvGraphicFramePr>
        <p:xfrm>
          <a:off x="6680447" y="2128153"/>
          <a:ext cx="5148000" cy="3600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2" name="Graphique 21">
            <a:extLst>
              <a:ext uri="{FF2B5EF4-FFF2-40B4-BE49-F238E27FC236}">
                <a16:creationId xmlns:a16="http://schemas.microsoft.com/office/drawing/2014/main" id="{D27253AB-BFF2-492E-BD74-B333C7A81D46}"/>
              </a:ext>
            </a:extLst>
          </p:cNvPr>
          <p:cNvGraphicFramePr>
            <a:graphicFrameLocks/>
          </p:cNvGraphicFramePr>
          <p:nvPr>
            <p:extLst>
              <p:ext uri="{D42A27DB-BD31-4B8C-83A1-F6EECF244321}">
                <p14:modId xmlns:p14="http://schemas.microsoft.com/office/powerpoint/2010/main" val="1537894515"/>
              </p:ext>
            </p:extLst>
          </p:nvPr>
        </p:nvGraphicFramePr>
        <p:xfrm>
          <a:off x="453603" y="2073289"/>
          <a:ext cx="5148000" cy="3600000"/>
        </p:xfrm>
        <a:graphic>
          <a:graphicData uri="http://schemas.openxmlformats.org/drawingml/2006/chart">
            <c:chart xmlns:c="http://schemas.openxmlformats.org/drawingml/2006/chart" xmlns:r="http://schemas.openxmlformats.org/officeDocument/2006/relationships" r:id="rId7"/>
          </a:graphicData>
        </a:graphic>
      </p:graphicFrame>
      <p:sp>
        <p:nvSpPr>
          <p:cNvPr id="17" name="ZoneTexte 16">
            <a:extLst>
              <a:ext uri="{FF2B5EF4-FFF2-40B4-BE49-F238E27FC236}">
                <a16:creationId xmlns:a16="http://schemas.microsoft.com/office/drawing/2014/main" id="{A502D35B-4AAA-4EB1-97D7-C199B5A180BF}"/>
              </a:ext>
            </a:extLst>
          </p:cNvPr>
          <p:cNvSpPr txBox="1"/>
          <p:nvPr/>
        </p:nvSpPr>
        <p:spPr>
          <a:xfrm>
            <a:off x="2355075" y="6423660"/>
            <a:ext cx="3936441" cy="138499"/>
          </a:xfrm>
          <a:prstGeom prst="rect">
            <a:avLst/>
          </a:prstGeom>
          <a:noFill/>
        </p:spPr>
        <p:txBody>
          <a:bodyPr wrap="square" lIns="0" tIns="0" rIns="0" bIns="0" rtlCol="0">
            <a:spAutoFit/>
          </a:bodyPr>
          <a:lstStyle/>
          <a:p>
            <a:pPr>
              <a:lnSpc>
                <a:spcPct val="100000"/>
              </a:lnSpc>
              <a:spcAft>
                <a:spcPts val="600"/>
              </a:spcAft>
              <a:buSzPct val="100000"/>
            </a:pPr>
            <a:r>
              <a:rPr lang="fr-FR" sz="900" dirty="0"/>
              <a:t>*corresponds to </a:t>
            </a:r>
            <a:r>
              <a:rPr lang="fr-FR" sz="900" dirty="0" err="1"/>
              <a:t>Concrete</a:t>
            </a:r>
            <a:r>
              <a:rPr lang="fr-FR" sz="900" dirty="0"/>
              <a:t> Transport KPI #4 </a:t>
            </a:r>
            <a:r>
              <a:rPr lang="fr-FR" sz="900" dirty="0" err="1"/>
              <a:t>Average</a:t>
            </a:r>
            <a:r>
              <a:rPr lang="fr-FR" sz="900" dirty="0"/>
              <a:t> fuel </a:t>
            </a:r>
            <a:r>
              <a:rPr lang="fr-FR" sz="900" dirty="0" err="1"/>
              <a:t>consumption</a:t>
            </a:r>
            <a:r>
              <a:rPr lang="fr-FR" sz="900" dirty="0"/>
              <a:t> </a:t>
            </a:r>
          </a:p>
        </p:txBody>
      </p:sp>
    </p:spTree>
    <p:extLst>
      <p:ext uri="{BB962C8B-B14F-4D97-AF65-F5344CB8AC3E}">
        <p14:creationId xmlns:p14="http://schemas.microsoft.com/office/powerpoint/2010/main" val="3791220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4DC08919-1AD6-4A1D-82ED-1FFC08155E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8" name="Objet 7" hidden="1">
                        <a:extLst>
                          <a:ext uri="{FF2B5EF4-FFF2-40B4-BE49-F238E27FC236}">
                            <a16:creationId xmlns:a16="http://schemas.microsoft.com/office/drawing/2014/main" id="{4DC08919-1AD6-4A1D-82ED-1FFC08155EE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0C8D7339-FFB3-4C28-BCB9-BA812BD7C80D}"/>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8B2CD29C-36E9-4545-9BB0-F5621863D39B}"/>
              </a:ext>
            </a:extLst>
          </p:cNvPr>
          <p:cNvSpPr>
            <a:spLocks noGrp="1"/>
          </p:cNvSpPr>
          <p:nvPr>
            <p:ph type="title"/>
          </p:nvPr>
        </p:nvSpPr>
        <p:spPr/>
        <p:txBody>
          <a:bodyPr/>
          <a:lstStyle/>
          <a:p>
            <a:r>
              <a:rPr lang="en-GB" dirty="0"/>
              <a:t>Fuel consumption patterns can be observed at a country scale</a:t>
            </a:r>
            <a:br>
              <a:rPr lang="en-GB" dirty="0"/>
            </a:br>
            <a:r>
              <a:rPr lang="en-GB" sz="2200" dirty="0"/>
              <a:t>The reported type of fuel of all GNR pilot participants is diesel.</a:t>
            </a:r>
            <a:br>
              <a:rPr lang="en-GB" dirty="0"/>
            </a:br>
            <a:endParaRPr lang="en-GB" sz="2200" dirty="0"/>
          </a:p>
        </p:txBody>
      </p:sp>
      <p:sp>
        <p:nvSpPr>
          <p:cNvPr id="5" name="Espace réservé de la date 4">
            <a:extLst>
              <a:ext uri="{FF2B5EF4-FFF2-40B4-BE49-F238E27FC236}">
                <a16:creationId xmlns:a16="http://schemas.microsoft.com/office/drawing/2014/main" id="{FCAEDFAB-D1BA-4606-8F4F-1A6F2E84D477}"/>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380AC267-285D-45E7-80F9-1E7CBC90EDEA}"/>
              </a:ext>
            </a:extLst>
          </p:cNvPr>
          <p:cNvSpPr>
            <a:spLocks noGrp="1"/>
          </p:cNvSpPr>
          <p:nvPr>
            <p:ph type="sldNum" sz="quarter" idx="11"/>
          </p:nvPr>
        </p:nvSpPr>
        <p:spPr/>
        <p:txBody>
          <a:bodyPr/>
          <a:lstStyle/>
          <a:p>
            <a:fld id="{7870704B-CE94-48CC-AF30-84932A1262A7}" type="slidenum">
              <a:rPr lang="fr-FR" smtClean="0"/>
              <a:pPr/>
              <a:t>20</a:t>
            </a:fld>
            <a:endParaRPr lang="fr-FR" dirty="0"/>
          </a:p>
        </p:txBody>
      </p:sp>
      <p:graphicFrame>
        <p:nvGraphicFramePr>
          <p:cNvPr id="11" name="Tableau 10">
            <a:extLst>
              <a:ext uri="{FF2B5EF4-FFF2-40B4-BE49-F238E27FC236}">
                <a16:creationId xmlns:a16="http://schemas.microsoft.com/office/drawing/2014/main" id="{64C28D34-D414-4353-86EE-F3E945657185}"/>
              </a:ext>
            </a:extLst>
          </p:cNvPr>
          <p:cNvGraphicFramePr>
            <a:graphicFrameLocks noGrp="1"/>
          </p:cNvGraphicFramePr>
          <p:nvPr>
            <p:extLst>
              <p:ext uri="{D42A27DB-BD31-4B8C-83A1-F6EECF244321}">
                <p14:modId xmlns:p14="http://schemas.microsoft.com/office/powerpoint/2010/main" val="4168348494"/>
              </p:ext>
            </p:extLst>
          </p:nvPr>
        </p:nvGraphicFramePr>
        <p:xfrm>
          <a:off x="831603" y="1225425"/>
          <a:ext cx="4320000" cy="827999"/>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3605666383"/>
                    </a:ext>
                  </a:extLst>
                </a:gridCol>
                <a:gridCol w="864000">
                  <a:extLst>
                    <a:ext uri="{9D8B030D-6E8A-4147-A177-3AD203B41FA5}">
                      <a16:colId xmlns:a16="http://schemas.microsoft.com/office/drawing/2014/main" val="4135103201"/>
                    </a:ext>
                  </a:extLst>
                </a:gridCol>
                <a:gridCol w="864000">
                  <a:extLst>
                    <a:ext uri="{9D8B030D-6E8A-4147-A177-3AD203B41FA5}">
                      <a16:colId xmlns:a16="http://schemas.microsoft.com/office/drawing/2014/main" val="4276878264"/>
                    </a:ext>
                  </a:extLst>
                </a:gridCol>
                <a:gridCol w="864000">
                  <a:extLst>
                    <a:ext uri="{9D8B030D-6E8A-4147-A177-3AD203B41FA5}">
                      <a16:colId xmlns:a16="http://schemas.microsoft.com/office/drawing/2014/main" val="3288090762"/>
                    </a:ext>
                  </a:extLst>
                </a:gridCol>
                <a:gridCol w="864000">
                  <a:extLst>
                    <a:ext uri="{9D8B030D-6E8A-4147-A177-3AD203B41FA5}">
                      <a16:colId xmlns:a16="http://schemas.microsoft.com/office/drawing/2014/main" val="1746470674"/>
                    </a:ext>
                  </a:extLst>
                </a:gridCol>
              </a:tblGrid>
              <a:tr h="338577">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 </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43307530"/>
                  </a:ext>
                </a:extLst>
              </a:tr>
              <a:tr h="244711">
                <a:tc>
                  <a:txBody>
                    <a:bodyPr/>
                    <a:lstStyle/>
                    <a:p>
                      <a:pPr marL="0" algn="ctr" defTabSz="914400" rtl="0" eaLnBrk="1" fontAlgn="ctr" latinLnBrk="0" hangingPunct="1"/>
                      <a:r>
                        <a:rPr lang="fr-FR" sz="1000" b="0" i="1" u="none" strike="noStrike" kern="1200" dirty="0">
                          <a:solidFill>
                            <a:srgbClr val="000000"/>
                          </a:solidFill>
                          <a:effectLst/>
                          <a:latin typeface="Arial" panose="020B0604020202020204" pitchFamily="34" charset="0"/>
                          <a:ea typeface="+mn-ea"/>
                          <a:cs typeface="Arial" panose="020B0604020202020204" pitchFamily="34" charset="0"/>
                        </a:rPr>
                        <a:t>km/l</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km/l</a:t>
                      </a:r>
                      <a:endPar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km/l</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km/l</a:t>
                      </a:r>
                    </a:p>
                  </a:txBody>
                  <a:tcPr marL="9525" marR="9525" marT="9525" marB="0" anchor="ctr"/>
                </a:tc>
                <a:tc>
                  <a:txBody>
                    <a:bodyPr/>
                    <a:lstStyle/>
                    <a:p>
                      <a:pPr marL="0" algn="ctr" defTabSz="914400" rtl="0" eaLnBrk="1" fontAlgn="ctr" latinLnBrk="0" hangingPunct="1"/>
                      <a:r>
                        <a:rPr lang="fr-FR" sz="1000" b="0" i="1" u="none" strike="noStrike" kern="1200" dirty="0">
                          <a:solidFill>
                            <a:srgbClr val="000000"/>
                          </a:solidFill>
                          <a:effectLst/>
                          <a:latin typeface="Arial" panose="020B0604020202020204" pitchFamily="34" charset="0"/>
                          <a:ea typeface="+mn-ea"/>
                          <a:cs typeface="Arial" panose="020B0604020202020204" pitchFamily="34" charset="0"/>
                        </a:rPr>
                        <a:t>%</a:t>
                      </a:r>
                    </a:p>
                  </a:txBody>
                  <a:tcPr marL="9525" marR="9525" marT="9525" marB="0" anchor="ctr"/>
                </a:tc>
                <a:extLst>
                  <a:ext uri="{0D108BD9-81ED-4DB2-BD59-A6C34878D82A}">
                    <a16:rowId xmlns:a16="http://schemas.microsoft.com/office/drawing/2014/main" val="3068898696"/>
                  </a:ext>
                </a:extLst>
              </a:tr>
              <a:tr h="244711">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0.2</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0.8</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3</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0.7</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100</a:t>
                      </a:r>
                    </a:p>
                  </a:txBody>
                  <a:tcPr marL="9525" marR="9525" marT="9525" marB="0" anchor="ctr"/>
                </a:tc>
                <a:extLst>
                  <a:ext uri="{0D108BD9-81ED-4DB2-BD59-A6C34878D82A}">
                    <a16:rowId xmlns:a16="http://schemas.microsoft.com/office/drawing/2014/main" val="146870694"/>
                  </a:ext>
                </a:extLst>
              </a:tr>
            </a:tbl>
          </a:graphicData>
        </a:graphic>
      </p:graphicFrame>
      <p:graphicFrame>
        <p:nvGraphicFramePr>
          <p:cNvPr id="12" name="Tableau 11">
            <a:extLst>
              <a:ext uri="{FF2B5EF4-FFF2-40B4-BE49-F238E27FC236}">
                <a16:creationId xmlns:a16="http://schemas.microsoft.com/office/drawing/2014/main" id="{D9B4F707-8CF8-4449-87C1-E915A193C4D3}"/>
              </a:ext>
            </a:extLst>
          </p:cNvPr>
          <p:cNvGraphicFramePr>
            <a:graphicFrameLocks noGrp="1"/>
          </p:cNvGraphicFramePr>
          <p:nvPr>
            <p:extLst>
              <p:ext uri="{D42A27DB-BD31-4B8C-83A1-F6EECF244321}">
                <p14:modId xmlns:p14="http://schemas.microsoft.com/office/powerpoint/2010/main" val="4275506854"/>
              </p:ext>
            </p:extLst>
          </p:nvPr>
        </p:nvGraphicFramePr>
        <p:xfrm>
          <a:off x="7058447" y="1225425"/>
          <a:ext cx="4320000" cy="827999"/>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3605666383"/>
                    </a:ext>
                  </a:extLst>
                </a:gridCol>
                <a:gridCol w="864000">
                  <a:extLst>
                    <a:ext uri="{9D8B030D-6E8A-4147-A177-3AD203B41FA5}">
                      <a16:colId xmlns:a16="http://schemas.microsoft.com/office/drawing/2014/main" val="4135103201"/>
                    </a:ext>
                  </a:extLst>
                </a:gridCol>
                <a:gridCol w="864000">
                  <a:extLst>
                    <a:ext uri="{9D8B030D-6E8A-4147-A177-3AD203B41FA5}">
                      <a16:colId xmlns:a16="http://schemas.microsoft.com/office/drawing/2014/main" val="4276878264"/>
                    </a:ext>
                  </a:extLst>
                </a:gridCol>
                <a:gridCol w="864000">
                  <a:extLst>
                    <a:ext uri="{9D8B030D-6E8A-4147-A177-3AD203B41FA5}">
                      <a16:colId xmlns:a16="http://schemas.microsoft.com/office/drawing/2014/main" val="3288090762"/>
                    </a:ext>
                  </a:extLst>
                </a:gridCol>
                <a:gridCol w="864000">
                  <a:extLst>
                    <a:ext uri="{9D8B030D-6E8A-4147-A177-3AD203B41FA5}">
                      <a16:colId xmlns:a16="http://schemas.microsoft.com/office/drawing/2014/main" val="1746470674"/>
                    </a:ext>
                  </a:extLst>
                </a:gridCol>
              </a:tblGrid>
              <a:tr h="338577">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 </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43307530"/>
                  </a:ext>
                </a:extLst>
              </a:tr>
              <a:tr h="244711">
                <a:tc>
                  <a:txBody>
                    <a:bodyPr/>
                    <a:lstStyle/>
                    <a:p>
                      <a:pPr algn="ctr" fontAlgn="ctr"/>
                      <a:r>
                        <a:rPr lang="en-GB" sz="1000" i="1" dirty="0"/>
                        <a:t>l/km/m</a:t>
                      </a:r>
                      <a:r>
                        <a:rPr lang="en-GB" sz="100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i="1" dirty="0"/>
                        <a:t>l/km/m</a:t>
                      </a:r>
                      <a:r>
                        <a:rPr lang="en-GB" sz="100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i="1" dirty="0"/>
                        <a:t>l/km/m</a:t>
                      </a:r>
                      <a:r>
                        <a:rPr lang="en-GB" sz="100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i="1" dirty="0"/>
                        <a:t>l/km/m</a:t>
                      </a:r>
                      <a:r>
                        <a:rPr lang="en-GB" sz="100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1" u="none" strike="noStrike" kern="1200" dirty="0">
                          <a:solidFill>
                            <a:srgbClr val="000000"/>
                          </a:solidFill>
                          <a:effectLst/>
                          <a:latin typeface="Arial" panose="020B0604020202020204" pitchFamily="34" charset="0"/>
                          <a:ea typeface="+mn-ea"/>
                          <a:cs typeface="Arial" panose="020B0604020202020204" pitchFamily="34" charset="0"/>
                        </a:rPr>
                        <a:t>%</a:t>
                      </a:r>
                    </a:p>
                  </a:txBody>
                  <a:tcPr marL="9525" marR="9525" marT="9525" marB="0" anchor="ctr"/>
                </a:tc>
                <a:extLst>
                  <a:ext uri="{0D108BD9-81ED-4DB2-BD59-A6C34878D82A}">
                    <a16:rowId xmlns:a16="http://schemas.microsoft.com/office/drawing/2014/main" val="3068898696"/>
                  </a:ext>
                </a:extLst>
              </a:tr>
              <a:tr h="244711">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1.3</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7.5</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12.5</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3</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100</a:t>
                      </a:r>
                    </a:p>
                  </a:txBody>
                  <a:tcPr marL="9525" marR="9525" marT="9525" marB="0" anchor="ctr"/>
                </a:tc>
                <a:extLst>
                  <a:ext uri="{0D108BD9-81ED-4DB2-BD59-A6C34878D82A}">
                    <a16:rowId xmlns:a16="http://schemas.microsoft.com/office/drawing/2014/main" val="3057588811"/>
                  </a:ext>
                </a:extLst>
              </a:tr>
            </a:tbl>
          </a:graphicData>
        </a:graphic>
      </p:graphicFrame>
      <p:sp>
        <p:nvSpPr>
          <p:cNvPr id="3" name="Espace réservé du pied de page 2">
            <a:extLst>
              <a:ext uri="{FF2B5EF4-FFF2-40B4-BE49-F238E27FC236}">
                <a16:creationId xmlns:a16="http://schemas.microsoft.com/office/drawing/2014/main" id="{E8588C80-6D93-4B78-9FD0-F65EC9F2DE7E}"/>
              </a:ext>
            </a:extLst>
          </p:cNvPr>
          <p:cNvSpPr>
            <a:spLocks noGrp="1"/>
          </p:cNvSpPr>
          <p:nvPr>
            <p:ph type="ftr" sz="quarter" idx="13"/>
          </p:nvPr>
        </p:nvSpPr>
        <p:spPr/>
        <p:txBody>
          <a:bodyPr/>
          <a:lstStyle/>
          <a:p>
            <a:pPr algn="l"/>
            <a:r>
              <a:rPr lang="en-US"/>
              <a:t>GCCA GNR Concrete Pilot Project</a:t>
            </a:r>
            <a:endParaRPr lang="fr-FR" dirty="0"/>
          </a:p>
        </p:txBody>
      </p:sp>
      <p:sp>
        <p:nvSpPr>
          <p:cNvPr id="14" name="Espace réservé du contenu 2">
            <a:extLst>
              <a:ext uri="{FF2B5EF4-FFF2-40B4-BE49-F238E27FC236}">
                <a16:creationId xmlns:a16="http://schemas.microsoft.com/office/drawing/2014/main" id="{3FF83B13-4245-4B69-911B-7D51FA7A2582}"/>
              </a:ext>
            </a:extLst>
          </p:cNvPr>
          <p:cNvSpPr>
            <a:spLocks noGrp="1"/>
          </p:cNvSpPr>
          <p:nvPr>
            <p:ph idx="1"/>
          </p:nvPr>
        </p:nvSpPr>
        <p:spPr>
          <a:xfrm>
            <a:off x="597603" y="5569464"/>
            <a:ext cx="4860000" cy="856536"/>
          </a:xfrm>
        </p:spPr>
        <p:txBody>
          <a:bodyPr/>
          <a:lstStyle/>
          <a:p>
            <a:pPr marL="342900" indent="-342900">
              <a:spcAft>
                <a:spcPts val="300"/>
              </a:spcAft>
              <a:buFont typeface="Arial" panose="020B0604020202020204" pitchFamily="34" charset="0"/>
              <a:buChar char="•"/>
            </a:pPr>
            <a:r>
              <a:rPr lang="en-GB" sz="1400" dirty="0"/>
              <a:t>Around </a:t>
            </a:r>
            <a:r>
              <a:rPr lang="en-GB" sz="1400" b="1" dirty="0"/>
              <a:t>70% of values </a:t>
            </a:r>
            <a:r>
              <a:rPr lang="en-GB" sz="1400" dirty="0"/>
              <a:t>lie between </a:t>
            </a:r>
            <a:r>
              <a:rPr lang="en-GB" sz="1400" b="1" dirty="0"/>
              <a:t>0 and 1 km/l</a:t>
            </a:r>
            <a:r>
              <a:rPr lang="en-GB" sz="1400" dirty="0"/>
              <a:t>.</a:t>
            </a:r>
          </a:p>
          <a:p>
            <a:pPr marL="342900" indent="-342900">
              <a:spcAft>
                <a:spcPts val="300"/>
              </a:spcAft>
              <a:buFont typeface="Arial" panose="020B0604020202020204" pitchFamily="34" charset="0"/>
              <a:buChar char="•"/>
            </a:pPr>
            <a:r>
              <a:rPr lang="en-GB" sz="1400" dirty="0"/>
              <a:t>The chart picture </a:t>
            </a:r>
            <a:r>
              <a:rPr lang="en-GB" sz="1400" b="1" dirty="0"/>
              <a:t>100% of coverage </a:t>
            </a:r>
            <a:r>
              <a:rPr lang="en-GB" sz="1400" dirty="0"/>
              <a:t>in North America.</a:t>
            </a:r>
          </a:p>
          <a:p>
            <a:pPr marL="342900" indent="-342900">
              <a:spcAft>
                <a:spcPts val="300"/>
              </a:spcAft>
              <a:buFont typeface="Arial" panose="020B0604020202020204" pitchFamily="34" charset="0"/>
              <a:buChar char="•"/>
            </a:pPr>
            <a:r>
              <a:rPr lang="en-GB" sz="1400" dirty="0"/>
              <a:t>The </a:t>
            </a:r>
            <a:r>
              <a:rPr lang="en-GB" sz="1400" b="1" dirty="0"/>
              <a:t>weighted average </a:t>
            </a:r>
            <a:r>
              <a:rPr lang="en-GB" sz="1400" dirty="0"/>
              <a:t>is the lowest in comparison to global level and European level with 0.8 km/l.</a:t>
            </a:r>
          </a:p>
          <a:p>
            <a:pPr marL="285750" indent="-285750">
              <a:lnSpc>
                <a:spcPct val="100000"/>
              </a:lnSpc>
              <a:spcBef>
                <a:spcPts val="600"/>
              </a:spcBef>
              <a:buFont typeface="Arial" panose="020B0604020202020204" pitchFamily="34" charset="0"/>
              <a:buChar char="•"/>
            </a:pPr>
            <a:endParaRPr lang="en-GB" sz="1400" dirty="0">
              <a:highlight>
                <a:srgbClr val="FFFF00"/>
              </a:highlight>
            </a:endParaRPr>
          </a:p>
          <a:p>
            <a:pPr marL="285750" indent="-285750">
              <a:lnSpc>
                <a:spcPct val="100000"/>
              </a:lnSpc>
              <a:spcBef>
                <a:spcPts val="600"/>
              </a:spcBef>
              <a:buFont typeface="Arial" panose="020B0604020202020204" pitchFamily="34" charset="0"/>
              <a:buChar char="•"/>
            </a:pPr>
            <a:endParaRPr lang="en-GB" sz="1400" dirty="0">
              <a:highlight>
                <a:srgbClr val="FFFF00"/>
              </a:highlight>
            </a:endParaRPr>
          </a:p>
          <a:p>
            <a:pPr marL="285750" indent="-285750">
              <a:lnSpc>
                <a:spcPct val="100000"/>
              </a:lnSpc>
              <a:spcBef>
                <a:spcPts val="600"/>
              </a:spcBef>
              <a:buFont typeface="Arial" panose="020B0604020202020204" pitchFamily="34" charset="0"/>
              <a:buChar char="•"/>
            </a:pPr>
            <a:endParaRPr lang="en-GB" sz="1400" dirty="0">
              <a:highlight>
                <a:srgbClr val="FFFF00"/>
              </a:highlight>
            </a:endParaRPr>
          </a:p>
          <a:p>
            <a:pPr marL="285750" indent="-285750">
              <a:lnSpc>
                <a:spcPct val="100000"/>
              </a:lnSpc>
              <a:spcBef>
                <a:spcPts val="600"/>
              </a:spcBef>
              <a:buFont typeface="Arial" panose="020B0604020202020204" pitchFamily="34" charset="0"/>
              <a:buChar char="•"/>
            </a:pPr>
            <a:endParaRPr lang="en-GB" sz="1400" dirty="0">
              <a:highlight>
                <a:srgbClr val="FFFF00"/>
              </a:highlight>
            </a:endParaRPr>
          </a:p>
        </p:txBody>
      </p:sp>
      <p:sp>
        <p:nvSpPr>
          <p:cNvPr id="15" name="Espace réservé du contenu 2">
            <a:extLst>
              <a:ext uri="{FF2B5EF4-FFF2-40B4-BE49-F238E27FC236}">
                <a16:creationId xmlns:a16="http://schemas.microsoft.com/office/drawing/2014/main" id="{B64BAF40-92FB-40BE-9C7E-FC8EC7AC341A}"/>
              </a:ext>
            </a:extLst>
          </p:cNvPr>
          <p:cNvSpPr txBox="1">
            <a:spLocks/>
          </p:cNvSpPr>
          <p:nvPr/>
        </p:nvSpPr>
        <p:spPr>
          <a:xfrm>
            <a:off x="6824447" y="5569464"/>
            <a:ext cx="4860000" cy="1059936"/>
          </a:xfrm>
          <a:prstGeom prst="rect">
            <a:avLst/>
          </a:prstGeom>
        </p:spPr>
        <p:txBody>
          <a:bodyPr vert="horz" lIns="0" tIns="0" rIns="0" bIns="0" rtlCol="0">
            <a:noAutofit/>
          </a:bodyPr>
          <a:lstStyle>
            <a:lvl1pPr marL="730250" indent="-730250" algn="l" defTabSz="914400" rtl="0" eaLnBrk="1" latinLnBrk="0" hangingPunct="1">
              <a:lnSpc>
                <a:spcPct val="90000"/>
              </a:lnSpc>
              <a:spcBef>
                <a:spcPts val="0"/>
              </a:spcBef>
              <a:spcAft>
                <a:spcPts val="600"/>
              </a:spcAft>
              <a:buClr>
                <a:schemeClr val="accent1"/>
              </a:buClr>
              <a:buFont typeface="+mj-lt"/>
              <a:buAutoNum type="arabicPeriod"/>
              <a:tabLst>
                <a:tab pos="10623550" algn="r"/>
              </a:tabLst>
              <a:defRPr sz="2800" b="0" kern="1200">
                <a:solidFill>
                  <a:schemeClr val="tx1"/>
                </a:solidFill>
                <a:latin typeface="+mn-lt"/>
                <a:ea typeface="+mn-ea"/>
                <a:cs typeface="+mn-cs"/>
              </a:defRPr>
            </a:lvl1pPr>
            <a:lvl2pPr marL="730250" indent="0" algn="l" defTabSz="914400" rtl="0" eaLnBrk="1" latinLnBrk="0" hangingPunct="1">
              <a:lnSpc>
                <a:spcPct val="100000"/>
              </a:lnSpc>
              <a:spcBef>
                <a:spcPts val="0"/>
              </a:spcBef>
              <a:spcAft>
                <a:spcPts val="600"/>
              </a:spcAft>
              <a:buClr>
                <a:schemeClr val="accent4"/>
              </a:buClr>
              <a:buFont typeface="+mj-lt"/>
              <a:buNone/>
              <a:tabLst>
                <a:tab pos="10623550" algn="r"/>
              </a:tabLst>
              <a:defRPr sz="1600" kern="1200">
                <a:solidFill>
                  <a:schemeClr val="tx1"/>
                </a:solidFill>
                <a:latin typeface="+mn-lt"/>
                <a:ea typeface="+mn-ea"/>
                <a:cs typeface="+mn-cs"/>
              </a:defRPr>
            </a:lvl2pPr>
            <a:lvl3pPr marL="9144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3pPr>
            <a:lvl4pPr marL="10969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4pPr>
            <a:lvl5pPr marL="1279525"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5pPr>
            <a:lvl6pPr marL="1462088"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6pPr>
            <a:lvl7pPr marL="164465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7pPr>
            <a:lvl8pPr marL="18288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8pPr>
            <a:lvl9pPr marL="20113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9pPr>
          </a:lstStyle>
          <a:p>
            <a:pPr marL="342900" indent="-342900">
              <a:buFont typeface="Arial" panose="020B0604020202020204" pitchFamily="34" charset="0"/>
              <a:buChar char="•"/>
            </a:pPr>
            <a:r>
              <a:rPr lang="en-GB" sz="1400" dirty="0"/>
              <a:t>Around </a:t>
            </a:r>
            <a:r>
              <a:rPr lang="en-GB" sz="1400" b="1" dirty="0"/>
              <a:t>80% of values </a:t>
            </a:r>
            <a:r>
              <a:rPr lang="en-GB" sz="1400" dirty="0"/>
              <a:t>lie between </a:t>
            </a:r>
            <a:r>
              <a:rPr lang="en-GB" sz="1400" b="1" dirty="0"/>
              <a:t>1 and 5 l/km/m</a:t>
            </a:r>
            <a:r>
              <a:rPr lang="en-GB" sz="1400" b="1" baseline="30000" dirty="0"/>
              <a:t>3</a:t>
            </a:r>
            <a:r>
              <a:rPr lang="en-GB" sz="1400" dirty="0"/>
              <a:t>.</a:t>
            </a:r>
          </a:p>
          <a:p>
            <a:pPr marL="342900" indent="-342900">
              <a:buFont typeface="Arial" panose="020B0604020202020204" pitchFamily="34" charset="0"/>
              <a:buChar char="•"/>
            </a:pPr>
            <a:r>
              <a:rPr lang="en-GB" sz="1400" dirty="0"/>
              <a:t>The chart picture </a:t>
            </a:r>
            <a:r>
              <a:rPr lang="en-GB" sz="1400" b="1" dirty="0"/>
              <a:t>100% of coverage </a:t>
            </a:r>
            <a:r>
              <a:rPr lang="en-GB" sz="1400" dirty="0"/>
              <a:t>in North America.</a:t>
            </a:r>
          </a:p>
          <a:p>
            <a:pPr marL="342900" indent="-342900">
              <a:buFont typeface="Arial" panose="020B0604020202020204" pitchFamily="34" charset="0"/>
              <a:buChar char="•"/>
            </a:pPr>
            <a:r>
              <a:rPr lang="en-GB" sz="1400" dirty="0"/>
              <a:t>Therefore, </a:t>
            </a:r>
            <a:r>
              <a:rPr lang="en-GB" sz="1400" b="1" dirty="0"/>
              <a:t>North America consumes more diesel fuel for less distance travelled.</a:t>
            </a:r>
          </a:p>
          <a:p>
            <a:pPr marL="342900" indent="-342900">
              <a:buFont typeface="Arial" panose="020B0604020202020204" pitchFamily="34" charset="0"/>
              <a:buChar char="•"/>
            </a:pPr>
            <a:endParaRPr lang="en-GB" sz="1400" dirty="0"/>
          </a:p>
        </p:txBody>
      </p:sp>
      <p:sp>
        <p:nvSpPr>
          <p:cNvPr id="16" name="Rectangle 15">
            <a:extLst>
              <a:ext uri="{FF2B5EF4-FFF2-40B4-BE49-F238E27FC236}">
                <a16:creationId xmlns:a16="http://schemas.microsoft.com/office/drawing/2014/main" id="{58FB681F-5A46-4AAB-BBD5-EEBC30CE5E5C}"/>
              </a:ext>
            </a:extLst>
          </p:cNvPr>
          <p:cNvSpPr/>
          <p:nvPr/>
        </p:nvSpPr>
        <p:spPr>
          <a:xfrm>
            <a:off x="10753344" y="88931"/>
            <a:ext cx="122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North America</a:t>
            </a:r>
          </a:p>
        </p:txBody>
      </p:sp>
      <p:grpSp>
        <p:nvGrpSpPr>
          <p:cNvPr id="9" name="Groupe 8">
            <a:extLst>
              <a:ext uri="{FF2B5EF4-FFF2-40B4-BE49-F238E27FC236}">
                <a16:creationId xmlns:a16="http://schemas.microsoft.com/office/drawing/2014/main" id="{90BAAC32-E473-49C2-85C2-46EF0C7C0D34}"/>
              </a:ext>
            </a:extLst>
          </p:cNvPr>
          <p:cNvGrpSpPr/>
          <p:nvPr/>
        </p:nvGrpSpPr>
        <p:grpSpPr>
          <a:xfrm>
            <a:off x="932688" y="2862878"/>
            <a:ext cx="82296" cy="1586241"/>
            <a:chOff x="932688" y="2862878"/>
            <a:chExt cx="82296" cy="1586241"/>
          </a:xfrm>
        </p:grpSpPr>
        <p:sp>
          <p:nvSpPr>
            <p:cNvPr id="4" name="Rectangle 3">
              <a:extLst>
                <a:ext uri="{FF2B5EF4-FFF2-40B4-BE49-F238E27FC236}">
                  <a16:creationId xmlns:a16="http://schemas.microsoft.com/office/drawing/2014/main" id="{ADE216FE-9987-4E63-9EFE-0D62600C5A3C}"/>
                </a:ext>
              </a:extLst>
            </p:cNvPr>
            <p:cNvSpPr/>
            <p:nvPr/>
          </p:nvSpPr>
          <p:spPr>
            <a:xfrm>
              <a:off x="941832" y="3630168"/>
              <a:ext cx="73152" cy="91440"/>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fr-FR" sz="1600"/>
            </a:p>
          </p:txBody>
        </p:sp>
        <p:sp>
          <p:nvSpPr>
            <p:cNvPr id="18" name="Rectangle 17">
              <a:extLst>
                <a:ext uri="{FF2B5EF4-FFF2-40B4-BE49-F238E27FC236}">
                  <a16:creationId xmlns:a16="http://schemas.microsoft.com/office/drawing/2014/main" id="{F136A9C6-4E42-411E-9BBB-4C0C0552B9A3}"/>
                </a:ext>
              </a:extLst>
            </p:cNvPr>
            <p:cNvSpPr/>
            <p:nvPr/>
          </p:nvSpPr>
          <p:spPr>
            <a:xfrm>
              <a:off x="941832" y="4357679"/>
              <a:ext cx="73152" cy="91440"/>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fr-FR" sz="1600"/>
            </a:p>
          </p:txBody>
        </p:sp>
        <p:sp>
          <p:nvSpPr>
            <p:cNvPr id="20" name="Rectangle 19">
              <a:extLst>
                <a:ext uri="{FF2B5EF4-FFF2-40B4-BE49-F238E27FC236}">
                  <a16:creationId xmlns:a16="http://schemas.microsoft.com/office/drawing/2014/main" id="{4818AEE1-F0C4-4FD4-A29C-50A58161A407}"/>
                </a:ext>
              </a:extLst>
            </p:cNvPr>
            <p:cNvSpPr/>
            <p:nvPr/>
          </p:nvSpPr>
          <p:spPr>
            <a:xfrm>
              <a:off x="932688" y="2862878"/>
              <a:ext cx="73152" cy="91440"/>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fr-FR" sz="1600"/>
            </a:p>
          </p:txBody>
        </p:sp>
      </p:grpSp>
      <p:graphicFrame>
        <p:nvGraphicFramePr>
          <p:cNvPr id="21" name="Graphique 20">
            <a:extLst>
              <a:ext uri="{FF2B5EF4-FFF2-40B4-BE49-F238E27FC236}">
                <a16:creationId xmlns:a16="http://schemas.microsoft.com/office/drawing/2014/main" id="{DE5403F8-65EA-424B-8006-51013EF0905D}"/>
              </a:ext>
            </a:extLst>
          </p:cNvPr>
          <p:cNvGraphicFramePr>
            <a:graphicFrameLocks/>
          </p:cNvGraphicFramePr>
          <p:nvPr>
            <p:extLst>
              <p:ext uri="{D42A27DB-BD31-4B8C-83A1-F6EECF244321}">
                <p14:modId xmlns:p14="http://schemas.microsoft.com/office/powerpoint/2010/main" val="3528435323"/>
              </p:ext>
            </p:extLst>
          </p:nvPr>
        </p:nvGraphicFramePr>
        <p:xfrm>
          <a:off x="453603" y="2073289"/>
          <a:ext cx="5148000" cy="3600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2" name="Graphique 21">
            <a:extLst>
              <a:ext uri="{FF2B5EF4-FFF2-40B4-BE49-F238E27FC236}">
                <a16:creationId xmlns:a16="http://schemas.microsoft.com/office/drawing/2014/main" id="{F34B236B-D8EB-42C5-B3CC-6EA580266886}"/>
              </a:ext>
            </a:extLst>
          </p:cNvPr>
          <p:cNvGraphicFramePr>
            <a:graphicFrameLocks/>
          </p:cNvGraphicFramePr>
          <p:nvPr>
            <p:extLst>
              <p:ext uri="{D42A27DB-BD31-4B8C-83A1-F6EECF244321}">
                <p14:modId xmlns:p14="http://schemas.microsoft.com/office/powerpoint/2010/main" val="1912481729"/>
              </p:ext>
            </p:extLst>
          </p:nvPr>
        </p:nvGraphicFramePr>
        <p:xfrm>
          <a:off x="6680447" y="2128153"/>
          <a:ext cx="5148000" cy="3600000"/>
        </p:xfrm>
        <a:graphic>
          <a:graphicData uri="http://schemas.openxmlformats.org/drawingml/2006/chart">
            <c:chart xmlns:c="http://schemas.openxmlformats.org/drawingml/2006/chart" xmlns:r="http://schemas.openxmlformats.org/officeDocument/2006/relationships" r:id="rId7"/>
          </a:graphicData>
        </a:graphic>
      </p:graphicFrame>
      <p:sp>
        <p:nvSpPr>
          <p:cNvPr id="19" name="ZoneTexte 18">
            <a:extLst>
              <a:ext uri="{FF2B5EF4-FFF2-40B4-BE49-F238E27FC236}">
                <a16:creationId xmlns:a16="http://schemas.microsoft.com/office/drawing/2014/main" id="{792DAB32-4AC5-4727-8CD2-13C3F9BF4790}"/>
              </a:ext>
            </a:extLst>
          </p:cNvPr>
          <p:cNvSpPr txBox="1"/>
          <p:nvPr/>
        </p:nvSpPr>
        <p:spPr>
          <a:xfrm>
            <a:off x="2355075" y="6423660"/>
            <a:ext cx="3936441" cy="138499"/>
          </a:xfrm>
          <a:prstGeom prst="rect">
            <a:avLst/>
          </a:prstGeom>
          <a:noFill/>
        </p:spPr>
        <p:txBody>
          <a:bodyPr wrap="square" lIns="0" tIns="0" rIns="0" bIns="0" rtlCol="0">
            <a:spAutoFit/>
          </a:bodyPr>
          <a:lstStyle/>
          <a:p>
            <a:pPr>
              <a:lnSpc>
                <a:spcPct val="100000"/>
              </a:lnSpc>
              <a:spcAft>
                <a:spcPts val="600"/>
              </a:spcAft>
              <a:buSzPct val="100000"/>
            </a:pPr>
            <a:r>
              <a:rPr lang="fr-FR" sz="900" dirty="0"/>
              <a:t>*corresponds to </a:t>
            </a:r>
            <a:r>
              <a:rPr lang="fr-FR" sz="900" dirty="0" err="1"/>
              <a:t>Concrete</a:t>
            </a:r>
            <a:r>
              <a:rPr lang="fr-FR" sz="900" dirty="0"/>
              <a:t> Transport KPI #4 </a:t>
            </a:r>
            <a:r>
              <a:rPr lang="fr-FR" sz="900" dirty="0" err="1"/>
              <a:t>Average</a:t>
            </a:r>
            <a:r>
              <a:rPr lang="fr-FR" sz="900" dirty="0"/>
              <a:t> fuel </a:t>
            </a:r>
            <a:r>
              <a:rPr lang="fr-FR" sz="900" dirty="0" err="1"/>
              <a:t>consumption</a:t>
            </a:r>
            <a:r>
              <a:rPr lang="fr-FR" sz="900" dirty="0"/>
              <a:t> </a:t>
            </a:r>
          </a:p>
        </p:txBody>
      </p:sp>
    </p:spTree>
    <p:extLst>
      <p:ext uri="{BB962C8B-B14F-4D97-AF65-F5344CB8AC3E}">
        <p14:creationId xmlns:p14="http://schemas.microsoft.com/office/powerpoint/2010/main" val="949663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2A529BD1-2CFA-49F7-ACB1-89B40F9A3C98}"/>
              </a:ext>
            </a:extLst>
          </p:cNvPr>
          <p:cNvGraphicFramePr>
            <a:graphicFrameLocks noChangeAspect="1"/>
          </p:cNvGraphicFramePr>
          <p:nvPr>
            <p:custDataLst>
              <p:tags r:id="rId1"/>
            </p:custDataLst>
            <p:extLst>
              <p:ext uri="{D42A27DB-BD31-4B8C-83A1-F6EECF244321}">
                <p14:modId xmlns:p14="http://schemas.microsoft.com/office/powerpoint/2010/main" val="3834874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8" name="Objet 7" hidden="1">
                        <a:extLst>
                          <a:ext uri="{FF2B5EF4-FFF2-40B4-BE49-F238E27FC236}">
                            <a16:creationId xmlns:a16="http://schemas.microsoft.com/office/drawing/2014/main" id="{2A529BD1-2CFA-49F7-ACB1-89B40F9A3C9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92E6A0F9-72EE-4AAF-88A1-1962A860B96F}"/>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924D22C5-F5C9-4D3E-AACC-3CFE28BB3DDF}"/>
              </a:ext>
            </a:extLst>
          </p:cNvPr>
          <p:cNvSpPr>
            <a:spLocks noGrp="1"/>
          </p:cNvSpPr>
          <p:nvPr>
            <p:ph type="title"/>
          </p:nvPr>
        </p:nvSpPr>
        <p:spPr/>
        <p:txBody>
          <a:bodyPr/>
          <a:lstStyle/>
          <a:p>
            <a:r>
              <a:rPr lang="en-GB" dirty="0"/>
              <a:t>CO2 emissions from transport vary according to regions</a:t>
            </a:r>
            <a:br>
              <a:rPr lang="en-GB" dirty="0"/>
            </a:br>
            <a:r>
              <a:rPr lang="en-GB" sz="2200" dirty="0"/>
              <a:t>The reported data broadly come from company-owned trucks.</a:t>
            </a:r>
          </a:p>
        </p:txBody>
      </p:sp>
      <p:sp>
        <p:nvSpPr>
          <p:cNvPr id="5" name="Espace réservé de la date 4">
            <a:extLst>
              <a:ext uri="{FF2B5EF4-FFF2-40B4-BE49-F238E27FC236}">
                <a16:creationId xmlns:a16="http://schemas.microsoft.com/office/drawing/2014/main" id="{CFE8B41F-1D51-4E76-A6C5-AB0B98A016F0}"/>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1BA9DF88-5D62-4ACF-BCF1-2722E055E24A}"/>
              </a:ext>
            </a:extLst>
          </p:cNvPr>
          <p:cNvSpPr>
            <a:spLocks noGrp="1"/>
          </p:cNvSpPr>
          <p:nvPr>
            <p:ph type="sldNum" sz="quarter" idx="11"/>
          </p:nvPr>
        </p:nvSpPr>
        <p:spPr/>
        <p:txBody>
          <a:bodyPr/>
          <a:lstStyle/>
          <a:p>
            <a:fld id="{7870704B-CE94-48CC-AF30-84932A1262A7}" type="slidenum">
              <a:rPr lang="fr-FR" smtClean="0"/>
              <a:pPr/>
              <a:t>21</a:t>
            </a:fld>
            <a:endParaRPr lang="fr-FR" dirty="0"/>
          </a:p>
        </p:txBody>
      </p:sp>
      <p:graphicFrame>
        <p:nvGraphicFramePr>
          <p:cNvPr id="10" name="Tableau 9">
            <a:extLst>
              <a:ext uri="{FF2B5EF4-FFF2-40B4-BE49-F238E27FC236}">
                <a16:creationId xmlns:a16="http://schemas.microsoft.com/office/drawing/2014/main" id="{007F0B68-9A76-4324-B7E6-BEEE1FA8F95A}"/>
              </a:ext>
            </a:extLst>
          </p:cNvPr>
          <p:cNvGraphicFramePr>
            <a:graphicFrameLocks noGrp="1"/>
          </p:cNvGraphicFramePr>
          <p:nvPr>
            <p:extLst>
              <p:ext uri="{D42A27DB-BD31-4B8C-83A1-F6EECF244321}">
                <p14:modId xmlns:p14="http://schemas.microsoft.com/office/powerpoint/2010/main" val="991263209"/>
              </p:ext>
            </p:extLst>
          </p:nvPr>
        </p:nvGraphicFramePr>
        <p:xfrm>
          <a:off x="6208745" y="1426463"/>
          <a:ext cx="4896000" cy="864000"/>
        </p:xfrm>
        <a:graphic>
          <a:graphicData uri="http://schemas.openxmlformats.org/drawingml/2006/table">
            <a:tbl>
              <a:tblPr firstRow="1" bandRow="1">
                <a:tableStyleId>{5C22544A-7EE6-4342-B048-85BDC9FD1C3A}</a:tableStyleId>
              </a:tblPr>
              <a:tblGrid>
                <a:gridCol w="979200">
                  <a:extLst>
                    <a:ext uri="{9D8B030D-6E8A-4147-A177-3AD203B41FA5}">
                      <a16:colId xmlns:a16="http://schemas.microsoft.com/office/drawing/2014/main" val="3605666383"/>
                    </a:ext>
                  </a:extLst>
                </a:gridCol>
                <a:gridCol w="979200">
                  <a:extLst>
                    <a:ext uri="{9D8B030D-6E8A-4147-A177-3AD203B41FA5}">
                      <a16:colId xmlns:a16="http://schemas.microsoft.com/office/drawing/2014/main" val="4135103201"/>
                    </a:ext>
                  </a:extLst>
                </a:gridCol>
                <a:gridCol w="979200">
                  <a:extLst>
                    <a:ext uri="{9D8B030D-6E8A-4147-A177-3AD203B41FA5}">
                      <a16:colId xmlns:a16="http://schemas.microsoft.com/office/drawing/2014/main" val="4276878264"/>
                    </a:ext>
                  </a:extLst>
                </a:gridCol>
                <a:gridCol w="989171">
                  <a:extLst>
                    <a:ext uri="{9D8B030D-6E8A-4147-A177-3AD203B41FA5}">
                      <a16:colId xmlns:a16="http://schemas.microsoft.com/office/drawing/2014/main" val="3288090762"/>
                    </a:ext>
                  </a:extLst>
                </a:gridCol>
                <a:gridCol w="969229">
                  <a:extLst>
                    <a:ext uri="{9D8B030D-6E8A-4147-A177-3AD203B41FA5}">
                      <a16:colId xmlns:a16="http://schemas.microsoft.com/office/drawing/2014/main" val="1746470674"/>
                    </a:ext>
                  </a:extLst>
                </a:gridCol>
              </a:tblGrid>
              <a:tr h="353270">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 </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43307530"/>
                  </a:ext>
                </a:extLst>
              </a:tr>
              <a:tr h="255365">
                <a:tc>
                  <a:txBody>
                    <a:bodyPr/>
                    <a:lstStyle/>
                    <a:p>
                      <a:pPr algn="ctr" fontAlgn="ctr"/>
                      <a:r>
                        <a:rPr lang="en-GB" sz="1000" b="0" i="1" dirty="0"/>
                        <a:t>kg CO2/m</a:t>
                      </a:r>
                      <a:r>
                        <a:rPr lang="en-GB" sz="1000" b="0" i="1" baseline="30000" dirty="0"/>
                        <a:t>3</a:t>
                      </a:r>
                      <a:r>
                        <a:rPr lang="en-GB" sz="1000" b="0" i="1" dirty="0"/>
                        <a:t> </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b="0" i="1" dirty="0"/>
                        <a:t>kg CO2/m</a:t>
                      </a:r>
                      <a:r>
                        <a:rPr lang="en-GB" sz="1000" b="0" i="1" baseline="30000" dirty="0"/>
                        <a:t>3</a:t>
                      </a:r>
                      <a:r>
                        <a:rPr lang="en-GB" sz="1000" b="0" i="1" dirty="0"/>
                        <a:t> </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0" i="1" dirty="0"/>
                        <a:t>kg CO2/m</a:t>
                      </a:r>
                      <a:r>
                        <a:rPr lang="en-GB" sz="1000" b="0" i="1" baseline="30000" dirty="0"/>
                        <a:t>3</a:t>
                      </a:r>
                      <a:r>
                        <a:rPr lang="en-GB" sz="1000" b="0" i="1" dirty="0"/>
                        <a:t> </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0" i="1" dirty="0"/>
                        <a:t>kg CO2/m</a:t>
                      </a:r>
                      <a:r>
                        <a:rPr lang="en-GB" sz="1000" b="0" i="1" baseline="30000" dirty="0"/>
                        <a:t>3</a:t>
                      </a:r>
                      <a:r>
                        <a:rPr lang="en-GB" sz="1000" b="0" i="1" dirty="0"/>
                        <a:t> </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3068898696"/>
                  </a:ext>
                </a:extLst>
              </a:tr>
              <a:tr h="255365">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0.96</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11</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71</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12</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79</a:t>
                      </a:r>
                    </a:p>
                  </a:txBody>
                  <a:tcPr marL="9525" marR="9525" marT="9525" marB="0" anchor="ctr"/>
                </a:tc>
                <a:extLst>
                  <a:ext uri="{0D108BD9-81ED-4DB2-BD59-A6C34878D82A}">
                    <a16:rowId xmlns:a16="http://schemas.microsoft.com/office/drawing/2014/main" val="3955579257"/>
                  </a:ext>
                </a:extLst>
              </a:tr>
            </a:tbl>
          </a:graphicData>
        </a:graphic>
      </p:graphicFrame>
      <p:sp>
        <p:nvSpPr>
          <p:cNvPr id="11" name="Espace réservé du contenu 2">
            <a:extLst>
              <a:ext uri="{FF2B5EF4-FFF2-40B4-BE49-F238E27FC236}">
                <a16:creationId xmlns:a16="http://schemas.microsoft.com/office/drawing/2014/main" id="{FF398A72-E752-4275-91D0-D1657418C4A4}"/>
              </a:ext>
            </a:extLst>
          </p:cNvPr>
          <p:cNvSpPr>
            <a:spLocks noGrp="1"/>
          </p:cNvSpPr>
          <p:nvPr>
            <p:ph idx="1"/>
          </p:nvPr>
        </p:nvSpPr>
        <p:spPr>
          <a:xfrm>
            <a:off x="442913" y="1426464"/>
            <a:ext cx="5061776" cy="5256000"/>
          </a:xfrm>
        </p:spPr>
        <p:txBody>
          <a:bodyPr/>
          <a:lstStyle/>
          <a:p>
            <a:pPr marL="0" indent="0">
              <a:lnSpc>
                <a:spcPct val="100000"/>
              </a:lnSpc>
              <a:spcBef>
                <a:spcPts val="600"/>
              </a:spcBef>
              <a:buNone/>
            </a:pPr>
            <a:r>
              <a:rPr lang="en-GB" sz="1800" b="1" dirty="0">
                <a:solidFill>
                  <a:srgbClr val="D04A02"/>
                </a:solidFill>
              </a:rPr>
              <a:t>Observations and comments</a:t>
            </a:r>
          </a:p>
          <a:p>
            <a:pPr marL="285750" indent="-285750">
              <a:lnSpc>
                <a:spcPct val="100000"/>
              </a:lnSpc>
              <a:spcBef>
                <a:spcPts val="600"/>
              </a:spcBef>
              <a:buFont typeface="Arial" panose="020B0604020202020204" pitchFamily="34" charset="0"/>
              <a:buChar char="•"/>
            </a:pPr>
            <a:r>
              <a:rPr lang="en-GB" sz="1600" dirty="0"/>
              <a:t>The </a:t>
            </a:r>
            <a:r>
              <a:rPr lang="en-GB" sz="1600" b="1" dirty="0"/>
              <a:t>weighted average </a:t>
            </a:r>
            <a:r>
              <a:rPr lang="en-GB" sz="1600" dirty="0"/>
              <a:t>is of </a:t>
            </a:r>
            <a:r>
              <a:rPr lang="en-GB" sz="1600" b="1" dirty="0"/>
              <a:t>11 kg CO2/m</a:t>
            </a:r>
            <a:r>
              <a:rPr lang="en-GB" sz="1600" b="1" baseline="30000" dirty="0"/>
              <a:t>3</a:t>
            </a:r>
            <a:r>
              <a:rPr lang="en-GB" sz="1600" dirty="0"/>
              <a:t> of concrete from transport at world level.</a:t>
            </a:r>
          </a:p>
          <a:p>
            <a:pPr marL="285750" indent="-285750">
              <a:lnSpc>
                <a:spcPct val="100000"/>
              </a:lnSpc>
              <a:spcBef>
                <a:spcPts val="600"/>
              </a:spcBef>
              <a:buFont typeface="Arial" panose="020B0604020202020204" pitchFamily="34" charset="0"/>
              <a:buChar char="•"/>
            </a:pPr>
            <a:r>
              <a:rPr lang="en-GB" sz="1600" dirty="0"/>
              <a:t>More than </a:t>
            </a:r>
            <a:r>
              <a:rPr lang="en-GB" sz="1600" b="1" dirty="0"/>
              <a:t>80% of values </a:t>
            </a:r>
            <a:r>
              <a:rPr lang="en-GB" sz="1600" dirty="0"/>
              <a:t>lie </a:t>
            </a:r>
            <a:r>
              <a:rPr lang="en-GB" sz="1600" b="1" dirty="0"/>
              <a:t>between 2 and </a:t>
            </a:r>
            <a:br>
              <a:rPr lang="en-GB" sz="1600" b="1" dirty="0"/>
            </a:br>
            <a:r>
              <a:rPr lang="en-GB" sz="1600" b="1" dirty="0"/>
              <a:t>15 kg CO2/m</a:t>
            </a:r>
            <a:r>
              <a:rPr lang="en-GB" sz="1600" b="1" baseline="30000" dirty="0"/>
              <a:t>3</a:t>
            </a:r>
            <a:r>
              <a:rPr lang="en-GB" sz="1600" dirty="0"/>
              <a:t>.</a:t>
            </a:r>
          </a:p>
          <a:p>
            <a:pPr marL="285750" indent="-285750">
              <a:lnSpc>
                <a:spcPct val="100000"/>
              </a:lnSpc>
              <a:spcBef>
                <a:spcPts val="600"/>
              </a:spcBef>
              <a:buFont typeface="Arial" panose="020B0604020202020204" pitchFamily="34" charset="0"/>
              <a:buChar char="•"/>
            </a:pPr>
            <a:r>
              <a:rPr lang="en-GB" sz="1600" dirty="0"/>
              <a:t>The </a:t>
            </a:r>
            <a:r>
              <a:rPr lang="en-GB" sz="1600" b="1" dirty="0"/>
              <a:t>maximum value of 71 kg CO2/m</a:t>
            </a:r>
            <a:r>
              <a:rPr lang="en-GB" sz="1600" b="1" baseline="30000" dirty="0"/>
              <a:t>3</a:t>
            </a:r>
            <a:r>
              <a:rPr lang="en-GB" sz="1600" b="1" dirty="0"/>
              <a:t> </a:t>
            </a:r>
            <a:r>
              <a:rPr lang="en-GB" sz="1600" dirty="0"/>
              <a:t>corresponds</a:t>
            </a:r>
            <a:r>
              <a:rPr lang="en-GB" sz="1600" b="1" dirty="0"/>
              <a:t> </a:t>
            </a:r>
            <a:r>
              <a:rPr lang="en-GB" sz="1600" dirty="0"/>
              <a:t>to </a:t>
            </a:r>
            <a:r>
              <a:rPr lang="en-GB" sz="1600" b="1" dirty="0"/>
              <a:t>one country</a:t>
            </a:r>
            <a:r>
              <a:rPr lang="en-GB" sz="1600" dirty="0"/>
              <a:t> </a:t>
            </a:r>
            <a:r>
              <a:rPr lang="en-GB" sz="1600" b="1" dirty="0"/>
              <a:t>isolated</a:t>
            </a:r>
            <a:r>
              <a:rPr lang="en-GB" sz="1600" dirty="0"/>
              <a:t> from other reporting countries.</a:t>
            </a:r>
          </a:p>
          <a:p>
            <a:pPr marL="285750" indent="-285750">
              <a:lnSpc>
                <a:spcPct val="100000"/>
              </a:lnSpc>
              <a:spcBef>
                <a:spcPts val="600"/>
              </a:spcBef>
              <a:buFont typeface="Arial" panose="020B0604020202020204" pitchFamily="34" charset="0"/>
              <a:buChar char="•"/>
            </a:pPr>
            <a:r>
              <a:rPr lang="en-GB" sz="1600" dirty="0"/>
              <a:t>The chart pictures </a:t>
            </a:r>
            <a:r>
              <a:rPr lang="en-GB" sz="1600" b="1" dirty="0"/>
              <a:t>80% of the world coverage</a:t>
            </a:r>
            <a:r>
              <a:rPr lang="en-GB" sz="1600" dirty="0"/>
              <a:t>. </a:t>
            </a:r>
            <a:br>
              <a:rPr lang="en-GB" sz="1600" dirty="0"/>
            </a:br>
            <a:r>
              <a:rPr lang="en-GB" sz="1600" dirty="0"/>
              <a:t>The remaining 20% corresponds to missing data on average fuel consumption, coming </a:t>
            </a:r>
            <a:r>
              <a:rPr lang="en-US" sz="1600" dirty="0"/>
              <a:t>for example from contractors and customers, which would be too sensitive to start collecting.</a:t>
            </a:r>
          </a:p>
        </p:txBody>
      </p:sp>
      <p:sp>
        <p:nvSpPr>
          <p:cNvPr id="3" name="Espace réservé du pied de page 2">
            <a:extLst>
              <a:ext uri="{FF2B5EF4-FFF2-40B4-BE49-F238E27FC236}">
                <a16:creationId xmlns:a16="http://schemas.microsoft.com/office/drawing/2014/main" id="{4525BD4F-6B96-4CBD-9E71-960816D0E37F}"/>
              </a:ext>
            </a:extLst>
          </p:cNvPr>
          <p:cNvSpPr>
            <a:spLocks noGrp="1"/>
          </p:cNvSpPr>
          <p:nvPr>
            <p:ph type="ftr" sz="quarter" idx="13"/>
          </p:nvPr>
        </p:nvSpPr>
        <p:spPr/>
        <p:txBody>
          <a:bodyPr/>
          <a:lstStyle/>
          <a:p>
            <a:pPr algn="l"/>
            <a:r>
              <a:rPr lang="en-US" dirty="0"/>
              <a:t>GCCA GNR Concrete Pilot Project</a:t>
            </a:r>
            <a:endParaRPr lang="fr-FR" dirty="0"/>
          </a:p>
        </p:txBody>
      </p:sp>
      <p:sp>
        <p:nvSpPr>
          <p:cNvPr id="12" name="Rectangle 11">
            <a:extLst>
              <a:ext uri="{FF2B5EF4-FFF2-40B4-BE49-F238E27FC236}">
                <a16:creationId xmlns:a16="http://schemas.microsoft.com/office/drawing/2014/main" id="{CE378194-C50C-44FF-B955-C4DA3F397391}"/>
              </a:ext>
            </a:extLst>
          </p:cNvPr>
          <p:cNvSpPr/>
          <p:nvPr/>
        </p:nvSpPr>
        <p:spPr>
          <a:xfrm>
            <a:off x="10753344" y="88931"/>
            <a:ext cx="978408"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World level</a:t>
            </a:r>
          </a:p>
        </p:txBody>
      </p:sp>
      <p:graphicFrame>
        <p:nvGraphicFramePr>
          <p:cNvPr id="14" name="Graphique 13">
            <a:extLst>
              <a:ext uri="{FF2B5EF4-FFF2-40B4-BE49-F238E27FC236}">
                <a16:creationId xmlns:a16="http://schemas.microsoft.com/office/drawing/2014/main" id="{F4018F18-8B90-4281-B82F-3776862EDC38}"/>
              </a:ext>
            </a:extLst>
          </p:cNvPr>
          <p:cNvGraphicFramePr>
            <a:graphicFrameLocks/>
          </p:cNvGraphicFramePr>
          <p:nvPr>
            <p:extLst>
              <p:ext uri="{D42A27DB-BD31-4B8C-83A1-F6EECF244321}">
                <p14:modId xmlns:p14="http://schemas.microsoft.com/office/powerpoint/2010/main" val="3057558317"/>
              </p:ext>
            </p:extLst>
          </p:nvPr>
        </p:nvGraphicFramePr>
        <p:xfrm>
          <a:off x="5740745" y="2405743"/>
          <a:ext cx="5832000" cy="399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160467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2A529BD1-2CFA-49F7-ACB1-89B40F9A3C98}"/>
              </a:ext>
            </a:extLst>
          </p:cNvPr>
          <p:cNvGraphicFramePr>
            <a:graphicFrameLocks noChangeAspect="1"/>
          </p:cNvGraphicFramePr>
          <p:nvPr>
            <p:custDataLst>
              <p:tags r:id="rId1"/>
            </p:custDataLst>
            <p:extLst>
              <p:ext uri="{D42A27DB-BD31-4B8C-83A1-F6EECF244321}">
                <p14:modId xmlns:p14="http://schemas.microsoft.com/office/powerpoint/2010/main" val="1711777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8" name="Objet 7" hidden="1">
                        <a:extLst>
                          <a:ext uri="{FF2B5EF4-FFF2-40B4-BE49-F238E27FC236}">
                            <a16:creationId xmlns:a16="http://schemas.microsoft.com/office/drawing/2014/main" id="{2A529BD1-2CFA-49F7-ACB1-89B40F9A3C9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92E6A0F9-72EE-4AAF-88A1-1962A860B96F}"/>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924D22C5-F5C9-4D3E-AACC-3CFE28BB3DDF}"/>
              </a:ext>
            </a:extLst>
          </p:cNvPr>
          <p:cNvSpPr>
            <a:spLocks noGrp="1"/>
          </p:cNvSpPr>
          <p:nvPr>
            <p:ph type="title"/>
          </p:nvPr>
        </p:nvSpPr>
        <p:spPr>
          <a:xfrm>
            <a:off x="442913" y="432000"/>
            <a:ext cx="11928919" cy="1387275"/>
          </a:xfrm>
        </p:spPr>
        <p:txBody>
          <a:bodyPr/>
          <a:lstStyle/>
          <a:p>
            <a:r>
              <a:rPr lang="en-GB" dirty="0"/>
              <a:t>CO2 emissions from transport vary according to countries</a:t>
            </a:r>
            <a:br>
              <a:rPr lang="en-GB" dirty="0"/>
            </a:br>
            <a:r>
              <a:rPr lang="en-GB" sz="2200" dirty="0"/>
              <a:t>The reported data broadly come from company-owned trucks.</a:t>
            </a:r>
          </a:p>
        </p:txBody>
      </p:sp>
      <p:sp>
        <p:nvSpPr>
          <p:cNvPr id="5" name="Espace réservé de la date 4">
            <a:extLst>
              <a:ext uri="{FF2B5EF4-FFF2-40B4-BE49-F238E27FC236}">
                <a16:creationId xmlns:a16="http://schemas.microsoft.com/office/drawing/2014/main" id="{CFE8B41F-1D51-4E76-A6C5-AB0B98A016F0}"/>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1BA9DF88-5D62-4ACF-BCF1-2722E055E24A}"/>
              </a:ext>
            </a:extLst>
          </p:cNvPr>
          <p:cNvSpPr>
            <a:spLocks noGrp="1"/>
          </p:cNvSpPr>
          <p:nvPr>
            <p:ph type="sldNum" sz="quarter" idx="11"/>
          </p:nvPr>
        </p:nvSpPr>
        <p:spPr/>
        <p:txBody>
          <a:bodyPr/>
          <a:lstStyle/>
          <a:p>
            <a:fld id="{7870704B-CE94-48CC-AF30-84932A1262A7}" type="slidenum">
              <a:rPr lang="fr-FR" smtClean="0"/>
              <a:pPr/>
              <a:t>22</a:t>
            </a:fld>
            <a:endParaRPr lang="fr-FR" dirty="0"/>
          </a:p>
        </p:txBody>
      </p:sp>
      <p:graphicFrame>
        <p:nvGraphicFramePr>
          <p:cNvPr id="10" name="Tableau 9">
            <a:extLst>
              <a:ext uri="{FF2B5EF4-FFF2-40B4-BE49-F238E27FC236}">
                <a16:creationId xmlns:a16="http://schemas.microsoft.com/office/drawing/2014/main" id="{007F0B68-9A76-4324-B7E6-BEEE1FA8F95A}"/>
              </a:ext>
            </a:extLst>
          </p:cNvPr>
          <p:cNvGraphicFramePr>
            <a:graphicFrameLocks noGrp="1"/>
          </p:cNvGraphicFramePr>
          <p:nvPr>
            <p:extLst>
              <p:ext uri="{D42A27DB-BD31-4B8C-83A1-F6EECF244321}">
                <p14:modId xmlns:p14="http://schemas.microsoft.com/office/powerpoint/2010/main" val="1287418984"/>
              </p:ext>
            </p:extLst>
          </p:nvPr>
        </p:nvGraphicFramePr>
        <p:xfrm>
          <a:off x="6208745" y="1426463"/>
          <a:ext cx="4896000" cy="864000"/>
        </p:xfrm>
        <a:graphic>
          <a:graphicData uri="http://schemas.openxmlformats.org/drawingml/2006/table">
            <a:tbl>
              <a:tblPr firstRow="1" bandRow="1">
                <a:tableStyleId>{5C22544A-7EE6-4342-B048-85BDC9FD1C3A}</a:tableStyleId>
              </a:tblPr>
              <a:tblGrid>
                <a:gridCol w="979200">
                  <a:extLst>
                    <a:ext uri="{9D8B030D-6E8A-4147-A177-3AD203B41FA5}">
                      <a16:colId xmlns:a16="http://schemas.microsoft.com/office/drawing/2014/main" val="3605666383"/>
                    </a:ext>
                  </a:extLst>
                </a:gridCol>
                <a:gridCol w="979200">
                  <a:extLst>
                    <a:ext uri="{9D8B030D-6E8A-4147-A177-3AD203B41FA5}">
                      <a16:colId xmlns:a16="http://schemas.microsoft.com/office/drawing/2014/main" val="4135103201"/>
                    </a:ext>
                  </a:extLst>
                </a:gridCol>
                <a:gridCol w="979200">
                  <a:extLst>
                    <a:ext uri="{9D8B030D-6E8A-4147-A177-3AD203B41FA5}">
                      <a16:colId xmlns:a16="http://schemas.microsoft.com/office/drawing/2014/main" val="4276878264"/>
                    </a:ext>
                  </a:extLst>
                </a:gridCol>
                <a:gridCol w="989171">
                  <a:extLst>
                    <a:ext uri="{9D8B030D-6E8A-4147-A177-3AD203B41FA5}">
                      <a16:colId xmlns:a16="http://schemas.microsoft.com/office/drawing/2014/main" val="3288090762"/>
                    </a:ext>
                  </a:extLst>
                </a:gridCol>
                <a:gridCol w="969229">
                  <a:extLst>
                    <a:ext uri="{9D8B030D-6E8A-4147-A177-3AD203B41FA5}">
                      <a16:colId xmlns:a16="http://schemas.microsoft.com/office/drawing/2014/main" val="1746470674"/>
                    </a:ext>
                  </a:extLst>
                </a:gridCol>
              </a:tblGrid>
              <a:tr h="353270">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 </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43307530"/>
                  </a:ext>
                </a:extLst>
              </a:tr>
              <a:tr h="255365">
                <a:tc>
                  <a:txBody>
                    <a:bodyPr/>
                    <a:lstStyle/>
                    <a:p>
                      <a:pPr algn="ctr" fontAlgn="ctr"/>
                      <a:r>
                        <a:rPr lang="en-GB" sz="1000" b="0" i="1" dirty="0"/>
                        <a:t>kg CO2/m</a:t>
                      </a:r>
                      <a:r>
                        <a:rPr lang="en-GB" sz="1000" b="0" i="1" baseline="30000" dirty="0"/>
                        <a:t>3</a:t>
                      </a:r>
                      <a:r>
                        <a:rPr lang="en-GB" sz="1000" b="0" i="1" dirty="0"/>
                        <a:t> </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b="0" i="1" dirty="0"/>
                        <a:t>kg CO2/m</a:t>
                      </a:r>
                      <a:r>
                        <a:rPr lang="en-GB" sz="1000" b="0" i="1" baseline="30000" dirty="0"/>
                        <a:t>3</a:t>
                      </a:r>
                      <a:r>
                        <a:rPr lang="en-GB" sz="1000" b="0" i="1" dirty="0"/>
                        <a:t> </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0" i="1" dirty="0"/>
                        <a:t>kg CO2/m</a:t>
                      </a:r>
                      <a:r>
                        <a:rPr lang="en-GB" sz="1000" b="0" i="1" baseline="30000" dirty="0"/>
                        <a:t>3</a:t>
                      </a:r>
                      <a:r>
                        <a:rPr lang="en-GB" sz="1000" b="0" i="1" dirty="0"/>
                        <a:t> </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0" i="1" dirty="0"/>
                        <a:t>kg CO2/m</a:t>
                      </a:r>
                      <a:r>
                        <a:rPr lang="en-GB" sz="1000" b="0" i="1" baseline="30000" dirty="0"/>
                        <a:t>3</a:t>
                      </a:r>
                      <a:r>
                        <a:rPr lang="en-GB" sz="1000" b="0" i="1" dirty="0"/>
                        <a:t> </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3068898696"/>
                  </a:ext>
                </a:extLst>
              </a:tr>
              <a:tr h="255365">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0.96</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9</a:t>
                      </a:r>
                    </a:p>
                  </a:txBody>
                  <a:tcPr marL="9525" marR="9525" marT="9525" marB="0" anchor="ctr"/>
                </a:tc>
                <a:tc>
                  <a:txBody>
                    <a:bodyPr/>
                    <a:lstStyle/>
                    <a:p>
                      <a:pPr algn="ctr" fontAlgn="ctr"/>
                      <a:r>
                        <a:rPr lang="fr-FR" sz="1000" b="0" i="0" u="none" strike="noStrike">
                          <a:solidFill>
                            <a:srgbClr val="000000"/>
                          </a:solidFill>
                          <a:effectLst/>
                          <a:latin typeface="Arial" panose="020B0604020202020204" pitchFamily="34" charset="0"/>
                          <a:cs typeface="Arial" panose="020B0604020202020204" pitchFamily="34" charset="0"/>
                        </a:rPr>
                        <a:t>37</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7</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70</a:t>
                      </a:r>
                    </a:p>
                  </a:txBody>
                  <a:tcPr marL="9525" marR="9525" marT="9525" marB="0" anchor="ctr"/>
                </a:tc>
                <a:extLst>
                  <a:ext uri="{0D108BD9-81ED-4DB2-BD59-A6C34878D82A}">
                    <a16:rowId xmlns:a16="http://schemas.microsoft.com/office/drawing/2014/main" val="3955579257"/>
                  </a:ext>
                </a:extLst>
              </a:tr>
            </a:tbl>
          </a:graphicData>
        </a:graphic>
      </p:graphicFrame>
      <p:sp>
        <p:nvSpPr>
          <p:cNvPr id="11" name="Espace réservé du contenu 2">
            <a:extLst>
              <a:ext uri="{FF2B5EF4-FFF2-40B4-BE49-F238E27FC236}">
                <a16:creationId xmlns:a16="http://schemas.microsoft.com/office/drawing/2014/main" id="{FF398A72-E752-4275-91D0-D1657418C4A4}"/>
              </a:ext>
            </a:extLst>
          </p:cNvPr>
          <p:cNvSpPr>
            <a:spLocks noGrp="1"/>
          </p:cNvSpPr>
          <p:nvPr>
            <p:ph idx="1"/>
          </p:nvPr>
        </p:nvSpPr>
        <p:spPr>
          <a:xfrm>
            <a:off x="442913" y="1426464"/>
            <a:ext cx="5061776" cy="5256000"/>
          </a:xfrm>
        </p:spPr>
        <p:txBody>
          <a:bodyPr/>
          <a:lstStyle/>
          <a:p>
            <a:pPr marL="0" indent="0">
              <a:lnSpc>
                <a:spcPct val="100000"/>
              </a:lnSpc>
              <a:spcBef>
                <a:spcPts val="600"/>
              </a:spcBef>
              <a:buNone/>
            </a:pPr>
            <a:r>
              <a:rPr lang="en-GB" sz="1800" b="1" dirty="0">
                <a:solidFill>
                  <a:srgbClr val="D04A02"/>
                </a:solidFill>
              </a:rPr>
              <a:t>Observations and comments</a:t>
            </a:r>
          </a:p>
          <a:p>
            <a:pPr marL="285750" indent="-285750">
              <a:lnSpc>
                <a:spcPct val="100000"/>
              </a:lnSpc>
              <a:spcBef>
                <a:spcPts val="600"/>
              </a:spcBef>
              <a:buFont typeface="Arial" panose="020B0604020202020204" pitchFamily="34" charset="0"/>
              <a:buChar char="•"/>
            </a:pPr>
            <a:r>
              <a:rPr lang="en-GB" sz="1600" dirty="0"/>
              <a:t>The </a:t>
            </a:r>
            <a:r>
              <a:rPr lang="en-GB" sz="1600" b="1" dirty="0"/>
              <a:t>weighted average </a:t>
            </a:r>
            <a:r>
              <a:rPr lang="en-GB" sz="1600" dirty="0"/>
              <a:t>is of </a:t>
            </a:r>
            <a:r>
              <a:rPr lang="en-GB" sz="1600" b="1" dirty="0"/>
              <a:t>9 kg CO2/m</a:t>
            </a:r>
            <a:r>
              <a:rPr lang="en-GB" sz="1600" b="1" baseline="30000" dirty="0"/>
              <a:t>3</a:t>
            </a:r>
            <a:r>
              <a:rPr lang="en-GB" sz="1600" dirty="0"/>
              <a:t> of concrete from transport at European level.</a:t>
            </a:r>
          </a:p>
          <a:p>
            <a:pPr marL="285750" indent="-285750">
              <a:lnSpc>
                <a:spcPct val="100000"/>
              </a:lnSpc>
              <a:spcBef>
                <a:spcPts val="600"/>
              </a:spcBef>
              <a:buFont typeface="Arial" panose="020B0604020202020204" pitchFamily="34" charset="0"/>
              <a:buChar char="•"/>
            </a:pPr>
            <a:r>
              <a:rPr lang="en-GB" sz="1600" dirty="0"/>
              <a:t>Around </a:t>
            </a:r>
            <a:r>
              <a:rPr lang="en-GB" sz="1600" b="1" dirty="0"/>
              <a:t>80% of values </a:t>
            </a:r>
            <a:r>
              <a:rPr lang="en-GB" sz="1600" dirty="0"/>
              <a:t>lie </a:t>
            </a:r>
            <a:r>
              <a:rPr lang="en-GB" sz="1600" b="1" dirty="0"/>
              <a:t>between 2 and </a:t>
            </a:r>
            <a:br>
              <a:rPr lang="en-GB" sz="1600" b="1" dirty="0"/>
            </a:br>
            <a:r>
              <a:rPr lang="en-GB" sz="1600" b="1" dirty="0"/>
              <a:t>11 kg CO2/m</a:t>
            </a:r>
            <a:r>
              <a:rPr lang="en-GB" sz="1600" b="1" baseline="30000" dirty="0"/>
              <a:t>3</a:t>
            </a:r>
            <a:r>
              <a:rPr lang="en-GB" sz="1600" dirty="0"/>
              <a:t>.</a:t>
            </a:r>
          </a:p>
          <a:p>
            <a:pPr marL="285750" indent="-285750">
              <a:lnSpc>
                <a:spcPct val="100000"/>
              </a:lnSpc>
              <a:spcBef>
                <a:spcPts val="600"/>
              </a:spcBef>
              <a:buFont typeface="Arial" panose="020B0604020202020204" pitchFamily="34" charset="0"/>
              <a:buChar char="•"/>
            </a:pPr>
            <a:r>
              <a:rPr lang="en-GB" sz="1600" dirty="0"/>
              <a:t>The </a:t>
            </a:r>
            <a:r>
              <a:rPr lang="en-GB" sz="1600" b="1" dirty="0"/>
              <a:t>maximum value of 37 kg CO2/m</a:t>
            </a:r>
            <a:r>
              <a:rPr lang="en-GB" sz="1600" b="1" baseline="30000" dirty="0"/>
              <a:t>3</a:t>
            </a:r>
            <a:r>
              <a:rPr lang="en-GB" sz="1600" dirty="0"/>
              <a:t>,</a:t>
            </a:r>
            <a:r>
              <a:rPr lang="en-GB" sz="1600" b="1" dirty="0"/>
              <a:t> </a:t>
            </a:r>
            <a:r>
              <a:rPr lang="en-GB" sz="1600" dirty="0"/>
              <a:t>corresponding</a:t>
            </a:r>
            <a:r>
              <a:rPr lang="en-GB" sz="1600" b="1" dirty="0"/>
              <a:t> </a:t>
            </a:r>
            <a:r>
              <a:rPr lang="en-GB" sz="1600" dirty="0"/>
              <a:t>to </a:t>
            </a:r>
            <a:r>
              <a:rPr lang="en-GB" sz="1600" b="1" dirty="0"/>
              <a:t>one country</a:t>
            </a:r>
            <a:r>
              <a:rPr lang="en-GB" sz="1600" dirty="0"/>
              <a:t> </a:t>
            </a:r>
            <a:r>
              <a:rPr lang="en-GB" sz="1600" b="1" dirty="0"/>
              <a:t>isolated</a:t>
            </a:r>
            <a:r>
              <a:rPr lang="en-GB" sz="1600" dirty="0"/>
              <a:t> from other reporting countries, </a:t>
            </a:r>
            <a:r>
              <a:rPr lang="en-GB" sz="1600" b="1" dirty="0"/>
              <a:t>increases the average of </a:t>
            </a:r>
            <a:br>
              <a:rPr lang="en-GB" sz="1600" b="1" dirty="0"/>
            </a:br>
            <a:r>
              <a:rPr lang="en-GB" sz="1600" b="1" dirty="0"/>
              <a:t>3 kg CO2/m</a:t>
            </a:r>
            <a:r>
              <a:rPr lang="en-GB" sz="1600" b="1" baseline="30000" dirty="0"/>
              <a:t>3</a:t>
            </a:r>
            <a:r>
              <a:rPr lang="en-GB" sz="1600" dirty="0"/>
              <a:t> .</a:t>
            </a:r>
          </a:p>
          <a:p>
            <a:pPr marL="285750" indent="-285750">
              <a:lnSpc>
                <a:spcPct val="100000"/>
              </a:lnSpc>
              <a:spcBef>
                <a:spcPts val="600"/>
              </a:spcBef>
              <a:buFont typeface="Arial" panose="020B0604020202020204" pitchFamily="34" charset="0"/>
              <a:buChar char="•"/>
            </a:pPr>
            <a:r>
              <a:rPr lang="en-GB" sz="1600" dirty="0"/>
              <a:t>The chart pictures </a:t>
            </a:r>
            <a:r>
              <a:rPr lang="en-GB" sz="1600" b="1" dirty="0"/>
              <a:t>70% of Europe coverage</a:t>
            </a:r>
            <a:r>
              <a:rPr lang="en-GB" sz="1600" dirty="0"/>
              <a:t>. </a:t>
            </a:r>
            <a:br>
              <a:rPr lang="en-GB" sz="1600" dirty="0"/>
            </a:br>
            <a:r>
              <a:rPr lang="en-GB" sz="1600" dirty="0"/>
              <a:t>The remaining 30% corresponds to missing data on average fuel consumption, coming </a:t>
            </a:r>
            <a:r>
              <a:rPr lang="en-US" sz="1600" dirty="0"/>
              <a:t>for example from contractors and customers, which would be too sensitive to start collecting.</a:t>
            </a:r>
          </a:p>
          <a:p>
            <a:pPr marL="285750" indent="-285750">
              <a:lnSpc>
                <a:spcPct val="100000"/>
              </a:lnSpc>
              <a:spcBef>
                <a:spcPts val="600"/>
              </a:spcBef>
              <a:buFont typeface="Arial" panose="020B0604020202020204" pitchFamily="34" charset="0"/>
              <a:buChar char="•"/>
            </a:pPr>
            <a:endParaRPr lang="en-GB" sz="1600" dirty="0"/>
          </a:p>
        </p:txBody>
      </p:sp>
      <p:sp>
        <p:nvSpPr>
          <p:cNvPr id="3" name="Espace réservé du pied de page 2">
            <a:extLst>
              <a:ext uri="{FF2B5EF4-FFF2-40B4-BE49-F238E27FC236}">
                <a16:creationId xmlns:a16="http://schemas.microsoft.com/office/drawing/2014/main" id="{4525BD4F-6B96-4CBD-9E71-960816D0E37F}"/>
              </a:ext>
            </a:extLst>
          </p:cNvPr>
          <p:cNvSpPr>
            <a:spLocks noGrp="1"/>
          </p:cNvSpPr>
          <p:nvPr>
            <p:ph type="ftr" sz="quarter" idx="13"/>
          </p:nvPr>
        </p:nvSpPr>
        <p:spPr/>
        <p:txBody>
          <a:bodyPr/>
          <a:lstStyle/>
          <a:p>
            <a:pPr algn="l"/>
            <a:r>
              <a:rPr lang="en-US" dirty="0"/>
              <a:t>GCCA GNR Concrete Pilot Project</a:t>
            </a:r>
            <a:endParaRPr lang="fr-FR" dirty="0"/>
          </a:p>
        </p:txBody>
      </p:sp>
      <p:sp>
        <p:nvSpPr>
          <p:cNvPr id="12" name="Rectangle 11">
            <a:extLst>
              <a:ext uri="{FF2B5EF4-FFF2-40B4-BE49-F238E27FC236}">
                <a16:creationId xmlns:a16="http://schemas.microsoft.com/office/drawing/2014/main" id="{CE378194-C50C-44FF-B955-C4DA3F397391}"/>
              </a:ext>
            </a:extLst>
          </p:cNvPr>
          <p:cNvSpPr/>
          <p:nvPr/>
        </p:nvSpPr>
        <p:spPr>
          <a:xfrm>
            <a:off x="10753344" y="88931"/>
            <a:ext cx="104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Europe level</a:t>
            </a:r>
          </a:p>
        </p:txBody>
      </p:sp>
      <p:graphicFrame>
        <p:nvGraphicFramePr>
          <p:cNvPr id="14" name="Graphique 13">
            <a:extLst>
              <a:ext uri="{FF2B5EF4-FFF2-40B4-BE49-F238E27FC236}">
                <a16:creationId xmlns:a16="http://schemas.microsoft.com/office/drawing/2014/main" id="{4FDA451A-A41F-4724-AC0C-CE717A380C38}"/>
              </a:ext>
            </a:extLst>
          </p:cNvPr>
          <p:cNvGraphicFramePr>
            <a:graphicFrameLocks/>
          </p:cNvGraphicFramePr>
          <p:nvPr>
            <p:extLst>
              <p:ext uri="{D42A27DB-BD31-4B8C-83A1-F6EECF244321}">
                <p14:modId xmlns:p14="http://schemas.microsoft.com/office/powerpoint/2010/main" val="291262930"/>
              </p:ext>
            </p:extLst>
          </p:nvPr>
        </p:nvGraphicFramePr>
        <p:xfrm>
          <a:off x="5740745" y="2405743"/>
          <a:ext cx="5832000" cy="399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3082960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2A529BD1-2CFA-49F7-ACB1-89B40F9A3C98}"/>
              </a:ext>
            </a:extLst>
          </p:cNvPr>
          <p:cNvGraphicFramePr>
            <a:graphicFrameLocks noChangeAspect="1"/>
          </p:cNvGraphicFramePr>
          <p:nvPr>
            <p:custDataLst>
              <p:tags r:id="rId1"/>
            </p:custDataLst>
            <p:extLst>
              <p:ext uri="{D42A27DB-BD31-4B8C-83A1-F6EECF244321}">
                <p14:modId xmlns:p14="http://schemas.microsoft.com/office/powerpoint/2010/main" val="105758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8" name="Objet 7" hidden="1">
                        <a:extLst>
                          <a:ext uri="{FF2B5EF4-FFF2-40B4-BE49-F238E27FC236}">
                            <a16:creationId xmlns:a16="http://schemas.microsoft.com/office/drawing/2014/main" id="{2A529BD1-2CFA-49F7-ACB1-89B40F9A3C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92E6A0F9-72EE-4AAF-88A1-1962A860B96F}"/>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924D22C5-F5C9-4D3E-AACC-3CFE28BB3DDF}"/>
              </a:ext>
            </a:extLst>
          </p:cNvPr>
          <p:cNvSpPr>
            <a:spLocks noGrp="1"/>
          </p:cNvSpPr>
          <p:nvPr>
            <p:ph type="title"/>
          </p:nvPr>
        </p:nvSpPr>
        <p:spPr/>
        <p:txBody>
          <a:bodyPr/>
          <a:lstStyle/>
          <a:p>
            <a:r>
              <a:rPr lang="en-GB" dirty="0"/>
              <a:t>CO2 emissions from transport vary according to countries</a:t>
            </a:r>
            <a:br>
              <a:rPr lang="en-GB" dirty="0"/>
            </a:br>
            <a:r>
              <a:rPr lang="en-GB" sz="2200" dirty="0"/>
              <a:t>The reported data broadly come from company-owned trucks.</a:t>
            </a:r>
          </a:p>
        </p:txBody>
      </p:sp>
      <p:sp>
        <p:nvSpPr>
          <p:cNvPr id="5" name="Espace réservé de la date 4">
            <a:extLst>
              <a:ext uri="{FF2B5EF4-FFF2-40B4-BE49-F238E27FC236}">
                <a16:creationId xmlns:a16="http://schemas.microsoft.com/office/drawing/2014/main" id="{CFE8B41F-1D51-4E76-A6C5-AB0B98A016F0}"/>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1BA9DF88-5D62-4ACF-BCF1-2722E055E24A}"/>
              </a:ext>
            </a:extLst>
          </p:cNvPr>
          <p:cNvSpPr>
            <a:spLocks noGrp="1"/>
          </p:cNvSpPr>
          <p:nvPr>
            <p:ph type="sldNum" sz="quarter" idx="11"/>
          </p:nvPr>
        </p:nvSpPr>
        <p:spPr/>
        <p:txBody>
          <a:bodyPr/>
          <a:lstStyle/>
          <a:p>
            <a:fld id="{7870704B-CE94-48CC-AF30-84932A1262A7}" type="slidenum">
              <a:rPr lang="fr-FR" smtClean="0"/>
              <a:pPr/>
              <a:t>23</a:t>
            </a:fld>
            <a:endParaRPr lang="fr-FR" dirty="0"/>
          </a:p>
        </p:txBody>
      </p:sp>
      <p:graphicFrame>
        <p:nvGraphicFramePr>
          <p:cNvPr id="10" name="Tableau 9">
            <a:extLst>
              <a:ext uri="{FF2B5EF4-FFF2-40B4-BE49-F238E27FC236}">
                <a16:creationId xmlns:a16="http://schemas.microsoft.com/office/drawing/2014/main" id="{007F0B68-9A76-4324-B7E6-BEEE1FA8F95A}"/>
              </a:ext>
            </a:extLst>
          </p:cNvPr>
          <p:cNvGraphicFramePr>
            <a:graphicFrameLocks noGrp="1"/>
          </p:cNvGraphicFramePr>
          <p:nvPr>
            <p:extLst>
              <p:ext uri="{D42A27DB-BD31-4B8C-83A1-F6EECF244321}">
                <p14:modId xmlns:p14="http://schemas.microsoft.com/office/powerpoint/2010/main" val="858226209"/>
              </p:ext>
            </p:extLst>
          </p:nvPr>
        </p:nvGraphicFramePr>
        <p:xfrm>
          <a:off x="6208745" y="1426463"/>
          <a:ext cx="4896000" cy="864000"/>
        </p:xfrm>
        <a:graphic>
          <a:graphicData uri="http://schemas.openxmlformats.org/drawingml/2006/table">
            <a:tbl>
              <a:tblPr firstRow="1" bandRow="1">
                <a:tableStyleId>{5C22544A-7EE6-4342-B048-85BDC9FD1C3A}</a:tableStyleId>
              </a:tblPr>
              <a:tblGrid>
                <a:gridCol w="979200">
                  <a:extLst>
                    <a:ext uri="{9D8B030D-6E8A-4147-A177-3AD203B41FA5}">
                      <a16:colId xmlns:a16="http://schemas.microsoft.com/office/drawing/2014/main" val="3605666383"/>
                    </a:ext>
                  </a:extLst>
                </a:gridCol>
                <a:gridCol w="979200">
                  <a:extLst>
                    <a:ext uri="{9D8B030D-6E8A-4147-A177-3AD203B41FA5}">
                      <a16:colId xmlns:a16="http://schemas.microsoft.com/office/drawing/2014/main" val="4135103201"/>
                    </a:ext>
                  </a:extLst>
                </a:gridCol>
                <a:gridCol w="979200">
                  <a:extLst>
                    <a:ext uri="{9D8B030D-6E8A-4147-A177-3AD203B41FA5}">
                      <a16:colId xmlns:a16="http://schemas.microsoft.com/office/drawing/2014/main" val="4276878264"/>
                    </a:ext>
                  </a:extLst>
                </a:gridCol>
                <a:gridCol w="989171">
                  <a:extLst>
                    <a:ext uri="{9D8B030D-6E8A-4147-A177-3AD203B41FA5}">
                      <a16:colId xmlns:a16="http://schemas.microsoft.com/office/drawing/2014/main" val="3288090762"/>
                    </a:ext>
                  </a:extLst>
                </a:gridCol>
                <a:gridCol w="969229">
                  <a:extLst>
                    <a:ext uri="{9D8B030D-6E8A-4147-A177-3AD203B41FA5}">
                      <a16:colId xmlns:a16="http://schemas.microsoft.com/office/drawing/2014/main" val="1746470674"/>
                    </a:ext>
                  </a:extLst>
                </a:gridCol>
              </a:tblGrid>
              <a:tr h="353270">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 </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43307530"/>
                  </a:ext>
                </a:extLst>
              </a:tr>
              <a:tr h="255365">
                <a:tc>
                  <a:txBody>
                    <a:bodyPr/>
                    <a:lstStyle/>
                    <a:p>
                      <a:pPr algn="ctr" fontAlgn="ctr"/>
                      <a:r>
                        <a:rPr lang="en-GB" sz="1000" b="0" i="1" dirty="0"/>
                        <a:t>kg CO2/m</a:t>
                      </a:r>
                      <a:r>
                        <a:rPr lang="en-GB" sz="1000" b="0" i="1" baseline="30000" dirty="0"/>
                        <a:t>3</a:t>
                      </a:r>
                      <a:r>
                        <a:rPr lang="en-GB" sz="1000" b="0" i="1" dirty="0"/>
                        <a:t> </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b="0" i="1" dirty="0"/>
                        <a:t>kg CO2/m</a:t>
                      </a:r>
                      <a:r>
                        <a:rPr lang="en-GB" sz="1000" b="0" i="1" baseline="30000" dirty="0"/>
                        <a:t>3</a:t>
                      </a:r>
                      <a:r>
                        <a:rPr lang="en-GB" sz="1000" b="0" i="1" dirty="0"/>
                        <a:t> </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0" i="1" dirty="0"/>
                        <a:t>kg CO2/m</a:t>
                      </a:r>
                      <a:r>
                        <a:rPr lang="en-GB" sz="1000" b="0" i="1" baseline="30000" dirty="0"/>
                        <a:t>3</a:t>
                      </a:r>
                      <a:r>
                        <a:rPr lang="en-GB" sz="1000" b="0" i="1" dirty="0"/>
                        <a:t> </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0" i="1" dirty="0"/>
                        <a:t>kg CO2/m</a:t>
                      </a:r>
                      <a:r>
                        <a:rPr lang="en-GB" sz="1000" b="0" i="1" baseline="30000" dirty="0"/>
                        <a:t>3</a:t>
                      </a:r>
                      <a:r>
                        <a:rPr lang="en-GB" sz="1000" b="0" i="1" dirty="0"/>
                        <a:t> </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3068898696"/>
                  </a:ext>
                </a:extLst>
              </a:tr>
              <a:tr h="255365">
                <a:tc>
                  <a:txBody>
                    <a:bodyPr/>
                    <a:lstStyle/>
                    <a:p>
                      <a:pPr algn="ctr" fontAlgn="ctr"/>
                      <a:r>
                        <a:rPr lang="fr-FR" sz="1000" b="0" i="0" kern="1200" dirty="0">
                          <a:solidFill>
                            <a:schemeClr val="dk1"/>
                          </a:solidFill>
                          <a:latin typeface="+mn-lt"/>
                          <a:ea typeface="+mn-ea"/>
                          <a:cs typeface="+mn-cs"/>
                        </a:rPr>
                        <a:t>3.5</a:t>
                      </a:r>
                    </a:p>
                  </a:txBody>
                  <a:tcPr marL="9525" marR="9525" marT="9525" marB="0" anchor="ctr"/>
                </a:tc>
                <a:tc>
                  <a:txBody>
                    <a:bodyPr/>
                    <a:lstStyle/>
                    <a:p>
                      <a:pPr algn="ctr" fontAlgn="ctr"/>
                      <a:r>
                        <a:rPr lang="fr-FR" sz="1000" b="0" i="0" kern="1200" dirty="0">
                          <a:solidFill>
                            <a:schemeClr val="dk1"/>
                          </a:solidFill>
                          <a:latin typeface="+mn-lt"/>
                          <a:ea typeface="+mn-ea"/>
                          <a:cs typeface="+mn-cs"/>
                        </a:rPr>
                        <a:t>13</a:t>
                      </a:r>
                    </a:p>
                  </a:txBody>
                  <a:tcPr marL="9525" marR="9525" marT="9525" marB="0" anchor="ctr"/>
                </a:tc>
                <a:tc>
                  <a:txBody>
                    <a:bodyPr/>
                    <a:lstStyle/>
                    <a:p>
                      <a:pPr algn="ctr" fontAlgn="ctr"/>
                      <a:r>
                        <a:rPr lang="fr-FR" sz="1000" b="0" i="0" kern="1200" dirty="0">
                          <a:solidFill>
                            <a:schemeClr val="dk1"/>
                          </a:solidFill>
                          <a:latin typeface="+mn-lt"/>
                          <a:ea typeface="+mn-ea"/>
                          <a:cs typeface="+mn-cs"/>
                        </a:rPr>
                        <a:t>24</a:t>
                      </a:r>
                    </a:p>
                  </a:txBody>
                  <a:tcPr marL="9525" marR="9525" marT="9525" marB="0" anchor="ctr"/>
                </a:tc>
                <a:tc>
                  <a:txBody>
                    <a:bodyPr/>
                    <a:lstStyle/>
                    <a:p>
                      <a:pPr algn="ctr" fontAlgn="ctr"/>
                      <a:r>
                        <a:rPr lang="fr-FR" sz="1000" b="0" i="0" kern="1200" dirty="0">
                          <a:solidFill>
                            <a:schemeClr val="dk1"/>
                          </a:solidFill>
                          <a:latin typeface="+mn-lt"/>
                          <a:ea typeface="+mn-ea"/>
                          <a:cs typeface="+mn-cs"/>
                        </a:rPr>
                        <a:t>5</a:t>
                      </a:r>
                    </a:p>
                  </a:txBody>
                  <a:tcPr marL="9525" marR="9525" marT="9525" marB="0" anchor="ctr"/>
                </a:tc>
                <a:tc>
                  <a:txBody>
                    <a:bodyPr/>
                    <a:lstStyle/>
                    <a:p>
                      <a:pPr algn="ctr" fontAlgn="ctr"/>
                      <a:r>
                        <a:rPr lang="fr-FR" sz="1000" b="0" i="0" kern="1200" dirty="0">
                          <a:solidFill>
                            <a:schemeClr val="dk1"/>
                          </a:solidFill>
                          <a:latin typeface="+mn-lt"/>
                          <a:ea typeface="+mn-ea"/>
                          <a:cs typeface="+mn-cs"/>
                        </a:rPr>
                        <a:t>100</a:t>
                      </a:r>
                    </a:p>
                  </a:txBody>
                  <a:tcPr marL="9525" marR="9525" marT="9525" marB="0" anchor="ctr"/>
                </a:tc>
                <a:extLst>
                  <a:ext uri="{0D108BD9-81ED-4DB2-BD59-A6C34878D82A}">
                    <a16:rowId xmlns:a16="http://schemas.microsoft.com/office/drawing/2014/main" val="3955579257"/>
                  </a:ext>
                </a:extLst>
              </a:tr>
            </a:tbl>
          </a:graphicData>
        </a:graphic>
      </p:graphicFrame>
      <p:sp>
        <p:nvSpPr>
          <p:cNvPr id="11" name="Espace réservé du contenu 2">
            <a:extLst>
              <a:ext uri="{FF2B5EF4-FFF2-40B4-BE49-F238E27FC236}">
                <a16:creationId xmlns:a16="http://schemas.microsoft.com/office/drawing/2014/main" id="{FF398A72-E752-4275-91D0-D1657418C4A4}"/>
              </a:ext>
            </a:extLst>
          </p:cNvPr>
          <p:cNvSpPr>
            <a:spLocks noGrp="1"/>
          </p:cNvSpPr>
          <p:nvPr>
            <p:ph idx="1"/>
          </p:nvPr>
        </p:nvSpPr>
        <p:spPr>
          <a:xfrm>
            <a:off x="442913" y="1426464"/>
            <a:ext cx="5061776" cy="5256000"/>
          </a:xfrm>
        </p:spPr>
        <p:txBody>
          <a:bodyPr/>
          <a:lstStyle/>
          <a:p>
            <a:pPr marL="0" indent="0">
              <a:lnSpc>
                <a:spcPct val="100000"/>
              </a:lnSpc>
              <a:spcBef>
                <a:spcPts val="600"/>
              </a:spcBef>
              <a:buNone/>
            </a:pPr>
            <a:r>
              <a:rPr lang="en-GB" sz="1800" b="1" dirty="0">
                <a:solidFill>
                  <a:srgbClr val="D04A02"/>
                </a:solidFill>
              </a:rPr>
              <a:t>Observations and comments</a:t>
            </a:r>
          </a:p>
          <a:p>
            <a:pPr marL="285750" indent="-285750">
              <a:lnSpc>
                <a:spcPct val="100000"/>
              </a:lnSpc>
              <a:spcBef>
                <a:spcPts val="600"/>
              </a:spcBef>
              <a:buFont typeface="Arial" panose="020B0604020202020204" pitchFamily="34" charset="0"/>
              <a:buChar char="•"/>
            </a:pPr>
            <a:r>
              <a:rPr lang="en-GB" sz="1600" dirty="0"/>
              <a:t>The </a:t>
            </a:r>
            <a:r>
              <a:rPr lang="en-GB" sz="1600" b="1" dirty="0"/>
              <a:t>weighted average </a:t>
            </a:r>
            <a:r>
              <a:rPr lang="en-GB" sz="1600" dirty="0"/>
              <a:t>is of </a:t>
            </a:r>
            <a:r>
              <a:rPr lang="en-GB" sz="1600" b="1" dirty="0"/>
              <a:t>13 kg CO2/m</a:t>
            </a:r>
            <a:r>
              <a:rPr lang="en-GB" sz="1600" b="1" baseline="30000" dirty="0"/>
              <a:t>3</a:t>
            </a:r>
            <a:r>
              <a:rPr lang="en-GB" sz="1600" dirty="0"/>
              <a:t> of concrete from transport at European level.</a:t>
            </a:r>
          </a:p>
          <a:p>
            <a:pPr marL="285750" indent="-285750">
              <a:lnSpc>
                <a:spcPct val="100000"/>
              </a:lnSpc>
              <a:spcBef>
                <a:spcPts val="600"/>
              </a:spcBef>
              <a:buFont typeface="Arial" panose="020B0604020202020204" pitchFamily="34" charset="0"/>
              <a:buChar char="•"/>
            </a:pPr>
            <a:r>
              <a:rPr lang="en-GB" sz="1600" dirty="0"/>
              <a:t>Around </a:t>
            </a:r>
            <a:r>
              <a:rPr lang="en-GB" sz="1600" b="1" dirty="0"/>
              <a:t>80% of values </a:t>
            </a:r>
            <a:r>
              <a:rPr lang="en-GB" sz="1600" dirty="0"/>
              <a:t>lie </a:t>
            </a:r>
            <a:r>
              <a:rPr lang="en-GB" sz="1600" b="1" dirty="0"/>
              <a:t>between 3 and </a:t>
            </a:r>
            <a:br>
              <a:rPr lang="en-GB" sz="1600" b="1" dirty="0"/>
            </a:br>
            <a:r>
              <a:rPr lang="en-GB" sz="1600" b="1" dirty="0"/>
              <a:t>11 kg CO2/m</a:t>
            </a:r>
            <a:r>
              <a:rPr lang="en-GB" sz="1600" b="1" baseline="30000" dirty="0"/>
              <a:t>3</a:t>
            </a:r>
            <a:r>
              <a:rPr lang="en-GB" sz="1600" dirty="0"/>
              <a:t>.</a:t>
            </a:r>
          </a:p>
          <a:p>
            <a:pPr marL="285750" indent="-285750">
              <a:lnSpc>
                <a:spcPct val="100000"/>
              </a:lnSpc>
              <a:spcBef>
                <a:spcPts val="600"/>
              </a:spcBef>
              <a:buFont typeface="Arial" panose="020B0604020202020204" pitchFamily="34" charset="0"/>
              <a:buChar char="•"/>
            </a:pPr>
            <a:r>
              <a:rPr lang="en-GB" sz="1600" dirty="0"/>
              <a:t>The chart pictures </a:t>
            </a:r>
            <a:r>
              <a:rPr lang="en-GB" sz="1600" b="1" dirty="0"/>
              <a:t>100% of coverage in North America</a:t>
            </a:r>
            <a:r>
              <a:rPr lang="en-GB" sz="1600" dirty="0"/>
              <a:t>. </a:t>
            </a:r>
          </a:p>
          <a:p>
            <a:pPr marL="285750" indent="-285750">
              <a:lnSpc>
                <a:spcPct val="100000"/>
              </a:lnSpc>
              <a:spcBef>
                <a:spcPts val="600"/>
              </a:spcBef>
              <a:buFont typeface="Arial" panose="020B0604020202020204" pitchFamily="34" charset="0"/>
              <a:buChar char="•"/>
            </a:pPr>
            <a:r>
              <a:rPr lang="en-GB" sz="1600" dirty="0"/>
              <a:t>The </a:t>
            </a:r>
            <a:r>
              <a:rPr lang="en-GB" sz="1600" b="1" dirty="0"/>
              <a:t>United States </a:t>
            </a:r>
            <a:r>
              <a:rPr lang="en-GB" sz="1600" dirty="0"/>
              <a:t>is the country with the largest amount of CO2 emissions from transport of concrete.</a:t>
            </a:r>
            <a:br>
              <a:rPr lang="en-GB" sz="1600" dirty="0"/>
            </a:br>
            <a:endParaRPr lang="en-GB" sz="1600" dirty="0"/>
          </a:p>
        </p:txBody>
      </p:sp>
      <p:sp>
        <p:nvSpPr>
          <p:cNvPr id="3" name="Espace réservé du pied de page 2">
            <a:extLst>
              <a:ext uri="{FF2B5EF4-FFF2-40B4-BE49-F238E27FC236}">
                <a16:creationId xmlns:a16="http://schemas.microsoft.com/office/drawing/2014/main" id="{4525BD4F-6B96-4CBD-9E71-960816D0E37F}"/>
              </a:ext>
            </a:extLst>
          </p:cNvPr>
          <p:cNvSpPr>
            <a:spLocks noGrp="1"/>
          </p:cNvSpPr>
          <p:nvPr>
            <p:ph type="ftr" sz="quarter" idx="13"/>
          </p:nvPr>
        </p:nvSpPr>
        <p:spPr/>
        <p:txBody>
          <a:bodyPr/>
          <a:lstStyle/>
          <a:p>
            <a:pPr algn="l"/>
            <a:r>
              <a:rPr lang="en-US" dirty="0"/>
              <a:t>GCCA GNR Concrete Pilot Project</a:t>
            </a:r>
            <a:endParaRPr lang="fr-FR" dirty="0"/>
          </a:p>
        </p:txBody>
      </p:sp>
      <p:sp>
        <p:nvSpPr>
          <p:cNvPr id="12" name="Rectangle 11">
            <a:extLst>
              <a:ext uri="{FF2B5EF4-FFF2-40B4-BE49-F238E27FC236}">
                <a16:creationId xmlns:a16="http://schemas.microsoft.com/office/drawing/2014/main" id="{CE378194-C50C-44FF-B955-C4DA3F397391}"/>
              </a:ext>
            </a:extLst>
          </p:cNvPr>
          <p:cNvSpPr/>
          <p:nvPr/>
        </p:nvSpPr>
        <p:spPr>
          <a:xfrm>
            <a:off x="10753344" y="88931"/>
            <a:ext cx="122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North America</a:t>
            </a:r>
          </a:p>
        </p:txBody>
      </p:sp>
      <p:graphicFrame>
        <p:nvGraphicFramePr>
          <p:cNvPr id="14" name="Graphique 13">
            <a:extLst>
              <a:ext uri="{FF2B5EF4-FFF2-40B4-BE49-F238E27FC236}">
                <a16:creationId xmlns:a16="http://schemas.microsoft.com/office/drawing/2014/main" id="{28A6A9B7-2737-4DB7-AA65-E0278B6DFA04}"/>
              </a:ext>
            </a:extLst>
          </p:cNvPr>
          <p:cNvGraphicFramePr>
            <a:graphicFrameLocks/>
          </p:cNvGraphicFramePr>
          <p:nvPr>
            <p:extLst>
              <p:ext uri="{D42A27DB-BD31-4B8C-83A1-F6EECF244321}">
                <p14:modId xmlns:p14="http://schemas.microsoft.com/office/powerpoint/2010/main" val="3392471086"/>
              </p:ext>
            </p:extLst>
          </p:nvPr>
        </p:nvGraphicFramePr>
        <p:xfrm>
          <a:off x="5740745" y="2405743"/>
          <a:ext cx="5832000" cy="3960000"/>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4684292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 4" hidden="1">
            <a:extLst>
              <a:ext uri="{FF2B5EF4-FFF2-40B4-BE49-F238E27FC236}">
                <a16:creationId xmlns:a16="http://schemas.microsoft.com/office/drawing/2014/main" id="{F24E8F8F-272E-4235-9A42-BBC2771D682A}"/>
              </a:ext>
            </a:extLst>
          </p:cNvPr>
          <p:cNvGraphicFramePr>
            <a:graphicFrameLocks noChangeAspect="1"/>
          </p:cNvGraphicFramePr>
          <p:nvPr>
            <p:custDataLst>
              <p:tags r:id="rId1"/>
            </p:custDataLst>
            <p:extLst>
              <p:ext uri="{D42A27DB-BD31-4B8C-83A1-F6EECF244321}">
                <p14:modId xmlns:p14="http://schemas.microsoft.com/office/powerpoint/2010/main" val="29466505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5" name="Objet 4" hidden="1">
                        <a:extLst>
                          <a:ext uri="{FF2B5EF4-FFF2-40B4-BE49-F238E27FC236}">
                            <a16:creationId xmlns:a16="http://schemas.microsoft.com/office/drawing/2014/main" id="{F24E8F8F-272E-4235-9A42-BBC2771D682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884EB45-E361-469E-9C62-A77F2BC3F406}"/>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US" sz="4000" dirty="0">
              <a:latin typeface="Arial" panose="020B0604020202020204" pitchFamily="34" charset="0"/>
              <a:ea typeface="+mj-ea"/>
              <a:cs typeface="+mj-cs"/>
              <a:sym typeface="Arial" panose="020B0604020202020204" pitchFamily="34" charset="0"/>
            </a:endParaRPr>
          </a:p>
        </p:txBody>
      </p:sp>
      <p:sp>
        <p:nvSpPr>
          <p:cNvPr id="2" name="Title 1"/>
          <p:cNvSpPr>
            <a:spLocks noGrp="1"/>
          </p:cNvSpPr>
          <p:nvPr>
            <p:ph type="title"/>
          </p:nvPr>
        </p:nvSpPr>
        <p:spPr/>
        <p:txBody>
          <a:bodyPr/>
          <a:lstStyle/>
          <a:p>
            <a:r>
              <a:rPr lang="en-US" dirty="0"/>
              <a:t>Circular Economy</a:t>
            </a:r>
            <a:endParaRPr lang="en-GB" dirty="0"/>
          </a:p>
        </p:txBody>
      </p:sp>
      <p:sp>
        <p:nvSpPr>
          <p:cNvPr id="3" name="Text Placeholder 2"/>
          <p:cNvSpPr>
            <a:spLocks noGrp="1"/>
          </p:cNvSpPr>
          <p:nvPr>
            <p:ph type="body" sz="quarter" idx="1"/>
          </p:nvPr>
        </p:nvSpPr>
        <p:spPr/>
        <p:txBody>
          <a:bodyPr/>
          <a:lstStyle/>
          <a:p>
            <a:r>
              <a:rPr lang="fr-FR" dirty="0"/>
              <a:t>3</a:t>
            </a:r>
          </a:p>
        </p:txBody>
      </p:sp>
    </p:spTree>
    <p:extLst>
      <p:ext uri="{BB962C8B-B14F-4D97-AF65-F5344CB8AC3E}">
        <p14:creationId xmlns:p14="http://schemas.microsoft.com/office/powerpoint/2010/main" val="482186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618B3C59-4976-4B3D-98B3-C15C9795F1E5}"/>
              </a:ext>
            </a:extLst>
          </p:cNvPr>
          <p:cNvGraphicFramePr>
            <a:graphicFrameLocks noChangeAspect="1"/>
          </p:cNvGraphicFramePr>
          <p:nvPr>
            <p:custDataLst>
              <p:tags r:id="rId1"/>
            </p:custDataLst>
            <p:extLst>
              <p:ext uri="{D42A27DB-BD31-4B8C-83A1-F6EECF244321}">
                <p14:modId xmlns:p14="http://schemas.microsoft.com/office/powerpoint/2010/main" val="31234017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8" name="Objet 7" hidden="1">
                        <a:extLst>
                          <a:ext uri="{FF2B5EF4-FFF2-40B4-BE49-F238E27FC236}">
                            <a16:creationId xmlns:a16="http://schemas.microsoft.com/office/drawing/2014/main" id="{618B3C59-4976-4B3D-98B3-C15C9795F1E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5B4FDCE4-9147-4C9F-842E-6296AF0E7EAE}"/>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9F75D438-4590-45C3-96BF-3E95A2259EB3}"/>
              </a:ext>
            </a:extLst>
          </p:cNvPr>
          <p:cNvSpPr>
            <a:spLocks noGrp="1"/>
          </p:cNvSpPr>
          <p:nvPr>
            <p:ph type="title"/>
          </p:nvPr>
        </p:nvSpPr>
        <p:spPr>
          <a:xfrm>
            <a:off x="442913" y="432000"/>
            <a:ext cx="11906200" cy="1387275"/>
          </a:xfrm>
        </p:spPr>
        <p:txBody>
          <a:bodyPr/>
          <a:lstStyle/>
          <a:p>
            <a:r>
              <a:rPr lang="en-GB" dirty="0"/>
              <a:t>Wasted and returned concrete are not consistently monitored</a:t>
            </a:r>
            <a:br>
              <a:rPr lang="en-GB" dirty="0"/>
            </a:br>
            <a:r>
              <a:rPr lang="en-GB" sz="2200" dirty="0"/>
              <a:t>Procedures for returned and scrap concrete are in place in 70% of cases. </a:t>
            </a:r>
          </a:p>
        </p:txBody>
      </p:sp>
      <p:sp>
        <p:nvSpPr>
          <p:cNvPr id="5" name="Espace réservé de la date 4">
            <a:extLst>
              <a:ext uri="{FF2B5EF4-FFF2-40B4-BE49-F238E27FC236}">
                <a16:creationId xmlns:a16="http://schemas.microsoft.com/office/drawing/2014/main" id="{472AAFCB-77FF-4D2F-A6A2-97D6C621C31C}"/>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60D443C1-FD71-43A9-95B9-67B5719BBE19}"/>
              </a:ext>
            </a:extLst>
          </p:cNvPr>
          <p:cNvSpPr>
            <a:spLocks noGrp="1"/>
          </p:cNvSpPr>
          <p:nvPr>
            <p:ph type="sldNum" sz="quarter" idx="11"/>
          </p:nvPr>
        </p:nvSpPr>
        <p:spPr/>
        <p:txBody>
          <a:bodyPr/>
          <a:lstStyle/>
          <a:p>
            <a:fld id="{7870704B-CE94-48CC-AF30-84932A1262A7}" type="slidenum">
              <a:rPr lang="fr-FR" smtClean="0"/>
              <a:pPr/>
              <a:t>25</a:t>
            </a:fld>
            <a:endParaRPr lang="fr-FR" dirty="0"/>
          </a:p>
        </p:txBody>
      </p:sp>
      <p:graphicFrame>
        <p:nvGraphicFramePr>
          <p:cNvPr id="11" name="Tableau 10">
            <a:extLst>
              <a:ext uri="{FF2B5EF4-FFF2-40B4-BE49-F238E27FC236}">
                <a16:creationId xmlns:a16="http://schemas.microsoft.com/office/drawing/2014/main" id="{26463C22-F31E-4D4B-8B2D-62BAF697C882}"/>
              </a:ext>
            </a:extLst>
          </p:cNvPr>
          <p:cNvGraphicFramePr>
            <a:graphicFrameLocks noGrp="1"/>
          </p:cNvGraphicFramePr>
          <p:nvPr>
            <p:extLst>
              <p:ext uri="{D42A27DB-BD31-4B8C-83A1-F6EECF244321}">
                <p14:modId xmlns:p14="http://schemas.microsoft.com/office/powerpoint/2010/main" val="3722537413"/>
              </p:ext>
            </p:extLst>
          </p:nvPr>
        </p:nvGraphicFramePr>
        <p:xfrm>
          <a:off x="831603" y="1225425"/>
          <a:ext cx="4320000" cy="864000"/>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1504220348"/>
                    </a:ext>
                  </a:extLst>
                </a:gridCol>
                <a:gridCol w="864000">
                  <a:extLst>
                    <a:ext uri="{9D8B030D-6E8A-4147-A177-3AD203B41FA5}">
                      <a16:colId xmlns:a16="http://schemas.microsoft.com/office/drawing/2014/main" val="1413351609"/>
                    </a:ext>
                  </a:extLst>
                </a:gridCol>
                <a:gridCol w="864000">
                  <a:extLst>
                    <a:ext uri="{9D8B030D-6E8A-4147-A177-3AD203B41FA5}">
                      <a16:colId xmlns:a16="http://schemas.microsoft.com/office/drawing/2014/main" val="1239885802"/>
                    </a:ext>
                  </a:extLst>
                </a:gridCol>
                <a:gridCol w="864000">
                  <a:extLst>
                    <a:ext uri="{9D8B030D-6E8A-4147-A177-3AD203B41FA5}">
                      <a16:colId xmlns:a16="http://schemas.microsoft.com/office/drawing/2014/main" val="1559456594"/>
                    </a:ext>
                  </a:extLst>
                </a:gridCol>
                <a:gridCol w="864000">
                  <a:extLst>
                    <a:ext uri="{9D8B030D-6E8A-4147-A177-3AD203B41FA5}">
                      <a16:colId xmlns:a16="http://schemas.microsoft.com/office/drawing/2014/main" val="3091639623"/>
                    </a:ext>
                  </a:extLst>
                </a:gridCol>
              </a:tblGrid>
              <a:tr h="322658">
                <a:tc>
                  <a:txBody>
                    <a:bodyPr/>
                    <a:lstStyle/>
                    <a:p>
                      <a:pPr algn="ctr" fontAlgn="ctr"/>
                      <a:r>
                        <a:rPr lang="en-GB" sz="1000" b="1" u="none" strike="noStrike">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70671">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endParaRPr lang="fr-FR" sz="1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2749721996"/>
                  </a:ext>
                </a:extLst>
              </a:tr>
              <a:tr h="270671">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0</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0.5</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4</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56</a:t>
                      </a:r>
                    </a:p>
                  </a:txBody>
                  <a:tcPr marL="9525" marR="9525" marT="9525" marB="0" anchor="ctr"/>
                </a:tc>
                <a:extLst>
                  <a:ext uri="{0D108BD9-81ED-4DB2-BD59-A6C34878D82A}">
                    <a16:rowId xmlns:a16="http://schemas.microsoft.com/office/drawing/2014/main" val="2310329303"/>
                  </a:ext>
                </a:extLst>
              </a:tr>
            </a:tbl>
          </a:graphicData>
        </a:graphic>
      </p:graphicFrame>
      <p:graphicFrame>
        <p:nvGraphicFramePr>
          <p:cNvPr id="12" name="Tableau 11">
            <a:extLst>
              <a:ext uri="{FF2B5EF4-FFF2-40B4-BE49-F238E27FC236}">
                <a16:creationId xmlns:a16="http://schemas.microsoft.com/office/drawing/2014/main" id="{FE93B165-5481-4BDE-8FF6-AB8C6137420F}"/>
              </a:ext>
            </a:extLst>
          </p:cNvPr>
          <p:cNvGraphicFramePr>
            <a:graphicFrameLocks noGrp="1"/>
          </p:cNvGraphicFramePr>
          <p:nvPr>
            <p:extLst>
              <p:ext uri="{D42A27DB-BD31-4B8C-83A1-F6EECF244321}">
                <p14:modId xmlns:p14="http://schemas.microsoft.com/office/powerpoint/2010/main" val="713128758"/>
              </p:ext>
            </p:extLst>
          </p:nvPr>
        </p:nvGraphicFramePr>
        <p:xfrm>
          <a:off x="7058447" y="1225425"/>
          <a:ext cx="4320000" cy="890325"/>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1504220348"/>
                    </a:ext>
                  </a:extLst>
                </a:gridCol>
                <a:gridCol w="864000">
                  <a:extLst>
                    <a:ext uri="{9D8B030D-6E8A-4147-A177-3AD203B41FA5}">
                      <a16:colId xmlns:a16="http://schemas.microsoft.com/office/drawing/2014/main" val="1413351609"/>
                    </a:ext>
                  </a:extLst>
                </a:gridCol>
                <a:gridCol w="864000">
                  <a:extLst>
                    <a:ext uri="{9D8B030D-6E8A-4147-A177-3AD203B41FA5}">
                      <a16:colId xmlns:a16="http://schemas.microsoft.com/office/drawing/2014/main" val="1239885802"/>
                    </a:ext>
                  </a:extLst>
                </a:gridCol>
                <a:gridCol w="864000">
                  <a:extLst>
                    <a:ext uri="{9D8B030D-6E8A-4147-A177-3AD203B41FA5}">
                      <a16:colId xmlns:a16="http://schemas.microsoft.com/office/drawing/2014/main" val="619598681"/>
                    </a:ext>
                  </a:extLst>
                </a:gridCol>
                <a:gridCol w="864000">
                  <a:extLst>
                    <a:ext uri="{9D8B030D-6E8A-4147-A177-3AD203B41FA5}">
                      <a16:colId xmlns:a16="http://schemas.microsoft.com/office/drawing/2014/main" val="3091639623"/>
                    </a:ext>
                  </a:extLst>
                </a:gridCol>
              </a:tblGrid>
              <a:tr h="288000">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88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
                      </a:r>
                      <a:endPar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
                      </a:r>
                      <a:endPar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t>
                      </a: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endParaRPr lang="en-GB" sz="1000" b="1" i="1"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48711206"/>
                  </a:ext>
                </a:extLst>
              </a:tr>
              <a:tr h="288000">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0%</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53%</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100%</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30</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51</a:t>
                      </a:r>
                    </a:p>
                  </a:txBody>
                  <a:tcPr marL="9525" marR="9525" marT="9525" marB="0" anchor="ctr"/>
                </a:tc>
                <a:extLst>
                  <a:ext uri="{0D108BD9-81ED-4DB2-BD59-A6C34878D82A}">
                    <a16:rowId xmlns:a16="http://schemas.microsoft.com/office/drawing/2014/main" val="2310329303"/>
                  </a:ext>
                </a:extLst>
              </a:tr>
            </a:tbl>
          </a:graphicData>
        </a:graphic>
      </p:graphicFrame>
      <p:sp>
        <p:nvSpPr>
          <p:cNvPr id="3" name="Espace réservé du pied de page 2">
            <a:extLst>
              <a:ext uri="{FF2B5EF4-FFF2-40B4-BE49-F238E27FC236}">
                <a16:creationId xmlns:a16="http://schemas.microsoft.com/office/drawing/2014/main" id="{324C50E9-4852-486B-A9DB-37AE5F474BD2}"/>
              </a:ext>
            </a:extLst>
          </p:cNvPr>
          <p:cNvSpPr>
            <a:spLocks noGrp="1"/>
          </p:cNvSpPr>
          <p:nvPr>
            <p:ph type="ftr" sz="quarter" idx="13"/>
          </p:nvPr>
        </p:nvSpPr>
        <p:spPr/>
        <p:txBody>
          <a:bodyPr/>
          <a:lstStyle/>
          <a:p>
            <a:pPr algn="l"/>
            <a:r>
              <a:rPr lang="en-US"/>
              <a:t>GCCA GNR Concrete Pilot Project</a:t>
            </a:r>
            <a:endParaRPr lang="fr-FR" dirty="0"/>
          </a:p>
        </p:txBody>
      </p:sp>
      <p:sp>
        <p:nvSpPr>
          <p:cNvPr id="13" name="Espace réservé du contenu 2">
            <a:extLst>
              <a:ext uri="{FF2B5EF4-FFF2-40B4-BE49-F238E27FC236}">
                <a16:creationId xmlns:a16="http://schemas.microsoft.com/office/drawing/2014/main" id="{4C12254D-D722-4CD2-A058-C37300CE057F}"/>
              </a:ext>
            </a:extLst>
          </p:cNvPr>
          <p:cNvSpPr>
            <a:spLocks noGrp="1"/>
          </p:cNvSpPr>
          <p:nvPr>
            <p:ph idx="1"/>
          </p:nvPr>
        </p:nvSpPr>
        <p:spPr>
          <a:xfrm>
            <a:off x="464293" y="5569464"/>
            <a:ext cx="5223275" cy="783570"/>
          </a:xfrm>
        </p:spPr>
        <p:txBody>
          <a:bodyPr/>
          <a:lstStyle/>
          <a:p>
            <a:pPr marL="342900" indent="-342900">
              <a:spcAft>
                <a:spcPts val="300"/>
              </a:spcAft>
              <a:buFont typeface="Arial" panose="020B0604020202020204" pitchFamily="34" charset="0"/>
              <a:buChar char="•"/>
            </a:pPr>
            <a:r>
              <a:rPr lang="fr-FR" sz="1400" dirty="0" err="1"/>
              <a:t>Around</a:t>
            </a:r>
            <a:r>
              <a:rPr lang="fr-FR" sz="1400" b="1" dirty="0"/>
              <a:t> 80% of values </a:t>
            </a:r>
            <a:r>
              <a:rPr lang="fr-FR" sz="1400" dirty="0"/>
              <a:t>lie </a:t>
            </a:r>
            <a:r>
              <a:rPr lang="fr-FR" sz="1400" dirty="0" err="1"/>
              <a:t>between</a:t>
            </a:r>
            <a:r>
              <a:rPr lang="fr-FR" sz="1400" dirty="0"/>
              <a:t> </a:t>
            </a:r>
            <a:r>
              <a:rPr lang="fr-FR" sz="1400" b="1" dirty="0"/>
              <a:t>0% and 1% </a:t>
            </a:r>
            <a:r>
              <a:rPr lang="fr-FR" sz="1400" dirty="0"/>
              <a:t>of </a:t>
            </a:r>
            <a:r>
              <a:rPr lang="fr-FR" sz="1400" dirty="0" err="1"/>
              <a:t>wasted</a:t>
            </a:r>
            <a:r>
              <a:rPr lang="fr-FR" sz="1400" dirty="0"/>
              <a:t> </a:t>
            </a:r>
            <a:r>
              <a:rPr lang="fr-FR" sz="1400" dirty="0" err="1"/>
              <a:t>concrete</a:t>
            </a:r>
            <a:r>
              <a:rPr lang="fr-FR" sz="1400" dirty="0"/>
              <a:t> </a:t>
            </a:r>
            <a:r>
              <a:rPr lang="en-GB" sz="1400" dirty="0"/>
              <a:t>at world level</a:t>
            </a:r>
            <a:r>
              <a:rPr lang="fr-FR" sz="1400" dirty="0"/>
              <a:t>. </a:t>
            </a:r>
          </a:p>
          <a:p>
            <a:pPr marL="342900" indent="-342900">
              <a:spcAft>
                <a:spcPts val="300"/>
              </a:spcAft>
              <a:buFont typeface="Arial" panose="020B0604020202020204" pitchFamily="34" charset="0"/>
              <a:buChar char="•"/>
            </a:pPr>
            <a:r>
              <a:rPr lang="en-GB" sz="1400" dirty="0"/>
              <a:t>The chart pictures </a:t>
            </a:r>
            <a:r>
              <a:rPr lang="en-GB" sz="1400" b="1" dirty="0"/>
              <a:t>56% of the world coverage </a:t>
            </a:r>
            <a:r>
              <a:rPr lang="en-GB" sz="1400" dirty="0"/>
              <a:t>due to missing data.</a:t>
            </a:r>
            <a:endParaRPr lang="fr-FR" sz="1400" dirty="0"/>
          </a:p>
          <a:p>
            <a:pPr marL="285750" indent="-285750">
              <a:lnSpc>
                <a:spcPct val="100000"/>
              </a:lnSpc>
              <a:spcBef>
                <a:spcPts val="600"/>
              </a:spcBef>
              <a:spcAft>
                <a:spcPts val="300"/>
              </a:spcAft>
              <a:buFont typeface="Arial" panose="020B0604020202020204" pitchFamily="34" charset="0"/>
              <a:buChar char="•"/>
            </a:pPr>
            <a:endParaRPr lang="en-GB" sz="1400" dirty="0"/>
          </a:p>
          <a:p>
            <a:pPr marL="285750" indent="-285750">
              <a:lnSpc>
                <a:spcPct val="100000"/>
              </a:lnSpc>
              <a:spcBef>
                <a:spcPts val="600"/>
              </a:spcBef>
              <a:spcAft>
                <a:spcPts val="300"/>
              </a:spcAft>
              <a:buFont typeface="Arial" panose="020B0604020202020204" pitchFamily="34" charset="0"/>
              <a:buChar char="•"/>
            </a:pPr>
            <a:endParaRPr lang="en-GB" sz="1400" dirty="0"/>
          </a:p>
          <a:p>
            <a:pPr marL="285750" indent="-285750">
              <a:lnSpc>
                <a:spcPct val="100000"/>
              </a:lnSpc>
              <a:spcBef>
                <a:spcPts val="600"/>
              </a:spcBef>
              <a:spcAft>
                <a:spcPts val="300"/>
              </a:spcAft>
              <a:buFont typeface="Arial" panose="020B0604020202020204" pitchFamily="34" charset="0"/>
              <a:buChar char="•"/>
            </a:pPr>
            <a:endParaRPr lang="en-GB" sz="1400" dirty="0"/>
          </a:p>
          <a:p>
            <a:pPr marL="285750" indent="-285750">
              <a:lnSpc>
                <a:spcPct val="100000"/>
              </a:lnSpc>
              <a:spcBef>
                <a:spcPts val="600"/>
              </a:spcBef>
              <a:spcAft>
                <a:spcPts val="300"/>
              </a:spcAft>
              <a:buFont typeface="Arial" panose="020B0604020202020204" pitchFamily="34" charset="0"/>
              <a:buChar char="•"/>
            </a:pPr>
            <a:endParaRPr lang="en-GB" sz="1400" dirty="0"/>
          </a:p>
        </p:txBody>
      </p:sp>
      <p:sp>
        <p:nvSpPr>
          <p:cNvPr id="14" name="Espace réservé du contenu 2">
            <a:extLst>
              <a:ext uri="{FF2B5EF4-FFF2-40B4-BE49-F238E27FC236}">
                <a16:creationId xmlns:a16="http://schemas.microsoft.com/office/drawing/2014/main" id="{18ED091C-B9CE-468F-B8B8-BFABB94691B3}"/>
              </a:ext>
            </a:extLst>
          </p:cNvPr>
          <p:cNvSpPr txBox="1">
            <a:spLocks/>
          </p:cNvSpPr>
          <p:nvPr/>
        </p:nvSpPr>
        <p:spPr>
          <a:xfrm>
            <a:off x="6945364" y="5642430"/>
            <a:ext cx="4801360" cy="849810"/>
          </a:xfrm>
          <a:prstGeom prst="rect">
            <a:avLst/>
          </a:prstGeom>
        </p:spPr>
        <p:txBody>
          <a:bodyPr vert="horz" lIns="0" tIns="0" rIns="0" bIns="0" rtlCol="0">
            <a:noAutofit/>
          </a:bodyPr>
          <a:lstStyle>
            <a:lvl1pPr marL="730250" indent="-730250" algn="l" defTabSz="914400" rtl="0" eaLnBrk="1" latinLnBrk="0" hangingPunct="1">
              <a:lnSpc>
                <a:spcPct val="90000"/>
              </a:lnSpc>
              <a:spcBef>
                <a:spcPts val="0"/>
              </a:spcBef>
              <a:spcAft>
                <a:spcPts val="600"/>
              </a:spcAft>
              <a:buClr>
                <a:schemeClr val="accent1"/>
              </a:buClr>
              <a:buFont typeface="+mj-lt"/>
              <a:buAutoNum type="arabicPeriod"/>
              <a:tabLst>
                <a:tab pos="10623550" algn="r"/>
              </a:tabLst>
              <a:defRPr sz="2800" b="0" kern="1200">
                <a:solidFill>
                  <a:schemeClr val="tx1"/>
                </a:solidFill>
                <a:latin typeface="+mn-lt"/>
                <a:ea typeface="+mn-ea"/>
                <a:cs typeface="+mn-cs"/>
              </a:defRPr>
            </a:lvl1pPr>
            <a:lvl2pPr marL="730250" indent="0" algn="l" defTabSz="914400" rtl="0" eaLnBrk="1" latinLnBrk="0" hangingPunct="1">
              <a:lnSpc>
                <a:spcPct val="100000"/>
              </a:lnSpc>
              <a:spcBef>
                <a:spcPts val="0"/>
              </a:spcBef>
              <a:spcAft>
                <a:spcPts val="600"/>
              </a:spcAft>
              <a:buClr>
                <a:schemeClr val="accent4"/>
              </a:buClr>
              <a:buFont typeface="+mj-lt"/>
              <a:buNone/>
              <a:tabLst>
                <a:tab pos="10623550" algn="r"/>
              </a:tabLst>
              <a:defRPr sz="1600" kern="1200">
                <a:solidFill>
                  <a:schemeClr val="tx1"/>
                </a:solidFill>
                <a:latin typeface="+mn-lt"/>
                <a:ea typeface="+mn-ea"/>
                <a:cs typeface="+mn-cs"/>
              </a:defRPr>
            </a:lvl2pPr>
            <a:lvl3pPr marL="9144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3pPr>
            <a:lvl4pPr marL="10969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4pPr>
            <a:lvl5pPr marL="1279525"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5pPr>
            <a:lvl6pPr marL="1462088"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6pPr>
            <a:lvl7pPr marL="164465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7pPr>
            <a:lvl8pPr marL="18288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8pPr>
            <a:lvl9pPr marL="20113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9pPr>
          </a:lstStyle>
          <a:p>
            <a:pPr marL="342900" indent="-342900">
              <a:buFont typeface="Arial" panose="020B0604020202020204" pitchFamily="34" charset="0"/>
              <a:buChar char="•"/>
            </a:pPr>
            <a:r>
              <a:rPr lang="en-GB" sz="1400" dirty="0"/>
              <a:t>Around </a:t>
            </a:r>
            <a:r>
              <a:rPr lang="en-GB" sz="1400" b="1" dirty="0"/>
              <a:t>60% of values </a:t>
            </a:r>
            <a:r>
              <a:rPr lang="en-GB" sz="1400" dirty="0"/>
              <a:t>lie between </a:t>
            </a:r>
            <a:r>
              <a:rPr lang="en-GB" sz="1400" b="1" dirty="0"/>
              <a:t>40% and 80% </a:t>
            </a:r>
            <a:r>
              <a:rPr lang="en-GB" sz="1400" dirty="0"/>
              <a:t>of returned concrete recovered at world level.</a:t>
            </a:r>
            <a:r>
              <a:rPr lang="en-GB" sz="1400" b="1" dirty="0"/>
              <a:t> </a:t>
            </a:r>
          </a:p>
          <a:p>
            <a:pPr marL="342900" indent="-342900">
              <a:buFont typeface="Arial" panose="020B0604020202020204" pitchFamily="34" charset="0"/>
              <a:buChar char="•"/>
            </a:pPr>
            <a:r>
              <a:rPr lang="en-GB" sz="1400" dirty="0"/>
              <a:t>The chart pictures </a:t>
            </a:r>
            <a:r>
              <a:rPr lang="en-GB" sz="1400" b="1" dirty="0"/>
              <a:t>51% of the world coverage </a:t>
            </a:r>
            <a:r>
              <a:rPr lang="en-GB" sz="1400" dirty="0"/>
              <a:t>due to missing data.</a:t>
            </a:r>
            <a:endParaRPr lang="fr-FR" sz="1400" dirty="0"/>
          </a:p>
          <a:p>
            <a:pPr marL="342900" indent="-342900">
              <a:buFont typeface="Arial" panose="020B0604020202020204" pitchFamily="34" charset="0"/>
              <a:buChar char="•"/>
            </a:pPr>
            <a:endParaRPr lang="en-GB" sz="1400" b="1" dirty="0"/>
          </a:p>
          <a:p>
            <a:pPr marL="285750" indent="-285750">
              <a:lnSpc>
                <a:spcPct val="100000"/>
              </a:lnSpc>
              <a:spcBef>
                <a:spcPts val="600"/>
              </a:spcBef>
              <a:buFont typeface="Arial" panose="020B0604020202020204" pitchFamily="34" charset="0"/>
              <a:buChar char="•"/>
            </a:pPr>
            <a:endParaRPr lang="en-GB" sz="1400" dirty="0"/>
          </a:p>
          <a:p>
            <a:pPr marL="285750" indent="-285750">
              <a:lnSpc>
                <a:spcPct val="100000"/>
              </a:lnSpc>
              <a:spcBef>
                <a:spcPts val="600"/>
              </a:spcBef>
              <a:buFont typeface="Arial" panose="020B0604020202020204" pitchFamily="34" charset="0"/>
              <a:buChar char="•"/>
            </a:pPr>
            <a:endParaRPr lang="en-GB" sz="1400" dirty="0"/>
          </a:p>
        </p:txBody>
      </p:sp>
      <p:sp>
        <p:nvSpPr>
          <p:cNvPr id="15" name="Rectangle 14">
            <a:extLst>
              <a:ext uri="{FF2B5EF4-FFF2-40B4-BE49-F238E27FC236}">
                <a16:creationId xmlns:a16="http://schemas.microsoft.com/office/drawing/2014/main" id="{02DDD931-C505-436E-A081-1A99C919A88D}"/>
              </a:ext>
            </a:extLst>
          </p:cNvPr>
          <p:cNvSpPr/>
          <p:nvPr/>
        </p:nvSpPr>
        <p:spPr>
          <a:xfrm>
            <a:off x="10753344" y="88931"/>
            <a:ext cx="978408"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World level</a:t>
            </a:r>
          </a:p>
        </p:txBody>
      </p:sp>
      <p:graphicFrame>
        <p:nvGraphicFramePr>
          <p:cNvPr id="17" name="Graphique 16">
            <a:extLst>
              <a:ext uri="{FF2B5EF4-FFF2-40B4-BE49-F238E27FC236}">
                <a16:creationId xmlns:a16="http://schemas.microsoft.com/office/drawing/2014/main" id="{A2D651B8-BE02-4318-AC5E-76E43C5498D7}"/>
              </a:ext>
            </a:extLst>
          </p:cNvPr>
          <p:cNvGraphicFramePr>
            <a:graphicFrameLocks/>
          </p:cNvGraphicFramePr>
          <p:nvPr>
            <p:extLst>
              <p:ext uri="{D42A27DB-BD31-4B8C-83A1-F6EECF244321}">
                <p14:modId xmlns:p14="http://schemas.microsoft.com/office/powerpoint/2010/main" val="1332012086"/>
              </p:ext>
            </p:extLst>
          </p:nvPr>
        </p:nvGraphicFramePr>
        <p:xfrm>
          <a:off x="453603" y="2045857"/>
          <a:ext cx="5148000" cy="3384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8" name="Graphique 17">
            <a:extLst>
              <a:ext uri="{FF2B5EF4-FFF2-40B4-BE49-F238E27FC236}">
                <a16:creationId xmlns:a16="http://schemas.microsoft.com/office/drawing/2014/main" id="{2CC8442F-0EB2-45F5-8B9B-4F929C646A65}"/>
              </a:ext>
            </a:extLst>
          </p:cNvPr>
          <p:cNvGraphicFramePr>
            <a:graphicFrameLocks/>
          </p:cNvGraphicFramePr>
          <p:nvPr>
            <p:extLst>
              <p:ext uri="{D42A27DB-BD31-4B8C-83A1-F6EECF244321}">
                <p14:modId xmlns:p14="http://schemas.microsoft.com/office/powerpoint/2010/main" val="3464157197"/>
              </p:ext>
            </p:extLst>
          </p:nvPr>
        </p:nvGraphicFramePr>
        <p:xfrm>
          <a:off x="6680447" y="2045857"/>
          <a:ext cx="5148000" cy="3384000"/>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435646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618B3C59-4976-4B3D-98B3-C15C9795F1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8" name="Objet 7" hidden="1">
                        <a:extLst>
                          <a:ext uri="{FF2B5EF4-FFF2-40B4-BE49-F238E27FC236}">
                            <a16:creationId xmlns:a16="http://schemas.microsoft.com/office/drawing/2014/main" id="{618B3C59-4976-4B3D-98B3-C15C9795F1E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5B4FDCE4-9147-4C9F-842E-6296AF0E7EAE}"/>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9F75D438-4590-45C3-96BF-3E95A2259EB3}"/>
              </a:ext>
            </a:extLst>
          </p:cNvPr>
          <p:cNvSpPr>
            <a:spLocks noGrp="1"/>
          </p:cNvSpPr>
          <p:nvPr>
            <p:ph type="title"/>
          </p:nvPr>
        </p:nvSpPr>
        <p:spPr>
          <a:xfrm>
            <a:off x="442913" y="432000"/>
            <a:ext cx="11906200" cy="1387275"/>
          </a:xfrm>
        </p:spPr>
        <p:txBody>
          <a:bodyPr/>
          <a:lstStyle/>
          <a:p>
            <a:r>
              <a:rPr lang="en-GB" dirty="0"/>
              <a:t>Wasted and returned concrete are not consistently monitored</a:t>
            </a:r>
            <a:br>
              <a:rPr lang="en-GB" dirty="0"/>
            </a:br>
            <a:r>
              <a:rPr lang="en-GB" sz="2200" dirty="0"/>
              <a:t>Procedures for returned and scrap concrete are in place in 70% of cases. </a:t>
            </a:r>
          </a:p>
        </p:txBody>
      </p:sp>
      <p:sp>
        <p:nvSpPr>
          <p:cNvPr id="5" name="Espace réservé de la date 4">
            <a:extLst>
              <a:ext uri="{FF2B5EF4-FFF2-40B4-BE49-F238E27FC236}">
                <a16:creationId xmlns:a16="http://schemas.microsoft.com/office/drawing/2014/main" id="{472AAFCB-77FF-4D2F-A6A2-97D6C621C31C}"/>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60D443C1-FD71-43A9-95B9-67B5719BBE19}"/>
              </a:ext>
            </a:extLst>
          </p:cNvPr>
          <p:cNvSpPr>
            <a:spLocks noGrp="1"/>
          </p:cNvSpPr>
          <p:nvPr>
            <p:ph type="sldNum" sz="quarter" idx="11"/>
          </p:nvPr>
        </p:nvSpPr>
        <p:spPr/>
        <p:txBody>
          <a:bodyPr/>
          <a:lstStyle/>
          <a:p>
            <a:fld id="{7870704B-CE94-48CC-AF30-84932A1262A7}" type="slidenum">
              <a:rPr lang="fr-FR" smtClean="0"/>
              <a:pPr/>
              <a:t>26</a:t>
            </a:fld>
            <a:endParaRPr lang="fr-FR" dirty="0"/>
          </a:p>
        </p:txBody>
      </p:sp>
      <p:graphicFrame>
        <p:nvGraphicFramePr>
          <p:cNvPr id="11" name="Tableau 10">
            <a:extLst>
              <a:ext uri="{FF2B5EF4-FFF2-40B4-BE49-F238E27FC236}">
                <a16:creationId xmlns:a16="http://schemas.microsoft.com/office/drawing/2014/main" id="{26463C22-F31E-4D4B-8B2D-62BAF697C882}"/>
              </a:ext>
            </a:extLst>
          </p:cNvPr>
          <p:cNvGraphicFramePr>
            <a:graphicFrameLocks noGrp="1"/>
          </p:cNvGraphicFramePr>
          <p:nvPr>
            <p:extLst>
              <p:ext uri="{D42A27DB-BD31-4B8C-83A1-F6EECF244321}">
                <p14:modId xmlns:p14="http://schemas.microsoft.com/office/powerpoint/2010/main" val="2344046944"/>
              </p:ext>
            </p:extLst>
          </p:nvPr>
        </p:nvGraphicFramePr>
        <p:xfrm>
          <a:off x="831603" y="1225425"/>
          <a:ext cx="4320000" cy="864000"/>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1504220348"/>
                    </a:ext>
                  </a:extLst>
                </a:gridCol>
                <a:gridCol w="864000">
                  <a:extLst>
                    <a:ext uri="{9D8B030D-6E8A-4147-A177-3AD203B41FA5}">
                      <a16:colId xmlns:a16="http://schemas.microsoft.com/office/drawing/2014/main" val="1413351609"/>
                    </a:ext>
                  </a:extLst>
                </a:gridCol>
                <a:gridCol w="864000">
                  <a:extLst>
                    <a:ext uri="{9D8B030D-6E8A-4147-A177-3AD203B41FA5}">
                      <a16:colId xmlns:a16="http://schemas.microsoft.com/office/drawing/2014/main" val="1239885802"/>
                    </a:ext>
                  </a:extLst>
                </a:gridCol>
                <a:gridCol w="864000">
                  <a:extLst>
                    <a:ext uri="{9D8B030D-6E8A-4147-A177-3AD203B41FA5}">
                      <a16:colId xmlns:a16="http://schemas.microsoft.com/office/drawing/2014/main" val="1559456594"/>
                    </a:ext>
                  </a:extLst>
                </a:gridCol>
                <a:gridCol w="864000">
                  <a:extLst>
                    <a:ext uri="{9D8B030D-6E8A-4147-A177-3AD203B41FA5}">
                      <a16:colId xmlns:a16="http://schemas.microsoft.com/office/drawing/2014/main" val="3091639623"/>
                    </a:ext>
                  </a:extLst>
                </a:gridCol>
              </a:tblGrid>
              <a:tr h="322658">
                <a:tc>
                  <a:txBody>
                    <a:bodyPr/>
                    <a:lstStyle/>
                    <a:p>
                      <a:pPr algn="ctr" fontAlgn="ctr"/>
                      <a:r>
                        <a:rPr lang="en-GB" sz="1000" b="1" u="none" strike="noStrike">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70671">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endParaRPr lang="fr-FR" sz="1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2749721996"/>
                  </a:ext>
                </a:extLst>
              </a:tr>
              <a:tr h="270671">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0</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0.27</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1</a:t>
                      </a:r>
                    </a:p>
                  </a:txBody>
                  <a:tcPr marL="9525" marR="9525" marT="9525" marB="0" anchor="ctr"/>
                </a:tc>
                <a:tc>
                  <a:txBody>
                    <a:bodyPr/>
                    <a:lstStyle/>
                    <a:p>
                      <a:pPr algn="ctr" fontAlgn="ctr"/>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0.3</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53</a:t>
                      </a:r>
                    </a:p>
                  </a:txBody>
                  <a:tcPr marL="9525" marR="9525" marT="9525" marB="0" anchor="ctr"/>
                </a:tc>
                <a:extLst>
                  <a:ext uri="{0D108BD9-81ED-4DB2-BD59-A6C34878D82A}">
                    <a16:rowId xmlns:a16="http://schemas.microsoft.com/office/drawing/2014/main" val="2310329303"/>
                  </a:ext>
                </a:extLst>
              </a:tr>
            </a:tbl>
          </a:graphicData>
        </a:graphic>
      </p:graphicFrame>
      <p:graphicFrame>
        <p:nvGraphicFramePr>
          <p:cNvPr id="12" name="Tableau 11">
            <a:extLst>
              <a:ext uri="{FF2B5EF4-FFF2-40B4-BE49-F238E27FC236}">
                <a16:creationId xmlns:a16="http://schemas.microsoft.com/office/drawing/2014/main" id="{FE93B165-5481-4BDE-8FF6-AB8C6137420F}"/>
              </a:ext>
            </a:extLst>
          </p:cNvPr>
          <p:cNvGraphicFramePr>
            <a:graphicFrameLocks noGrp="1"/>
          </p:cNvGraphicFramePr>
          <p:nvPr>
            <p:extLst>
              <p:ext uri="{D42A27DB-BD31-4B8C-83A1-F6EECF244321}">
                <p14:modId xmlns:p14="http://schemas.microsoft.com/office/powerpoint/2010/main" val="3743693"/>
              </p:ext>
            </p:extLst>
          </p:nvPr>
        </p:nvGraphicFramePr>
        <p:xfrm>
          <a:off x="7058447" y="1225425"/>
          <a:ext cx="4320000" cy="890325"/>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1504220348"/>
                    </a:ext>
                  </a:extLst>
                </a:gridCol>
                <a:gridCol w="864000">
                  <a:extLst>
                    <a:ext uri="{9D8B030D-6E8A-4147-A177-3AD203B41FA5}">
                      <a16:colId xmlns:a16="http://schemas.microsoft.com/office/drawing/2014/main" val="1413351609"/>
                    </a:ext>
                  </a:extLst>
                </a:gridCol>
                <a:gridCol w="864000">
                  <a:extLst>
                    <a:ext uri="{9D8B030D-6E8A-4147-A177-3AD203B41FA5}">
                      <a16:colId xmlns:a16="http://schemas.microsoft.com/office/drawing/2014/main" val="1239885802"/>
                    </a:ext>
                  </a:extLst>
                </a:gridCol>
                <a:gridCol w="864000">
                  <a:extLst>
                    <a:ext uri="{9D8B030D-6E8A-4147-A177-3AD203B41FA5}">
                      <a16:colId xmlns:a16="http://schemas.microsoft.com/office/drawing/2014/main" val="619598681"/>
                    </a:ext>
                  </a:extLst>
                </a:gridCol>
                <a:gridCol w="864000">
                  <a:extLst>
                    <a:ext uri="{9D8B030D-6E8A-4147-A177-3AD203B41FA5}">
                      <a16:colId xmlns:a16="http://schemas.microsoft.com/office/drawing/2014/main" val="3091639623"/>
                    </a:ext>
                  </a:extLst>
                </a:gridCol>
              </a:tblGrid>
              <a:tr h="288000">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88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
                      </a:r>
                      <a:endPar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
                      </a:r>
                      <a:endPar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t>
                      </a: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endParaRPr lang="en-GB" sz="1000" b="1" i="1"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48711206"/>
                  </a:ext>
                </a:extLst>
              </a:tr>
              <a:tr h="288000">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0</a:t>
                      </a:r>
                    </a:p>
                  </a:txBody>
                  <a:tcPr marL="9525" marR="9525" marT="9525" marB="0" anchor="ctr"/>
                </a:tc>
                <a:tc>
                  <a:txBody>
                    <a:bodyPr/>
                    <a:lstStyle/>
                    <a:p>
                      <a:pPr algn="ctr" fontAlgn="ctr"/>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63</a:t>
                      </a:r>
                    </a:p>
                  </a:txBody>
                  <a:tcPr marL="9525" marR="9525" marT="9525" marB="0" anchor="ctr"/>
                </a:tc>
                <a:tc>
                  <a:txBody>
                    <a:bodyPr/>
                    <a:lstStyle/>
                    <a:p>
                      <a:pPr algn="ctr" fontAlgn="ctr"/>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94</a:t>
                      </a:r>
                    </a:p>
                  </a:txBody>
                  <a:tcPr marL="9525" marR="9525" marT="9525" marB="0" anchor="ctr"/>
                </a:tc>
                <a:tc>
                  <a:txBody>
                    <a:bodyPr/>
                    <a:lstStyle/>
                    <a:p>
                      <a:pPr algn="ctr" fontAlgn="ctr"/>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22</a:t>
                      </a:r>
                    </a:p>
                  </a:txBody>
                  <a:tcPr marL="9525" marR="9525" marT="9525" marB="0" anchor="ctr"/>
                </a:tc>
                <a:tc>
                  <a:txBody>
                    <a:bodyPr/>
                    <a:lstStyle/>
                    <a:p>
                      <a:pPr algn="ctr" fontAlgn="ctr"/>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47</a:t>
                      </a:r>
                    </a:p>
                  </a:txBody>
                  <a:tcPr marL="9525" marR="9525" marT="9525" marB="0" anchor="ctr"/>
                </a:tc>
                <a:extLst>
                  <a:ext uri="{0D108BD9-81ED-4DB2-BD59-A6C34878D82A}">
                    <a16:rowId xmlns:a16="http://schemas.microsoft.com/office/drawing/2014/main" val="2310329303"/>
                  </a:ext>
                </a:extLst>
              </a:tr>
            </a:tbl>
          </a:graphicData>
        </a:graphic>
      </p:graphicFrame>
      <p:sp>
        <p:nvSpPr>
          <p:cNvPr id="3" name="Espace réservé du pied de page 2">
            <a:extLst>
              <a:ext uri="{FF2B5EF4-FFF2-40B4-BE49-F238E27FC236}">
                <a16:creationId xmlns:a16="http://schemas.microsoft.com/office/drawing/2014/main" id="{324C50E9-4852-486B-A9DB-37AE5F474BD2}"/>
              </a:ext>
            </a:extLst>
          </p:cNvPr>
          <p:cNvSpPr>
            <a:spLocks noGrp="1"/>
          </p:cNvSpPr>
          <p:nvPr>
            <p:ph type="ftr" sz="quarter" idx="13"/>
          </p:nvPr>
        </p:nvSpPr>
        <p:spPr/>
        <p:txBody>
          <a:bodyPr/>
          <a:lstStyle/>
          <a:p>
            <a:pPr algn="l"/>
            <a:r>
              <a:rPr lang="en-US"/>
              <a:t>GCCA GNR Concrete Pilot Project</a:t>
            </a:r>
            <a:endParaRPr lang="fr-FR" dirty="0"/>
          </a:p>
        </p:txBody>
      </p:sp>
      <p:sp>
        <p:nvSpPr>
          <p:cNvPr id="13" name="Espace réservé du contenu 2">
            <a:extLst>
              <a:ext uri="{FF2B5EF4-FFF2-40B4-BE49-F238E27FC236}">
                <a16:creationId xmlns:a16="http://schemas.microsoft.com/office/drawing/2014/main" id="{4C12254D-D722-4CD2-A058-C37300CE057F}"/>
              </a:ext>
            </a:extLst>
          </p:cNvPr>
          <p:cNvSpPr>
            <a:spLocks noGrp="1"/>
          </p:cNvSpPr>
          <p:nvPr>
            <p:ph idx="1"/>
          </p:nvPr>
        </p:nvSpPr>
        <p:spPr>
          <a:xfrm>
            <a:off x="464293" y="5304288"/>
            <a:ext cx="5771915" cy="1059936"/>
          </a:xfrm>
        </p:spPr>
        <p:txBody>
          <a:bodyPr/>
          <a:lstStyle/>
          <a:p>
            <a:pPr marL="342900" indent="-342900">
              <a:spcAft>
                <a:spcPts val="300"/>
              </a:spcAft>
              <a:buFont typeface="Arial" panose="020B0604020202020204" pitchFamily="34" charset="0"/>
              <a:buChar char="•"/>
            </a:pPr>
            <a:r>
              <a:rPr lang="fr-FR" sz="1400" dirty="0" err="1"/>
              <a:t>Around</a:t>
            </a:r>
            <a:r>
              <a:rPr lang="fr-FR" sz="1400" b="1" dirty="0"/>
              <a:t> 70% of values </a:t>
            </a:r>
            <a:r>
              <a:rPr lang="fr-FR" sz="1400" dirty="0"/>
              <a:t>lie </a:t>
            </a:r>
            <a:r>
              <a:rPr lang="fr-FR" sz="1400" dirty="0" err="1"/>
              <a:t>between</a:t>
            </a:r>
            <a:r>
              <a:rPr lang="fr-FR" sz="1400" dirty="0"/>
              <a:t> </a:t>
            </a:r>
            <a:r>
              <a:rPr lang="fr-FR" sz="1400" b="1" dirty="0"/>
              <a:t>0.07% and 0.7% </a:t>
            </a:r>
            <a:r>
              <a:rPr lang="fr-FR" sz="1400" dirty="0"/>
              <a:t>of </a:t>
            </a:r>
            <a:r>
              <a:rPr lang="fr-FR" sz="1400" dirty="0" err="1"/>
              <a:t>wasted</a:t>
            </a:r>
            <a:r>
              <a:rPr lang="fr-FR" sz="1400" dirty="0"/>
              <a:t> </a:t>
            </a:r>
            <a:r>
              <a:rPr lang="fr-FR" sz="1400" dirty="0" err="1"/>
              <a:t>concrete</a:t>
            </a:r>
            <a:r>
              <a:rPr lang="fr-FR" sz="1400" dirty="0"/>
              <a:t> at Europe </a:t>
            </a:r>
            <a:r>
              <a:rPr lang="fr-FR" sz="1400" dirty="0" err="1"/>
              <a:t>level</a:t>
            </a:r>
            <a:r>
              <a:rPr lang="fr-FR" sz="1400" dirty="0"/>
              <a:t>. </a:t>
            </a:r>
          </a:p>
          <a:p>
            <a:pPr marL="342900" indent="-342900">
              <a:spcAft>
                <a:spcPts val="300"/>
              </a:spcAft>
              <a:buFont typeface="Arial" panose="020B0604020202020204" pitchFamily="34" charset="0"/>
              <a:buChar char="•"/>
            </a:pPr>
            <a:r>
              <a:rPr lang="fr-FR" sz="1400" dirty="0"/>
              <a:t>The </a:t>
            </a:r>
            <a:r>
              <a:rPr lang="fr-FR" sz="1400" dirty="0" err="1"/>
              <a:t>weighted</a:t>
            </a:r>
            <a:r>
              <a:rPr lang="fr-FR" sz="1400" dirty="0"/>
              <a:t> </a:t>
            </a:r>
            <a:r>
              <a:rPr lang="fr-FR" sz="1400" dirty="0" err="1"/>
              <a:t>average</a:t>
            </a:r>
            <a:r>
              <a:rPr lang="fr-FR" sz="1400" dirty="0"/>
              <a:t> of 0.27% of </a:t>
            </a:r>
            <a:r>
              <a:rPr lang="fr-FR" sz="1400" dirty="0" err="1"/>
              <a:t>wasted</a:t>
            </a:r>
            <a:r>
              <a:rPr lang="fr-FR" sz="1400" dirty="0"/>
              <a:t> </a:t>
            </a:r>
            <a:r>
              <a:rPr lang="fr-FR" sz="1400" dirty="0" err="1"/>
              <a:t>concrete</a:t>
            </a:r>
            <a:r>
              <a:rPr lang="fr-FR" sz="1400" dirty="0"/>
              <a:t> in Europe </a:t>
            </a:r>
            <a:r>
              <a:rPr lang="fr-FR" sz="1400" dirty="0" err="1"/>
              <a:t>is</a:t>
            </a:r>
            <a:r>
              <a:rPr lang="fr-FR" sz="1400" dirty="0"/>
              <a:t> </a:t>
            </a:r>
            <a:r>
              <a:rPr lang="fr-FR" sz="1400" dirty="0" err="1"/>
              <a:t>almost</a:t>
            </a:r>
            <a:r>
              <a:rPr lang="fr-FR" sz="1400" dirty="0"/>
              <a:t> </a:t>
            </a:r>
            <a:r>
              <a:rPr lang="fr-FR" sz="1400" dirty="0" err="1"/>
              <a:t>half</a:t>
            </a:r>
            <a:r>
              <a:rPr lang="fr-FR" sz="1400" dirty="0"/>
              <a:t> the </a:t>
            </a:r>
            <a:r>
              <a:rPr lang="fr-FR" sz="1400" dirty="0" err="1"/>
              <a:t>average</a:t>
            </a:r>
            <a:r>
              <a:rPr lang="fr-FR" sz="1400" dirty="0"/>
              <a:t> at world </a:t>
            </a:r>
            <a:r>
              <a:rPr lang="fr-FR" sz="1400" dirty="0" err="1"/>
              <a:t>level</a:t>
            </a:r>
            <a:r>
              <a:rPr lang="fr-FR" sz="1400" dirty="0"/>
              <a:t>.</a:t>
            </a:r>
          </a:p>
          <a:p>
            <a:pPr marL="342900" indent="-342900">
              <a:spcAft>
                <a:spcPts val="300"/>
              </a:spcAft>
              <a:buFont typeface="Arial" panose="020B0604020202020204" pitchFamily="34" charset="0"/>
              <a:buChar char="•"/>
            </a:pPr>
            <a:r>
              <a:rPr lang="en-GB" sz="1400" dirty="0"/>
              <a:t>The chart pictures </a:t>
            </a:r>
            <a:r>
              <a:rPr lang="en-GB" sz="1400" b="1" dirty="0"/>
              <a:t>53% of Europe coverage </a:t>
            </a:r>
            <a:r>
              <a:rPr lang="en-GB" sz="1400" dirty="0"/>
              <a:t>due to missing data.</a:t>
            </a:r>
            <a:endParaRPr lang="fr-FR" sz="1400" dirty="0"/>
          </a:p>
          <a:p>
            <a:pPr marL="285750" indent="-285750">
              <a:lnSpc>
                <a:spcPct val="100000"/>
              </a:lnSpc>
              <a:spcBef>
                <a:spcPts val="600"/>
              </a:spcBef>
              <a:spcAft>
                <a:spcPts val="300"/>
              </a:spcAft>
              <a:buFont typeface="Arial" panose="020B0604020202020204" pitchFamily="34" charset="0"/>
              <a:buChar char="•"/>
            </a:pPr>
            <a:endParaRPr lang="en-GB" sz="1400" dirty="0"/>
          </a:p>
          <a:p>
            <a:pPr marL="285750" indent="-285750">
              <a:lnSpc>
                <a:spcPct val="100000"/>
              </a:lnSpc>
              <a:spcBef>
                <a:spcPts val="600"/>
              </a:spcBef>
              <a:spcAft>
                <a:spcPts val="300"/>
              </a:spcAft>
              <a:buFont typeface="Arial" panose="020B0604020202020204" pitchFamily="34" charset="0"/>
              <a:buChar char="•"/>
            </a:pPr>
            <a:endParaRPr lang="en-GB" sz="1400" dirty="0"/>
          </a:p>
          <a:p>
            <a:pPr marL="285750" indent="-285750">
              <a:lnSpc>
                <a:spcPct val="100000"/>
              </a:lnSpc>
              <a:spcBef>
                <a:spcPts val="600"/>
              </a:spcBef>
              <a:spcAft>
                <a:spcPts val="300"/>
              </a:spcAft>
              <a:buFont typeface="Arial" panose="020B0604020202020204" pitchFamily="34" charset="0"/>
              <a:buChar char="•"/>
            </a:pPr>
            <a:endParaRPr lang="en-GB" sz="1400" dirty="0"/>
          </a:p>
          <a:p>
            <a:pPr marL="285750" indent="-285750">
              <a:lnSpc>
                <a:spcPct val="100000"/>
              </a:lnSpc>
              <a:spcBef>
                <a:spcPts val="600"/>
              </a:spcBef>
              <a:spcAft>
                <a:spcPts val="300"/>
              </a:spcAft>
              <a:buFont typeface="Arial" panose="020B0604020202020204" pitchFamily="34" charset="0"/>
              <a:buChar char="•"/>
            </a:pPr>
            <a:endParaRPr lang="en-GB" sz="1400" dirty="0"/>
          </a:p>
        </p:txBody>
      </p:sp>
      <p:sp>
        <p:nvSpPr>
          <p:cNvPr id="14" name="Espace réservé du contenu 2">
            <a:extLst>
              <a:ext uri="{FF2B5EF4-FFF2-40B4-BE49-F238E27FC236}">
                <a16:creationId xmlns:a16="http://schemas.microsoft.com/office/drawing/2014/main" id="{18ED091C-B9CE-468F-B8B8-BFABB94691B3}"/>
              </a:ext>
            </a:extLst>
          </p:cNvPr>
          <p:cNvSpPr txBox="1">
            <a:spLocks/>
          </p:cNvSpPr>
          <p:nvPr/>
        </p:nvSpPr>
        <p:spPr>
          <a:xfrm>
            <a:off x="6945364" y="5409351"/>
            <a:ext cx="4801360" cy="849810"/>
          </a:xfrm>
          <a:prstGeom prst="rect">
            <a:avLst/>
          </a:prstGeom>
        </p:spPr>
        <p:txBody>
          <a:bodyPr vert="horz" lIns="0" tIns="0" rIns="0" bIns="0" rtlCol="0">
            <a:noAutofit/>
          </a:bodyPr>
          <a:lstStyle>
            <a:lvl1pPr marL="730250" indent="-730250" algn="l" defTabSz="914400" rtl="0" eaLnBrk="1" latinLnBrk="0" hangingPunct="1">
              <a:lnSpc>
                <a:spcPct val="90000"/>
              </a:lnSpc>
              <a:spcBef>
                <a:spcPts val="0"/>
              </a:spcBef>
              <a:spcAft>
                <a:spcPts val="600"/>
              </a:spcAft>
              <a:buClr>
                <a:schemeClr val="accent1"/>
              </a:buClr>
              <a:buFont typeface="+mj-lt"/>
              <a:buAutoNum type="arabicPeriod"/>
              <a:tabLst>
                <a:tab pos="10623550" algn="r"/>
              </a:tabLst>
              <a:defRPr sz="2800" b="0" kern="1200">
                <a:solidFill>
                  <a:schemeClr val="tx1"/>
                </a:solidFill>
                <a:latin typeface="+mn-lt"/>
                <a:ea typeface="+mn-ea"/>
                <a:cs typeface="+mn-cs"/>
              </a:defRPr>
            </a:lvl1pPr>
            <a:lvl2pPr marL="730250" indent="0" algn="l" defTabSz="914400" rtl="0" eaLnBrk="1" latinLnBrk="0" hangingPunct="1">
              <a:lnSpc>
                <a:spcPct val="100000"/>
              </a:lnSpc>
              <a:spcBef>
                <a:spcPts val="0"/>
              </a:spcBef>
              <a:spcAft>
                <a:spcPts val="600"/>
              </a:spcAft>
              <a:buClr>
                <a:schemeClr val="accent4"/>
              </a:buClr>
              <a:buFont typeface="+mj-lt"/>
              <a:buNone/>
              <a:tabLst>
                <a:tab pos="10623550" algn="r"/>
              </a:tabLst>
              <a:defRPr sz="1600" kern="1200">
                <a:solidFill>
                  <a:schemeClr val="tx1"/>
                </a:solidFill>
                <a:latin typeface="+mn-lt"/>
                <a:ea typeface="+mn-ea"/>
                <a:cs typeface="+mn-cs"/>
              </a:defRPr>
            </a:lvl2pPr>
            <a:lvl3pPr marL="9144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3pPr>
            <a:lvl4pPr marL="10969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4pPr>
            <a:lvl5pPr marL="1279525"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5pPr>
            <a:lvl6pPr marL="1462088"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6pPr>
            <a:lvl7pPr marL="164465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7pPr>
            <a:lvl8pPr marL="18288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8pPr>
            <a:lvl9pPr marL="20113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9pPr>
          </a:lstStyle>
          <a:p>
            <a:pPr marL="342900" indent="-342900">
              <a:buFont typeface="Arial" panose="020B0604020202020204" pitchFamily="34" charset="0"/>
              <a:buChar char="•"/>
            </a:pPr>
            <a:r>
              <a:rPr lang="en-GB" sz="1400" dirty="0"/>
              <a:t>Around </a:t>
            </a:r>
            <a:r>
              <a:rPr lang="en-GB" sz="1400" b="1" dirty="0"/>
              <a:t>75% of values </a:t>
            </a:r>
            <a:r>
              <a:rPr lang="en-GB" sz="1400" dirty="0"/>
              <a:t>lie between </a:t>
            </a:r>
            <a:r>
              <a:rPr lang="en-GB" sz="1400" b="1" dirty="0"/>
              <a:t>40% and 70% </a:t>
            </a:r>
            <a:r>
              <a:rPr lang="en-GB" sz="1400" dirty="0"/>
              <a:t>of returned concrete recovered at Europe level.</a:t>
            </a:r>
            <a:r>
              <a:rPr lang="en-GB" sz="1400" b="1" dirty="0"/>
              <a:t> </a:t>
            </a:r>
          </a:p>
          <a:p>
            <a:pPr marL="342900" indent="-342900">
              <a:buFont typeface="Arial" panose="020B0604020202020204" pitchFamily="34" charset="0"/>
              <a:buChar char="•"/>
            </a:pPr>
            <a:r>
              <a:rPr lang="en-GB" sz="1400" dirty="0"/>
              <a:t>The chart pictures </a:t>
            </a:r>
            <a:r>
              <a:rPr lang="en-GB" sz="1400" b="1" dirty="0"/>
              <a:t>47% of Europe coverage </a:t>
            </a:r>
            <a:r>
              <a:rPr lang="en-GB" sz="1400" dirty="0"/>
              <a:t>due to missing data.</a:t>
            </a:r>
            <a:endParaRPr lang="fr-FR" sz="1400" dirty="0"/>
          </a:p>
          <a:p>
            <a:pPr marL="342900" indent="-342900">
              <a:buFont typeface="Arial" panose="020B0604020202020204" pitchFamily="34" charset="0"/>
              <a:buChar char="•"/>
            </a:pPr>
            <a:endParaRPr lang="en-GB" sz="1400" b="1" dirty="0"/>
          </a:p>
          <a:p>
            <a:pPr marL="285750" indent="-285750">
              <a:lnSpc>
                <a:spcPct val="100000"/>
              </a:lnSpc>
              <a:spcBef>
                <a:spcPts val="600"/>
              </a:spcBef>
              <a:buFont typeface="Arial" panose="020B0604020202020204" pitchFamily="34" charset="0"/>
              <a:buChar char="•"/>
            </a:pPr>
            <a:endParaRPr lang="en-GB" sz="1400" dirty="0"/>
          </a:p>
          <a:p>
            <a:pPr marL="285750" indent="-285750">
              <a:lnSpc>
                <a:spcPct val="100000"/>
              </a:lnSpc>
              <a:spcBef>
                <a:spcPts val="600"/>
              </a:spcBef>
              <a:buFont typeface="Arial" panose="020B0604020202020204" pitchFamily="34" charset="0"/>
              <a:buChar char="•"/>
            </a:pPr>
            <a:endParaRPr lang="en-GB" sz="1400" dirty="0"/>
          </a:p>
        </p:txBody>
      </p:sp>
      <p:sp>
        <p:nvSpPr>
          <p:cNvPr id="15" name="Rectangle 14">
            <a:extLst>
              <a:ext uri="{FF2B5EF4-FFF2-40B4-BE49-F238E27FC236}">
                <a16:creationId xmlns:a16="http://schemas.microsoft.com/office/drawing/2014/main" id="{02DDD931-C505-436E-A081-1A99C919A88D}"/>
              </a:ext>
            </a:extLst>
          </p:cNvPr>
          <p:cNvSpPr/>
          <p:nvPr/>
        </p:nvSpPr>
        <p:spPr>
          <a:xfrm>
            <a:off x="10753344" y="88931"/>
            <a:ext cx="104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Europe level</a:t>
            </a:r>
          </a:p>
        </p:txBody>
      </p:sp>
      <p:sp>
        <p:nvSpPr>
          <p:cNvPr id="4" name="Rectangle 3">
            <a:extLst>
              <a:ext uri="{FF2B5EF4-FFF2-40B4-BE49-F238E27FC236}">
                <a16:creationId xmlns:a16="http://schemas.microsoft.com/office/drawing/2014/main" id="{A4ECE1FE-4389-4448-8FF5-68E7295CCC70}"/>
              </a:ext>
            </a:extLst>
          </p:cNvPr>
          <p:cNvSpPr/>
          <p:nvPr/>
        </p:nvSpPr>
        <p:spPr>
          <a:xfrm>
            <a:off x="923544" y="3054096"/>
            <a:ext cx="54864" cy="86121"/>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fr-FR" sz="1600"/>
          </a:p>
        </p:txBody>
      </p:sp>
      <p:graphicFrame>
        <p:nvGraphicFramePr>
          <p:cNvPr id="17" name="Graphique 16">
            <a:extLst>
              <a:ext uri="{FF2B5EF4-FFF2-40B4-BE49-F238E27FC236}">
                <a16:creationId xmlns:a16="http://schemas.microsoft.com/office/drawing/2014/main" id="{9E35048F-5107-408B-B11A-30BA74F8C328}"/>
              </a:ext>
            </a:extLst>
          </p:cNvPr>
          <p:cNvGraphicFramePr>
            <a:graphicFrameLocks/>
          </p:cNvGraphicFramePr>
          <p:nvPr>
            <p:extLst>
              <p:ext uri="{D42A27DB-BD31-4B8C-83A1-F6EECF244321}">
                <p14:modId xmlns:p14="http://schemas.microsoft.com/office/powerpoint/2010/main" val="2677176359"/>
              </p:ext>
            </p:extLst>
          </p:nvPr>
        </p:nvGraphicFramePr>
        <p:xfrm>
          <a:off x="453603" y="2045857"/>
          <a:ext cx="5148000" cy="3384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8" name="Graphique 17">
            <a:extLst>
              <a:ext uri="{FF2B5EF4-FFF2-40B4-BE49-F238E27FC236}">
                <a16:creationId xmlns:a16="http://schemas.microsoft.com/office/drawing/2014/main" id="{0C090731-B689-419D-AD0E-1B414D6D9355}"/>
              </a:ext>
            </a:extLst>
          </p:cNvPr>
          <p:cNvGraphicFramePr>
            <a:graphicFrameLocks/>
          </p:cNvGraphicFramePr>
          <p:nvPr>
            <p:extLst>
              <p:ext uri="{D42A27DB-BD31-4B8C-83A1-F6EECF244321}">
                <p14:modId xmlns:p14="http://schemas.microsoft.com/office/powerpoint/2010/main" val="1175744141"/>
              </p:ext>
            </p:extLst>
          </p:nvPr>
        </p:nvGraphicFramePr>
        <p:xfrm>
          <a:off x="6680447" y="2045857"/>
          <a:ext cx="5148000" cy="3384000"/>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2565535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 7" hidden="1">
            <a:extLst>
              <a:ext uri="{FF2B5EF4-FFF2-40B4-BE49-F238E27FC236}">
                <a16:creationId xmlns:a16="http://schemas.microsoft.com/office/drawing/2014/main" id="{618B3C59-4976-4B3D-98B3-C15C9795F1E5}"/>
              </a:ext>
            </a:extLst>
          </p:cNvPr>
          <p:cNvGraphicFramePr>
            <a:graphicFrameLocks noChangeAspect="1"/>
          </p:cNvGraphicFramePr>
          <p:nvPr>
            <p:custDataLst>
              <p:tags r:id="rId1"/>
            </p:custDataLst>
            <p:extLst>
              <p:ext uri="{D42A27DB-BD31-4B8C-83A1-F6EECF244321}">
                <p14:modId xmlns:p14="http://schemas.microsoft.com/office/powerpoint/2010/main" val="40162564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8" name="Objet 7" hidden="1">
                        <a:extLst>
                          <a:ext uri="{FF2B5EF4-FFF2-40B4-BE49-F238E27FC236}">
                            <a16:creationId xmlns:a16="http://schemas.microsoft.com/office/drawing/2014/main" id="{618B3C59-4976-4B3D-98B3-C15C9795F1E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5B4FDCE4-9147-4C9F-842E-6296AF0E7EAE}"/>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9F75D438-4590-45C3-96BF-3E95A2259EB3}"/>
              </a:ext>
            </a:extLst>
          </p:cNvPr>
          <p:cNvSpPr>
            <a:spLocks noGrp="1"/>
          </p:cNvSpPr>
          <p:nvPr>
            <p:ph type="title"/>
          </p:nvPr>
        </p:nvSpPr>
        <p:spPr>
          <a:xfrm>
            <a:off x="442913" y="432000"/>
            <a:ext cx="11906200" cy="1387275"/>
          </a:xfrm>
        </p:spPr>
        <p:txBody>
          <a:bodyPr/>
          <a:lstStyle/>
          <a:p>
            <a:r>
              <a:rPr lang="en-GB" dirty="0"/>
              <a:t>Wasted and returned concrete are not consistently monitored</a:t>
            </a:r>
            <a:br>
              <a:rPr lang="en-GB" dirty="0"/>
            </a:br>
            <a:r>
              <a:rPr lang="en-GB" sz="2200" dirty="0"/>
              <a:t>Procedures for returned and scrap concrete are in place in 70% of cases. </a:t>
            </a:r>
          </a:p>
        </p:txBody>
      </p:sp>
      <p:sp>
        <p:nvSpPr>
          <p:cNvPr id="5" name="Espace réservé de la date 4">
            <a:extLst>
              <a:ext uri="{FF2B5EF4-FFF2-40B4-BE49-F238E27FC236}">
                <a16:creationId xmlns:a16="http://schemas.microsoft.com/office/drawing/2014/main" id="{472AAFCB-77FF-4D2F-A6A2-97D6C621C31C}"/>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60D443C1-FD71-43A9-95B9-67B5719BBE19}"/>
              </a:ext>
            </a:extLst>
          </p:cNvPr>
          <p:cNvSpPr>
            <a:spLocks noGrp="1"/>
          </p:cNvSpPr>
          <p:nvPr>
            <p:ph type="sldNum" sz="quarter" idx="11"/>
          </p:nvPr>
        </p:nvSpPr>
        <p:spPr/>
        <p:txBody>
          <a:bodyPr/>
          <a:lstStyle/>
          <a:p>
            <a:fld id="{7870704B-CE94-48CC-AF30-84932A1262A7}" type="slidenum">
              <a:rPr lang="fr-FR" smtClean="0"/>
              <a:pPr/>
              <a:t>27</a:t>
            </a:fld>
            <a:endParaRPr lang="fr-FR" dirty="0"/>
          </a:p>
        </p:txBody>
      </p:sp>
      <p:graphicFrame>
        <p:nvGraphicFramePr>
          <p:cNvPr id="11" name="Tableau 10">
            <a:extLst>
              <a:ext uri="{FF2B5EF4-FFF2-40B4-BE49-F238E27FC236}">
                <a16:creationId xmlns:a16="http://schemas.microsoft.com/office/drawing/2014/main" id="{26463C22-F31E-4D4B-8B2D-62BAF697C882}"/>
              </a:ext>
            </a:extLst>
          </p:cNvPr>
          <p:cNvGraphicFramePr>
            <a:graphicFrameLocks noGrp="1"/>
          </p:cNvGraphicFramePr>
          <p:nvPr>
            <p:extLst>
              <p:ext uri="{D42A27DB-BD31-4B8C-83A1-F6EECF244321}">
                <p14:modId xmlns:p14="http://schemas.microsoft.com/office/powerpoint/2010/main" val="2185228322"/>
              </p:ext>
            </p:extLst>
          </p:nvPr>
        </p:nvGraphicFramePr>
        <p:xfrm>
          <a:off x="831603" y="1225425"/>
          <a:ext cx="4320000" cy="864000"/>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1504220348"/>
                    </a:ext>
                  </a:extLst>
                </a:gridCol>
                <a:gridCol w="864000">
                  <a:extLst>
                    <a:ext uri="{9D8B030D-6E8A-4147-A177-3AD203B41FA5}">
                      <a16:colId xmlns:a16="http://schemas.microsoft.com/office/drawing/2014/main" val="1413351609"/>
                    </a:ext>
                  </a:extLst>
                </a:gridCol>
                <a:gridCol w="864000">
                  <a:extLst>
                    <a:ext uri="{9D8B030D-6E8A-4147-A177-3AD203B41FA5}">
                      <a16:colId xmlns:a16="http://schemas.microsoft.com/office/drawing/2014/main" val="1239885802"/>
                    </a:ext>
                  </a:extLst>
                </a:gridCol>
                <a:gridCol w="864000">
                  <a:extLst>
                    <a:ext uri="{9D8B030D-6E8A-4147-A177-3AD203B41FA5}">
                      <a16:colId xmlns:a16="http://schemas.microsoft.com/office/drawing/2014/main" val="1559456594"/>
                    </a:ext>
                  </a:extLst>
                </a:gridCol>
                <a:gridCol w="864000">
                  <a:extLst>
                    <a:ext uri="{9D8B030D-6E8A-4147-A177-3AD203B41FA5}">
                      <a16:colId xmlns:a16="http://schemas.microsoft.com/office/drawing/2014/main" val="3091639623"/>
                    </a:ext>
                  </a:extLst>
                </a:gridCol>
              </a:tblGrid>
              <a:tr h="322658">
                <a:tc>
                  <a:txBody>
                    <a:bodyPr/>
                    <a:lstStyle/>
                    <a:p>
                      <a:pPr algn="ctr" fontAlgn="ctr"/>
                      <a:r>
                        <a:rPr lang="en-GB" sz="1000" b="1" u="none" strike="noStrike">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70671">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endParaRPr lang="fr-FR" sz="1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2749721996"/>
                  </a:ext>
                </a:extLst>
              </a:tr>
              <a:tr h="270671">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0</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1.08</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4</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1</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44</a:t>
                      </a:r>
                    </a:p>
                  </a:txBody>
                  <a:tcPr marL="9525" marR="9525" marT="9525" marB="0" anchor="ctr"/>
                </a:tc>
                <a:extLst>
                  <a:ext uri="{0D108BD9-81ED-4DB2-BD59-A6C34878D82A}">
                    <a16:rowId xmlns:a16="http://schemas.microsoft.com/office/drawing/2014/main" val="2310329303"/>
                  </a:ext>
                </a:extLst>
              </a:tr>
            </a:tbl>
          </a:graphicData>
        </a:graphic>
      </p:graphicFrame>
      <p:graphicFrame>
        <p:nvGraphicFramePr>
          <p:cNvPr id="12" name="Tableau 11">
            <a:extLst>
              <a:ext uri="{FF2B5EF4-FFF2-40B4-BE49-F238E27FC236}">
                <a16:creationId xmlns:a16="http://schemas.microsoft.com/office/drawing/2014/main" id="{FE93B165-5481-4BDE-8FF6-AB8C6137420F}"/>
              </a:ext>
            </a:extLst>
          </p:cNvPr>
          <p:cNvGraphicFramePr>
            <a:graphicFrameLocks noGrp="1"/>
          </p:cNvGraphicFramePr>
          <p:nvPr>
            <p:extLst>
              <p:ext uri="{D42A27DB-BD31-4B8C-83A1-F6EECF244321}">
                <p14:modId xmlns:p14="http://schemas.microsoft.com/office/powerpoint/2010/main" val="379058210"/>
              </p:ext>
            </p:extLst>
          </p:nvPr>
        </p:nvGraphicFramePr>
        <p:xfrm>
          <a:off x="7058447" y="1225425"/>
          <a:ext cx="4320000" cy="890325"/>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1504220348"/>
                    </a:ext>
                  </a:extLst>
                </a:gridCol>
                <a:gridCol w="864000">
                  <a:extLst>
                    <a:ext uri="{9D8B030D-6E8A-4147-A177-3AD203B41FA5}">
                      <a16:colId xmlns:a16="http://schemas.microsoft.com/office/drawing/2014/main" val="1413351609"/>
                    </a:ext>
                  </a:extLst>
                </a:gridCol>
                <a:gridCol w="864000">
                  <a:extLst>
                    <a:ext uri="{9D8B030D-6E8A-4147-A177-3AD203B41FA5}">
                      <a16:colId xmlns:a16="http://schemas.microsoft.com/office/drawing/2014/main" val="1239885802"/>
                    </a:ext>
                  </a:extLst>
                </a:gridCol>
                <a:gridCol w="864000">
                  <a:extLst>
                    <a:ext uri="{9D8B030D-6E8A-4147-A177-3AD203B41FA5}">
                      <a16:colId xmlns:a16="http://schemas.microsoft.com/office/drawing/2014/main" val="619598681"/>
                    </a:ext>
                  </a:extLst>
                </a:gridCol>
                <a:gridCol w="864000">
                  <a:extLst>
                    <a:ext uri="{9D8B030D-6E8A-4147-A177-3AD203B41FA5}">
                      <a16:colId xmlns:a16="http://schemas.microsoft.com/office/drawing/2014/main" val="3091639623"/>
                    </a:ext>
                  </a:extLst>
                </a:gridCol>
              </a:tblGrid>
              <a:tr h="288000">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88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
                      </a:r>
                      <a:endPar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
                      </a:r>
                      <a:endPar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fr-FR" sz="1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t>
                      </a: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endParaRPr lang="en-GB" sz="1000" b="1" i="1"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48711206"/>
                  </a:ext>
                </a:extLst>
              </a:tr>
              <a:tr h="288000">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0</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18</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55</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18</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20 - 50</a:t>
                      </a:r>
                    </a:p>
                  </a:txBody>
                  <a:tcPr marL="9525" marR="9525" marT="9525" marB="0" anchor="ctr"/>
                </a:tc>
                <a:extLst>
                  <a:ext uri="{0D108BD9-81ED-4DB2-BD59-A6C34878D82A}">
                    <a16:rowId xmlns:a16="http://schemas.microsoft.com/office/drawing/2014/main" val="2310329303"/>
                  </a:ext>
                </a:extLst>
              </a:tr>
            </a:tbl>
          </a:graphicData>
        </a:graphic>
      </p:graphicFrame>
      <p:sp>
        <p:nvSpPr>
          <p:cNvPr id="3" name="Espace réservé du pied de page 2">
            <a:extLst>
              <a:ext uri="{FF2B5EF4-FFF2-40B4-BE49-F238E27FC236}">
                <a16:creationId xmlns:a16="http://schemas.microsoft.com/office/drawing/2014/main" id="{324C50E9-4852-486B-A9DB-37AE5F474BD2}"/>
              </a:ext>
            </a:extLst>
          </p:cNvPr>
          <p:cNvSpPr>
            <a:spLocks noGrp="1"/>
          </p:cNvSpPr>
          <p:nvPr>
            <p:ph type="ftr" sz="quarter" idx="13"/>
          </p:nvPr>
        </p:nvSpPr>
        <p:spPr/>
        <p:txBody>
          <a:bodyPr/>
          <a:lstStyle/>
          <a:p>
            <a:pPr algn="l"/>
            <a:r>
              <a:rPr lang="en-US"/>
              <a:t>GCCA GNR Concrete Pilot Project</a:t>
            </a:r>
            <a:endParaRPr lang="fr-FR" dirty="0"/>
          </a:p>
        </p:txBody>
      </p:sp>
      <p:sp>
        <p:nvSpPr>
          <p:cNvPr id="13" name="Espace réservé du contenu 2">
            <a:extLst>
              <a:ext uri="{FF2B5EF4-FFF2-40B4-BE49-F238E27FC236}">
                <a16:creationId xmlns:a16="http://schemas.microsoft.com/office/drawing/2014/main" id="{4C12254D-D722-4CD2-A058-C37300CE057F}"/>
              </a:ext>
            </a:extLst>
          </p:cNvPr>
          <p:cNvSpPr>
            <a:spLocks noGrp="1"/>
          </p:cNvSpPr>
          <p:nvPr>
            <p:ph idx="1"/>
          </p:nvPr>
        </p:nvSpPr>
        <p:spPr>
          <a:xfrm>
            <a:off x="464293" y="5258568"/>
            <a:ext cx="5369579" cy="1059936"/>
          </a:xfrm>
        </p:spPr>
        <p:txBody>
          <a:bodyPr/>
          <a:lstStyle/>
          <a:p>
            <a:pPr marL="342900" indent="-342900">
              <a:spcAft>
                <a:spcPts val="0"/>
              </a:spcAft>
              <a:buFont typeface="Arial" panose="020B0604020202020204" pitchFamily="34" charset="0"/>
              <a:buChar char="•"/>
            </a:pPr>
            <a:r>
              <a:rPr lang="fr-FR" sz="1400" dirty="0" err="1"/>
              <a:t>Around</a:t>
            </a:r>
            <a:r>
              <a:rPr lang="fr-FR" sz="1400" b="1" dirty="0"/>
              <a:t> 70% of values </a:t>
            </a:r>
            <a:r>
              <a:rPr lang="fr-FR" sz="1400" dirty="0"/>
              <a:t>lie </a:t>
            </a:r>
            <a:r>
              <a:rPr lang="fr-FR" sz="1400" dirty="0" err="1"/>
              <a:t>between</a:t>
            </a:r>
            <a:r>
              <a:rPr lang="fr-FR" sz="1400" dirty="0"/>
              <a:t> </a:t>
            </a:r>
            <a:r>
              <a:rPr lang="fr-FR" sz="1400" b="1" dirty="0"/>
              <a:t>0.2% and 2% </a:t>
            </a:r>
            <a:r>
              <a:rPr lang="fr-FR" sz="1400" dirty="0"/>
              <a:t>of </a:t>
            </a:r>
            <a:r>
              <a:rPr lang="fr-FR" sz="1400" dirty="0" err="1"/>
              <a:t>wasted</a:t>
            </a:r>
            <a:r>
              <a:rPr lang="fr-FR" sz="1400" dirty="0"/>
              <a:t> </a:t>
            </a:r>
            <a:r>
              <a:rPr lang="fr-FR" sz="1400" dirty="0" err="1"/>
              <a:t>concrete</a:t>
            </a:r>
            <a:r>
              <a:rPr lang="fr-FR" sz="1400" dirty="0"/>
              <a:t> in North America. </a:t>
            </a:r>
          </a:p>
          <a:p>
            <a:pPr marL="342900" indent="-342900">
              <a:spcAft>
                <a:spcPts val="0"/>
              </a:spcAft>
              <a:buFont typeface="Arial" panose="020B0604020202020204" pitchFamily="34" charset="0"/>
              <a:buChar char="•"/>
            </a:pPr>
            <a:r>
              <a:rPr lang="fr-FR" sz="1400" dirty="0"/>
              <a:t>The </a:t>
            </a:r>
            <a:r>
              <a:rPr lang="fr-FR" sz="1400" dirty="0" err="1"/>
              <a:t>weighted</a:t>
            </a:r>
            <a:r>
              <a:rPr lang="fr-FR" sz="1400" dirty="0"/>
              <a:t> </a:t>
            </a:r>
            <a:r>
              <a:rPr lang="fr-FR" sz="1400" dirty="0" err="1"/>
              <a:t>average</a:t>
            </a:r>
            <a:r>
              <a:rPr lang="fr-FR" sz="1400" dirty="0"/>
              <a:t> of 1% of </a:t>
            </a:r>
            <a:r>
              <a:rPr lang="fr-FR" sz="1400" dirty="0" err="1"/>
              <a:t>wasted</a:t>
            </a:r>
            <a:r>
              <a:rPr lang="fr-FR" sz="1400" dirty="0"/>
              <a:t> </a:t>
            </a:r>
            <a:r>
              <a:rPr lang="fr-FR" sz="1400" dirty="0" err="1"/>
              <a:t>concrete</a:t>
            </a:r>
            <a:r>
              <a:rPr lang="fr-FR" sz="1400" dirty="0"/>
              <a:t> in North America </a:t>
            </a:r>
            <a:r>
              <a:rPr lang="fr-FR" sz="1400" dirty="0" err="1"/>
              <a:t>is</a:t>
            </a:r>
            <a:r>
              <a:rPr lang="fr-FR" sz="1400" dirty="0"/>
              <a:t> </a:t>
            </a:r>
            <a:r>
              <a:rPr lang="fr-FR" sz="1400" dirty="0" err="1"/>
              <a:t>twice</a:t>
            </a:r>
            <a:r>
              <a:rPr lang="fr-FR" sz="1400" dirty="0"/>
              <a:t> the </a:t>
            </a:r>
            <a:r>
              <a:rPr lang="fr-FR" sz="1400" dirty="0" err="1"/>
              <a:t>average</a:t>
            </a:r>
            <a:r>
              <a:rPr lang="fr-FR" sz="1400" dirty="0"/>
              <a:t> at world </a:t>
            </a:r>
            <a:r>
              <a:rPr lang="fr-FR" sz="1400" dirty="0" err="1"/>
              <a:t>level</a:t>
            </a:r>
            <a:r>
              <a:rPr lang="fr-FR" sz="1400" dirty="0"/>
              <a:t>.</a:t>
            </a:r>
          </a:p>
          <a:p>
            <a:pPr marL="342900" indent="-342900">
              <a:spcAft>
                <a:spcPts val="0"/>
              </a:spcAft>
              <a:buFont typeface="Arial" panose="020B0604020202020204" pitchFamily="34" charset="0"/>
              <a:buChar char="•"/>
            </a:pPr>
            <a:r>
              <a:rPr lang="en-GB" sz="1400" dirty="0"/>
              <a:t>The chart pictures </a:t>
            </a:r>
            <a:r>
              <a:rPr lang="en-GB" sz="1400" b="1" dirty="0"/>
              <a:t>44% of coverage in North America </a:t>
            </a:r>
            <a:r>
              <a:rPr lang="en-GB" sz="1400" dirty="0"/>
              <a:t>due to missing data.</a:t>
            </a:r>
            <a:endParaRPr lang="fr-FR" sz="1400" dirty="0"/>
          </a:p>
          <a:p>
            <a:pPr marL="285750" indent="-285750">
              <a:lnSpc>
                <a:spcPct val="100000"/>
              </a:lnSpc>
              <a:spcBef>
                <a:spcPts val="600"/>
              </a:spcBef>
              <a:spcAft>
                <a:spcPts val="0"/>
              </a:spcAft>
              <a:buFont typeface="Arial" panose="020B0604020202020204" pitchFamily="34" charset="0"/>
              <a:buChar char="•"/>
            </a:pPr>
            <a:endParaRPr lang="en-GB" sz="1400" dirty="0">
              <a:highlight>
                <a:srgbClr val="FFFF00"/>
              </a:highlight>
            </a:endParaRPr>
          </a:p>
          <a:p>
            <a:pPr marL="285750" indent="-285750">
              <a:lnSpc>
                <a:spcPct val="100000"/>
              </a:lnSpc>
              <a:spcBef>
                <a:spcPts val="600"/>
              </a:spcBef>
              <a:spcAft>
                <a:spcPts val="0"/>
              </a:spcAft>
              <a:buFont typeface="Arial" panose="020B0604020202020204" pitchFamily="34" charset="0"/>
              <a:buChar char="•"/>
            </a:pPr>
            <a:endParaRPr lang="en-GB" sz="1400" dirty="0">
              <a:highlight>
                <a:srgbClr val="FFFF00"/>
              </a:highlight>
            </a:endParaRPr>
          </a:p>
          <a:p>
            <a:pPr marL="285750" indent="-285750">
              <a:lnSpc>
                <a:spcPct val="100000"/>
              </a:lnSpc>
              <a:spcBef>
                <a:spcPts val="600"/>
              </a:spcBef>
              <a:spcAft>
                <a:spcPts val="0"/>
              </a:spcAft>
              <a:buFont typeface="Arial" panose="020B0604020202020204" pitchFamily="34" charset="0"/>
              <a:buChar char="•"/>
            </a:pPr>
            <a:endParaRPr lang="en-GB" sz="1400" dirty="0">
              <a:highlight>
                <a:srgbClr val="FFFF00"/>
              </a:highlight>
            </a:endParaRPr>
          </a:p>
          <a:p>
            <a:pPr marL="285750" indent="-285750">
              <a:lnSpc>
                <a:spcPct val="100000"/>
              </a:lnSpc>
              <a:spcBef>
                <a:spcPts val="600"/>
              </a:spcBef>
              <a:spcAft>
                <a:spcPts val="0"/>
              </a:spcAft>
              <a:buFont typeface="Arial" panose="020B0604020202020204" pitchFamily="34" charset="0"/>
              <a:buChar char="•"/>
            </a:pPr>
            <a:endParaRPr lang="en-GB" sz="1400" dirty="0">
              <a:highlight>
                <a:srgbClr val="FFFF00"/>
              </a:highlight>
            </a:endParaRPr>
          </a:p>
        </p:txBody>
      </p:sp>
      <p:sp>
        <p:nvSpPr>
          <p:cNvPr id="14" name="Espace réservé du contenu 2">
            <a:extLst>
              <a:ext uri="{FF2B5EF4-FFF2-40B4-BE49-F238E27FC236}">
                <a16:creationId xmlns:a16="http://schemas.microsoft.com/office/drawing/2014/main" id="{18ED091C-B9CE-468F-B8B8-BFABB94691B3}"/>
              </a:ext>
            </a:extLst>
          </p:cNvPr>
          <p:cNvSpPr txBox="1">
            <a:spLocks/>
          </p:cNvSpPr>
          <p:nvPr/>
        </p:nvSpPr>
        <p:spPr>
          <a:xfrm>
            <a:off x="6945364" y="5409350"/>
            <a:ext cx="4801360" cy="1293202"/>
          </a:xfrm>
          <a:prstGeom prst="rect">
            <a:avLst/>
          </a:prstGeom>
        </p:spPr>
        <p:txBody>
          <a:bodyPr vert="horz" lIns="0" tIns="0" rIns="0" bIns="0" rtlCol="0">
            <a:noAutofit/>
          </a:bodyPr>
          <a:lstStyle>
            <a:lvl1pPr marL="730250" indent="-730250" algn="l" defTabSz="914400" rtl="0" eaLnBrk="1" latinLnBrk="0" hangingPunct="1">
              <a:lnSpc>
                <a:spcPct val="90000"/>
              </a:lnSpc>
              <a:spcBef>
                <a:spcPts val="0"/>
              </a:spcBef>
              <a:spcAft>
                <a:spcPts val="600"/>
              </a:spcAft>
              <a:buClr>
                <a:schemeClr val="accent1"/>
              </a:buClr>
              <a:buFont typeface="+mj-lt"/>
              <a:buAutoNum type="arabicPeriod"/>
              <a:tabLst>
                <a:tab pos="10623550" algn="r"/>
              </a:tabLst>
              <a:defRPr sz="2800" b="0" kern="1200">
                <a:solidFill>
                  <a:schemeClr val="tx1"/>
                </a:solidFill>
                <a:latin typeface="+mn-lt"/>
                <a:ea typeface="+mn-ea"/>
                <a:cs typeface="+mn-cs"/>
              </a:defRPr>
            </a:lvl1pPr>
            <a:lvl2pPr marL="730250" indent="0" algn="l" defTabSz="914400" rtl="0" eaLnBrk="1" latinLnBrk="0" hangingPunct="1">
              <a:lnSpc>
                <a:spcPct val="100000"/>
              </a:lnSpc>
              <a:spcBef>
                <a:spcPts val="0"/>
              </a:spcBef>
              <a:spcAft>
                <a:spcPts val="600"/>
              </a:spcAft>
              <a:buClr>
                <a:schemeClr val="accent4"/>
              </a:buClr>
              <a:buFont typeface="+mj-lt"/>
              <a:buNone/>
              <a:tabLst>
                <a:tab pos="10623550" algn="r"/>
              </a:tabLst>
              <a:defRPr sz="1600" kern="1200">
                <a:solidFill>
                  <a:schemeClr val="tx1"/>
                </a:solidFill>
                <a:latin typeface="+mn-lt"/>
                <a:ea typeface="+mn-ea"/>
                <a:cs typeface="+mn-cs"/>
              </a:defRPr>
            </a:lvl2pPr>
            <a:lvl3pPr marL="9144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3pPr>
            <a:lvl4pPr marL="10969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4pPr>
            <a:lvl5pPr marL="1279525"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5pPr>
            <a:lvl6pPr marL="1462088"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6pPr>
            <a:lvl7pPr marL="164465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7pPr>
            <a:lvl8pPr marL="1828800"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8pPr>
            <a:lvl9pPr marL="2011363" indent="-182563" algn="l" defTabSz="914400" rtl="0" eaLnBrk="1" latinLnBrk="0" hangingPunct="1">
              <a:lnSpc>
                <a:spcPct val="100000"/>
              </a:lnSpc>
              <a:spcBef>
                <a:spcPts val="0"/>
              </a:spcBef>
              <a:spcAft>
                <a:spcPts val="600"/>
              </a:spcAft>
              <a:buFont typeface="Arial" panose="020B0604020202020204" pitchFamily="34" charset="0"/>
              <a:buChar char="•"/>
              <a:tabLst>
                <a:tab pos="10623550" algn="r"/>
              </a:tabLst>
              <a:defRPr sz="1600" kern="1200">
                <a:solidFill>
                  <a:schemeClr val="tx1"/>
                </a:solidFill>
                <a:latin typeface="+mn-lt"/>
                <a:ea typeface="+mn-ea"/>
                <a:cs typeface="+mn-cs"/>
              </a:defRPr>
            </a:lvl9pPr>
          </a:lstStyle>
          <a:p>
            <a:pPr marL="342900" indent="-342900">
              <a:buFont typeface="Arial" panose="020B0604020202020204" pitchFamily="34" charset="0"/>
              <a:buChar char="•"/>
            </a:pPr>
            <a:r>
              <a:rPr lang="en-GB" sz="1400" dirty="0"/>
              <a:t>Around </a:t>
            </a:r>
            <a:r>
              <a:rPr lang="en-GB" sz="1400" b="1" dirty="0"/>
              <a:t>70% of values </a:t>
            </a:r>
            <a:r>
              <a:rPr lang="en-GB" sz="1400" dirty="0"/>
              <a:t>lie between </a:t>
            </a:r>
            <a:r>
              <a:rPr lang="en-GB" sz="1400" b="1" dirty="0"/>
              <a:t>0% and 20% </a:t>
            </a:r>
            <a:r>
              <a:rPr lang="en-GB" sz="1400" dirty="0"/>
              <a:t>of returned concrete recovered in North America.</a:t>
            </a:r>
            <a:r>
              <a:rPr lang="en-GB" sz="1400" b="1" dirty="0"/>
              <a:t> </a:t>
            </a:r>
          </a:p>
          <a:p>
            <a:pPr marL="342900" indent="-342900">
              <a:buFont typeface="Arial" panose="020B0604020202020204" pitchFamily="34" charset="0"/>
              <a:buChar char="•"/>
            </a:pPr>
            <a:r>
              <a:rPr lang="en-GB" sz="1400" dirty="0"/>
              <a:t>The chart pictures </a:t>
            </a:r>
            <a:r>
              <a:rPr lang="en-GB" sz="1400" b="1" dirty="0"/>
              <a:t>20-50% of coverage in North America </a:t>
            </a:r>
            <a:r>
              <a:rPr lang="en-GB" sz="1400" dirty="0"/>
              <a:t>due to missing data.</a:t>
            </a:r>
          </a:p>
          <a:p>
            <a:pPr marL="357188" indent="0">
              <a:buNone/>
            </a:pPr>
            <a:r>
              <a:rPr lang="en-GB" sz="1400" b="1" u="sng" dirty="0"/>
              <a:t>Note</a:t>
            </a:r>
            <a:r>
              <a:rPr lang="en-GB" sz="1400" dirty="0"/>
              <a:t>: Coverage is not provided for confidentiality reasons.</a:t>
            </a:r>
            <a:endParaRPr lang="fr-FR" sz="1400" dirty="0"/>
          </a:p>
          <a:p>
            <a:pPr marL="342900" indent="-342900">
              <a:buFont typeface="Arial" panose="020B0604020202020204" pitchFamily="34" charset="0"/>
              <a:buChar char="•"/>
            </a:pPr>
            <a:endParaRPr lang="en-GB" sz="1400" b="1" dirty="0">
              <a:highlight>
                <a:srgbClr val="FFFF00"/>
              </a:highlight>
            </a:endParaRPr>
          </a:p>
          <a:p>
            <a:pPr marL="285750" indent="-285750">
              <a:lnSpc>
                <a:spcPct val="100000"/>
              </a:lnSpc>
              <a:spcBef>
                <a:spcPts val="600"/>
              </a:spcBef>
              <a:buFont typeface="Arial" panose="020B0604020202020204" pitchFamily="34" charset="0"/>
              <a:buChar char="•"/>
            </a:pPr>
            <a:endParaRPr lang="en-GB" sz="1400" dirty="0">
              <a:highlight>
                <a:srgbClr val="FFFF00"/>
              </a:highlight>
            </a:endParaRPr>
          </a:p>
          <a:p>
            <a:pPr marL="285750" indent="-285750">
              <a:lnSpc>
                <a:spcPct val="100000"/>
              </a:lnSpc>
              <a:spcBef>
                <a:spcPts val="600"/>
              </a:spcBef>
              <a:buFont typeface="Arial" panose="020B0604020202020204" pitchFamily="34" charset="0"/>
              <a:buChar char="•"/>
            </a:pPr>
            <a:endParaRPr lang="en-GB" sz="1400" dirty="0">
              <a:highlight>
                <a:srgbClr val="FFFF00"/>
              </a:highlight>
            </a:endParaRPr>
          </a:p>
        </p:txBody>
      </p:sp>
      <p:sp>
        <p:nvSpPr>
          <p:cNvPr id="15" name="Rectangle 14">
            <a:extLst>
              <a:ext uri="{FF2B5EF4-FFF2-40B4-BE49-F238E27FC236}">
                <a16:creationId xmlns:a16="http://schemas.microsoft.com/office/drawing/2014/main" id="{02DDD931-C505-436E-A081-1A99C919A88D}"/>
              </a:ext>
            </a:extLst>
          </p:cNvPr>
          <p:cNvSpPr/>
          <p:nvPr/>
        </p:nvSpPr>
        <p:spPr>
          <a:xfrm>
            <a:off x="10753344" y="88931"/>
            <a:ext cx="122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North America</a:t>
            </a:r>
          </a:p>
        </p:txBody>
      </p:sp>
      <p:sp>
        <p:nvSpPr>
          <p:cNvPr id="16" name="Rectangle 15">
            <a:extLst>
              <a:ext uri="{FF2B5EF4-FFF2-40B4-BE49-F238E27FC236}">
                <a16:creationId xmlns:a16="http://schemas.microsoft.com/office/drawing/2014/main" id="{8446C80D-C23F-45D8-9B00-9F021C4641E6}"/>
              </a:ext>
            </a:extLst>
          </p:cNvPr>
          <p:cNvSpPr/>
          <p:nvPr/>
        </p:nvSpPr>
        <p:spPr>
          <a:xfrm>
            <a:off x="923544" y="3099816"/>
            <a:ext cx="54864" cy="86121"/>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fr-FR" sz="1600"/>
          </a:p>
        </p:txBody>
      </p:sp>
      <p:sp>
        <p:nvSpPr>
          <p:cNvPr id="19" name="Rectangle 18">
            <a:extLst>
              <a:ext uri="{FF2B5EF4-FFF2-40B4-BE49-F238E27FC236}">
                <a16:creationId xmlns:a16="http://schemas.microsoft.com/office/drawing/2014/main" id="{E7061257-D148-4CB4-8612-0A5BA99F1120}"/>
              </a:ext>
            </a:extLst>
          </p:cNvPr>
          <p:cNvSpPr/>
          <p:nvPr/>
        </p:nvSpPr>
        <p:spPr>
          <a:xfrm>
            <a:off x="947928" y="4001056"/>
            <a:ext cx="54864" cy="86121"/>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fr-FR" sz="1600"/>
          </a:p>
        </p:txBody>
      </p:sp>
      <p:graphicFrame>
        <p:nvGraphicFramePr>
          <p:cNvPr id="21" name="Graphique 20">
            <a:extLst>
              <a:ext uri="{FF2B5EF4-FFF2-40B4-BE49-F238E27FC236}">
                <a16:creationId xmlns:a16="http://schemas.microsoft.com/office/drawing/2014/main" id="{A1C0A890-BE70-4175-A685-A360F36FA99E}"/>
              </a:ext>
            </a:extLst>
          </p:cNvPr>
          <p:cNvGraphicFramePr>
            <a:graphicFrameLocks/>
          </p:cNvGraphicFramePr>
          <p:nvPr>
            <p:extLst>
              <p:ext uri="{D42A27DB-BD31-4B8C-83A1-F6EECF244321}">
                <p14:modId xmlns:p14="http://schemas.microsoft.com/office/powerpoint/2010/main" val="632963378"/>
              </p:ext>
            </p:extLst>
          </p:nvPr>
        </p:nvGraphicFramePr>
        <p:xfrm>
          <a:off x="453603" y="2045857"/>
          <a:ext cx="5148000" cy="3384000"/>
        </p:xfrm>
        <a:graphic>
          <a:graphicData uri="http://schemas.openxmlformats.org/drawingml/2006/chart">
            <c:chart xmlns:c="http://schemas.openxmlformats.org/drawingml/2006/chart" xmlns:r="http://schemas.openxmlformats.org/officeDocument/2006/relationships" r:id="rId6"/>
          </a:graphicData>
        </a:graphic>
      </p:graphicFrame>
      <p:sp>
        <p:nvSpPr>
          <p:cNvPr id="20" name="Rectangle 19">
            <a:extLst>
              <a:ext uri="{FF2B5EF4-FFF2-40B4-BE49-F238E27FC236}">
                <a16:creationId xmlns:a16="http://schemas.microsoft.com/office/drawing/2014/main" id="{E04AC312-C225-41F1-BFDA-4DFCA1F5011B}"/>
              </a:ext>
            </a:extLst>
          </p:cNvPr>
          <p:cNvSpPr/>
          <p:nvPr/>
        </p:nvSpPr>
        <p:spPr>
          <a:xfrm flipH="1">
            <a:off x="925068" y="4424088"/>
            <a:ext cx="45719" cy="68560"/>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fr-FR" sz="1600"/>
          </a:p>
        </p:txBody>
      </p:sp>
      <p:sp>
        <p:nvSpPr>
          <p:cNvPr id="22" name="Rectangle 21">
            <a:extLst>
              <a:ext uri="{FF2B5EF4-FFF2-40B4-BE49-F238E27FC236}">
                <a16:creationId xmlns:a16="http://schemas.microsoft.com/office/drawing/2014/main" id="{1B58F941-A658-45FE-806E-A5BF3E968392}"/>
              </a:ext>
            </a:extLst>
          </p:cNvPr>
          <p:cNvSpPr/>
          <p:nvPr/>
        </p:nvSpPr>
        <p:spPr>
          <a:xfrm flipH="1">
            <a:off x="929641" y="3982768"/>
            <a:ext cx="45719" cy="68560"/>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fr-FR" sz="1600"/>
          </a:p>
        </p:txBody>
      </p:sp>
      <p:sp>
        <p:nvSpPr>
          <p:cNvPr id="23" name="Rectangle 22">
            <a:extLst>
              <a:ext uri="{FF2B5EF4-FFF2-40B4-BE49-F238E27FC236}">
                <a16:creationId xmlns:a16="http://schemas.microsoft.com/office/drawing/2014/main" id="{BD5AE29B-E576-48BC-86DC-0512F45CF8C4}"/>
              </a:ext>
            </a:extLst>
          </p:cNvPr>
          <p:cNvSpPr/>
          <p:nvPr/>
        </p:nvSpPr>
        <p:spPr>
          <a:xfrm flipH="1">
            <a:off x="931163" y="3534778"/>
            <a:ext cx="45719" cy="68560"/>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fr-FR" sz="1600"/>
          </a:p>
        </p:txBody>
      </p:sp>
      <p:sp>
        <p:nvSpPr>
          <p:cNvPr id="24" name="Rectangle 23">
            <a:extLst>
              <a:ext uri="{FF2B5EF4-FFF2-40B4-BE49-F238E27FC236}">
                <a16:creationId xmlns:a16="http://schemas.microsoft.com/office/drawing/2014/main" id="{FA4EE6B0-039C-4732-8D22-7073C0318C1E}"/>
              </a:ext>
            </a:extLst>
          </p:cNvPr>
          <p:cNvSpPr/>
          <p:nvPr/>
        </p:nvSpPr>
        <p:spPr>
          <a:xfrm flipH="1">
            <a:off x="954023" y="3058088"/>
            <a:ext cx="45719" cy="68560"/>
          </a:xfrm>
          <a:prstGeom prst="rect">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fr-FR" sz="1600"/>
          </a:p>
        </p:txBody>
      </p:sp>
      <p:graphicFrame>
        <p:nvGraphicFramePr>
          <p:cNvPr id="25" name="Graphique 24">
            <a:extLst>
              <a:ext uri="{FF2B5EF4-FFF2-40B4-BE49-F238E27FC236}">
                <a16:creationId xmlns:a16="http://schemas.microsoft.com/office/drawing/2014/main" id="{609CC24C-88AE-4C15-8B0B-E14D725130A8}"/>
              </a:ext>
            </a:extLst>
          </p:cNvPr>
          <p:cNvGraphicFramePr>
            <a:graphicFrameLocks/>
          </p:cNvGraphicFramePr>
          <p:nvPr>
            <p:extLst>
              <p:ext uri="{D42A27DB-BD31-4B8C-83A1-F6EECF244321}">
                <p14:modId xmlns:p14="http://schemas.microsoft.com/office/powerpoint/2010/main" val="3164379773"/>
              </p:ext>
            </p:extLst>
          </p:nvPr>
        </p:nvGraphicFramePr>
        <p:xfrm>
          <a:off x="6680447" y="2045857"/>
          <a:ext cx="5040000" cy="3384000"/>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0374875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 4" hidden="1">
            <a:extLst>
              <a:ext uri="{FF2B5EF4-FFF2-40B4-BE49-F238E27FC236}">
                <a16:creationId xmlns:a16="http://schemas.microsoft.com/office/drawing/2014/main" id="{D02B4998-4956-46E7-89B9-2E7FE0C90A34}"/>
              </a:ext>
            </a:extLst>
          </p:cNvPr>
          <p:cNvGraphicFramePr>
            <a:graphicFrameLocks noChangeAspect="1"/>
          </p:cNvGraphicFramePr>
          <p:nvPr>
            <p:custDataLst>
              <p:tags r:id="rId1"/>
            </p:custDataLst>
            <p:extLst>
              <p:ext uri="{D42A27DB-BD31-4B8C-83A1-F6EECF244321}">
                <p14:modId xmlns:p14="http://schemas.microsoft.com/office/powerpoint/2010/main" val="16072524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5" name="Objet 4" hidden="1">
                        <a:extLst>
                          <a:ext uri="{FF2B5EF4-FFF2-40B4-BE49-F238E27FC236}">
                            <a16:creationId xmlns:a16="http://schemas.microsoft.com/office/drawing/2014/main" id="{D02B4998-4956-46E7-89B9-2E7FE0C90A3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1B2EE96-90A6-4210-8F4F-95F345BDE683}"/>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4000" dirty="0">
              <a:latin typeface="Arial" panose="020B0604020202020204" pitchFamily="34" charset="0"/>
              <a:ea typeface="+mj-ea"/>
              <a:cs typeface="+mj-cs"/>
              <a:sym typeface="Arial" panose="020B0604020202020204" pitchFamily="34" charset="0"/>
            </a:endParaRPr>
          </a:p>
        </p:txBody>
      </p:sp>
      <p:sp>
        <p:nvSpPr>
          <p:cNvPr id="2" name="Title 1"/>
          <p:cNvSpPr>
            <a:spLocks noGrp="1"/>
          </p:cNvSpPr>
          <p:nvPr>
            <p:ph type="title"/>
          </p:nvPr>
        </p:nvSpPr>
        <p:spPr/>
        <p:txBody>
          <a:bodyPr/>
          <a:lstStyle/>
          <a:p>
            <a:r>
              <a:rPr lang="en-GB" dirty="0"/>
              <a:t>Local Environment Factors</a:t>
            </a:r>
            <a:br>
              <a:rPr lang="en-GB" dirty="0"/>
            </a:br>
            <a:endParaRPr lang="en-GB" dirty="0"/>
          </a:p>
        </p:txBody>
      </p:sp>
      <p:sp>
        <p:nvSpPr>
          <p:cNvPr id="3" name="Text Placeholder 2"/>
          <p:cNvSpPr>
            <a:spLocks noGrp="1"/>
          </p:cNvSpPr>
          <p:nvPr>
            <p:ph type="body" sz="quarter" idx="1"/>
          </p:nvPr>
        </p:nvSpPr>
        <p:spPr/>
        <p:txBody>
          <a:bodyPr/>
          <a:lstStyle/>
          <a:p>
            <a:r>
              <a:rPr lang="fr-FR" dirty="0"/>
              <a:t>4</a:t>
            </a:r>
          </a:p>
        </p:txBody>
      </p:sp>
    </p:spTree>
    <p:extLst>
      <p:ext uri="{BB962C8B-B14F-4D97-AF65-F5344CB8AC3E}">
        <p14:creationId xmlns:p14="http://schemas.microsoft.com/office/powerpoint/2010/main" val="4545882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60CFA814-6FB8-4CFE-BD96-E14D75FFE6F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7" name="Objet 6" hidden="1">
                        <a:extLst>
                          <a:ext uri="{FF2B5EF4-FFF2-40B4-BE49-F238E27FC236}">
                            <a16:creationId xmlns:a16="http://schemas.microsoft.com/office/drawing/2014/main" id="{60CFA814-6FB8-4CFE-BD96-E14D75FFE6F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D416E945-2321-40FC-A384-31A817FD605D}"/>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92C0257A-3401-4CB4-886D-3507440B2014}"/>
              </a:ext>
            </a:extLst>
          </p:cNvPr>
          <p:cNvSpPr>
            <a:spLocks noGrp="1"/>
          </p:cNvSpPr>
          <p:nvPr>
            <p:ph type="title"/>
          </p:nvPr>
        </p:nvSpPr>
        <p:spPr/>
        <p:txBody>
          <a:bodyPr/>
          <a:lstStyle/>
          <a:p>
            <a:r>
              <a:rPr lang="en-GB" dirty="0"/>
              <a:t>Water withdrawal per unit of concrete varies across regions </a:t>
            </a:r>
            <a:br>
              <a:rPr lang="en-GB" dirty="0"/>
            </a:br>
            <a:r>
              <a:rPr lang="en-GB" sz="2200" dirty="0"/>
              <a:t>Water KPIs find heterogeneity, as reported data is scattered around the mean</a:t>
            </a:r>
          </a:p>
        </p:txBody>
      </p:sp>
      <p:sp>
        <p:nvSpPr>
          <p:cNvPr id="5" name="Espace réservé de la date 4">
            <a:extLst>
              <a:ext uri="{FF2B5EF4-FFF2-40B4-BE49-F238E27FC236}">
                <a16:creationId xmlns:a16="http://schemas.microsoft.com/office/drawing/2014/main" id="{E7735C5F-533F-4588-A803-A14071B29C5F}"/>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41D2B7DC-B882-4202-94A0-DA38BE1FAE27}"/>
              </a:ext>
            </a:extLst>
          </p:cNvPr>
          <p:cNvSpPr>
            <a:spLocks noGrp="1"/>
          </p:cNvSpPr>
          <p:nvPr>
            <p:ph type="sldNum" sz="quarter" idx="11"/>
          </p:nvPr>
        </p:nvSpPr>
        <p:spPr/>
        <p:txBody>
          <a:bodyPr/>
          <a:lstStyle/>
          <a:p>
            <a:fld id="{7870704B-CE94-48CC-AF30-84932A1262A7}" type="slidenum">
              <a:rPr lang="fr-FR" smtClean="0"/>
              <a:pPr/>
              <a:t>29</a:t>
            </a:fld>
            <a:endParaRPr lang="fr-FR" dirty="0"/>
          </a:p>
        </p:txBody>
      </p:sp>
      <p:graphicFrame>
        <p:nvGraphicFramePr>
          <p:cNvPr id="10" name="Tableau 9">
            <a:extLst>
              <a:ext uri="{FF2B5EF4-FFF2-40B4-BE49-F238E27FC236}">
                <a16:creationId xmlns:a16="http://schemas.microsoft.com/office/drawing/2014/main" id="{1ADCCCB7-FD14-4E1B-BE2B-0611E83D9668}"/>
              </a:ext>
            </a:extLst>
          </p:cNvPr>
          <p:cNvGraphicFramePr>
            <a:graphicFrameLocks noGrp="1"/>
          </p:cNvGraphicFramePr>
          <p:nvPr>
            <p:extLst>
              <p:ext uri="{D42A27DB-BD31-4B8C-83A1-F6EECF244321}">
                <p14:modId xmlns:p14="http://schemas.microsoft.com/office/powerpoint/2010/main" val="3331963235"/>
              </p:ext>
            </p:extLst>
          </p:nvPr>
        </p:nvGraphicFramePr>
        <p:xfrm>
          <a:off x="6208745" y="1426463"/>
          <a:ext cx="4896000" cy="864000"/>
        </p:xfrm>
        <a:graphic>
          <a:graphicData uri="http://schemas.openxmlformats.org/drawingml/2006/table">
            <a:tbl>
              <a:tblPr firstRow="1" bandRow="1">
                <a:tableStyleId>{5C22544A-7EE6-4342-B048-85BDC9FD1C3A}</a:tableStyleId>
              </a:tblPr>
              <a:tblGrid>
                <a:gridCol w="979200">
                  <a:extLst>
                    <a:ext uri="{9D8B030D-6E8A-4147-A177-3AD203B41FA5}">
                      <a16:colId xmlns:a16="http://schemas.microsoft.com/office/drawing/2014/main" val="1504220348"/>
                    </a:ext>
                  </a:extLst>
                </a:gridCol>
                <a:gridCol w="979200">
                  <a:extLst>
                    <a:ext uri="{9D8B030D-6E8A-4147-A177-3AD203B41FA5}">
                      <a16:colId xmlns:a16="http://schemas.microsoft.com/office/drawing/2014/main" val="1413351609"/>
                    </a:ext>
                  </a:extLst>
                </a:gridCol>
                <a:gridCol w="979200">
                  <a:extLst>
                    <a:ext uri="{9D8B030D-6E8A-4147-A177-3AD203B41FA5}">
                      <a16:colId xmlns:a16="http://schemas.microsoft.com/office/drawing/2014/main" val="1239885802"/>
                    </a:ext>
                  </a:extLst>
                </a:gridCol>
                <a:gridCol w="979200">
                  <a:extLst>
                    <a:ext uri="{9D8B030D-6E8A-4147-A177-3AD203B41FA5}">
                      <a16:colId xmlns:a16="http://schemas.microsoft.com/office/drawing/2014/main" val="3091639623"/>
                    </a:ext>
                  </a:extLst>
                </a:gridCol>
                <a:gridCol w="979200">
                  <a:extLst>
                    <a:ext uri="{9D8B030D-6E8A-4147-A177-3AD203B41FA5}">
                      <a16:colId xmlns:a16="http://schemas.microsoft.com/office/drawing/2014/main" val="2904654360"/>
                    </a:ext>
                  </a:extLst>
                </a:gridCol>
              </a:tblGrid>
              <a:tr h="364094">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49953">
                <a:tc>
                  <a:txBody>
                    <a:bodyPr/>
                    <a:lstStyle/>
                    <a:p>
                      <a:pPr algn="ctr" fontAlgn="ctr"/>
                      <a:r>
                        <a:rPr lang="en-GB" sz="1000" b="0" i="1" dirty="0"/>
                        <a:t>litres/m</a:t>
                      </a:r>
                      <a:r>
                        <a:rPr lang="en-GB" sz="1000" b="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b="0" i="1" dirty="0"/>
                        <a:t>litres/m</a:t>
                      </a:r>
                      <a:r>
                        <a:rPr lang="en-GB" sz="1000" b="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b="0" i="1" dirty="0"/>
                        <a:t>litres/m</a:t>
                      </a:r>
                      <a:r>
                        <a:rPr lang="en-GB" sz="1000" b="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b="0" i="1" dirty="0"/>
                        <a:t>litres/m</a:t>
                      </a:r>
                      <a:r>
                        <a:rPr lang="en-GB" sz="1000" b="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2310329303"/>
                  </a:ext>
                </a:extLst>
              </a:tr>
              <a:tr h="249953">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96</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220</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477</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66</a:t>
                      </a:r>
                    </a:p>
                  </a:txBody>
                  <a:tcPr marL="9525" marR="9525" marT="9525" marB="0" anchor="ctr"/>
                </a:tc>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99</a:t>
                      </a:r>
                    </a:p>
                  </a:txBody>
                  <a:tcPr marL="9525" marR="9525" marT="9525" marB="0" anchor="ctr"/>
                </a:tc>
                <a:extLst>
                  <a:ext uri="{0D108BD9-81ED-4DB2-BD59-A6C34878D82A}">
                    <a16:rowId xmlns:a16="http://schemas.microsoft.com/office/drawing/2014/main" val="1601084192"/>
                  </a:ext>
                </a:extLst>
              </a:tr>
            </a:tbl>
          </a:graphicData>
        </a:graphic>
      </p:graphicFrame>
      <p:sp>
        <p:nvSpPr>
          <p:cNvPr id="11" name="Espace réservé du contenu 2">
            <a:extLst>
              <a:ext uri="{FF2B5EF4-FFF2-40B4-BE49-F238E27FC236}">
                <a16:creationId xmlns:a16="http://schemas.microsoft.com/office/drawing/2014/main" id="{7C2098DE-BBF8-46E0-B536-376E34327657}"/>
              </a:ext>
            </a:extLst>
          </p:cNvPr>
          <p:cNvSpPr>
            <a:spLocks noGrp="1"/>
          </p:cNvSpPr>
          <p:nvPr>
            <p:ph idx="1"/>
          </p:nvPr>
        </p:nvSpPr>
        <p:spPr>
          <a:xfrm>
            <a:off x="442912" y="1426464"/>
            <a:ext cx="5256000" cy="5065776"/>
          </a:xfrm>
        </p:spPr>
        <p:txBody>
          <a:bodyPr/>
          <a:lstStyle/>
          <a:p>
            <a:pPr marL="0" indent="0">
              <a:lnSpc>
                <a:spcPct val="100000"/>
              </a:lnSpc>
              <a:spcBef>
                <a:spcPts val="300"/>
              </a:spcBef>
              <a:spcAft>
                <a:spcPts val="0"/>
              </a:spcAft>
              <a:buNone/>
            </a:pPr>
            <a:r>
              <a:rPr lang="en-GB" sz="1800" b="1" dirty="0">
                <a:solidFill>
                  <a:srgbClr val="D04A02"/>
                </a:solidFill>
              </a:rPr>
              <a:t>Observations and comments</a:t>
            </a:r>
          </a:p>
          <a:p>
            <a:pPr marL="285750" indent="-285750">
              <a:lnSpc>
                <a:spcPct val="100000"/>
              </a:lnSpc>
              <a:spcBef>
                <a:spcPts val="300"/>
              </a:spcBef>
              <a:spcAft>
                <a:spcPts val="0"/>
              </a:spcAft>
              <a:buFont typeface="Arial" panose="020B0604020202020204" pitchFamily="34" charset="0"/>
              <a:buChar char="•"/>
            </a:pPr>
            <a:r>
              <a:rPr lang="en-GB" sz="1600" dirty="0"/>
              <a:t>Water KPIs show that on the sample average:</a:t>
            </a:r>
          </a:p>
          <a:p>
            <a:pPr marL="539750" indent="-285750">
              <a:lnSpc>
                <a:spcPct val="100000"/>
              </a:lnSpc>
              <a:spcAft>
                <a:spcPts val="0"/>
              </a:spcAft>
              <a:buFont typeface="Symbol" panose="05050102010706020507" pitchFamily="18" charset="2"/>
              <a:buChar char="-"/>
            </a:pPr>
            <a:r>
              <a:rPr lang="en-GB" sz="1600" b="1" dirty="0"/>
              <a:t>90% </a:t>
            </a:r>
            <a:r>
              <a:rPr lang="en-GB" sz="1600" dirty="0"/>
              <a:t>of process water is collected and re-used;</a:t>
            </a:r>
          </a:p>
          <a:p>
            <a:pPr marL="539750" indent="-285750">
              <a:lnSpc>
                <a:spcPct val="100000"/>
              </a:lnSpc>
              <a:spcAft>
                <a:spcPts val="0"/>
              </a:spcAft>
              <a:buFont typeface="Symbol" panose="05050102010706020507" pitchFamily="18" charset="2"/>
              <a:buChar char="-"/>
            </a:pPr>
            <a:r>
              <a:rPr lang="en-GB" sz="1600" b="1" dirty="0"/>
              <a:t>55% </a:t>
            </a:r>
            <a:r>
              <a:rPr lang="en-GB" sz="1600" dirty="0"/>
              <a:t>of stormwater is collected;</a:t>
            </a:r>
          </a:p>
          <a:p>
            <a:pPr marL="539750" indent="-285750">
              <a:lnSpc>
                <a:spcPct val="100000"/>
              </a:lnSpc>
              <a:spcAft>
                <a:spcPts val="0"/>
              </a:spcAft>
              <a:buFont typeface="Symbol" panose="05050102010706020507" pitchFamily="18" charset="2"/>
              <a:buChar char="-"/>
            </a:pPr>
            <a:r>
              <a:rPr lang="en-GB" sz="1600" b="1" dirty="0"/>
              <a:t>96% </a:t>
            </a:r>
            <a:r>
              <a:rPr lang="en-GB" sz="1600" dirty="0"/>
              <a:t>of discharged water is treated. </a:t>
            </a:r>
          </a:p>
          <a:p>
            <a:pPr marL="539750" indent="-285750">
              <a:lnSpc>
                <a:spcPct val="100000"/>
              </a:lnSpc>
              <a:spcAft>
                <a:spcPts val="0"/>
              </a:spcAft>
              <a:buFont typeface="Symbol" panose="05050102010706020507" pitchFamily="18" charset="2"/>
              <a:buChar char="-"/>
            </a:pPr>
            <a:endParaRPr lang="en-GB" sz="500" dirty="0"/>
          </a:p>
          <a:p>
            <a:pPr marL="285750" indent="-285750">
              <a:lnSpc>
                <a:spcPct val="100000"/>
              </a:lnSpc>
              <a:buFont typeface="Arial" panose="020B0604020202020204" pitchFamily="34" charset="0"/>
              <a:buChar char="•"/>
            </a:pPr>
            <a:r>
              <a:rPr lang="en-GB" sz="1600" dirty="0"/>
              <a:t>The </a:t>
            </a:r>
            <a:r>
              <a:rPr lang="en-GB" sz="1600" b="1" dirty="0"/>
              <a:t>weighted average </a:t>
            </a:r>
            <a:r>
              <a:rPr lang="en-GB" sz="1600" dirty="0"/>
              <a:t>of water withdrawal in relation to concrete production in 2019 is of </a:t>
            </a:r>
            <a:r>
              <a:rPr lang="en-GB" sz="1600" b="1" dirty="0"/>
              <a:t>220</a:t>
            </a:r>
            <a:r>
              <a:rPr lang="en-GB" sz="1600" dirty="0"/>
              <a:t> </a:t>
            </a:r>
            <a:r>
              <a:rPr lang="en-GB" sz="1600" b="1" dirty="0"/>
              <a:t>litres/m</a:t>
            </a:r>
            <a:r>
              <a:rPr lang="en-GB" sz="1600" b="1" baseline="30000" dirty="0"/>
              <a:t>3 </a:t>
            </a:r>
            <a:r>
              <a:rPr lang="en-GB" sz="1600" dirty="0"/>
              <a:t>at world level.</a:t>
            </a:r>
          </a:p>
          <a:p>
            <a:pPr marL="285750" indent="-285750">
              <a:lnSpc>
                <a:spcPct val="100000"/>
              </a:lnSpc>
              <a:buFont typeface="Arial" panose="020B0604020202020204" pitchFamily="34" charset="0"/>
              <a:buChar char="•"/>
            </a:pPr>
            <a:r>
              <a:rPr lang="en-GB" sz="1600" dirty="0"/>
              <a:t>The chart pictures </a:t>
            </a:r>
            <a:r>
              <a:rPr lang="en-GB" sz="1600" b="1" dirty="0"/>
              <a:t>99% of the world coverage</a:t>
            </a:r>
            <a:r>
              <a:rPr lang="en-GB" sz="1600" dirty="0"/>
              <a:t>.</a:t>
            </a:r>
            <a:r>
              <a:rPr lang="en-GB" sz="1600" b="1" dirty="0"/>
              <a:t> </a:t>
            </a:r>
            <a:br>
              <a:rPr lang="en-GB" sz="1600" b="1" dirty="0"/>
            </a:br>
            <a:r>
              <a:rPr lang="en-GB" sz="1600" dirty="0"/>
              <a:t>The remaining percentage corresponds to Morocco, where water consumption is not measured. The data collection process highlighted the opportunity to estimate this KPI in the country concerned.</a:t>
            </a:r>
          </a:p>
          <a:p>
            <a:pPr marL="285750" indent="-285750">
              <a:lnSpc>
                <a:spcPct val="100000"/>
              </a:lnSpc>
              <a:buFont typeface="Arial" panose="020B0604020202020204" pitchFamily="34" charset="0"/>
              <a:buChar char="•"/>
            </a:pPr>
            <a:r>
              <a:rPr lang="en-GB" sz="1600" dirty="0"/>
              <a:t>Around </a:t>
            </a:r>
            <a:r>
              <a:rPr lang="en-GB" sz="1600" b="1" dirty="0"/>
              <a:t>80% of values </a:t>
            </a:r>
            <a:r>
              <a:rPr lang="en-GB" sz="1600" dirty="0"/>
              <a:t>lie </a:t>
            </a:r>
            <a:r>
              <a:rPr lang="en-GB" sz="1600" b="1" dirty="0"/>
              <a:t>between 100 litres/m</a:t>
            </a:r>
            <a:r>
              <a:rPr lang="en-GB" sz="1600" b="1" baseline="30000" dirty="0"/>
              <a:t>3</a:t>
            </a:r>
            <a:r>
              <a:rPr lang="en-GB" sz="1600" b="1" dirty="0"/>
              <a:t> and 250 litres/m</a:t>
            </a:r>
            <a:r>
              <a:rPr lang="en-GB" sz="1600" b="1" baseline="30000" dirty="0"/>
              <a:t>3</a:t>
            </a:r>
            <a:r>
              <a:rPr lang="en-GB" sz="1600" dirty="0"/>
              <a:t>.</a:t>
            </a:r>
          </a:p>
          <a:p>
            <a:pPr marL="285750" indent="-285750">
              <a:lnSpc>
                <a:spcPct val="100000"/>
              </a:lnSpc>
              <a:buFont typeface="Arial" panose="020B0604020202020204" pitchFamily="34" charset="0"/>
              <a:buChar char="•"/>
            </a:pPr>
            <a:r>
              <a:rPr lang="en-GB" sz="1600" dirty="0"/>
              <a:t>The </a:t>
            </a:r>
            <a:r>
              <a:rPr lang="en-GB" sz="1600" b="1" dirty="0"/>
              <a:t>lowest water withdrawal figures </a:t>
            </a:r>
            <a:r>
              <a:rPr lang="en-GB" sz="1600" dirty="0"/>
              <a:t>are mainly found in </a:t>
            </a:r>
            <a:r>
              <a:rPr lang="en-GB" sz="1600" b="1" dirty="0"/>
              <a:t>European reporting region</a:t>
            </a:r>
            <a:r>
              <a:rPr lang="en-GB" sz="1600" dirty="0"/>
              <a:t>, while the </a:t>
            </a:r>
            <a:r>
              <a:rPr lang="en-GB" sz="1600" b="1" dirty="0"/>
              <a:t>highest figures are reported in North America, Asia and Oceania.</a:t>
            </a:r>
          </a:p>
        </p:txBody>
      </p:sp>
      <p:sp>
        <p:nvSpPr>
          <p:cNvPr id="3" name="Espace réservé du pied de page 2">
            <a:extLst>
              <a:ext uri="{FF2B5EF4-FFF2-40B4-BE49-F238E27FC236}">
                <a16:creationId xmlns:a16="http://schemas.microsoft.com/office/drawing/2014/main" id="{5367AA00-1BA5-4BB4-9905-A1B27AF7A1BC}"/>
              </a:ext>
            </a:extLst>
          </p:cNvPr>
          <p:cNvSpPr>
            <a:spLocks noGrp="1"/>
          </p:cNvSpPr>
          <p:nvPr>
            <p:ph type="ftr" sz="quarter" idx="13"/>
          </p:nvPr>
        </p:nvSpPr>
        <p:spPr/>
        <p:txBody>
          <a:bodyPr/>
          <a:lstStyle/>
          <a:p>
            <a:pPr algn="l"/>
            <a:r>
              <a:rPr lang="en-US" dirty="0"/>
              <a:t>GCCA GNR Concrete Pilot Project</a:t>
            </a:r>
            <a:endParaRPr lang="fr-FR" dirty="0"/>
          </a:p>
        </p:txBody>
      </p:sp>
      <p:sp>
        <p:nvSpPr>
          <p:cNvPr id="12" name="Rectangle 11">
            <a:extLst>
              <a:ext uri="{FF2B5EF4-FFF2-40B4-BE49-F238E27FC236}">
                <a16:creationId xmlns:a16="http://schemas.microsoft.com/office/drawing/2014/main" id="{DBAA711D-A424-410A-B384-A227FC4AC1B5}"/>
              </a:ext>
            </a:extLst>
          </p:cNvPr>
          <p:cNvSpPr/>
          <p:nvPr/>
        </p:nvSpPr>
        <p:spPr>
          <a:xfrm>
            <a:off x="10753344" y="88931"/>
            <a:ext cx="978408"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World level</a:t>
            </a:r>
          </a:p>
        </p:txBody>
      </p:sp>
      <p:graphicFrame>
        <p:nvGraphicFramePr>
          <p:cNvPr id="13" name="Graphique 12">
            <a:extLst>
              <a:ext uri="{FF2B5EF4-FFF2-40B4-BE49-F238E27FC236}">
                <a16:creationId xmlns:a16="http://schemas.microsoft.com/office/drawing/2014/main" id="{22179E20-B77F-40DF-8F2C-AC68ECC779C9}"/>
              </a:ext>
            </a:extLst>
          </p:cNvPr>
          <p:cNvGraphicFramePr>
            <a:graphicFrameLocks/>
          </p:cNvGraphicFramePr>
          <p:nvPr>
            <p:extLst>
              <p:ext uri="{D42A27DB-BD31-4B8C-83A1-F6EECF244321}">
                <p14:modId xmlns:p14="http://schemas.microsoft.com/office/powerpoint/2010/main" val="3866674773"/>
              </p:ext>
            </p:extLst>
          </p:nvPr>
        </p:nvGraphicFramePr>
        <p:xfrm>
          <a:off x="5740745" y="2405743"/>
          <a:ext cx="5832000" cy="399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6961294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60CFA814-6FB8-4CFE-BD96-E14D75FFE6F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7" name="Objet 6" hidden="1">
                        <a:extLst>
                          <a:ext uri="{FF2B5EF4-FFF2-40B4-BE49-F238E27FC236}">
                            <a16:creationId xmlns:a16="http://schemas.microsoft.com/office/drawing/2014/main" id="{60CFA814-6FB8-4CFE-BD96-E14D75FFE6F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D416E945-2321-40FC-A384-31A817FD605D}"/>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92C0257A-3401-4CB4-886D-3507440B2014}"/>
              </a:ext>
            </a:extLst>
          </p:cNvPr>
          <p:cNvSpPr>
            <a:spLocks noGrp="1"/>
          </p:cNvSpPr>
          <p:nvPr>
            <p:ph type="title"/>
          </p:nvPr>
        </p:nvSpPr>
        <p:spPr/>
        <p:txBody>
          <a:bodyPr/>
          <a:lstStyle/>
          <a:p>
            <a:r>
              <a:rPr lang="en-GB" dirty="0"/>
              <a:t>Water withdrawal per unit of concrete varies across regions </a:t>
            </a:r>
            <a:br>
              <a:rPr lang="en-GB" dirty="0"/>
            </a:br>
            <a:r>
              <a:rPr lang="en-GB" sz="2200" dirty="0"/>
              <a:t>Water KPIs find heterogeneity, as reported data is scattered around the mean</a:t>
            </a:r>
          </a:p>
        </p:txBody>
      </p:sp>
      <p:sp>
        <p:nvSpPr>
          <p:cNvPr id="5" name="Espace réservé de la date 4">
            <a:extLst>
              <a:ext uri="{FF2B5EF4-FFF2-40B4-BE49-F238E27FC236}">
                <a16:creationId xmlns:a16="http://schemas.microsoft.com/office/drawing/2014/main" id="{E7735C5F-533F-4588-A803-A14071B29C5F}"/>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41D2B7DC-B882-4202-94A0-DA38BE1FAE27}"/>
              </a:ext>
            </a:extLst>
          </p:cNvPr>
          <p:cNvSpPr>
            <a:spLocks noGrp="1"/>
          </p:cNvSpPr>
          <p:nvPr>
            <p:ph type="sldNum" sz="quarter" idx="11"/>
          </p:nvPr>
        </p:nvSpPr>
        <p:spPr/>
        <p:txBody>
          <a:bodyPr/>
          <a:lstStyle/>
          <a:p>
            <a:fld id="{7870704B-CE94-48CC-AF30-84932A1262A7}" type="slidenum">
              <a:rPr lang="fr-FR" smtClean="0"/>
              <a:pPr/>
              <a:t>30</a:t>
            </a:fld>
            <a:endParaRPr lang="fr-FR" dirty="0"/>
          </a:p>
        </p:txBody>
      </p:sp>
      <p:graphicFrame>
        <p:nvGraphicFramePr>
          <p:cNvPr id="10" name="Tableau 9">
            <a:extLst>
              <a:ext uri="{FF2B5EF4-FFF2-40B4-BE49-F238E27FC236}">
                <a16:creationId xmlns:a16="http://schemas.microsoft.com/office/drawing/2014/main" id="{1ADCCCB7-FD14-4E1B-BE2B-0611E83D9668}"/>
              </a:ext>
            </a:extLst>
          </p:cNvPr>
          <p:cNvGraphicFramePr>
            <a:graphicFrameLocks noGrp="1"/>
          </p:cNvGraphicFramePr>
          <p:nvPr>
            <p:extLst>
              <p:ext uri="{D42A27DB-BD31-4B8C-83A1-F6EECF244321}">
                <p14:modId xmlns:p14="http://schemas.microsoft.com/office/powerpoint/2010/main" val="1127353342"/>
              </p:ext>
            </p:extLst>
          </p:nvPr>
        </p:nvGraphicFramePr>
        <p:xfrm>
          <a:off x="6208745" y="1426463"/>
          <a:ext cx="4896000" cy="864000"/>
        </p:xfrm>
        <a:graphic>
          <a:graphicData uri="http://schemas.openxmlformats.org/drawingml/2006/table">
            <a:tbl>
              <a:tblPr firstRow="1" bandRow="1">
                <a:tableStyleId>{5C22544A-7EE6-4342-B048-85BDC9FD1C3A}</a:tableStyleId>
              </a:tblPr>
              <a:tblGrid>
                <a:gridCol w="979200">
                  <a:extLst>
                    <a:ext uri="{9D8B030D-6E8A-4147-A177-3AD203B41FA5}">
                      <a16:colId xmlns:a16="http://schemas.microsoft.com/office/drawing/2014/main" val="1504220348"/>
                    </a:ext>
                  </a:extLst>
                </a:gridCol>
                <a:gridCol w="979200">
                  <a:extLst>
                    <a:ext uri="{9D8B030D-6E8A-4147-A177-3AD203B41FA5}">
                      <a16:colId xmlns:a16="http://schemas.microsoft.com/office/drawing/2014/main" val="1413351609"/>
                    </a:ext>
                  </a:extLst>
                </a:gridCol>
                <a:gridCol w="979200">
                  <a:extLst>
                    <a:ext uri="{9D8B030D-6E8A-4147-A177-3AD203B41FA5}">
                      <a16:colId xmlns:a16="http://schemas.microsoft.com/office/drawing/2014/main" val="1239885802"/>
                    </a:ext>
                  </a:extLst>
                </a:gridCol>
                <a:gridCol w="979200">
                  <a:extLst>
                    <a:ext uri="{9D8B030D-6E8A-4147-A177-3AD203B41FA5}">
                      <a16:colId xmlns:a16="http://schemas.microsoft.com/office/drawing/2014/main" val="3091639623"/>
                    </a:ext>
                  </a:extLst>
                </a:gridCol>
                <a:gridCol w="979200">
                  <a:extLst>
                    <a:ext uri="{9D8B030D-6E8A-4147-A177-3AD203B41FA5}">
                      <a16:colId xmlns:a16="http://schemas.microsoft.com/office/drawing/2014/main" val="2904654360"/>
                    </a:ext>
                  </a:extLst>
                </a:gridCol>
              </a:tblGrid>
              <a:tr h="364094">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49953">
                <a:tc>
                  <a:txBody>
                    <a:bodyPr/>
                    <a:lstStyle/>
                    <a:p>
                      <a:pPr algn="ctr" fontAlgn="ctr"/>
                      <a:r>
                        <a:rPr lang="en-GB" sz="1000" b="0" i="1" dirty="0"/>
                        <a:t>litres/m</a:t>
                      </a:r>
                      <a:r>
                        <a:rPr lang="en-GB" sz="1000" b="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b="0" i="1" dirty="0"/>
                        <a:t>litres/m</a:t>
                      </a:r>
                      <a:r>
                        <a:rPr lang="en-GB" sz="1000" b="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b="0" i="1" dirty="0"/>
                        <a:t>litres/m</a:t>
                      </a:r>
                      <a:r>
                        <a:rPr lang="en-GB" sz="1000" b="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b="0" i="1" dirty="0"/>
                        <a:t>litres/m</a:t>
                      </a:r>
                      <a:r>
                        <a:rPr lang="en-GB" sz="1000" b="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2310329303"/>
                  </a:ext>
                </a:extLst>
              </a:tr>
              <a:tr h="249953">
                <a:tc>
                  <a:txBody>
                    <a:bodyPr/>
                    <a:lstStyle/>
                    <a:p>
                      <a:pPr algn="ctr" fontAlgn="ctr"/>
                      <a:r>
                        <a:rPr lang="fr-FR" sz="1000" b="0" i="0" u="none" strike="noStrike" dirty="0">
                          <a:solidFill>
                            <a:srgbClr val="000000"/>
                          </a:solidFill>
                          <a:effectLst/>
                          <a:latin typeface="Arial" panose="020B0604020202020204" pitchFamily="34" charset="0"/>
                          <a:cs typeface="Arial" panose="020B0604020202020204" pitchFamily="34" charset="0"/>
                        </a:rPr>
                        <a:t>96</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180</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280</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44</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100</a:t>
                      </a:r>
                    </a:p>
                  </a:txBody>
                  <a:tcPr marL="9525" marR="9525" marT="9525" marB="0" anchor="ctr"/>
                </a:tc>
                <a:extLst>
                  <a:ext uri="{0D108BD9-81ED-4DB2-BD59-A6C34878D82A}">
                    <a16:rowId xmlns:a16="http://schemas.microsoft.com/office/drawing/2014/main" val="1601084192"/>
                  </a:ext>
                </a:extLst>
              </a:tr>
            </a:tbl>
          </a:graphicData>
        </a:graphic>
      </p:graphicFrame>
      <p:sp>
        <p:nvSpPr>
          <p:cNvPr id="11" name="Espace réservé du contenu 2">
            <a:extLst>
              <a:ext uri="{FF2B5EF4-FFF2-40B4-BE49-F238E27FC236}">
                <a16:creationId xmlns:a16="http://schemas.microsoft.com/office/drawing/2014/main" id="{7C2098DE-BBF8-46E0-B536-376E34327657}"/>
              </a:ext>
            </a:extLst>
          </p:cNvPr>
          <p:cNvSpPr>
            <a:spLocks noGrp="1"/>
          </p:cNvSpPr>
          <p:nvPr>
            <p:ph idx="1"/>
          </p:nvPr>
        </p:nvSpPr>
        <p:spPr>
          <a:xfrm>
            <a:off x="442912" y="1426464"/>
            <a:ext cx="5256000" cy="4663440"/>
          </a:xfrm>
        </p:spPr>
        <p:txBody>
          <a:bodyPr/>
          <a:lstStyle/>
          <a:p>
            <a:pPr marL="0" indent="0">
              <a:lnSpc>
                <a:spcPct val="100000"/>
              </a:lnSpc>
              <a:spcBef>
                <a:spcPts val="300"/>
              </a:spcBef>
              <a:spcAft>
                <a:spcPts val="0"/>
              </a:spcAft>
              <a:buNone/>
            </a:pPr>
            <a:r>
              <a:rPr lang="en-GB" sz="1800" b="1" dirty="0">
                <a:solidFill>
                  <a:srgbClr val="D04A02"/>
                </a:solidFill>
              </a:rPr>
              <a:t>Observations and comments</a:t>
            </a:r>
          </a:p>
          <a:p>
            <a:pPr marL="285750" indent="-285750">
              <a:lnSpc>
                <a:spcPct val="100000"/>
              </a:lnSpc>
              <a:spcBef>
                <a:spcPts val="300"/>
              </a:spcBef>
              <a:spcAft>
                <a:spcPts val="0"/>
              </a:spcAft>
              <a:buFont typeface="Arial" panose="020B0604020202020204" pitchFamily="34" charset="0"/>
              <a:buChar char="•"/>
            </a:pPr>
            <a:r>
              <a:rPr lang="en-GB" sz="1600" dirty="0"/>
              <a:t>Water KPIs show that on the sample average:</a:t>
            </a:r>
          </a:p>
          <a:p>
            <a:pPr marL="539750" indent="-285750">
              <a:lnSpc>
                <a:spcPct val="100000"/>
              </a:lnSpc>
              <a:spcAft>
                <a:spcPts val="0"/>
              </a:spcAft>
              <a:buFont typeface="Symbol" panose="05050102010706020507" pitchFamily="18" charset="2"/>
              <a:buChar char="-"/>
            </a:pPr>
            <a:r>
              <a:rPr lang="en-GB" sz="1600" b="1" dirty="0"/>
              <a:t>96% </a:t>
            </a:r>
            <a:r>
              <a:rPr lang="en-GB" sz="1600" dirty="0"/>
              <a:t>of process water is collected and re-used;</a:t>
            </a:r>
          </a:p>
          <a:p>
            <a:pPr marL="539750" indent="-285750">
              <a:lnSpc>
                <a:spcPct val="100000"/>
              </a:lnSpc>
              <a:spcAft>
                <a:spcPts val="0"/>
              </a:spcAft>
              <a:buFont typeface="Symbol" panose="05050102010706020507" pitchFamily="18" charset="2"/>
              <a:buChar char="-"/>
            </a:pPr>
            <a:r>
              <a:rPr lang="en-GB" sz="1600" b="1" dirty="0"/>
              <a:t>60% </a:t>
            </a:r>
            <a:r>
              <a:rPr lang="en-GB" sz="1600" dirty="0"/>
              <a:t>of stormwater is collected;</a:t>
            </a:r>
          </a:p>
          <a:p>
            <a:pPr marL="539750" indent="-285750">
              <a:lnSpc>
                <a:spcPct val="100000"/>
              </a:lnSpc>
              <a:spcAft>
                <a:spcPts val="0"/>
              </a:spcAft>
              <a:buFont typeface="Symbol" panose="05050102010706020507" pitchFamily="18" charset="2"/>
              <a:buChar char="-"/>
            </a:pPr>
            <a:r>
              <a:rPr lang="en-GB" sz="1600" b="1" dirty="0"/>
              <a:t>95% </a:t>
            </a:r>
            <a:r>
              <a:rPr lang="en-GB" sz="1600" dirty="0"/>
              <a:t>of discharged water is treated. </a:t>
            </a:r>
          </a:p>
          <a:p>
            <a:pPr marL="539750" indent="-285750">
              <a:lnSpc>
                <a:spcPct val="100000"/>
              </a:lnSpc>
              <a:spcAft>
                <a:spcPts val="0"/>
              </a:spcAft>
              <a:buFont typeface="Symbol" panose="05050102010706020507" pitchFamily="18" charset="2"/>
              <a:buChar char="-"/>
            </a:pPr>
            <a:endParaRPr lang="en-GB" sz="500" dirty="0"/>
          </a:p>
          <a:p>
            <a:pPr marL="285750" indent="-285750">
              <a:lnSpc>
                <a:spcPct val="100000"/>
              </a:lnSpc>
              <a:buFont typeface="Arial" panose="020B0604020202020204" pitchFamily="34" charset="0"/>
              <a:buChar char="•"/>
            </a:pPr>
            <a:r>
              <a:rPr lang="en-GB" sz="1600" dirty="0"/>
              <a:t>The </a:t>
            </a:r>
            <a:r>
              <a:rPr lang="en-GB" sz="1600" b="1" dirty="0"/>
              <a:t>weighted average </a:t>
            </a:r>
            <a:r>
              <a:rPr lang="en-GB" sz="1600" dirty="0"/>
              <a:t>of water withdrawal in relation to concrete production in 2019 is of </a:t>
            </a:r>
            <a:r>
              <a:rPr lang="en-GB" sz="1600" b="1" dirty="0"/>
              <a:t>180</a:t>
            </a:r>
            <a:r>
              <a:rPr lang="en-GB" sz="1600" dirty="0"/>
              <a:t> </a:t>
            </a:r>
            <a:r>
              <a:rPr lang="en-GB" sz="1600" b="1" dirty="0"/>
              <a:t>litres/m</a:t>
            </a:r>
            <a:r>
              <a:rPr lang="en-GB" sz="1600" b="1" baseline="30000" dirty="0"/>
              <a:t>3 </a:t>
            </a:r>
            <a:r>
              <a:rPr lang="en-GB" sz="1600" dirty="0"/>
              <a:t>at Europe level.</a:t>
            </a:r>
          </a:p>
          <a:p>
            <a:pPr marL="285750" indent="-285750">
              <a:lnSpc>
                <a:spcPct val="100000"/>
              </a:lnSpc>
              <a:buFont typeface="Arial" panose="020B0604020202020204" pitchFamily="34" charset="0"/>
              <a:buChar char="•"/>
            </a:pPr>
            <a:r>
              <a:rPr lang="en-GB" sz="1600" dirty="0"/>
              <a:t>The chart pictures </a:t>
            </a:r>
            <a:r>
              <a:rPr lang="en-GB" sz="1600" b="1" dirty="0"/>
              <a:t>100% of Europe coverage</a:t>
            </a:r>
            <a:r>
              <a:rPr lang="en-GB" sz="1600" dirty="0"/>
              <a:t>.</a:t>
            </a:r>
            <a:r>
              <a:rPr lang="en-GB" sz="1600" b="1" dirty="0"/>
              <a:t> </a:t>
            </a:r>
          </a:p>
          <a:p>
            <a:pPr marL="285750" indent="-285750">
              <a:lnSpc>
                <a:spcPct val="100000"/>
              </a:lnSpc>
              <a:buFont typeface="Arial" panose="020B0604020202020204" pitchFamily="34" charset="0"/>
              <a:buChar char="•"/>
            </a:pPr>
            <a:r>
              <a:rPr lang="en-GB" sz="1600" dirty="0"/>
              <a:t>Around </a:t>
            </a:r>
            <a:r>
              <a:rPr lang="en-GB" sz="1600" b="1" dirty="0"/>
              <a:t>80% of values </a:t>
            </a:r>
            <a:r>
              <a:rPr lang="en-GB" sz="1600" dirty="0"/>
              <a:t>lie </a:t>
            </a:r>
            <a:r>
              <a:rPr lang="en-GB" sz="1600" b="1" dirty="0"/>
              <a:t>between 100 litres/m</a:t>
            </a:r>
            <a:r>
              <a:rPr lang="en-GB" sz="1600" b="1" baseline="30000" dirty="0"/>
              <a:t>3</a:t>
            </a:r>
            <a:r>
              <a:rPr lang="en-GB" sz="1600" b="1" dirty="0"/>
              <a:t> and 210 litres/m</a:t>
            </a:r>
            <a:r>
              <a:rPr lang="en-GB" sz="1600" b="1" baseline="30000" dirty="0"/>
              <a:t>3</a:t>
            </a:r>
            <a:r>
              <a:rPr lang="en-GB" sz="1600" dirty="0"/>
              <a:t>.</a:t>
            </a:r>
          </a:p>
          <a:p>
            <a:pPr marL="285750" indent="-285750">
              <a:lnSpc>
                <a:spcPct val="100000"/>
              </a:lnSpc>
              <a:buFont typeface="Arial" panose="020B0604020202020204" pitchFamily="34" charset="0"/>
              <a:buChar char="•"/>
            </a:pPr>
            <a:r>
              <a:rPr lang="en-GB" sz="1600" dirty="0"/>
              <a:t>The lowest water withdrawal figures are mainly found in </a:t>
            </a:r>
            <a:r>
              <a:rPr lang="en-GB" sz="1600" b="1" dirty="0"/>
              <a:t>central and Eastern Europe.</a:t>
            </a:r>
            <a:endParaRPr lang="en-GB" sz="1600" dirty="0"/>
          </a:p>
        </p:txBody>
      </p:sp>
      <p:sp>
        <p:nvSpPr>
          <p:cNvPr id="3" name="Espace réservé du pied de page 2">
            <a:extLst>
              <a:ext uri="{FF2B5EF4-FFF2-40B4-BE49-F238E27FC236}">
                <a16:creationId xmlns:a16="http://schemas.microsoft.com/office/drawing/2014/main" id="{5367AA00-1BA5-4BB4-9905-A1B27AF7A1BC}"/>
              </a:ext>
            </a:extLst>
          </p:cNvPr>
          <p:cNvSpPr>
            <a:spLocks noGrp="1"/>
          </p:cNvSpPr>
          <p:nvPr>
            <p:ph type="ftr" sz="quarter" idx="13"/>
          </p:nvPr>
        </p:nvSpPr>
        <p:spPr/>
        <p:txBody>
          <a:bodyPr/>
          <a:lstStyle/>
          <a:p>
            <a:pPr algn="l"/>
            <a:r>
              <a:rPr lang="en-US" dirty="0"/>
              <a:t>GCCA GNR Concrete Pilot Project</a:t>
            </a:r>
            <a:endParaRPr lang="fr-FR" dirty="0"/>
          </a:p>
        </p:txBody>
      </p:sp>
      <p:sp>
        <p:nvSpPr>
          <p:cNvPr id="12" name="Rectangle 11">
            <a:extLst>
              <a:ext uri="{FF2B5EF4-FFF2-40B4-BE49-F238E27FC236}">
                <a16:creationId xmlns:a16="http://schemas.microsoft.com/office/drawing/2014/main" id="{DBAA711D-A424-410A-B384-A227FC4AC1B5}"/>
              </a:ext>
            </a:extLst>
          </p:cNvPr>
          <p:cNvSpPr/>
          <p:nvPr/>
        </p:nvSpPr>
        <p:spPr>
          <a:xfrm>
            <a:off x="10753344" y="88931"/>
            <a:ext cx="104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Europe level</a:t>
            </a:r>
          </a:p>
        </p:txBody>
      </p:sp>
      <p:graphicFrame>
        <p:nvGraphicFramePr>
          <p:cNvPr id="14" name="Graphique 13">
            <a:extLst>
              <a:ext uri="{FF2B5EF4-FFF2-40B4-BE49-F238E27FC236}">
                <a16:creationId xmlns:a16="http://schemas.microsoft.com/office/drawing/2014/main" id="{D4A80CDC-572B-4200-8710-5CED66A0AA4A}"/>
              </a:ext>
            </a:extLst>
          </p:cNvPr>
          <p:cNvGraphicFramePr>
            <a:graphicFrameLocks/>
          </p:cNvGraphicFramePr>
          <p:nvPr>
            <p:extLst>
              <p:ext uri="{D42A27DB-BD31-4B8C-83A1-F6EECF244321}">
                <p14:modId xmlns:p14="http://schemas.microsoft.com/office/powerpoint/2010/main" val="2384542316"/>
              </p:ext>
            </p:extLst>
          </p:nvPr>
        </p:nvGraphicFramePr>
        <p:xfrm>
          <a:off x="5740745" y="2405743"/>
          <a:ext cx="5832000" cy="399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0380484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60CFA814-6FB8-4CFE-BD96-E14D75FFE6F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7" name="Objet 6" hidden="1">
                        <a:extLst>
                          <a:ext uri="{FF2B5EF4-FFF2-40B4-BE49-F238E27FC236}">
                            <a16:creationId xmlns:a16="http://schemas.microsoft.com/office/drawing/2014/main" id="{60CFA814-6FB8-4CFE-BD96-E14D75FFE6F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D416E945-2321-40FC-A384-31A817FD605D}"/>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92C0257A-3401-4CB4-886D-3507440B2014}"/>
              </a:ext>
            </a:extLst>
          </p:cNvPr>
          <p:cNvSpPr>
            <a:spLocks noGrp="1"/>
          </p:cNvSpPr>
          <p:nvPr>
            <p:ph type="title"/>
          </p:nvPr>
        </p:nvSpPr>
        <p:spPr/>
        <p:txBody>
          <a:bodyPr/>
          <a:lstStyle/>
          <a:p>
            <a:r>
              <a:rPr lang="en-GB" dirty="0"/>
              <a:t>Water withdrawal per unit of concrete varies across regions </a:t>
            </a:r>
            <a:br>
              <a:rPr lang="en-GB" dirty="0"/>
            </a:br>
            <a:r>
              <a:rPr lang="en-GB" sz="2200" dirty="0"/>
              <a:t>Water KPIs find heterogeneity, as reported data is scattered around the mean</a:t>
            </a:r>
          </a:p>
        </p:txBody>
      </p:sp>
      <p:sp>
        <p:nvSpPr>
          <p:cNvPr id="5" name="Espace réservé de la date 4">
            <a:extLst>
              <a:ext uri="{FF2B5EF4-FFF2-40B4-BE49-F238E27FC236}">
                <a16:creationId xmlns:a16="http://schemas.microsoft.com/office/drawing/2014/main" id="{E7735C5F-533F-4588-A803-A14071B29C5F}"/>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41D2B7DC-B882-4202-94A0-DA38BE1FAE27}"/>
              </a:ext>
            </a:extLst>
          </p:cNvPr>
          <p:cNvSpPr>
            <a:spLocks noGrp="1"/>
          </p:cNvSpPr>
          <p:nvPr>
            <p:ph type="sldNum" sz="quarter" idx="11"/>
          </p:nvPr>
        </p:nvSpPr>
        <p:spPr/>
        <p:txBody>
          <a:bodyPr/>
          <a:lstStyle/>
          <a:p>
            <a:fld id="{7870704B-CE94-48CC-AF30-84932A1262A7}" type="slidenum">
              <a:rPr lang="fr-FR" smtClean="0"/>
              <a:pPr/>
              <a:t>31</a:t>
            </a:fld>
            <a:endParaRPr lang="fr-FR" dirty="0"/>
          </a:p>
        </p:txBody>
      </p:sp>
      <p:graphicFrame>
        <p:nvGraphicFramePr>
          <p:cNvPr id="10" name="Tableau 9">
            <a:extLst>
              <a:ext uri="{FF2B5EF4-FFF2-40B4-BE49-F238E27FC236}">
                <a16:creationId xmlns:a16="http://schemas.microsoft.com/office/drawing/2014/main" id="{1ADCCCB7-FD14-4E1B-BE2B-0611E83D9668}"/>
              </a:ext>
            </a:extLst>
          </p:cNvPr>
          <p:cNvGraphicFramePr>
            <a:graphicFrameLocks noGrp="1"/>
          </p:cNvGraphicFramePr>
          <p:nvPr>
            <p:extLst>
              <p:ext uri="{D42A27DB-BD31-4B8C-83A1-F6EECF244321}">
                <p14:modId xmlns:p14="http://schemas.microsoft.com/office/powerpoint/2010/main" val="1724767040"/>
              </p:ext>
            </p:extLst>
          </p:nvPr>
        </p:nvGraphicFramePr>
        <p:xfrm>
          <a:off x="6208745" y="1426463"/>
          <a:ext cx="4896000" cy="864000"/>
        </p:xfrm>
        <a:graphic>
          <a:graphicData uri="http://schemas.openxmlformats.org/drawingml/2006/table">
            <a:tbl>
              <a:tblPr firstRow="1" bandRow="1">
                <a:tableStyleId>{5C22544A-7EE6-4342-B048-85BDC9FD1C3A}</a:tableStyleId>
              </a:tblPr>
              <a:tblGrid>
                <a:gridCol w="979200">
                  <a:extLst>
                    <a:ext uri="{9D8B030D-6E8A-4147-A177-3AD203B41FA5}">
                      <a16:colId xmlns:a16="http://schemas.microsoft.com/office/drawing/2014/main" val="1504220348"/>
                    </a:ext>
                  </a:extLst>
                </a:gridCol>
                <a:gridCol w="979200">
                  <a:extLst>
                    <a:ext uri="{9D8B030D-6E8A-4147-A177-3AD203B41FA5}">
                      <a16:colId xmlns:a16="http://schemas.microsoft.com/office/drawing/2014/main" val="1413351609"/>
                    </a:ext>
                  </a:extLst>
                </a:gridCol>
                <a:gridCol w="979200">
                  <a:extLst>
                    <a:ext uri="{9D8B030D-6E8A-4147-A177-3AD203B41FA5}">
                      <a16:colId xmlns:a16="http://schemas.microsoft.com/office/drawing/2014/main" val="1239885802"/>
                    </a:ext>
                  </a:extLst>
                </a:gridCol>
                <a:gridCol w="979200">
                  <a:extLst>
                    <a:ext uri="{9D8B030D-6E8A-4147-A177-3AD203B41FA5}">
                      <a16:colId xmlns:a16="http://schemas.microsoft.com/office/drawing/2014/main" val="3091639623"/>
                    </a:ext>
                  </a:extLst>
                </a:gridCol>
                <a:gridCol w="979200">
                  <a:extLst>
                    <a:ext uri="{9D8B030D-6E8A-4147-A177-3AD203B41FA5}">
                      <a16:colId xmlns:a16="http://schemas.microsoft.com/office/drawing/2014/main" val="2904654360"/>
                    </a:ext>
                  </a:extLst>
                </a:gridCol>
              </a:tblGrid>
              <a:tr h="364094">
                <a:tc>
                  <a:txBody>
                    <a:bodyPr/>
                    <a:lstStyle/>
                    <a:p>
                      <a:pPr algn="ctr" fontAlgn="ctr"/>
                      <a:r>
                        <a:rPr lang="en-GB" sz="1000" b="1" u="none" strike="noStrike" dirty="0">
                          <a:solidFill>
                            <a:schemeClr val="tx1"/>
                          </a:solidFill>
                          <a:effectLst/>
                        </a:rPr>
                        <a:t>Minimum </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Weighted average</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Maximum</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dirty="0">
                          <a:solidFill>
                            <a:schemeClr val="tx1"/>
                          </a:solidFill>
                          <a:effectLst/>
                        </a:rPr>
                        <a:t>Standard Deviation</a:t>
                      </a:r>
                      <a:endParaRPr lang="en-GB" sz="1000" b="1" i="0" u="none" strike="noStrike" dirty="0">
                        <a:solidFill>
                          <a:schemeClr val="tx1"/>
                        </a:solidFill>
                        <a:effectLst/>
                        <a:latin typeface="Calibri" panose="020F0502020204030204" pitchFamily="34" charset="0"/>
                      </a:endParaRPr>
                    </a:p>
                  </a:txBody>
                  <a:tcPr marL="9525" marR="9525" marT="9525" marB="0" anchor="ctr"/>
                </a:tc>
                <a:tc>
                  <a:txBody>
                    <a:bodyPr/>
                    <a:lstStyle/>
                    <a:p>
                      <a:pPr algn="ctr" fontAlgn="ctr"/>
                      <a:r>
                        <a:rPr lang="en-GB" sz="1000" b="1" u="none" strike="noStrike" noProof="0" dirty="0">
                          <a:solidFill>
                            <a:schemeClr val="tx1"/>
                          </a:solidFill>
                          <a:effectLst/>
                        </a:rPr>
                        <a:t>Coverage</a:t>
                      </a:r>
                      <a:br>
                        <a:rPr lang="en-GB" sz="1000" b="1" u="none" strike="noStrike" noProof="0" dirty="0">
                          <a:solidFill>
                            <a:schemeClr val="tx1"/>
                          </a:solidFill>
                          <a:effectLst/>
                        </a:rPr>
                      </a:br>
                      <a:r>
                        <a:rPr lang="en-GB" sz="1000" b="1" u="none" strike="noStrike" noProof="0" dirty="0">
                          <a:solidFill>
                            <a:schemeClr val="tx1"/>
                          </a:solidFill>
                          <a:effectLst/>
                        </a:rPr>
                        <a:t>for pilot</a:t>
                      </a:r>
                      <a:endParaRPr lang="en-GB" sz="1000" b="1" i="0" u="none" strike="noStrike" noProof="0"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9670180"/>
                  </a:ext>
                </a:extLst>
              </a:tr>
              <a:tr h="249953">
                <a:tc>
                  <a:txBody>
                    <a:bodyPr/>
                    <a:lstStyle/>
                    <a:p>
                      <a:pPr algn="ctr" fontAlgn="ctr"/>
                      <a:r>
                        <a:rPr lang="en-GB" sz="1000" b="0" i="1" dirty="0"/>
                        <a:t>litres/m</a:t>
                      </a:r>
                      <a:r>
                        <a:rPr lang="en-GB" sz="1000" b="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b="0" i="1" dirty="0"/>
                        <a:t>litres/m</a:t>
                      </a:r>
                      <a:r>
                        <a:rPr lang="en-GB" sz="1000" b="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b="0" i="1" dirty="0"/>
                        <a:t>litres/m</a:t>
                      </a:r>
                      <a:r>
                        <a:rPr lang="en-GB" sz="1000" b="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GB" sz="1000" b="0" i="1" dirty="0"/>
                        <a:t>litres/m</a:t>
                      </a:r>
                      <a:r>
                        <a:rPr lang="en-GB" sz="1000" b="0" i="1" baseline="30000" dirty="0"/>
                        <a:t>3</a:t>
                      </a:r>
                      <a:endParaRPr lang="fr-FR" sz="1000" b="0" i="1"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fr-FR" sz="1000" b="0" i="1" u="none" strike="noStrike" dirty="0">
                          <a:solidFill>
                            <a:srgbClr val="000000"/>
                          </a:solidFill>
                          <a:effectLst/>
                          <a:latin typeface="Arial" panose="020B0604020202020204" pitchFamily="34" charset="0"/>
                          <a:cs typeface="Arial" panose="020B0604020202020204" pitchFamily="34" charset="0"/>
                        </a:rPr>
                        <a:t>%</a:t>
                      </a:r>
                    </a:p>
                  </a:txBody>
                  <a:tcPr marL="9525" marR="9525" marT="9525" marB="0" anchor="ctr"/>
                </a:tc>
                <a:extLst>
                  <a:ext uri="{0D108BD9-81ED-4DB2-BD59-A6C34878D82A}">
                    <a16:rowId xmlns:a16="http://schemas.microsoft.com/office/drawing/2014/main" val="2310329303"/>
                  </a:ext>
                </a:extLst>
              </a:tr>
              <a:tr h="249953">
                <a:tc>
                  <a:txBody>
                    <a:bodyPr/>
                    <a:lstStyle/>
                    <a:p>
                      <a:pPr algn="ctr" fontAlgn="ctr"/>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182</a:t>
                      </a:r>
                    </a:p>
                  </a:txBody>
                  <a:tcPr marL="9525" marR="9525" marT="9525" marB="0" anchor="ctr"/>
                </a:tc>
                <a:tc>
                  <a:txBody>
                    <a:bodyPr/>
                    <a:lstStyle/>
                    <a:p>
                      <a:pPr algn="ctr" fontAlgn="ctr"/>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250</a:t>
                      </a:r>
                    </a:p>
                  </a:txBody>
                  <a:tcPr marL="9525" marR="9525" marT="9525" marB="0" anchor="ctr"/>
                </a:tc>
                <a:tc>
                  <a:txBody>
                    <a:bodyPr/>
                    <a:lstStyle/>
                    <a:p>
                      <a:pPr algn="ctr" fontAlgn="ctr"/>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330</a:t>
                      </a:r>
                    </a:p>
                  </a:txBody>
                  <a:tcPr marL="9525" marR="9525" marT="9525" marB="0" anchor="ctr"/>
                </a:tc>
                <a:tc>
                  <a:txBody>
                    <a:bodyPr/>
                    <a:lstStyle/>
                    <a:p>
                      <a:pPr algn="ctr" fontAlgn="ctr"/>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50</a:t>
                      </a:r>
                    </a:p>
                  </a:txBody>
                  <a:tcPr marL="9525" marR="9525" marT="9525" marB="0" anchor="ctr"/>
                </a:tc>
                <a:tc>
                  <a:txBody>
                    <a:bodyPr/>
                    <a:lstStyle/>
                    <a:p>
                      <a:pPr marL="0" algn="ctr" defTabSz="914400" rtl="0" eaLnBrk="1" fontAlgn="ctr" latinLnBrk="0" hangingPunct="1"/>
                      <a:r>
                        <a:rPr lang="fr-FR" sz="1000" b="0" i="0" u="none" strike="noStrike" kern="1200" dirty="0">
                          <a:solidFill>
                            <a:srgbClr val="000000"/>
                          </a:solidFill>
                          <a:effectLst/>
                          <a:latin typeface="Arial" panose="020B0604020202020204" pitchFamily="34" charset="0"/>
                          <a:ea typeface="+mn-ea"/>
                          <a:cs typeface="Arial" panose="020B0604020202020204" pitchFamily="34" charset="0"/>
                        </a:rPr>
                        <a:t>100</a:t>
                      </a:r>
                    </a:p>
                  </a:txBody>
                  <a:tcPr marL="9525" marR="9525" marT="9525" marB="0" anchor="ctr"/>
                </a:tc>
                <a:extLst>
                  <a:ext uri="{0D108BD9-81ED-4DB2-BD59-A6C34878D82A}">
                    <a16:rowId xmlns:a16="http://schemas.microsoft.com/office/drawing/2014/main" val="1601084192"/>
                  </a:ext>
                </a:extLst>
              </a:tr>
            </a:tbl>
          </a:graphicData>
        </a:graphic>
      </p:graphicFrame>
      <p:sp>
        <p:nvSpPr>
          <p:cNvPr id="11" name="Espace réservé du contenu 2">
            <a:extLst>
              <a:ext uri="{FF2B5EF4-FFF2-40B4-BE49-F238E27FC236}">
                <a16:creationId xmlns:a16="http://schemas.microsoft.com/office/drawing/2014/main" id="{7C2098DE-BBF8-46E0-B536-376E34327657}"/>
              </a:ext>
            </a:extLst>
          </p:cNvPr>
          <p:cNvSpPr>
            <a:spLocks noGrp="1"/>
          </p:cNvSpPr>
          <p:nvPr>
            <p:ph idx="1"/>
          </p:nvPr>
        </p:nvSpPr>
        <p:spPr>
          <a:xfrm>
            <a:off x="442912" y="1426464"/>
            <a:ext cx="5256000" cy="4663440"/>
          </a:xfrm>
        </p:spPr>
        <p:txBody>
          <a:bodyPr/>
          <a:lstStyle/>
          <a:p>
            <a:pPr marL="0" indent="0">
              <a:lnSpc>
                <a:spcPct val="100000"/>
              </a:lnSpc>
              <a:spcBef>
                <a:spcPts val="300"/>
              </a:spcBef>
              <a:spcAft>
                <a:spcPts val="0"/>
              </a:spcAft>
              <a:buNone/>
            </a:pPr>
            <a:r>
              <a:rPr lang="en-GB" sz="1800" b="1" dirty="0">
                <a:solidFill>
                  <a:srgbClr val="D04A02"/>
                </a:solidFill>
              </a:rPr>
              <a:t>Observations and comments</a:t>
            </a:r>
          </a:p>
          <a:p>
            <a:pPr marL="285750" indent="-285750">
              <a:lnSpc>
                <a:spcPct val="100000"/>
              </a:lnSpc>
              <a:spcBef>
                <a:spcPts val="300"/>
              </a:spcBef>
              <a:spcAft>
                <a:spcPts val="0"/>
              </a:spcAft>
              <a:buFont typeface="Arial" panose="020B0604020202020204" pitchFamily="34" charset="0"/>
              <a:buChar char="•"/>
            </a:pPr>
            <a:r>
              <a:rPr lang="en-GB" sz="1600" dirty="0"/>
              <a:t>Water KPIs show that on the sample average:</a:t>
            </a:r>
          </a:p>
          <a:p>
            <a:pPr marL="539750" indent="-285750">
              <a:lnSpc>
                <a:spcPct val="100000"/>
              </a:lnSpc>
              <a:spcAft>
                <a:spcPts val="0"/>
              </a:spcAft>
              <a:buFont typeface="Symbol" panose="05050102010706020507" pitchFamily="18" charset="2"/>
              <a:buChar char="-"/>
            </a:pPr>
            <a:r>
              <a:rPr lang="en-GB" sz="1600" b="1" dirty="0"/>
              <a:t>77% </a:t>
            </a:r>
            <a:r>
              <a:rPr lang="en-GB" sz="1600" dirty="0"/>
              <a:t>of process water is collected and re-used;</a:t>
            </a:r>
          </a:p>
          <a:p>
            <a:pPr marL="539750" indent="-285750">
              <a:lnSpc>
                <a:spcPct val="100000"/>
              </a:lnSpc>
              <a:spcAft>
                <a:spcPts val="0"/>
              </a:spcAft>
              <a:buFont typeface="Symbol" panose="05050102010706020507" pitchFamily="18" charset="2"/>
              <a:buChar char="-"/>
            </a:pPr>
            <a:r>
              <a:rPr lang="en-GB" sz="1600" b="1" dirty="0"/>
              <a:t>42% </a:t>
            </a:r>
            <a:r>
              <a:rPr lang="en-GB" sz="1600" dirty="0"/>
              <a:t>of stormwater is collected;</a:t>
            </a:r>
          </a:p>
          <a:p>
            <a:pPr marL="539750" indent="-285750">
              <a:lnSpc>
                <a:spcPct val="100000"/>
              </a:lnSpc>
              <a:spcAft>
                <a:spcPts val="0"/>
              </a:spcAft>
              <a:buFont typeface="Symbol" panose="05050102010706020507" pitchFamily="18" charset="2"/>
              <a:buChar char="-"/>
            </a:pPr>
            <a:r>
              <a:rPr lang="en-GB" sz="1600" b="1" dirty="0"/>
              <a:t>97% </a:t>
            </a:r>
            <a:r>
              <a:rPr lang="en-GB" sz="1600" dirty="0"/>
              <a:t>of discharged water is treated. </a:t>
            </a:r>
          </a:p>
          <a:p>
            <a:pPr marL="539750" indent="-285750">
              <a:lnSpc>
                <a:spcPct val="100000"/>
              </a:lnSpc>
              <a:spcAft>
                <a:spcPts val="0"/>
              </a:spcAft>
              <a:buFont typeface="Symbol" panose="05050102010706020507" pitchFamily="18" charset="2"/>
              <a:buChar char="-"/>
            </a:pPr>
            <a:endParaRPr lang="en-GB" sz="500" dirty="0">
              <a:highlight>
                <a:srgbClr val="FFFF00"/>
              </a:highlight>
            </a:endParaRPr>
          </a:p>
          <a:p>
            <a:pPr marL="285750" indent="-285750">
              <a:lnSpc>
                <a:spcPct val="100000"/>
              </a:lnSpc>
              <a:buFont typeface="Arial" panose="020B0604020202020204" pitchFamily="34" charset="0"/>
              <a:buChar char="•"/>
            </a:pPr>
            <a:r>
              <a:rPr lang="en-GB" sz="1600" dirty="0"/>
              <a:t>The weighted average of water withdrawal in relation to concrete production in 2019 is of 250 litres/m</a:t>
            </a:r>
            <a:r>
              <a:rPr lang="en-GB" sz="1600" b="1" baseline="30000" dirty="0"/>
              <a:t>3 </a:t>
            </a:r>
            <a:r>
              <a:rPr lang="en-GB" sz="1600" dirty="0"/>
              <a:t>in North America.</a:t>
            </a:r>
          </a:p>
          <a:p>
            <a:pPr marL="285750" indent="-285750">
              <a:lnSpc>
                <a:spcPct val="100000"/>
              </a:lnSpc>
              <a:buFont typeface="Arial" panose="020B0604020202020204" pitchFamily="34" charset="0"/>
              <a:buChar char="•"/>
            </a:pPr>
            <a:r>
              <a:rPr lang="en-GB" sz="1600" dirty="0"/>
              <a:t>The chart pictures </a:t>
            </a:r>
            <a:r>
              <a:rPr lang="en-GB" sz="1600" b="1" dirty="0"/>
              <a:t>100% of coverage </a:t>
            </a:r>
            <a:r>
              <a:rPr lang="en-GB" sz="1600" dirty="0"/>
              <a:t>in North America.</a:t>
            </a:r>
            <a:r>
              <a:rPr lang="en-GB" sz="1600" b="1" dirty="0"/>
              <a:t> </a:t>
            </a:r>
          </a:p>
          <a:p>
            <a:pPr marL="285750" indent="-285750">
              <a:lnSpc>
                <a:spcPct val="100000"/>
              </a:lnSpc>
              <a:buFont typeface="Arial" panose="020B0604020202020204" pitchFamily="34" charset="0"/>
              <a:buChar char="•"/>
            </a:pPr>
            <a:r>
              <a:rPr lang="en-GB" sz="1600" dirty="0"/>
              <a:t>Around </a:t>
            </a:r>
            <a:r>
              <a:rPr lang="en-GB" sz="1600" b="1" dirty="0"/>
              <a:t>80% of values </a:t>
            </a:r>
            <a:r>
              <a:rPr lang="en-GB" sz="1600" dirty="0"/>
              <a:t>lie </a:t>
            </a:r>
            <a:r>
              <a:rPr lang="en-GB" sz="1600" b="1" dirty="0"/>
              <a:t>between 182 litres/m</a:t>
            </a:r>
            <a:r>
              <a:rPr lang="en-GB" sz="1600" b="1" baseline="30000" dirty="0"/>
              <a:t>3</a:t>
            </a:r>
            <a:r>
              <a:rPr lang="en-GB" sz="1600" b="1" dirty="0"/>
              <a:t> and 300 litres/m</a:t>
            </a:r>
            <a:r>
              <a:rPr lang="en-GB" sz="1600" b="1" baseline="30000" dirty="0"/>
              <a:t>3</a:t>
            </a:r>
            <a:r>
              <a:rPr lang="en-GB" sz="1600" dirty="0"/>
              <a:t>.</a:t>
            </a:r>
          </a:p>
          <a:p>
            <a:pPr marL="285750" indent="-285750">
              <a:lnSpc>
                <a:spcPct val="100000"/>
              </a:lnSpc>
              <a:buFont typeface="Arial" panose="020B0604020202020204" pitchFamily="34" charset="0"/>
              <a:buChar char="•"/>
            </a:pPr>
            <a:r>
              <a:rPr lang="en-US" sz="1600" dirty="0"/>
              <a:t>High water consumption can be caused by the </a:t>
            </a:r>
            <a:r>
              <a:rPr lang="en-US" sz="1600" b="1" dirty="0"/>
              <a:t>low efficiency of recycling systems due to the layout of plants.</a:t>
            </a:r>
            <a:endParaRPr lang="en-GB" sz="1600" b="1" dirty="0"/>
          </a:p>
        </p:txBody>
      </p:sp>
      <p:sp>
        <p:nvSpPr>
          <p:cNvPr id="3" name="Espace réservé du pied de page 2">
            <a:extLst>
              <a:ext uri="{FF2B5EF4-FFF2-40B4-BE49-F238E27FC236}">
                <a16:creationId xmlns:a16="http://schemas.microsoft.com/office/drawing/2014/main" id="{5367AA00-1BA5-4BB4-9905-A1B27AF7A1BC}"/>
              </a:ext>
            </a:extLst>
          </p:cNvPr>
          <p:cNvSpPr>
            <a:spLocks noGrp="1"/>
          </p:cNvSpPr>
          <p:nvPr>
            <p:ph type="ftr" sz="quarter" idx="13"/>
          </p:nvPr>
        </p:nvSpPr>
        <p:spPr/>
        <p:txBody>
          <a:bodyPr/>
          <a:lstStyle/>
          <a:p>
            <a:pPr algn="l"/>
            <a:r>
              <a:rPr lang="en-US" dirty="0"/>
              <a:t>GCCA GNR Concrete Pilot Project</a:t>
            </a:r>
            <a:endParaRPr lang="fr-FR" dirty="0"/>
          </a:p>
        </p:txBody>
      </p:sp>
      <p:sp>
        <p:nvSpPr>
          <p:cNvPr id="12" name="Rectangle 11">
            <a:extLst>
              <a:ext uri="{FF2B5EF4-FFF2-40B4-BE49-F238E27FC236}">
                <a16:creationId xmlns:a16="http://schemas.microsoft.com/office/drawing/2014/main" id="{DBAA711D-A424-410A-B384-A227FC4AC1B5}"/>
              </a:ext>
            </a:extLst>
          </p:cNvPr>
          <p:cNvSpPr/>
          <p:nvPr/>
        </p:nvSpPr>
        <p:spPr>
          <a:xfrm>
            <a:off x="10753344" y="88931"/>
            <a:ext cx="122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North America</a:t>
            </a:r>
          </a:p>
        </p:txBody>
      </p:sp>
      <p:graphicFrame>
        <p:nvGraphicFramePr>
          <p:cNvPr id="13" name="Graphique 12">
            <a:extLst>
              <a:ext uri="{FF2B5EF4-FFF2-40B4-BE49-F238E27FC236}">
                <a16:creationId xmlns:a16="http://schemas.microsoft.com/office/drawing/2014/main" id="{EF2AB533-BACD-46A4-9814-405B369EB5E6}"/>
              </a:ext>
            </a:extLst>
          </p:cNvPr>
          <p:cNvGraphicFramePr>
            <a:graphicFrameLocks/>
          </p:cNvGraphicFramePr>
          <p:nvPr>
            <p:extLst>
              <p:ext uri="{D42A27DB-BD31-4B8C-83A1-F6EECF244321}">
                <p14:modId xmlns:p14="http://schemas.microsoft.com/office/powerpoint/2010/main" val="3507425394"/>
              </p:ext>
            </p:extLst>
          </p:nvPr>
        </p:nvGraphicFramePr>
        <p:xfrm>
          <a:off x="5740745" y="2405742"/>
          <a:ext cx="5832000" cy="3996000"/>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35056652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56FF19C5-AE43-4B15-95AF-C4A6A304F9C1}"/>
              </a:ext>
            </a:extLst>
          </p:cNvPr>
          <p:cNvGraphicFramePr>
            <a:graphicFrameLocks noChangeAspect="1"/>
          </p:cNvGraphicFramePr>
          <p:nvPr>
            <p:custDataLst>
              <p:tags r:id="rId1"/>
            </p:custDataLst>
            <p:extLst>
              <p:ext uri="{D42A27DB-BD31-4B8C-83A1-F6EECF244321}">
                <p14:modId xmlns:p14="http://schemas.microsoft.com/office/powerpoint/2010/main" val="9960444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7" name="Objet 6" hidden="1">
                        <a:extLst>
                          <a:ext uri="{FF2B5EF4-FFF2-40B4-BE49-F238E27FC236}">
                            <a16:creationId xmlns:a16="http://schemas.microsoft.com/office/drawing/2014/main" id="{56FF19C5-AE43-4B15-95AF-C4A6A304F9C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03469058-E3B6-4097-B85D-6EFED23612AA}"/>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1E9A6677-DFE1-4A41-A4F4-E673CFF8A74E}"/>
              </a:ext>
            </a:extLst>
          </p:cNvPr>
          <p:cNvSpPr>
            <a:spLocks noGrp="1"/>
          </p:cNvSpPr>
          <p:nvPr>
            <p:ph type="title"/>
          </p:nvPr>
        </p:nvSpPr>
        <p:spPr>
          <a:xfrm>
            <a:off x="442913" y="432000"/>
            <a:ext cx="11435143" cy="1387275"/>
          </a:xfrm>
        </p:spPr>
        <p:txBody>
          <a:bodyPr/>
          <a:lstStyle/>
          <a:p>
            <a:r>
              <a:rPr lang="en-GB" dirty="0"/>
              <a:t>Dust and Noise KPIs find similarities in most reporting sites</a:t>
            </a:r>
            <a:br>
              <a:rPr lang="en-GB" dirty="0"/>
            </a:br>
            <a:r>
              <a:rPr lang="en-GB" sz="2200" dirty="0"/>
              <a:t>Dust collection system and Noise Management Plan are dependent on regulatory obligations</a:t>
            </a:r>
          </a:p>
        </p:txBody>
      </p:sp>
      <p:sp>
        <p:nvSpPr>
          <p:cNvPr id="3" name="Espace réservé du contenu 2">
            <a:extLst>
              <a:ext uri="{FF2B5EF4-FFF2-40B4-BE49-F238E27FC236}">
                <a16:creationId xmlns:a16="http://schemas.microsoft.com/office/drawing/2014/main" id="{ECB561DD-D1BB-410E-8C82-6582BEC92753}"/>
              </a:ext>
            </a:extLst>
          </p:cNvPr>
          <p:cNvSpPr>
            <a:spLocks noGrp="1"/>
          </p:cNvSpPr>
          <p:nvPr>
            <p:ph idx="1"/>
          </p:nvPr>
        </p:nvSpPr>
        <p:spPr>
          <a:xfrm>
            <a:off x="442912" y="1179576"/>
            <a:ext cx="11096816" cy="4999536"/>
          </a:xfrm>
        </p:spPr>
        <p:txBody>
          <a:bodyPr/>
          <a:lstStyle/>
          <a:p>
            <a:pPr marL="0" indent="0">
              <a:spcBef>
                <a:spcPts val="600"/>
              </a:spcBef>
              <a:buNone/>
            </a:pPr>
            <a:r>
              <a:rPr lang="en-GB" sz="1800" b="1" dirty="0">
                <a:solidFill>
                  <a:schemeClr val="accent1"/>
                </a:solidFill>
              </a:rPr>
              <a:t>Dust KPIs</a:t>
            </a:r>
          </a:p>
          <a:p>
            <a:pPr marL="457200" indent="-457200" algn="just">
              <a:spcBef>
                <a:spcPts val="600"/>
              </a:spcBef>
              <a:buFont typeface="Arial" panose="020B0604020202020204" pitchFamily="34" charset="0"/>
              <a:buChar char="•"/>
            </a:pPr>
            <a:r>
              <a:rPr lang="en-GB" sz="1600" b="1" dirty="0"/>
              <a:t>Almost 100% of sites </a:t>
            </a:r>
            <a:r>
              <a:rPr lang="en-GB" sz="1600" dirty="0"/>
              <a:t>in the pilot project at world level have a </a:t>
            </a:r>
            <a:r>
              <a:rPr lang="en-GB" sz="1600" b="1" dirty="0"/>
              <a:t>dust collection system in place at silo</a:t>
            </a:r>
            <a:r>
              <a:rPr lang="en-GB" sz="1600" dirty="0"/>
              <a:t>. </a:t>
            </a:r>
            <a:br>
              <a:rPr lang="en-GB" sz="1600" dirty="0"/>
            </a:br>
            <a:r>
              <a:rPr lang="en-GB" sz="1600" dirty="0"/>
              <a:t>The </a:t>
            </a:r>
            <a:r>
              <a:rPr lang="en-GB" sz="1600" b="1" dirty="0"/>
              <a:t>mandatory</a:t>
            </a:r>
            <a:r>
              <a:rPr lang="en-GB" sz="1600" dirty="0"/>
              <a:t> aspect of dust collection systems at silo explains their </a:t>
            </a:r>
            <a:r>
              <a:rPr lang="en-GB" sz="1600" b="1" dirty="0"/>
              <a:t>implementation in almost all reporting sites</a:t>
            </a:r>
            <a:r>
              <a:rPr lang="en-GB" sz="1600" dirty="0"/>
              <a:t>.</a:t>
            </a:r>
          </a:p>
          <a:p>
            <a:pPr marL="457200" indent="-457200" algn="just">
              <a:spcBef>
                <a:spcPts val="600"/>
              </a:spcBef>
              <a:buFont typeface="Arial" panose="020B0604020202020204" pitchFamily="34" charset="0"/>
              <a:buChar char="•"/>
            </a:pPr>
            <a:r>
              <a:rPr lang="en-GB" sz="1600" b="1" dirty="0"/>
              <a:t>Around 60% of concrete </a:t>
            </a:r>
            <a:r>
              <a:rPr lang="en-GB" sz="1600" dirty="0"/>
              <a:t>is</a:t>
            </a:r>
            <a:r>
              <a:rPr lang="en-GB" sz="1600" b="1" dirty="0"/>
              <a:t> produced </a:t>
            </a:r>
            <a:r>
              <a:rPr lang="en-GB" sz="1600" dirty="0"/>
              <a:t>with </a:t>
            </a:r>
            <a:r>
              <a:rPr lang="en-GB" sz="1600" b="1" dirty="0"/>
              <a:t>dust collection systems at </a:t>
            </a:r>
            <a:r>
              <a:rPr lang="en-GB" sz="1600" b="1" dirty="0" err="1"/>
              <a:t>loadpoint</a:t>
            </a:r>
            <a:r>
              <a:rPr lang="en-GB" sz="1600" b="1" dirty="0"/>
              <a:t> </a:t>
            </a:r>
            <a:r>
              <a:rPr lang="en-GB" sz="1600" dirty="0"/>
              <a:t>in place at world level</a:t>
            </a:r>
            <a:br>
              <a:rPr lang="en-GB" sz="1600" dirty="0"/>
            </a:br>
            <a:r>
              <a:rPr lang="en-GB" sz="1600" dirty="0"/>
              <a:t>(53% in Europe, 88% in North America, 60% in South America and 90% in Asia, Oceania and Africa). However, the existence of dust collection system at </a:t>
            </a:r>
            <a:r>
              <a:rPr lang="en-GB" sz="1600" dirty="0" err="1"/>
              <a:t>loadpoint</a:t>
            </a:r>
            <a:r>
              <a:rPr lang="en-GB" sz="1600" dirty="0"/>
              <a:t> is not relevant for at least 28% of sites at world level. Indeed, dust collection systems at </a:t>
            </a:r>
            <a:r>
              <a:rPr lang="en-GB" sz="1600" dirty="0" err="1"/>
              <a:t>loadpoint</a:t>
            </a:r>
            <a:r>
              <a:rPr lang="en-GB" sz="1600" dirty="0"/>
              <a:t> depend on the </a:t>
            </a:r>
            <a:r>
              <a:rPr lang="en-GB" sz="1600" b="1" dirty="0"/>
              <a:t>type of plant</a:t>
            </a:r>
            <a:r>
              <a:rPr lang="en-GB" sz="1600" dirty="0"/>
              <a:t>, with </a:t>
            </a:r>
            <a:r>
              <a:rPr lang="en-GB" sz="1600" b="1" dirty="0"/>
              <a:t>wet or dry batch </a:t>
            </a:r>
            <a:r>
              <a:rPr lang="en-GB" sz="1600" dirty="0"/>
              <a:t>for example. </a:t>
            </a:r>
          </a:p>
          <a:p>
            <a:pPr marL="457200" indent="-457200" algn="just">
              <a:spcBef>
                <a:spcPts val="600"/>
              </a:spcBef>
              <a:buFont typeface="Arial" panose="020B0604020202020204" pitchFamily="34" charset="0"/>
              <a:buChar char="•"/>
            </a:pPr>
            <a:r>
              <a:rPr lang="en-GB" sz="1600" dirty="0"/>
              <a:t>Therefore, answers to Dust KPI at </a:t>
            </a:r>
            <a:r>
              <a:rPr lang="en-GB" sz="1600" dirty="0" err="1"/>
              <a:t>loadpoint</a:t>
            </a:r>
            <a:r>
              <a:rPr lang="en-GB" sz="1600" dirty="0"/>
              <a:t> depends if </a:t>
            </a:r>
            <a:r>
              <a:rPr lang="en-US" sz="1600" dirty="0"/>
              <a:t>dust collection device is in place at </a:t>
            </a:r>
            <a:r>
              <a:rPr lang="en-US" sz="1600" b="1" dirty="0"/>
              <a:t>relevant dust-emitting points in the process</a:t>
            </a:r>
            <a:r>
              <a:rPr lang="en-US" sz="1600" dirty="0"/>
              <a:t>. This question may need to be rephrased in the future. Regardless of sites where </a:t>
            </a:r>
            <a:r>
              <a:rPr lang="en-US" sz="1600" b="1" dirty="0"/>
              <a:t>dust collection systems at </a:t>
            </a:r>
            <a:r>
              <a:rPr lang="en-US" sz="1600" b="1" dirty="0" err="1"/>
              <a:t>loadpoint</a:t>
            </a:r>
            <a:r>
              <a:rPr lang="en-US" sz="1600" b="1" dirty="0"/>
              <a:t> </a:t>
            </a:r>
            <a:r>
              <a:rPr lang="en-US" sz="1600" dirty="0"/>
              <a:t>are not relevant, </a:t>
            </a:r>
            <a:r>
              <a:rPr lang="en-US" sz="1600" b="1" dirty="0"/>
              <a:t>85% of sites at world level </a:t>
            </a:r>
            <a:r>
              <a:rPr lang="en-US" sz="1600" dirty="0"/>
              <a:t>are equipped with such dust collection systems. </a:t>
            </a:r>
          </a:p>
          <a:p>
            <a:pPr marL="457200" indent="-457200" algn="just">
              <a:spcBef>
                <a:spcPts val="600"/>
              </a:spcBef>
              <a:buFont typeface="Arial" panose="020B0604020202020204" pitchFamily="34" charset="0"/>
              <a:buChar char="•"/>
            </a:pPr>
            <a:r>
              <a:rPr lang="en-US" sz="1600" b="1" dirty="0"/>
              <a:t>Around 65% of concrete is produced </a:t>
            </a:r>
            <a:r>
              <a:rPr lang="en-US" sz="1600" dirty="0"/>
              <a:t>at concrete mixing sites with</a:t>
            </a:r>
            <a:r>
              <a:rPr lang="en-US" sz="1600" b="1" dirty="0"/>
              <a:t> Fugitive Dust Management Plan </a:t>
            </a:r>
            <a:r>
              <a:rPr lang="en-US" sz="1600" dirty="0"/>
              <a:t>in place</a:t>
            </a:r>
            <a:r>
              <a:rPr lang="fr-FR" sz="1600" dirty="0"/>
              <a:t> at world </a:t>
            </a:r>
            <a:r>
              <a:rPr lang="fr-FR" sz="1600" dirty="0" err="1"/>
              <a:t>level</a:t>
            </a:r>
            <a:r>
              <a:rPr lang="fr-FR" sz="1600" dirty="0"/>
              <a:t> (52% in Europe, 72% in North America, 68% in South America and 94% in</a:t>
            </a:r>
            <a:r>
              <a:rPr lang="en-GB" sz="1600" dirty="0"/>
              <a:t> Asia, Oceania and Africa</a:t>
            </a:r>
            <a:r>
              <a:rPr lang="fr-FR" sz="1600" dirty="0"/>
              <a:t>)</a:t>
            </a:r>
            <a:r>
              <a:rPr lang="en-GB" sz="1600" dirty="0"/>
              <a:t>.</a:t>
            </a:r>
            <a:endParaRPr lang="en-US" sz="1600" dirty="0"/>
          </a:p>
          <a:p>
            <a:pPr marL="0" indent="0">
              <a:spcBef>
                <a:spcPts val="600"/>
              </a:spcBef>
              <a:buNone/>
            </a:pPr>
            <a:r>
              <a:rPr lang="en-GB" sz="1800" b="1" dirty="0">
                <a:solidFill>
                  <a:schemeClr val="accent1"/>
                </a:solidFill>
              </a:rPr>
              <a:t>Noise KPIs</a:t>
            </a:r>
          </a:p>
          <a:p>
            <a:pPr marL="457200" indent="-457200" algn="just">
              <a:spcBef>
                <a:spcPts val="600"/>
              </a:spcBef>
              <a:buFont typeface="Arial" panose="020B0604020202020204" pitchFamily="34" charset="0"/>
              <a:buChar char="•"/>
            </a:pPr>
            <a:r>
              <a:rPr lang="en-GB" sz="1600" dirty="0"/>
              <a:t>On average, </a:t>
            </a:r>
            <a:r>
              <a:rPr lang="en-GB" sz="1600" b="1" dirty="0"/>
              <a:t>80% of concrete is produced </a:t>
            </a:r>
            <a:r>
              <a:rPr lang="en-GB" sz="1600" dirty="0"/>
              <a:t>with </a:t>
            </a:r>
            <a:r>
              <a:rPr lang="en-GB" sz="1600" b="1" dirty="0"/>
              <a:t>Noise Management Plans </a:t>
            </a:r>
            <a:r>
              <a:rPr lang="en-GB" sz="1600" dirty="0"/>
              <a:t>in place at world level (83% in Europe, 70% in North America, 88% in South America and 90% in Asia, Oceania and Africa).</a:t>
            </a:r>
          </a:p>
          <a:p>
            <a:pPr marL="457200" indent="-457200" algn="just">
              <a:spcBef>
                <a:spcPts val="600"/>
              </a:spcBef>
              <a:buFont typeface="Arial" panose="020B0604020202020204" pitchFamily="34" charset="0"/>
              <a:buChar char="•"/>
            </a:pPr>
            <a:r>
              <a:rPr lang="en-GB" sz="1600" dirty="0"/>
              <a:t>Similarly to dust collection system at silo, there are </a:t>
            </a:r>
            <a:r>
              <a:rPr lang="en-GB" sz="1600" b="1" dirty="0"/>
              <a:t>legal requirements </a:t>
            </a:r>
            <a:r>
              <a:rPr lang="en-GB" sz="1600" dirty="0"/>
              <a:t>of noise limits, which can explain the high number of cases in which Noise Management Plans are implemented.</a:t>
            </a:r>
          </a:p>
        </p:txBody>
      </p:sp>
      <p:sp>
        <p:nvSpPr>
          <p:cNvPr id="4" name="Espace réservé du pied de page 3">
            <a:extLst>
              <a:ext uri="{FF2B5EF4-FFF2-40B4-BE49-F238E27FC236}">
                <a16:creationId xmlns:a16="http://schemas.microsoft.com/office/drawing/2014/main" id="{B90E843F-01B6-40C2-A11E-1CC6DE47E42B}"/>
              </a:ext>
            </a:extLst>
          </p:cNvPr>
          <p:cNvSpPr>
            <a:spLocks noGrp="1"/>
          </p:cNvSpPr>
          <p:nvPr>
            <p:ph type="ftr" sz="quarter" idx="13"/>
          </p:nvPr>
        </p:nvSpPr>
        <p:spPr/>
        <p:txBody>
          <a:bodyPr/>
          <a:lstStyle/>
          <a:p>
            <a:pPr algn="l"/>
            <a:r>
              <a:rPr lang="en-US" dirty="0"/>
              <a:t>GCCA GNR Concrete Pilot Project</a:t>
            </a:r>
            <a:endParaRPr lang="fr-FR" dirty="0"/>
          </a:p>
        </p:txBody>
      </p:sp>
      <p:sp>
        <p:nvSpPr>
          <p:cNvPr id="5" name="Espace réservé de la date 4">
            <a:extLst>
              <a:ext uri="{FF2B5EF4-FFF2-40B4-BE49-F238E27FC236}">
                <a16:creationId xmlns:a16="http://schemas.microsoft.com/office/drawing/2014/main" id="{926BD09C-5784-4FBC-81F1-5C104CE80CAF}"/>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ED4845B2-FE7A-42EB-B37D-741902D7C52F}"/>
              </a:ext>
            </a:extLst>
          </p:cNvPr>
          <p:cNvSpPr>
            <a:spLocks noGrp="1"/>
          </p:cNvSpPr>
          <p:nvPr>
            <p:ph type="sldNum" sz="quarter" idx="11"/>
          </p:nvPr>
        </p:nvSpPr>
        <p:spPr/>
        <p:txBody>
          <a:bodyPr/>
          <a:lstStyle/>
          <a:p>
            <a:fld id="{7870704B-CE94-48CC-AF30-84932A1262A7}" type="slidenum">
              <a:rPr lang="fr-FR" smtClean="0"/>
              <a:pPr/>
              <a:t>32</a:t>
            </a:fld>
            <a:endParaRPr lang="fr-FR" dirty="0"/>
          </a:p>
        </p:txBody>
      </p:sp>
      <p:sp>
        <p:nvSpPr>
          <p:cNvPr id="9" name="Rectangle 8">
            <a:extLst>
              <a:ext uri="{FF2B5EF4-FFF2-40B4-BE49-F238E27FC236}">
                <a16:creationId xmlns:a16="http://schemas.microsoft.com/office/drawing/2014/main" id="{E1D23D84-C748-4587-9ED8-7DDFEEA1E197}"/>
              </a:ext>
            </a:extLst>
          </p:cNvPr>
          <p:cNvSpPr/>
          <p:nvPr/>
        </p:nvSpPr>
        <p:spPr>
          <a:xfrm>
            <a:off x="10753344" y="88931"/>
            <a:ext cx="1044000" cy="329006"/>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GB" sz="1200" i="1" dirty="0">
                <a:solidFill>
                  <a:schemeClr val="accent1"/>
                </a:solidFill>
                <a:latin typeface="+mj-lt"/>
              </a:rPr>
              <a:t>World level</a:t>
            </a:r>
          </a:p>
        </p:txBody>
      </p:sp>
    </p:spTree>
    <p:extLst>
      <p:ext uri="{BB962C8B-B14F-4D97-AF65-F5344CB8AC3E}">
        <p14:creationId xmlns:p14="http://schemas.microsoft.com/office/powerpoint/2010/main" val="26697013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t 3" hidden="1">
            <a:extLst>
              <a:ext uri="{FF2B5EF4-FFF2-40B4-BE49-F238E27FC236}">
                <a16:creationId xmlns:a16="http://schemas.microsoft.com/office/drawing/2014/main" id="{CE4B9D12-AFC5-4CDF-A1DD-FCECC30651B1}"/>
              </a:ext>
            </a:extLst>
          </p:cNvPr>
          <p:cNvGraphicFramePr>
            <a:graphicFrameLocks noChangeAspect="1"/>
          </p:cNvGraphicFramePr>
          <p:nvPr>
            <p:custDataLst>
              <p:tags r:id="rId1"/>
            </p:custDataLst>
            <p:extLst>
              <p:ext uri="{D42A27DB-BD31-4B8C-83A1-F6EECF244321}">
                <p14:modId xmlns:p14="http://schemas.microsoft.com/office/powerpoint/2010/main" val="18959496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4" name="Objet 3" hidden="1">
                        <a:extLst>
                          <a:ext uri="{FF2B5EF4-FFF2-40B4-BE49-F238E27FC236}">
                            <a16:creationId xmlns:a16="http://schemas.microsoft.com/office/drawing/2014/main" id="{CE4B9D12-AFC5-4CDF-A1DD-FCECC30651B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A1FF2E15-2308-423B-BD9F-C2B1D21CE361}"/>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4000" dirty="0">
              <a:latin typeface="Arial" panose="020B0604020202020204" pitchFamily="34" charset="0"/>
              <a:ea typeface="+mj-ea"/>
              <a:cs typeface="+mj-cs"/>
              <a:sym typeface="Arial" panose="020B0604020202020204" pitchFamily="34" charset="0"/>
            </a:endParaRPr>
          </a:p>
        </p:txBody>
      </p:sp>
      <p:sp>
        <p:nvSpPr>
          <p:cNvPr id="2" name="Title 1"/>
          <p:cNvSpPr>
            <a:spLocks noGrp="1"/>
          </p:cNvSpPr>
          <p:nvPr>
            <p:ph type="title"/>
          </p:nvPr>
        </p:nvSpPr>
        <p:spPr/>
        <p:txBody>
          <a:bodyPr/>
          <a:lstStyle/>
          <a:p>
            <a:r>
              <a:rPr lang="en-GB" dirty="0"/>
              <a:t>Outcomes of the concrete pilot project</a:t>
            </a:r>
          </a:p>
        </p:txBody>
      </p:sp>
      <p:sp>
        <p:nvSpPr>
          <p:cNvPr id="3" name="Text Placeholder 2"/>
          <p:cNvSpPr>
            <a:spLocks noGrp="1"/>
          </p:cNvSpPr>
          <p:nvPr>
            <p:ph type="body" sz="quarter" idx="1"/>
          </p:nvPr>
        </p:nvSpPr>
        <p:spPr/>
        <p:txBody>
          <a:bodyPr/>
          <a:lstStyle/>
          <a:p>
            <a:r>
              <a:rPr lang="fr-FR" dirty="0"/>
              <a:t>5</a:t>
            </a:r>
          </a:p>
        </p:txBody>
      </p:sp>
    </p:spTree>
    <p:extLst>
      <p:ext uri="{BB962C8B-B14F-4D97-AF65-F5344CB8AC3E}">
        <p14:creationId xmlns:p14="http://schemas.microsoft.com/office/powerpoint/2010/main" val="35260572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56FF19C5-AE43-4B15-95AF-C4A6A304F9C1}"/>
              </a:ext>
            </a:extLst>
          </p:cNvPr>
          <p:cNvGraphicFramePr>
            <a:graphicFrameLocks noChangeAspect="1"/>
          </p:cNvGraphicFramePr>
          <p:nvPr>
            <p:custDataLst>
              <p:tags r:id="rId1"/>
            </p:custDataLst>
            <p:extLst>
              <p:ext uri="{D42A27DB-BD31-4B8C-83A1-F6EECF244321}">
                <p14:modId xmlns:p14="http://schemas.microsoft.com/office/powerpoint/2010/main" val="902615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7" name="Objet 6" hidden="1">
                        <a:extLst>
                          <a:ext uri="{FF2B5EF4-FFF2-40B4-BE49-F238E27FC236}">
                            <a16:creationId xmlns:a16="http://schemas.microsoft.com/office/drawing/2014/main" id="{56FF19C5-AE43-4B15-95AF-C4A6A304F9C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E800EA18-43B5-47FF-83A4-5702E010371E}"/>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2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1E9A6677-DFE1-4A41-A4F4-E673CFF8A74E}"/>
              </a:ext>
            </a:extLst>
          </p:cNvPr>
          <p:cNvSpPr>
            <a:spLocks noGrp="1"/>
          </p:cNvSpPr>
          <p:nvPr>
            <p:ph type="title"/>
          </p:nvPr>
        </p:nvSpPr>
        <p:spPr/>
        <p:txBody>
          <a:bodyPr/>
          <a:lstStyle/>
          <a:p>
            <a:r>
              <a:rPr lang="en-GB" dirty="0"/>
              <a:t>The outcomes of the data collection are positive </a:t>
            </a:r>
            <a:br>
              <a:rPr lang="en-GB" dirty="0"/>
            </a:br>
            <a:r>
              <a:rPr lang="en-GB" sz="2200" dirty="0"/>
              <a:t>The concrete pilot project highlights the possibility to extend the GNR platform</a:t>
            </a:r>
          </a:p>
        </p:txBody>
      </p:sp>
      <p:sp>
        <p:nvSpPr>
          <p:cNvPr id="3" name="Espace réservé du contenu 2">
            <a:extLst>
              <a:ext uri="{FF2B5EF4-FFF2-40B4-BE49-F238E27FC236}">
                <a16:creationId xmlns:a16="http://schemas.microsoft.com/office/drawing/2014/main" id="{ECB561DD-D1BB-410E-8C82-6582BEC92753}"/>
              </a:ext>
            </a:extLst>
          </p:cNvPr>
          <p:cNvSpPr>
            <a:spLocks noGrp="1"/>
          </p:cNvSpPr>
          <p:nvPr>
            <p:ph idx="1"/>
          </p:nvPr>
        </p:nvSpPr>
        <p:spPr>
          <a:xfrm>
            <a:off x="442912" y="1179576"/>
            <a:ext cx="11306174" cy="5212080"/>
          </a:xfrm>
        </p:spPr>
        <p:txBody>
          <a:bodyPr/>
          <a:lstStyle/>
          <a:p>
            <a:pPr marL="0" indent="0">
              <a:buNone/>
            </a:pPr>
            <a:r>
              <a:rPr lang="en-GB" sz="1800" b="1" dirty="0">
                <a:solidFill>
                  <a:schemeClr val="accent1"/>
                </a:solidFill>
              </a:rPr>
              <a:t>Conclusions</a:t>
            </a:r>
            <a:endParaRPr lang="en-GB" sz="1600" b="1" dirty="0">
              <a:solidFill>
                <a:schemeClr val="accent1"/>
              </a:solidFill>
            </a:endParaRPr>
          </a:p>
          <a:p>
            <a:pPr marL="0" indent="0">
              <a:lnSpc>
                <a:spcPts val="2000"/>
              </a:lnSpc>
              <a:buNone/>
            </a:pPr>
            <a:r>
              <a:rPr lang="en-GB" sz="1600" dirty="0"/>
              <a:t>Beyond the </a:t>
            </a:r>
            <a:r>
              <a:rPr lang="en-GB" sz="1600" b="1" dirty="0"/>
              <a:t>timing constraints </a:t>
            </a:r>
            <a:r>
              <a:rPr lang="en-GB" sz="1600" dirty="0"/>
              <a:t>participants had to collect data during the </a:t>
            </a:r>
            <a:r>
              <a:rPr lang="en-GB" sz="1600" b="1" dirty="0"/>
              <a:t>crisis </a:t>
            </a:r>
            <a:r>
              <a:rPr lang="fr-FR" sz="1600" b="1" dirty="0"/>
              <a:t>of COVID-19</a:t>
            </a:r>
            <a:r>
              <a:rPr lang="en-GB" sz="1600" dirty="0"/>
              <a:t>, the pilot project allowed to highlight several important elements of the </a:t>
            </a:r>
            <a:r>
              <a:rPr lang="en-GB" sz="1600" b="1" dirty="0"/>
              <a:t>reported</a:t>
            </a:r>
            <a:r>
              <a:rPr lang="en-GB" sz="1600" dirty="0"/>
              <a:t> </a:t>
            </a:r>
            <a:r>
              <a:rPr lang="en-GB" sz="1600" b="1" dirty="0"/>
              <a:t>data</a:t>
            </a:r>
            <a:r>
              <a:rPr lang="en-GB" sz="1600" dirty="0"/>
              <a:t>, which appear as:</a:t>
            </a:r>
          </a:p>
          <a:p>
            <a:pPr marL="457200" indent="-457200">
              <a:spcBef>
                <a:spcPts val="600"/>
              </a:spcBef>
              <a:buFont typeface="Arial" panose="020B0604020202020204" pitchFamily="34" charset="0"/>
              <a:buChar char="•"/>
            </a:pPr>
            <a:r>
              <a:rPr lang="en-GB" sz="1600" b="1" dirty="0">
                <a:solidFill>
                  <a:schemeClr val="accent1"/>
                </a:solidFill>
              </a:rPr>
              <a:t>Available</a:t>
            </a:r>
            <a:r>
              <a:rPr lang="en-GB" sz="1600" b="1" dirty="0"/>
              <a:t> </a:t>
            </a:r>
            <a:r>
              <a:rPr lang="en-GB" sz="1600" dirty="0"/>
              <a:t>in general: Overall the availability of KPIs was </a:t>
            </a:r>
            <a:r>
              <a:rPr lang="en-GB" sz="1600" b="1" dirty="0"/>
              <a:t>higher</a:t>
            </a:r>
            <a:r>
              <a:rPr lang="en-GB" sz="1600" dirty="0"/>
              <a:t> </a:t>
            </a:r>
            <a:r>
              <a:rPr lang="en-GB" sz="1600" b="1" dirty="0"/>
              <a:t>than 80% </a:t>
            </a:r>
            <a:r>
              <a:rPr lang="en-GB" sz="1600" dirty="0"/>
              <a:t>for the pilot participants.</a:t>
            </a:r>
          </a:p>
          <a:p>
            <a:pPr marL="1006475" lvl="4" indent="-457200" algn="just">
              <a:spcBef>
                <a:spcPts val="600"/>
              </a:spcBef>
              <a:buClr>
                <a:schemeClr val="accent1"/>
              </a:buClr>
              <a:buSzPct val="90000"/>
              <a:buFont typeface="Courier New" panose="02070309020205020404" pitchFamily="49" charset="0"/>
              <a:buChar char="o"/>
            </a:pPr>
            <a:r>
              <a:rPr lang="en-GB" dirty="0"/>
              <a:t>Around </a:t>
            </a:r>
            <a:r>
              <a:rPr lang="en-GB" b="1" dirty="0"/>
              <a:t>10 KPIs were available by 100% of pilot participants</a:t>
            </a:r>
            <a:r>
              <a:rPr lang="en-GB" dirty="0"/>
              <a:t>: </a:t>
            </a:r>
            <a:r>
              <a:rPr lang="en-US" dirty="0"/>
              <a:t>Process Water Collected and Re-used, Stormwater Collection, Treatment of Discharged Water, Dust KPIs, Noise KPIs, Procedures for Returned and Scrap Concrete, Average Distribution Distance, Average Concrete Volume Transported and Concrete Production.</a:t>
            </a:r>
          </a:p>
          <a:p>
            <a:pPr marL="1006475" lvl="4" indent="-457200">
              <a:spcBef>
                <a:spcPts val="600"/>
              </a:spcBef>
              <a:buClr>
                <a:schemeClr val="accent1"/>
              </a:buClr>
              <a:buSzPct val="90000"/>
              <a:buFont typeface="Courier New" panose="02070309020205020404" pitchFamily="49" charset="0"/>
              <a:buChar char="o"/>
            </a:pPr>
            <a:r>
              <a:rPr lang="en-GB" dirty="0"/>
              <a:t>KPIs </a:t>
            </a:r>
            <a:r>
              <a:rPr lang="en-GB" b="1" dirty="0"/>
              <a:t>not corresponding to internal questionnaires </a:t>
            </a:r>
            <a:r>
              <a:rPr lang="en-GB" dirty="0"/>
              <a:t>were pointed out, like Wasted or Returned Concrete Recovered.</a:t>
            </a:r>
          </a:p>
          <a:p>
            <a:pPr marL="457200" indent="-457200">
              <a:spcBef>
                <a:spcPts val="600"/>
              </a:spcBef>
              <a:buFont typeface="Arial" panose="020B0604020202020204" pitchFamily="34" charset="0"/>
              <a:buChar char="•"/>
            </a:pPr>
            <a:r>
              <a:rPr lang="en-GB" sz="1600" b="1" dirty="0">
                <a:solidFill>
                  <a:schemeClr val="accent1"/>
                </a:solidFill>
              </a:rPr>
              <a:t>Coherent</a:t>
            </a:r>
            <a:r>
              <a:rPr lang="en-GB" sz="1600" dirty="0"/>
              <a:t>: In most of the cases, values showed coherence. </a:t>
            </a:r>
            <a:br>
              <a:rPr lang="en-GB" sz="1600" dirty="0"/>
            </a:br>
            <a:r>
              <a:rPr lang="en-GB" sz="1600" dirty="0"/>
              <a:t>The discrepancies between figures were </a:t>
            </a:r>
            <a:r>
              <a:rPr lang="en-GB" sz="1600" b="1" dirty="0"/>
              <a:t>verified</a:t>
            </a:r>
            <a:r>
              <a:rPr lang="en-GB" sz="1600" dirty="0"/>
              <a:t> with standard deviation and found </a:t>
            </a:r>
            <a:r>
              <a:rPr lang="en-GB" sz="1600" b="1" dirty="0"/>
              <a:t>reasonable</a:t>
            </a:r>
            <a:r>
              <a:rPr lang="en-GB" sz="1600" dirty="0"/>
              <a:t>, according to multiple factors which would explain differences in regions. All contributors contacted for </a:t>
            </a:r>
            <a:r>
              <a:rPr lang="en-GB" sz="1600" b="1" dirty="0"/>
              <a:t>data verification </a:t>
            </a:r>
            <a:r>
              <a:rPr lang="en-GB" sz="1600" dirty="0"/>
              <a:t>took part and directly redirected questions to reporting countries concerned. </a:t>
            </a:r>
          </a:p>
          <a:p>
            <a:pPr marL="457200" indent="-457200">
              <a:spcBef>
                <a:spcPts val="600"/>
              </a:spcBef>
              <a:buFont typeface="Arial" panose="020B0604020202020204" pitchFamily="34" charset="0"/>
              <a:buChar char="•"/>
            </a:pPr>
            <a:r>
              <a:rPr lang="en-GB" sz="1600" b="1" dirty="0">
                <a:solidFill>
                  <a:schemeClr val="accent1"/>
                </a:solidFill>
              </a:rPr>
              <a:t>Comprehensible</a:t>
            </a:r>
            <a:r>
              <a:rPr lang="en-GB" sz="1600" dirty="0"/>
              <a:t>: Most of the </a:t>
            </a:r>
            <a:r>
              <a:rPr lang="en-GB" sz="1600" b="1" dirty="0"/>
              <a:t>KPIs were understood and reported</a:t>
            </a:r>
            <a:r>
              <a:rPr lang="en-GB" sz="1600" dirty="0"/>
              <a:t>. </a:t>
            </a:r>
            <a:br>
              <a:rPr lang="en-GB" sz="1600" dirty="0"/>
            </a:br>
            <a:r>
              <a:rPr lang="en-GB" sz="1600" dirty="0"/>
              <a:t>In each case of missing data, explanatory reasons were given by contributors, who brought </a:t>
            </a:r>
            <a:r>
              <a:rPr lang="en-GB" sz="1600" b="1" dirty="0"/>
              <a:t>methodological clarifications</a:t>
            </a:r>
            <a:r>
              <a:rPr lang="en-GB" sz="1600" dirty="0"/>
              <a:t> when needed, like in the case of Dust collection system at </a:t>
            </a:r>
            <a:r>
              <a:rPr lang="en-GB" sz="1600" dirty="0" err="1"/>
              <a:t>loadpoint</a:t>
            </a:r>
            <a:r>
              <a:rPr lang="en-GB" sz="1600" dirty="0"/>
              <a:t> or average distribution distance. </a:t>
            </a:r>
          </a:p>
          <a:p>
            <a:pPr marL="457200" indent="-457200">
              <a:spcBef>
                <a:spcPts val="600"/>
              </a:spcBef>
              <a:buFont typeface="Arial" panose="020B0604020202020204" pitchFamily="34" charset="0"/>
              <a:buChar char="•"/>
            </a:pPr>
            <a:r>
              <a:rPr lang="en-GB" sz="1600" dirty="0"/>
              <a:t>Some </a:t>
            </a:r>
            <a:r>
              <a:rPr lang="en-GB" sz="1600" b="1" dirty="0"/>
              <a:t>recommendations for improvements </a:t>
            </a:r>
            <a:r>
              <a:rPr lang="en-GB" sz="1600" dirty="0"/>
              <a:t>are provided in the report ‘Feedbacks on GCCA Survey for GNR Concrete Pilot Project’ regarding rewording, clarification and change of units.</a:t>
            </a:r>
          </a:p>
          <a:p>
            <a:pPr marL="457200" indent="-457200">
              <a:spcBef>
                <a:spcPts val="600"/>
              </a:spcBef>
              <a:buFont typeface="Arial" panose="020B0604020202020204" pitchFamily="34" charset="0"/>
              <a:buChar char="•"/>
            </a:pPr>
            <a:endParaRPr lang="en-GB" sz="1600" b="1" dirty="0">
              <a:solidFill>
                <a:schemeClr val="accent1"/>
              </a:solidFill>
            </a:endParaRPr>
          </a:p>
          <a:p>
            <a:pPr marL="457200" indent="-457200">
              <a:buFont typeface="Arial" panose="020B0604020202020204" pitchFamily="34" charset="0"/>
              <a:buChar char="•"/>
            </a:pPr>
            <a:endParaRPr lang="en-GB" sz="1600" dirty="0"/>
          </a:p>
        </p:txBody>
      </p:sp>
      <p:sp>
        <p:nvSpPr>
          <p:cNvPr id="4" name="Espace réservé du pied de page 3">
            <a:extLst>
              <a:ext uri="{FF2B5EF4-FFF2-40B4-BE49-F238E27FC236}">
                <a16:creationId xmlns:a16="http://schemas.microsoft.com/office/drawing/2014/main" id="{B90E843F-01B6-40C2-A11E-1CC6DE47E42B}"/>
              </a:ext>
            </a:extLst>
          </p:cNvPr>
          <p:cNvSpPr>
            <a:spLocks noGrp="1"/>
          </p:cNvSpPr>
          <p:nvPr>
            <p:ph type="ftr" sz="quarter" idx="13"/>
          </p:nvPr>
        </p:nvSpPr>
        <p:spPr/>
        <p:txBody>
          <a:bodyPr/>
          <a:lstStyle/>
          <a:p>
            <a:pPr algn="l"/>
            <a:r>
              <a:rPr lang="en-US" dirty="0"/>
              <a:t>GCCA GNR Concrete Pilot Project</a:t>
            </a:r>
            <a:endParaRPr lang="fr-FR" dirty="0"/>
          </a:p>
        </p:txBody>
      </p:sp>
      <p:sp>
        <p:nvSpPr>
          <p:cNvPr id="5" name="Espace réservé de la date 4">
            <a:extLst>
              <a:ext uri="{FF2B5EF4-FFF2-40B4-BE49-F238E27FC236}">
                <a16:creationId xmlns:a16="http://schemas.microsoft.com/office/drawing/2014/main" id="{926BD09C-5784-4FBC-81F1-5C104CE80CAF}"/>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ED4845B2-FE7A-42EB-B37D-741902D7C52F}"/>
              </a:ext>
            </a:extLst>
          </p:cNvPr>
          <p:cNvSpPr>
            <a:spLocks noGrp="1"/>
          </p:cNvSpPr>
          <p:nvPr>
            <p:ph type="sldNum" sz="quarter" idx="11"/>
          </p:nvPr>
        </p:nvSpPr>
        <p:spPr/>
        <p:txBody>
          <a:bodyPr/>
          <a:lstStyle/>
          <a:p>
            <a:fld id="{7870704B-CE94-48CC-AF30-84932A1262A7}" type="slidenum">
              <a:rPr lang="fr-FR" smtClean="0"/>
              <a:pPr/>
              <a:t>34</a:t>
            </a:fld>
            <a:endParaRPr lang="fr-FR" dirty="0"/>
          </a:p>
        </p:txBody>
      </p:sp>
    </p:spTree>
    <p:extLst>
      <p:ext uri="{BB962C8B-B14F-4D97-AF65-F5344CB8AC3E}">
        <p14:creationId xmlns:p14="http://schemas.microsoft.com/office/powerpoint/2010/main" val="33247217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t 3" hidden="1">
            <a:extLst>
              <a:ext uri="{FF2B5EF4-FFF2-40B4-BE49-F238E27FC236}">
                <a16:creationId xmlns:a16="http://schemas.microsoft.com/office/drawing/2014/main" id="{73F4C080-A1E2-4D1E-8C38-16E5C28BE6B6}"/>
              </a:ext>
            </a:extLst>
          </p:cNvPr>
          <p:cNvGraphicFramePr>
            <a:graphicFrameLocks noChangeAspect="1"/>
          </p:cNvGraphicFramePr>
          <p:nvPr>
            <p:custDataLst>
              <p:tags r:id="rId1"/>
            </p:custDataLst>
            <p:extLst>
              <p:ext uri="{D42A27DB-BD31-4B8C-83A1-F6EECF244321}">
                <p14:modId xmlns:p14="http://schemas.microsoft.com/office/powerpoint/2010/main" val="22608951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592" imgH="595" progId="TCLayout.ActiveDocument.1">
                  <p:embed/>
                </p:oleObj>
              </mc:Choice>
              <mc:Fallback>
                <p:oleObj name="Diapositive think-cell" r:id="rId4" imgW="592" imgH="595" progId="TCLayout.ActiveDocument.1">
                  <p:embed/>
                  <p:pic>
                    <p:nvPicPr>
                      <p:cNvPr id="4" name="Objet 3" hidden="1">
                        <a:extLst>
                          <a:ext uri="{FF2B5EF4-FFF2-40B4-BE49-F238E27FC236}">
                            <a16:creationId xmlns:a16="http://schemas.microsoft.com/office/drawing/2014/main" id="{73F4C080-A1E2-4D1E-8C38-16E5C28BE6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GB" dirty="0"/>
              <a:t>Annexes</a:t>
            </a:r>
          </a:p>
        </p:txBody>
      </p:sp>
      <p:sp>
        <p:nvSpPr>
          <p:cNvPr id="3" name="Text Placeholder 2"/>
          <p:cNvSpPr>
            <a:spLocks noGrp="1"/>
          </p:cNvSpPr>
          <p:nvPr>
            <p:ph type="body" sz="quarter" idx="1"/>
          </p:nvPr>
        </p:nvSpPr>
        <p:spPr/>
        <p:txBody>
          <a:bodyPr/>
          <a:lstStyle/>
          <a:p>
            <a:r>
              <a:rPr lang="fr-FR" dirty="0"/>
              <a:t>6</a:t>
            </a:r>
          </a:p>
        </p:txBody>
      </p:sp>
    </p:spTree>
    <p:extLst>
      <p:ext uri="{BB962C8B-B14F-4D97-AF65-F5344CB8AC3E}">
        <p14:creationId xmlns:p14="http://schemas.microsoft.com/office/powerpoint/2010/main" val="22244282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56FF19C5-AE43-4B15-95AF-C4A6A304F9C1}"/>
              </a:ext>
            </a:extLst>
          </p:cNvPr>
          <p:cNvGraphicFramePr>
            <a:graphicFrameLocks noChangeAspect="1"/>
          </p:cNvGraphicFramePr>
          <p:nvPr>
            <p:custDataLst>
              <p:tags r:id="rId1"/>
            </p:custDataLst>
            <p:extLst>
              <p:ext uri="{D42A27DB-BD31-4B8C-83A1-F6EECF244321}">
                <p14:modId xmlns:p14="http://schemas.microsoft.com/office/powerpoint/2010/main" val="40406336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7" name="Objet 6" hidden="1">
                        <a:extLst>
                          <a:ext uri="{FF2B5EF4-FFF2-40B4-BE49-F238E27FC236}">
                            <a16:creationId xmlns:a16="http://schemas.microsoft.com/office/drawing/2014/main" id="{56FF19C5-AE43-4B15-95AF-C4A6A304F9C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E800EA18-43B5-47FF-83A4-5702E010371E}"/>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3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1E9A6677-DFE1-4A41-A4F4-E673CFF8A74E}"/>
              </a:ext>
            </a:extLst>
          </p:cNvPr>
          <p:cNvSpPr>
            <a:spLocks noGrp="1"/>
          </p:cNvSpPr>
          <p:nvPr>
            <p:ph type="title"/>
          </p:nvPr>
        </p:nvSpPr>
        <p:spPr/>
        <p:txBody>
          <a:bodyPr/>
          <a:lstStyle/>
          <a:p>
            <a:r>
              <a:rPr lang="en-GB" dirty="0"/>
              <a:t>Synthesis table : Results by regions (1/2)</a:t>
            </a:r>
            <a:br>
              <a:rPr lang="en-GB" dirty="0"/>
            </a:br>
            <a:endParaRPr lang="en-GB" sz="2200" dirty="0"/>
          </a:p>
        </p:txBody>
      </p:sp>
      <p:sp>
        <p:nvSpPr>
          <p:cNvPr id="4" name="Espace réservé du pied de page 3">
            <a:extLst>
              <a:ext uri="{FF2B5EF4-FFF2-40B4-BE49-F238E27FC236}">
                <a16:creationId xmlns:a16="http://schemas.microsoft.com/office/drawing/2014/main" id="{B90E843F-01B6-40C2-A11E-1CC6DE47E42B}"/>
              </a:ext>
            </a:extLst>
          </p:cNvPr>
          <p:cNvSpPr>
            <a:spLocks noGrp="1"/>
          </p:cNvSpPr>
          <p:nvPr>
            <p:ph type="ftr" sz="quarter" idx="13"/>
          </p:nvPr>
        </p:nvSpPr>
        <p:spPr/>
        <p:txBody>
          <a:bodyPr/>
          <a:lstStyle/>
          <a:p>
            <a:pPr algn="l"/>
            <a:r>
              <a:rPr lang="en-US" dirty="0"/>
              <a:t>GCCA GNR Concrete Pilot Project</a:t>
            </a:r>
            <a:endParaRPr lang="fr-FR" dirty="0"/>
          </a:p>
        </p:txBody>
      </p:sp>
      <p:sp>
        <p:nvSpPr>
          <p:cNvPr id="5" name="Espace réservé de la date 4">
            <a:extLst>
              <a:ext uri="{FF2B5EF4-FFF2-40B4-BE49-F238E27FC236}">
                <a16:creationId xmlns:a16="http://schemas.microsoft.com/office/drawing/2014/main" id="{926BD09C-5784-4FBC-81F1-5C104CE80CAF}"/>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ED4845B2-FE7A-42EB-B37D-741902D7C52F}"/>
              </a:ext>
            </a:extLst>
          </p:cNvPr>
          <p:cNvSpPr>
            <a:spLocks noGrp="1"/>
          </p:cNvSpPr>
          <p:nvPr>
            <p:ph type="sldNum" sz="quarter" idx="11"/>
          </p:nvPr>
        </p:nvSpPr>
        <p:spPr/>
        <p:txBody>
          <a:bodyPr/>
          <a:lstStyle/>
          <a:p>
            <a:fld id="{7870704B-CE94-48CC-AF30-84932A1262A7}" type="slidenum">
              <a:rPr lang="fr-FR" smtClean="0"/>
              <a:pPr/>
              <a:t>36</a:t>
            </a:fld>
            <a:endParaRPr lang="fr-FR" dirty="0"/>
          </a:p>
        </p:txBody>
      </p:sp>
      <p:graphicFrame>
        <p:nvGraphicFramePr>
          <p:cNvPr id="13" name="Tableau 12">
            <a:extLst>
              <a:ext uri="{FF2B5EF4-FFF2-40B4-BE49-F238E27FC236}">
                <a16:creationId xmlns:a16="http://schemas.microsoft.com/office/drawing/2014/main" id="{D7D601E4-1E31-41A2-9BA6-E664BC7DD7AC}"/>
              </a:ext>
            </a:extLst>
          </p:cNvPr>
          <p:cNvGraphicFramePr>
            <a:graphicFrameLocks noGrp="1"/>
          </p:cNvGraphicFramePr>
          <p:nvPr>
            <p:extLst>
              <p:ext uri="{D42A27DB-BD31-4B8C-83A1-F6EECF244321}">
                <p14:modId xmlns:p14="http://schemas.microsoft.com/office/powerpoint/2010/main" val="3215266150"/>
              </p:ext>
            </p:extLst>
          </p:nvPr>
        </p:nvGraphicFramePr>
        <p:xfrm>
          <a:off x="442913" y="858202"/>
          <a:ext cx="11304001" cy="5517759"/>
        </p:xfrm>
        <a:graphic>
          <a:graphicData uri="http://schemas.openxmlformats.org/drawingml/2006/table">
            <a:tbl>
              <a:tblPr>
                <a:tableStyleId>{5C22544A-7EE6-4342-B048-85BDC9FD1C3A}</a:tableStyleId>
              </a:tblPr>
              <a:tblGrid>
                <a:gridCol w="387124">
                  <a:extLst>
                    <a:ext uri="{9D8B030D-6E8A-4147-A177-3AD203B41FA5}">
                      <a16:colId xmlns:a16="http://schemas.microsoft.com/office/drawing/2014/main" val="1043717336"/>
                    </a:ext>
                  </a:extLst>
                </a:gridCol>
                <a:gridCol w="2470947">
                  <a:extLst>
                    <a:ext uri="{9D8B030D-6E8A-4147-A177-3AD203B41FA5}">
                      <a16:colId xmlns:a16="http://schemas.microsoft.com/office/drawing/2014/main" val="4150490848"/>
                    </a:ext>
                  </a:extLst>
                </a:gridCol>
                <a:gridCol w="758952">
                  <a:extLst>
                    <a:ext uri="{9D8B030D-6E8A-4147-A177-3AD203B41FA5}">
                      <a16:colId xmlns:a16="http://schemas.microsoft.com/office/drawing/2014/main" val="3338901189"/>
                    </a:ext>
                  </a:extLst>
                </a:gridCol>
                <a:gridCol w="1426464">
                  <a:extLst>
                    <a:ext uri="{9D8B030D-6E8A-4147-A177-3AD203B41FA5}">
                      <a16:colId xmlns:a16="http://schemas.microsoft.com/office/drawing/2014/main" val="85655322"/>
                    </a:ext>
                  </a:extLst>
                </a:gridCol>
                <a:gridCol w="1472184">
                  <a:extLst>
                    <a:ext uri="{9D8B030D-6E8A-4147-A177-3AD203B41FA5}">
                      <a16:colId xmlns:a16="http://schemas.microsoft.com/office/drawing/2014/main" val="667077595"/>
                    </a:ext>
                  </a:extLst>
                </a:gridCol>
                <a:gridCol w="1645920">
                  <a:extLst>
                    <a:ext uri="{9D8B030D-6E8A-4147-A177-3AD203B41FA5}">
                      <a16:colId xmlns:a16="http://schemas.microsoft.com/office/drawing/2014/main" val="1283630568"/>
                    </a:ext>
                  </a:extLst>
                </a:gridCol>
                <a:gridCol w="1737360">
                  <a:extLst>
                    <a:ext uri="{9D8B030D-6E8A-4147-A177-3AD203B41FA5}">
                      <a16:colId xmlns:a16="http://schemas.microsoft.com/office/drawing/2014/main" val="4144829747"/>
                    </a:ext>
                  </a:extLst>
                </a:gridCol>
                <a:gridCol w="1405050">
                  <a:extLst>
                    <a:ext uri="{9D8B030D-6E8A-4147-A177-3AD203B41FA5}">
                      <a16:colId xmlns:a16="http://schemas.microsoft.com/office/drawing/2014/main" val="3725648364"/>
                    </a:ext>
                  </a:extLst>
                </a:gridCol>
              </a:tblGrid>
              <a:tr h="156797">
                <a:tc gridSpan="2">
                  <a:txBody>
                    <a:bodyPr/>
                    <a:lstStyle/>
                    <a:p>
                      <a:pPr algn="ctr" fontAlgn="ctr"/>
                      <a:r>
                        <a:rPr lang="en-GB" sz="1000" b="1" i="0" u="none" strike="noStrike" noProof="0" dirty="0">
                          <a:solidFill>
                            <a:schemeClr val="bg1"/>
                          </a:solidFill>
                          <a:effectLst/>
                          <a:latin typeface="Arial" panose="020B0604020202020204" pitchFamily="34" charset="0"/>
                          <a:cs typeface="Arial" panose="020B0604020202020204" pitchFamily="34" charset="0"/>
                        </a:rPr>
                        <a:t>Production data</a:t>
                      </a:r>
                    </a:p>
                  </a:txBody>
                  <a:tcPr marL="3852" marR="3852" marT="3852" marB="0" anchor="ctr">
                    <a:solidFill>
                      <a:schemeClr val="accent1">
                        <a:lumMod val="75000"/>
                      </a:schemeClr>
                    </a:solidFill>
                  </a:tcPr>
                </a:tc>
                <a:tc hMerge="1">
                  <a:txBody>
                    <a:bodyPr/>
                    <a:lstStyle/>
                    <a:p>
                      <a:endParaRPr lang="fr-FR"/>
                    </a:p>
                  </a:txBody>
                  <a:tcPr/>
                </a:tc>
                <a:tc>
                  <a:txBody>
                    <a:bodyPr/>
                    <a:lstStyle/>
                    <a:p>
                      <a:pPr algn="ctr" fontAlgn="ctr"/>
                      <a:r>
                        <a:rPr lang="en-GB" sz="1000" b="1" u="none" strike="noStrike" noProof="0">
                          <a:solidFill>
                            <a:schemeClr val="bg1"/>
                          </a:solidFill>
                          <a:effectLst/>
                        </a:rPr>
                        <a:t> </a:t>
                      </a:r>
                      <a:endParaRPr lang="en-GB" sz="1000" b="1" i="0" u="none" strike="noStrike" noProof="0">
                        <a:solidFill>
                          <a:schemeClr val="bg1"/>
                        </a:solidFill>
                        <a:effectLst/>
                        <a:latin typeface="Calibri" panose="020F0502020204030204" pitchFamily="34" charset="0"/>
                      </a:endParaRPr>
                    </a:p>
                  </a:txBody>
                  <a:tcPr marL="3852" marR="3852" marT="3852" marB="0" anchor="ctr">
                    <a:solidFill>
                      <a:schemeClr val="accent1">
                        <a:lumMod val="75000"/>
                      </a:schemeClr>
                    </a:solidFill>
                  </a:tcPr>
                </a:tc>
                <a:tc>
                  <a:txBody>
                    <a:bodyPr/>
                    <a:lstStyle/>
                    <a:p>
                      <a:pPr algn="ctr" fontAlgn="ctr"/>
                      <a:r>
                        <a:rPr lang="en-GB" sz="1000" b="1" u="none" strike="noStrike" noProof="0">
                          <a:solidFill>
                            <a:schemeClr val="bg1"/>
                          </a:solidFill>
                          <a:effectLst/>
                        </a:rPr>
                        <a:t> </a:t>
                      </a:r>
                      <a:endParaRPr lang="en-GB" sz="1000" b="1" i="0" u="none" strike="noStrike" noProof="0">
                        <a:solidFill>
                          <a:schemeClr val="bg1"/>
                        </a:solidFill>
                        <a:effectLst/>
                        <a:latin typeface="Calibri" panose="020F0502020204030204" pitchFamily="34" charset="0"/>
                      </a:endParaRPr>
                    </a:p>
                  </a:txBody>
                  <a:tcPr marL="3852" marR="3852" marT="3852" marB="0" anchor="ctr">
                    <a:solidFill>
                      <a:schemeClr val="accent1">
                        <a:lumMod val="75000"/>
                      </a:schemeClr>
                    </a:solidFill>
                  </a:tcPr>
                </a:tc>
                <a:tc>
                  <a:txBody>
                    <a:bodyPr/>
                    <a:lstStyle/>
                    <a:p>
                      <a:pPr algn="ctr" fontAlgn="ctr"/>
                      <a:r>
                        <a:rPr lang="en-GB" sz="1000" b="1" u="none" strike="noStrike" noProof="0" dirty="0">
                          <a:solidFill>
                            <a:schemeClr val="bg1"/>
                          </a:solidFill>
                          <a:effectLst/>
                        </a:rPr>
                        <a:t> </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lumMod val="75000"/>
                      </a:schemeClr>
                    </a:solidFill>
                  </a:tcPr>
                </a:tc>
                <a:tc>
                  <a:txBody>
                    <a:bodyPr/>
                    <a:lstStyle/>
                    <a:p>
                      <a:pPr algn="ctr" fontAlgn="ctr"/>
                      <a:r>
                        <a:rPr lang="en-GB" sz="1000" b="1" u="none" strike="noStrike" noProof="0">
                          <a:solidFill>
                            <a:schemeClr val="bg1"/>
                          </a:solidFill>
                          <a:effectLst/>
                        </a:rPr>
                        <a:t> </a:t>
                      </a:r>
                      <a:endParaRPr lang="en-GB" sz="1000" b="1" i="0" u="none" strike="noStrike" noProof="0">
                        <a:solidFill>
                          <a:schemeClr val="bg1"/>
                        </a:solidFill>
                        <a:effectLst/>
                        <a:latin typeface="Calibri" panose="020F0502020204030204" pitchFamily="34" charset="0"/>
                      </a:endParaRPr>
                    </a:p>
                  </a:txBody>
                  <a:tcPr marL="3852" marR="3852" marT="3852" marB="0" anchor="ctr">
                    <a:solidFill>
                      <a:schemeClr val="accent1">
                        <a:lumMod val="75000"/>
                      </a:schemeClr>
                    </a:solidFill>
                  </a:tcPr>
                </a:tc>
                <a:tc>
                  <a:txBody>
                    <a:bodyPr/>
                    <a:lstStyle/>
                    <a:p>
                      <a:pPr algn="ctr" fontAlgn="ctr"/>
                      <a:r>
                        <a:rPr lang="en-GB" sz="1000" b="1" u="none" strike="noStrike" noProof="0">
                          <a:solidFill>
                            <a:schemeClr val="bg1"/>
                          </a:solidFill>
                          <a:effectLst/>
                        </a:rPr>
                        <a:t> </a:t>
                      </a:r>
                      <a:endParaRPr lang="en-GB" sz="1000" b="1" i="0" u="none" strike="noStrike" noProof="0">
                        <a:solidFill>
                          <a:schemeClr val="bg1"/>
                        </a:solidFill>
                        <a:effectLst/>
                        <a:latin typeface="Calibri" panose="020F0502020204030204" pitchFamily="34" charset="0"/>
                      </a:endParaRPr>
                    </a:p>
                  </a:txBody>
                  <a:tcPr marL="3852" marR="3852" marT="3852" marB="0" anchor="ctr">
                    <a:solidFill>
                      <a:schemeClr val="accent1">
                        <a:lumMod val="75000"/>
                      </a:schemeClr>
                    </a:solidFill>
                  </a:tcPr>
                </a:tc>
                <a:tc>
                  <a:txBody>
                    <a:bodyPr/>
                    <a:lstStyle/>
                    <a:p>
                      <a:pPr algn="ctr" fontAlgn="ctr"/>
                      <a:r>
                        <a:rPr lang="en-GB" sz="1000" b="1" u="none" strike="noStrike" noProof="0">
                          <a:solidFill>
                            <a:schemeClr val="bg1"/>
                          </a:solidFill>
                          <a:effectLst/>
                        </a:rPr>
                        <a:t> </a:t>
                      </a:r>
                      <a:endParaRPr lang="en-GB" sz="1000" b="1" i="0" u="none" strike="noStrike" noProof="0">
                        <a:solidFill>
                          <a:schemeClr val="bg1"/>
                        </a:solidFill>
                        <a:effectLst/>
                        <a:latin typeface="Calibri" panose="020F0502020204030204" pitchFamily="34" charset="0"/>
                      </a:endParaRPr>
                    </a:p>
                  </a:txBody>
                  <a:tcPr marL="3852" marR="3852" marT="3852" marB="0" anchor="ctr">
                    <a:solidFill>
                      <a:schemeClr val="accent1">
                        <a:lumMod val="75000"/>
                      </a:schemeClr>
                    </a:solidFill>
                  </a:tcPr>
                </a:tc>
                <a:extLst>
                  <a:ext uri="{0D108BD9-81ED-4DB2-BD59-A6C34878D82A}">
                    <a16:rowId xmlns:a16="http://schemas.microsoft.com/office/drawing/2014/main" val="3076212585"/>
                  </a:ext>
                </a:extLst>
              </a:tr>
              <a:tr h="309730">
                <a:tc>
                  <a:txBody>
                    <a:bodyPr/>
                    <a:lstStyle/>
                    <a:p>
                      <a:pPr algn="ctr" fontAlgn="ctr"/>
                      <a:r>
                        <a:rPr lang="en-GB" sz="1000" b="1" u="none" strike="noStrike" noProof="0" dirty="0">
                          <a:solidFill>
                            <a:schemeClr val="bg1"/>
                          </a:solidFill>
                          <a:effectLst/>
                        </a:rPr>
                        <a:t>#</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KPI</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Unit</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World - Total</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Europe – Total</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North America - Total</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South America - Total</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Asia, Oceania, Africa - Total</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extLst>
                  <a:ext uri="{0D108BD9-81ED-4DB2-BD59-A6C34878D82A}">
                    <a16:rowId xmlns:a16="http://schemas.microsoft.com/office/drawing/2014/main" val="551223490"/>
                  </a:ext>
                </a:extLst>
              </a:tr>
              <a:tr h="285520">
                <a:tc>
                  <a:txBody>
                    <a:bodyPr/>
                    <a:lstStyle/>
                    <a:p>
                      <a:pPr marL="0" algn="ctr" defTabSz="914400" rtl="0" eaLnBrk="1" fontAlgn="ctr" latinLnBrk="0" hangingPunct="1"/>
                      <a:r>
                        <a:rPr lang="en-GB" sz="1000" u="none" strike="noStrike" kern="1200" noProof="0" dirty="0">
                          <a:solidFill>
                            <a:schemeClr val="dk1"/>
                          </a:solidFill>
                          <a:effectLst/>
                          <a:latin typeface="+mn-lt"/>
                          <a:ea typeface="+mn-ea"/>
                          <a:cs typeface="+mn-cs"/>
                        </a:rPr>
                        <a:t>1</a:t>
                      </a:r>
                    </a:p>
                  </a:txBody>
                  <a:tcPr marL="3852" marR="3852" marT="3852" marB="0" anchor="ctr">
                    <a:solidFill>
                      <a:srgbClr val="F7E9E7"/>
                    </a:solidFill>
                  </a:tcPr>
                </a:tc>
                <a:tc>
                  <a:txBody>
                    <a:bodyPr/>
                    <a:lstStyle/>
                    <a:p>
                      <a:pPr marL="0" algn="l" defTabSz="914400" rtl="0" eaLnBrk="1" fontAlgn="ctr" latinLnBrk="0" hangingPunct="1"/>
                      <a:r>
                        <a:rPr lang="en-GB" sz="1000" u="none" strike="noStrike" kern="1200" noProof="0" dirty="0">
                          <a:solidFill>
                            <a:schemeClr val="dk1"/>
                          </a:solidFill>
                          <a:effectLst/>
                          <a:latin typeface="+mn-lt"/>
                          <a:ea typeface="+mn-ea"/>
                          <a:cs typeface="+mn-cs"/>
                        </a:rPr>
                        <a:t>Concrete production</a:t>
                      </a:r>
                    </a:p>
                  </a:txBody>
                  <a:tcPr marL="3852" marR="3852" marT="3852" marB="0" anchor="ctr">
                    <a:solidFill>
                      <a:srgbClr val="F7E9E7"/>
                    </a:solidFill>
                  </a:tcPr>
                </a:tc>
                <a:tc>
                  <a:txBody>
                    <a:bodyPr/>
                    <a:lstStyle/>
                    <a:p>
                      <a:pPr marL="0" algn="ctr" defTabSz="914400" rtl="0" eaLnBrk="1" fontAlgn="ctr" latinLnBrk="0" hangingPunct="1"/>
                      <a:r>
                        <a:rPr lang="en-GB" sz="1000" u="none" strike="noStrike" kern="1200" noProof="0" dirty="0">
                          <a:solidFill>
                            <a:schemeClr val="dk1"/>
                          </a:solidFill>
                          <a:effectLst/>
                          <a:latin typeface="+mn-lt"/>
                          <a:ea typeface="+mn-ea"/>
                          <a:cs typeface="+mn-cs"/>
                        </a:rPr>
                        <a:t>m</a:t>
                      </a:r>
                      <a:r>
                        <a:rPr lang="en-GB" sz="1000" u="none" strike="noStrike" kern="1200" baseline="30000" noProof="0" dirty="0">
                          <a:solidFill>
                            <a:schemeClr val="dk1"/>
                          </a:solidFill>
                          <a:effectLst/>
                          <a:latin typeface="+mn-lt"/>
                          <a:ea typeface="+mn-ea"/>
                          <a:cs typeface="+mn-cs"/>
                        </a:rPr>
                        <a:t>3</a:t>
                      </a:r>
                    </a:p>
                  </a:txBody>
                  <a:tcPr marL="3852" marR="3852" marT="3852" marB="0" anchor="ctr">
                    <a:solidFill>
                      <a:srgbClr val="F7E9E7"/>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75 299 862   </a:t>
                      </a:r>
                    </a:p>
                  </a:txBody>
                  <a:tcPr marL="9525" marR="9525" marT="9525" marB="0" anchor="ctr">
                    <a:solidFill>
                      <a:srgbClr val="F7E9E7"/>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38 154 424   </a:t>
                      </a:r>
                    </a:p>
                  </a:txBody>
                  <a:tcPr marL="9525" marR="9525" marT="9525" marB="0" anchor="ctr">
                    <a:solidFill>
                      <a:srgbClr val="F7E9E7"/>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25 307 828   </a:t>
                      </a:r>
                    </a:p>
                  </a:txBody>
                  <a:tcPr marL="9525" marR="9525" marT="9525" marB="0" anchor="ctr">
                    <a:solidFill>
                      <a:srgbClr val="F7E9E7"/>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2 613 546   </a:t>
                      </a:r>
                    </a:p>
                  </a:txBody>
                  <a:tcPr marL="9525" marR="9525" marT="9525" marB="0" anchor="ctr">
                    <a:solidFill>
                      <a:srgbClr val="F7E9E7"/>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9 195 012   </a:t>
                      </a:r>
                    </a:p>
                  </a:txBody>
                  <a:tcPr marL="9525" marR="9525" marT="9525" marB="0" anchor="ctr">
                    <a:solidFill>
                      <a:srgbClr val="F7E9E7"/>
                    </a:solidFill>
                  </a:tcPr>
                </a:tc>
                <a:extLst>
                  <a:ext uri="{0D108BD9-81ED-4DB2-BD59-A6C34878D82A}">
                    <a16:rowId xmlns:a16="http://schemas.microsoft.com/office/drawing/2014/main" val="4294448319"/>
                  </a:ext>
                </a:extLst>
              </a:tr>
              <a:tr h="285520">
                <a:tc>
                  <a:txBody>
                    <a:bodyPr/>
                    <a:lstStyle/>
                    <a:p>
                      <a:pPr algn="ctr" fontAlgn="ctr"/>
                      <a:r>
                        <a:rPr lang="en-GB" sz="1000" u="none" strike="noStrike" noProof="0" dirty="0">
                          <a:effectLst/>
                        </a:rPr>
                        <a:t>2</a:t>
                      </a:r>
                      <a:endParaRPr lang="en-GB" sz="1000" b="0"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l" fontAlgn="ctr"/>
                      <a:r>
                        <a:rPr lang="en-GB" sz="1000" u="none" strike="noStrike" noProof="0" dirty="0">
                          <a:effectLst/>
                        </a:rPr>
                        <a:t>Total concrete returned</a:t>
                      </a:r>
                      <a:endParaRPr lang="en-GB" sz="1000" b="0"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dirty="0">
                          <a:effectLst/>
                        </a:rPr>
                        <a:t>m</a:t>
                      </a:r>
                      <a:r>
                        <a:rPr lang="en-GB" sz="1000" u="none" strike="noStrike" baseline="30000" noProof="0" dirty="0">
                          <a:effectLst/>
                        </a:rPr>
                        <a:t>3</a:t>
                      </a:r>
                      <a:endParaRPr lang="en-GB" sz="1000" b="0" i="0" u="none" strike="noStrike" baseline="30000"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1 391 463   </a:t>
                      </a:r>
                    </a:p>
                  </a:txBody>
                  <a:tcPr marL="9525" marR="9525" marT="9525" marB="0" anchor="ctr">
                    <a:solidFill>
                      <a:srgbClr val="EED0CB"/>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157 255   </a:t>
                      </a:r>
                    </a:p>
                  </a:txBody>
                  <a:tcPr marL="9525" marR="9525" marT="9525" marB="0" anchor="ctr">
                    <a:solidFill>
                      <a:srgbClr val="EED0CB"/>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164 402   </a:t>
                      </a:r>
                    </a:p>
                  </a:txBody>
                  <a:tcPr marL="9525" marR="9525" marT="9525" marB="0" anchor="ctr">
                    <a:solidFill>
                      <a:srgbClr val="EED0CB"/>
                    </a:solidFill>
                  </a:tcPr>
                </a:tc>
                <a:tc>
                  <a:txBody>
                    <a:bodyPr/>
                    <a:lstStyle/>
                    <a:p>
                      <a:pPr algn="l" fontAlgn="ctr"/>
                      <a:r>
                        <a:rPr lang="fr-FR" sz="1000" b="0" i="0" u="none" strike="noStrike">
                          <a:solidFill>
                            <a:srgbClr val="000000"/>
                          </a:solidFill>
                          <a:effectLst/>
                          <a:latin typeface="Arial" panose="020B0604020202020204" pitchFamily="34" charset="0"/>
                          <a:cs typeface="Arial" panose="020B0604020202020204" pitchFamily="34" charset="0"/>
                        </a:rPr>
                        <a:t>                        1 020 180   </a:t>
                      </a:r>
                    </a:p>
                  </a:txBody>
                  <a:tcPr marL="9525" marR="9525" marT="9525" marB="0" anchor="ctr">
                    <a:solidFill>
                      <a:srgbClr val="EED0CB"/>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49 626   </a:t>
                      </a:r>
                    </a:p>
                  </a:txBody>
                  <a:tcPr marL="9525" marR="9525" marT="9525" marB="0" anchor="ctr">
                    <a:solidFill>
                      <a:srgbClr val="EED0CB"/>
                    </a:solidFill>
                  </a:tcPr>
                </a:tc>
                <a:extLst>
                  <a:ext uri="{0D108BD9-81ED-4DB2-BD59-A6C34878D82A}">
                    <a16:rowId xmlns:a16="http://schemas.microsoft.com/office/drawing/2014/main" val="2362150956"/>
                  </a:ext>
                </a:extLst>
              </a:tr>
              <a:tr h="285520">
                <a:tc>
                  <a:txBody>
                    <a:bodyPr/>
                    <a:lstStyle/>
                    <a:p>
                      <a:pPr algn="ctr" fontAlgn="ctr"/>
                      <a:r>
                        <a:rPr lang="en-GB" sz="1000" u="none" strike="noStrike" noProof="0" dirty="0">
                          <a:effectLst/>
                        </a:rPr>
                        <a:t>3</a:t>
                      </a:r>
                      <a:endParaRPr lang="en-GB" sz="1000" b="0" i="0" u="none" strike="noStrike" noProof="0" dirty="0">
                        <a:solidFill>
                          <a:srgbClr val="000000"/>
                        </a:solidFill>
                        <a:effectLst/>
                        <a:latin typeface="Calibri" panose="020F0502020204030204" pitchFamily="34" charset="0"/>
                      </a:endParaRPr>
                    </a:p>
                  </a:txBody>
                  <a:tcPr marL="3852" marR="3852" marT="3852" marB="0" anchor="ctr">
                    <a:solidFill>
                      <a:srgbClr val="F7E9E7"/>
                    </a:solidFill>
                  </a:tcPr>
                </a:tc>
                <a:tc>
                  <a:txBody>
                    <a:bodyPr/>
                    <a:lstStyle/>
                    <a:p>
                      <a:pPr algn="l" fontAlgn="ctr"/>
                      <a:r>
                        <a:rPr lang="en-GB" sz="1000" u="none" strike="noStrike" noProof="0" dirty="0">
                          <a:effectLst/>
                        </a:rPr>
                        <a:t>Returned concrete recovered</a:t>
                      </a:r>
                      <a:endParaRPr lang="en-GB" sz="1000" b="0" i="0" u="none" strike="noStrike" noProof="0" dirty="0">
                        <a:solidFill>
                          <a:srgbClr val="000000"/>
                        </a:solidFill>
                        <a:effectLst/>
                        <a:latin typeface="Calibri" panose="020F0502020204030204" pitchFamily="34" charset="0"/>
                      </a:endParaRPr>
                    </a:p>
                  </a:txBody>
                  <a:tcPr marL="3852" marR="3852" marT="3852" marB="0" anchor="ctr">
                    <a:solidFill>
                      <a:srgbClr val="F7E9E7"/>
                    </a:solidFill>
                  </a:tcPr>
                </a:tc>
                <a:tc>
                  <a:txBody>
                    <a:bodyPr/>
                    <a:lstStyle/>
                    <a:p>
                      <a:pPr algn="ctr" fontAlgn="ctr"/>
                      <a:r>
                        <a:rPr lang="en-GB" sz="1000" u="none" strike="noStrike" noProof="0" dirty="0">
                          <a:effectLst/>
                        </a:rPr>
                        <a:t>m</a:t>
                      </a:r>
                      <a:r>
                        <a:rPr lang="en-GB" sz="1000" u="none" strike="noStrike" baseline="30000" noProof="0" dirty="0">
                          <a:effectLst/>
                        </a:rPr>
                        <a:t>3</a:t>
                      </a:r>
                      <a:endParaRPr lang="en-GB" sz="1000" b="0" i="0" u="none" strike="noStrike" baseline="30000" noProof="0" dirty="0">
                        <a:solidFill>
                          <a:srgbClr val="000000"/>
                        </a:solidFill>
                        <a:effectLst/>
                        <a:latin typeface="Calibri" panose="020F0502020204030204" pitchFamily="34" charset="0"/>
                      </a:endParaRPr>
                    </a:p>
                  </a:txBody>
                  <a:tcPr marL="3852" marR="3852" marT="3852" marB="0" anchor="ctr">
                    <a:solidFill>
                      <a:srgbClr val="F7E9E7"/>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185 996   </a:t>
                      </a:r>
                    </a:p>
                  </a:txBody>
                  <a:tcPr marL="9525" marR="9525" marT="9525" marB="0" anchor="ctr">
                    <a:solidFill>
                      <a:srgbClr val="F7E9E7"/>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101 186   </a:t>
                      </a:r>
                    </a:p>
                  </a:txBody>
                  <a:tcPr marL="9525" marR="9525" marT="9525" marB="0" anchor="ctr">
                    <a:solidFill>
                      <a:srgbClr val="F7E9E7"/>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41 565   </a:t>
                      </a:r>
                    </a:p>
                  </a:txBody>
                  <a:tcPr marL="9525" marR="9525" marT="9525" marB="0" anchor="ctr">
                    <a:solidFill>
                      <a:srgbClr val="F7E9E7"/>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13 034   </a:t>
                      </a:r>
                    </a:p>
                  </a:txBody>
                  <a:tcPr marL="9525" marR="9525" marT="9525" marB="0" anchor="ctr">
                    <a:solidFill>
                      <a:srgbClr val="F7E9E7"/>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30 211   </a:t>
                      </a:r>
                    </a:p>
                  </a:txBody>
                  <a:tcPr marL="9525" marR="9525" marT="9525" marB="0" anchor="ctr">
                    <a:solidFill>
                      <a:srgbClr val="F7E9E7"/>
                    </a:solidFill>
                  </a:tcPr>
                </a:tc>
                <a:extLst>
                  <a:ext uri="{0D108BD9-81ED-4DB2-BD59-A6C34878D82A}">
                    <a16:rowId xmlns:a16="http://schemas.microsoft.com/office/drawing/2014/main" val="1978922091"/>
                  </a:ext>
                </a:extLst>
              </a:tr>
              <a:tr h="285520">
                <a:tc>
                  <a:txBody>
                    <a:bodyPr/>
                    <a:lstStyle/>
                    <a:p>
                      <a:pPr algn="ctr" fontAlgn="ctr"/>
                      <a:r>
                        <a:rPr lang="en-GB" sz="1000" u="none" strike="noStrike" noProof="0" dirty="0">
                          <a:effectLst/>
                        </a:rPr>
                        <a:t>4</a:t>
                      </a:r>
                      <a:endParaRPr lang="en-GB" sz="1000" b="0"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l" fontAlgn="ctr"/>
                      <a:r>
                        <a:rPr lang="en-GB" sz="1000" u="none" strike="noStrike" noProof="0" dirty="0">
                          <a:effectLst/>
                        </a:rPr>
                        <a:t>Wasted concrete </a:t>
                      </a:r>
                      <a:endParaRPr lang="en-GB" sz="1000" b="0"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dirty="0">
                          <a:effectLst/>
                        </a:rPr>
                        <a:t>m</a:t>
                      </a:r>
                      <a:r>
                        <a:rPr lang="en-GB" sz="1000" u="none" strike="noStrike" baseline="30000" noProof="0" dirty="0">
                          <a:effectLst/>
                        </a:rPr>
                        <a:t>3</a:t>
                      </a:r>
                      <a:endParaRPr lang="en-GB" sz="1000" b="0" i="0" u="none" strike="noStrike" baseline="30000"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206 520   </a:t>
                      </a:r>
                    </a:p>
                  </a:txBody>
                  <a:tcPr marL="9525" marR="9525" marT="9525" marB="0" anchor="ctr">
                    <a:solidFill>
                      <a:srgbClr val="EED0CB"/>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55 203   </a:t>
                      </a:r>
                    </a:p>
                  </a:txBody>
                  <a:tcPr marL="9525" marR="9525" marT="9525" marB="0" anchor="ctr">
                    <a:solidFill>
                      <a:srgbClr val="EED0CB"/>
                    </a:solidFill>
                  </a:tcPr>
                </a:tc>
                <a:tc>
                  <a:txBody>
                    <a:bodyPr/>
                    <a:lstStyle/>
                    <a:p>
                      <a:pPr algn="l" fontAlgn="ctr"/>
                      <a:r>
                        <a:rPr lang="fr-FR" sz="1000" b="0" i="0" u="none" strike="noStrike">
                          <a:solidFill>
                            <a:srgbClr val="000000"/>
                          </a:solidFill>
                          <a:effectLst/>
                          <a:latin typeface="Arial" panose="020B0604020202020204" pitchFamily="34" charset="0"/>
                          <a:cs typeface="Arial" panose="020B0604020202020204" pitchFamily="34" charset="0"/>
                        </a:rPr>
                        <a:t>                            122 836   </a:t>
                      </a:r>
                    </a:p>
                  </a:txBody>
                  <a:tcPr marL="9525" marR="9525" marT="9525" marB="0" anchor="ctr">
                    <a:solidFill>
                      <a:srgbClr val="EED0CB"/>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9 065   </a:t>
                      </a:r>
                    </a:p>
                  </a:txBody>
                  <a:tcPr marL="9525" marR="9525" marT="9525" marB="0" anchor="ctr">
                    <a:solidFill>
                      <a:srgbClr val="EED0CB"/>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19 415   </a:t>
                      </a:r>
                    </a:p>
                  </a:txBody>
                  <a:tcPr marL="9525" marR="9525" marT="9525" marB="0" anchor="ctr">
                    <a:solidFill>
                      <a:srgbClr val="EED0CB"/>
                    </a:solidFill>
                  </a:tcPr>
                </a:tc>
                <a:extLst>
                  <a:ext uri="{0D108BD9-81ED-4DB2-BD59-A6C34878D82A}">
                    <a16:rowId xmlns:a16="http://schemas.microsoft.com/office/drawing/2014/main" val="1457672452"/>
                  </a:ext>
                </a:extLst>
              </a:tr>
              <a:tr h="309730">
                <a:tc>
                  <a:txBody>
                    <a:bodyPr/>
                    <a:lstStyle/>
                    <a:p>
                      <a:pPr algn="ctr" fontAlgn="ctr"/>
                      <a:r>
                        <a:rPr lang="en-GB" sz="1000" u="none" strike="noStrike" noProof="0" dirty="0">
                          <a:effectLst/>
                        </a:rPr>
                        <a:t>5</a:t>
                      </a:r>
                      <a:endParaRPr lang="en-GB" sz="1000" b="0" i="0" u="none" strike="noStrike" noProof="0" dirty="0">
                        <a:solidFill>
                          <a:srgbClr val="000000"/>
                        </a:solidFill>
                        <a:effectLst/>
                        <a:latin typeface="Calibri" panose="020F0502020204030204" pitchFamily="34" charset="0"/>
                      </a:endParaRPr>
                    </a:p>
                  </a:txBody>
                  <a:tcPr marL="3852" marR="3852" marT="3852" marB="0" anchor="ctr">
                    <a:solidFill>
                      <a:srgbClr val="F7E9E7"/>
                    </a:solidFill>
                  </a:tcPr>
                </a:tc>
                <a:tc>
                  <a:txBody>
                    <a:bodyPr/>
                    <a:lstStyle/>
                    <a:p>
                      <a:pPr algn="l" fontAlgn="ctr"/>
                      <a:r>
                        <a:rPr lang="en-GB" sz="1000" u="none" strike="noStrike" noProof="0" dirty="0">
                          <a:effectLst/>
                        </a:rPr>
                        <a:t>Total Electricity Energy for Production</a:t>
                      </a:r>
                      <a:endParaRPr lang="en-GB" sz="1000" b="0" i="0" u="none" strike="noStrike" noProof="0" dirty="0">
                        <a:solidFill>
                          <a:srgbClr val="000000"/>
                        </a:solidFill>
                        <a:effectLst/>
                        <a:latin typeface="Calibri" panose="020F0502020204030204" pitchFamily="34" charset="0"/>
                      </a:endParaRPr>
                    </a:p>
                  </a:txBody>
                  <a:tcPr marL="3852" marR="3852" marT="3852" marB="0" anchor="ctr">
                    <a:solidFill>
                      <a:srgbClr val="F7E9E7"/>
                    </a:solidFill>
                  </a:tcPr>
                </a:tc>
                <a:tc>
                  <a:txBody>
                    <a:bodyPr/>
                    <a:lstStyle/>
                    <a:p>
                      <a:pPr algn="ctr" fontAlgn="ctr"/>
                      <a:r>
                        <a:rPr lang="en-GB" sz="1000" u="none" strike="noStrike" noProof="0" dirty="0">
                          <a:effectLst/>
                        </a:rPr>
                        <a:t>kWh</a:t>
                      </a:r>
                      <a:endParaRPr lang="en-GB" sz="1000" b="0" i="0" u="none" strike="noStrike" noProof="0" dirty="0">
                        <a:solidFill>
                          <a:srgbClr val="000000"/>
                        </a:solidFill>
                        <a:effectLst/>
                        <a:latin typeface="Calibri" panose="020F0502020204030204" pitchFamily="34" charset="0"/>
                      </a:endParaRPr>
                    </a:p>
                  </a:txBody>
                  <a:tcPr marL="3852" marR="3852" marT="3852" marB="0" anchor="ctr">
                    <a:solidFill>
                      <a:srgbClr val="F7E9E7"/>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247 781 417   </a:t>
                      </a:r>
                    </a:p>
                  </a:txBody>
                  <a:tcPr marL="9525" marR="9525" marT="9525" marB="0" anchor="ctr">
                    <a:solidFill>
                      <a:srgbClr val="F7E9E7"/>
                    </a:solidFill>
                  </a:tcPr>
                </a:tc>
                <a:tc>
                  <a:txBody>
                    <a:bodyPr/>
                    <a:lstStyle/>
                    <a:p>
                      <a:pPr algn="l" fontAlgn="ctr"/>
                      <a:r>
                        <a:rPr lang="fr-FR" sz="1000" b="0" i="0" u="none" strike="noStrike">
                          <a:solidFill>
                            <a:srgbClr val="000000"/>
                          </a:solidFill>
                          <a:effectLst/>
                          <a:latin typeface="Arial" panose="020B0604020202020204" pitchFamily="34" charset="0"/>
                          <a:cs typeface="Arial" panose="020B0604020202020204" pitchFamily="34" charset="0"/>
                        </a:rPr>
                        <a:t>                      72 931 858   </a:t>
                      </a:r>
                    </a:p>
                  </a:txBody>
                  <a:tcPr marL="9525" marR="9525" marT="9525" marB="0" anchor="ctr">
                    <a:solidFill>
                      <a:srgbClr val="F7E9E7"/>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139 540 365   </a:t>
                      </a:r>
                    </a:p>
                  </a:txBody>
                  <a:tcPr marL="9525" marR="9525" marT="9525" marB="0" anchor="ctr">
                    <a:solidFill>
                      <a:srgbClr val="F7E9E7"/>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8 074 878   </a:t>
                      </a:r>
                    </a:p>
                  </a:txBody>
                  <a:tcPr marL="9525" marR="9525" marT="9525" marB="0" anchor="ctr">
                    <a:solidFill>
                      <a:srgbClr val="F7E9E7"/>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27 241 276   </a:t>
                      </a:r>
                    </a:p>
                  </a:txBody>
                  <a:tcPr marL="9525" marR="9525" marT="9525" marB="0" anchor="ctr">
                    <a:solidFill>
                      <a:srgbClr val="F7E9E7"/>
                    </a:solidFill>
                  </a:tcPr>
                </a:tc>
                <a:extLst>
                  <a:ext uri="{0D108BD9-81ED-4DB2-BD59-A6C34878D82A}">
                    <a16:rowId xmlns:a16="http://schemas.microsoft.com/office/drawing/2014/main" val="4071855317"/>
                  </a:ext>
                </a:extLst>
              </a:tr>
              <a:tr h="309730">
                <a:tc>
                  <a:txBody>
                    <a:bodyPr/>
                    <a:lstStyle/>
                    <a:p>
                      <a:pPr algn="ctr" fontAlgn="ctr"/>
                      <a:r>
                        <a:rPr lang="en-GB" sz="1000" u="none" strike="noStrike" noProof="0" dirty="0">
                          <a:effectLst/>
                        </a:rPr>
                        <a:t>6</a:t>
                      </a:r>
                      <a:endParaRPr lang="en-GB" sz="1000" b="0"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l" fontAlgn="ctr"/>
                      <a:r>
                        <a:rPr lang="en-GB" sz="1000" u="none" strike="noStrike" noProof="0" dirty="0">
                          <a:effectLst/>
                        </a:rPr>
                        <a:t>Total non-Electricity Energy for Production</a:t>
                      </a:r>
                      <a:endParaRPr lang="en-GB" sz="1000" b="0"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dirty="0">
                          <a:effectLst/>
                        </a:rPr>
                        <a:t>MJ</a:t>
                      </a:r>
                      <a:endParaRPr lang="en-GB" sz="1000" b="0"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991 734 953   </a:t>
                      </a:r>
                    </a:p>
                  </a:txBody>
                  <a:tcPr marL="9525" marR="9525" marT="9525" marB="0" anchor="ctr">
                    <a:solidFill>
                      <a:srgbClr val="EED0CB"/>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46 170 652   </a:t>
                      </a:r>
                    </a:p>
                  </a:txBody>
                  <a:tcPr marL="9525" marR="9525" marT="9525" marB="0" anchor="ctr">
                    <a:solidFill>
                      <a:srgbClr val="EED0CB"/>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888 051 319   </a:t>
                      </a:r>
                    </a:p>
                  </a:txBody>
                  <a:tcPr marL="9525" marR="9525" marT="9525" marB="0" anchor="ctr">
                    <a:solidFill>
                      <a:srgbClr val="EED0CB"/>
                    </a:solidFill>
                  </a:tcPr>
                </a:tc>
                <a:tc>
                  <a:txBody>
                    <a:bodyPr/>
                    <a:lstStyle/>
                    <a:p>
                      <a:pPr algn="ctr" fontAlgn="ctr"/>
                      <a:r>
                        <a:rPr lang="en-GB" sz="1000" b="0" u="none" strike="noStrike" noProof="0" dirty="0">
                          <a:effectLst/>
                          <a:latin typeface="Arial" panose="020B0604020202020204" pitchFamily="34" charset="0"/>
                          <a:cs typeface="Arial" panose="020B0604020202020204" pitchFamily="34" charset="0"/>
                        </a:rPr>
                        <a:t> N/A </a:t>
                      </a:r>
                      <a:endParaRPr lang="en-GB" sz="1000" b="0" i="0" u="none" strike="noStrike" noProof="0" dirty="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l" fontAlgn="ctr"/>
                      <a:r>
                        <a:rPr lang="fr-FR" sz="1000" b="0" i="0" u="none" strike="noStrike" dirty="0">
                          <a:solidFill>
                            <a:srgbClr val="000000"/>
                          </a:solidFill>
                          <a:effectLst/>
                          <a:latin typeface="Arial" panose="020B0604020202020204" pitchFamily="34" charset="0"/>
                          <a:cs typeface="Arial" panose="020B0604020202020204" pitchFamily="34" charset="0"/>
                        </a:rPr>
                        <a:t>                    57 512 982   </a:t>
                      </a:r>
                    </a:p>
                  </a:txBody>
                  <a:tcPr marL="9525" marR="9525" marT="9525" marB="0" anchor="ctr">
                    <a:solidFill>
                      <a:srgbClr val="EED0CB"/>
                    </a:solidFill>
                  </a:tcPr>
                </a:tc>
                <a:extLst>
                  <a:ext uri="{0D108BD9-81ED-4DB2-BD59-A6C34878D82A}">
                    <a16:rowId xmlns:a16="http://schemas.microsoft.com/office/drawing/2014/main" val="873568436"/>
                  </a:ext>
                </a:extLst>
              </a:tr>
              <a:tr h="196578">
                <a:tc>
                  <a:txBody>
                    <a:bodyPr/>
                    <a:lstStyle/>
                    <a:p>
                      <a:pPr algn="ctr" fontAlgn="ct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rgbClr val="9C370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000" b="1" i="0" u="none" strike="noStrike" kern="1200" noProof="0" dirty="0">
                          <a:solidFill>
                            <a:schemeClr val="bg1"/>
                          </a:solidFill>
                          <a:effectLst/>
                          <a:latin typeface="Arial" panose="020B0604020202020204" pitchFamily="34" charset="0"/>
                          <a:ea typeface="+mn-ea"/>
                          <a:cs typeface="Arial" panose="020B0604020202020204" pitchFamily="34" charset="0"/>
                        </a:rPr>
                        <a:t>Energy &amp; Climate Change</a:t>
                      </a:r>
                    </a:p>
                  </a:txBody>
                  <a:tcPr marL="3852" marR="3852" marT="3852" marB="0" anchor="ctr">
                    <a:solidFill>
                      <a:srgbClr val="9C3702"/>
                    </a:solidFill>
                  </a:tcPr>
                </a:tc>
                <a:tc>
                  <a:txBody>
                    <a:bodyPr/>
                    <a:lstStyle/>
                    <a:p>
                      <a:pPr algn="ctr" fontAlgn="ct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rgbClr val="9C3702"/>
                    </a:solidFill>
                  </a:tcPr>
                </a:tc>
                <a:tc>
                  <a:txBody>
                    <a:bodyPr/>
                    <a:lstStyle/>
                    <a:p>
                      <a:pPr algn="ctr" fontAlgn="ctr"/>
                      <a:endParaRPr lang="en-GB" sz="1000" b="0"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rgbClr val="9C3702"/>
                    </a:solidFill>
                  </a:tcPr>
                </a:tc>
                <a:tc>
                  <a:txBody>
                    <a:bodyPr/>
                    <a:lstStyle/>
                    <a:p>
                      <a:pPr algn="ctr" fontAlgn="ctr"/>
                      <a:endParaRPr lang="en-GB" sz="1000" b="0"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rgbClr val="9C3702"/>
                    </a:solidFill>
                  </a:tcPr>
                </a:tc>
                <a:tc>
                  <a:txBody>
                    <a:bodyPr/>
                    <a:lstStyle/>
                    <a:p>
                      <a:pPr algn="ctr" fontAlgn="ctr"/>
                      <a:endParaRPr lang="en-GB" sz="1000" b="0"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rgbClr val="9C3702"/>
                    </a:solidFill>
                  </a:tcPr>
                </a:tc>
                <a:tc>
                  <a:txBody>
                    <a:bodyPr/>
                    <a:lstStyle/>
                    <a:p>
                      <a:pPr algn="ctr" fontAlgn="ctr"/>
                      <a:endParaRPr lang="en-GB" sz="1000" b="0"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rgbClr val="9C3702"/>
                    </a:solidFill>
                  </a:tcPr>
                </a:tc>
                <a:tc>
                  <a:txBody>
                    <a:bodyPr/>
                    <a:lstStyle/>
                    <a:p>
                      <a:pPr algn="ctr" fontAlgn="ctr"/>
                      <a:endParaRPr lang="en-GB" sz="1000" b="0"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rgbClr val="9C3702"/>
                    </a:solidFill>
                  </a:tcPr>
                </a:tc>
                <a:extLst>
                  <a:ext uri="{0D108BD9-81ED-4DB2-BD59-A6C34878D82A}">
                    <a16:rowId xmlns:a16="http://schemas.microsoft.com/office/drawing/2014/main" val="2794448151"/>
                  </a:ext>
                </a:extLst>
              </a:tr>
              <a:tr h="309730">
                <a:tc>
                  <a:txBody>
                    <a:bodyPr/>
                    <a:lstStyle/>
                    <a:p>
                      <a:pPr algn="ctr" fontAlgn="ctr"/>
                      <a:r>
                        <a:rPr lang="en-GB" sz="1000" b="1" u="none" strike="noStrike" noProof="0" dirty="0">
                          <a:solidFill>
                            <a:schemeClr val="bg1"/>
                          </a:solidFill>
                          <a:effectLst/>
                        </a:rPr>
                        <a:t>#</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KPI - Process Energy</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a:solidFill>
                            <a:schemeClr val="bg1"/>
                          </a:solidFill>
                          <a:effectLst/>
                        </a:rPr>
                        <a:t>Unit</a:t>
                      </a:r>
                      <a:endParaRPr lang="en-GB" sz="1000" b="1" i="0" u="none" strike="noStrike" noProof="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World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Europe - Average</a:t>
                      </a:r>
                      <a:endParaRPr lang="en-GB" sz="1000" b="1" i="0" u="none" strike="noStrike" noProof="0" dirty="0">
                        <a:solidFill>
                          <a:srgbClr val="9C3702"/>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North America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South America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Asia, Oceania, Africa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extLst>
                  <a:ext uri="{0D108BD9-81ED-4DB2-BD59-A6C34878D82A}">
                    <a16:rowId xmlns:a16="http://schemas.microsoft.com/office/drawing/2014/main" val="4227576293"/>
                  </a:ext>
                </a:extLst>
              </a:tr>
              <a:tr h="309730">
                <a:tc>
                  <a:txBody>
                    <a:bodyPr/>
                    <a:lstStyle/>
                    <a:p>
                      <a:pPr algn="ctr" fontAlgn="ctr"/>
                      <a:r>
                        <a:rPr lang="en-GB" sz="1000" u="none" strike="noStrike" noProof="0" dirty="0">
                          <a:effectLst/>
                        </a:rPr>
                        <a:t>1</a:t>
                      </a:r>
                      <a:endParaRPr lang="en-GB" sz="1000" b="0" i="0" u="none" strike="noStrike" noProof="0" dirty="0">
                        <a:solidFill>
                          <a:srgbClr val="000000"/>
                        </a:solidFill>
                        <a:effectLst/>
                        <a:latin typeface="Calibri" panose="020F0502020204030204" pitchFamily="34" charset="0"/>
                      </a:endParaRPr>
                    </a:p>
                  </a:txBody>
                  <a:tcPr marL="3852" marR="3852" marT="3852" marB="0" anchor="ctr"/>
                </a:tc>
                <a:tc>
                  <a:txBody>
                    <a:bodyPr/>
                    <a:lstStyle/>
                    <a:p>
                      <a:pPr algn="l" fontAlgn="ctr"/>
                      <a:r>
                        <a:rPr lang="en-GB" sz="1000" u="none" strike="noStrike" noProof="0" dirty="0">
                          <a:effectLst/>
                        </a:rPr>
                        <a:t>Total Electricity Energy for Production</a:t>
                      </a:r>
                      <a:endParaRPr lang="en-GB" sz="1000" b="0" i="0" u="none" strike="noStrike" noProof="0" dirty="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rPr>
                        <a:t>kWh/m</a:t>
                      </a:r>
                      <a:r>
                        <a:rPr lang="en-GB" sz="1000" u="none" strike="noStrike" baseline="30000" noProof="0">
                          <a:effectLst/>
                        </a:rPr>
                        <a:t>3</a:t>
                      </a:r>
                      <a:endParaRPr lang="en-GB" sz="1000" b="0" i="0" u="none" strike="noStrike" baseline="30000" noProof="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dirty="0">
                          <a:effectLst/>
                        </a:rPr>
                        <a:t>4</a:t>
                      </a:r>
                      <a:endParaRPr lang="en-GB" sz="1000" b="1" i="0" u="none" strike="noStrike" noProof="0" dirty="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dirty="0">
                          <a:effectLst/>
                        </a:rPr>
                        <a:t>3.6</a:t>
                      </a:r>
                      <a:endParaRPr lang="en-GB" sz="1000" b="1" i="0" u="none" strike="noStrike" noProof="0" dirty="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dirty="0">
                          <a:effectLst/>
                        </a:rPr>
                        <a:t>5.2</a:t>
                      </a:r>
                      <a:endParaRPr lang="en-GB" sz="1000" b="1" i="0" u="none" strike="noStrike" noProof="0" dirty="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dirty="0">
                          <a:effectLst/>
                        </a:rPr>
                        <a:t>3</a:t>
                      </a:r>
                      <a:endParaRPr lang="en-GB" sz="1000" b="1" i="0" u="none" strike="noStrike" noProof="0" dirty="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rPr>
                        <a:t>3</a:t>
                      </a:r>
                      <a:endParaRPr lang="en-GB" sz="1000" b="1" i="0" u="none" strike="noStrike" noProof="0">
                        <a:solidFill>
                          <a:srgbClr val="000000"/>
                        </a:solidFill>
                        <a:effectLst/>
                        <a:latin typeface="Calibri" panose="020F0502020204030204" pitchFamily="34" charset="0"/>
                      </a:endParaRPr>
                    </a:p>
                  </a:txBody>
                  <a:tcPr marL="3852" marR="3852" marT="3852" marB="0" anchor="ctr"/>
                </a:tc>
                <a:extLst>
                  <a:ext uri="{0D108BD9-81ED-4DB2-BD59-A6C34878D82A}">
                    <a16:rowId xmlns:a16="http://schemas.microsoft.com/office/drawing/2014/main" val="575569638"/>
                  </a:ext>
                </a:extLst>
              </a:tr>
              <a:tr h="309730">
                <a:tc>
                  <a:txBody>
                    <a:bodyPr/>
                    <a:lstStyle/>
                    <a:p>
                      <a:pPr algn="ctr" fontAlgn="ctr"/>
                      <a:r>
                        <a:rPr lang="en-GB" sz="1000" u="none" strike="noStrike" noProof="0">
                          <a:effectLst/>
                        </a:rPr>
                        <a:t>2</a:t>
                      </a:r>
                      <a:endParaRPr lang="en-GB" sz="1000" b="0"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l" fontAlgn="ctr"/>
                      <a:r>
                        <a:rPr lang="en-GB" sz="1000" u="none" strike="noStrike" noProof="0" dirty="0">
                          <a:effectLst/>
                        </a:rPr>
                        <a:t>Total non-Electricity Energy for Production</a:t>
                      </a:r>
                      <a:endParaRPr lang="en-GB" sz="1000" b="0"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a:effectLst/>
                        </a:rPr>
                        <a:t>MJ/m</a:t>
                      </a:r>
                      <a:r>
                        <a:rPr lang="en-GB" sz="1000" u="none" strike="noStrike" baseline="30000" noProof="0">
                          <a:effectLst/>
                        </a:rPr>
                        <a:t>3</a:t>
                      </a:r>
                      <a:endParaRPr lang="en-GB" sz="1000" b="0" i="0" u="none" strike="noStrike" baseline="30000"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dirty="0">
                          <a:effectLst/>
                        </a:rPr>
                        <a:t>29</a:t>
                      </a:r>
                      <a:endParaRPr lang="en-GB" sz="1000" b="1"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marL="0" algn="ctr" defTabSz="914400" rtl="0" eaLnBrk="1" fontAlgn="ctr" latinLnBrk="0" hangingPunct="1"/>
                      <a:r>
                        <a:rPr lang="en-GB" sz="1000" u="none" strike="noStrike" kern="1200" noProof="0" dirty="0">
                          <a:solidFill>
                            <a:schemeClr val="dk1"/>
                          </a:solidFill>
                          <a:effectLst/>
                          <a:latin typeface="+mn-lt"/>
                          <a:ea typeface="+mn-ea"/>
                          <a:cs typeface="+mn-cs"/>
                        </a:rPr>
                        <a:t>5.7</a:t>
                      </a:r>
                    </a:p>
                  </a:txBody>
                  <a:tcPr marL="3852" marR="3852" marT="3852" marB="0" anchor="ctr">
                    <a:solidFill>
                      <a:srgbClr val="EED0CB"/>
                    </a:solidFill>
                  </a:tcPr>
                </a:tc>
                <a:tc>
                  <a:txBody>
                    <a:bodyPr/>
                    <a:lstStyle/>
                    <a:p>
                      <a:pPr algn="ctr" fontAlgn="ctr"/>
                      <a:r>
                        <a:rPr lang="en-GB" sz="1000" u="none" strike="noStrike" noProof="0" dirty="0">
                          <a:effectLst/>
                        </a:rPr>
                        <a:t>60.3</a:t>
                      </a:r>
                      <a:endParaRPr lang="en-GB" sz="1000" b="1"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a:effectLst/>
                        </a:rPr>
                        <a:t>0</a:t>
                      </a:r>
                      <a:endParaRPr lang="en-GB" sz="1000" b="1"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a:effectLst/>
                        </a:rPr>
                        <a:t>6</a:t>
                      </a:r>
                      <a:endParaRPr lang="en-GB" sz="1000" b="1"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extLst>
                  <a:ext uri="{0D108BD9-81ED-4DB2-BD59-A6C34878D82A}">
                    <a16:rowId xmlns:a16="http://schemas.microsoft.com/office/drawing/2014/main" val="1642400935"/>
                  </a:ext>
                </a:extLst>
              </a:tr>
              <a:tr h="309730">
                <a:tc>
                  <a:txBody>
                    <a:bodyPr/>
                    <a:lstStyle/>
                    <a:p>
                      <a:pPr algn="ctr" fontAlgn="ctr"/>
                      <a:r>
                        <a:rPr lang="en-GB" sz="1000" u="none" strike="noStrike" noProof="0">
                          <a:effectLst/>
                        </a:rPr>
                        <a:t>3</a:t>
                      </a:r>
                      <a:endParaRPr lang="en-GB" sz="1000" b="0" i="0" u="none" strike="noStrike" noProof="0" dirty="0">
                        <a:solidFill>
                          <a:srgbClr val="000000"/>
                        </a:solidFill>
                        <a:effectLst/>
                        <a:latin typeface="Calibri" panose="020F0502020204030204" pitchFamily="34" charset="0"/>
                      </a:endParaRPr>
                    </a:p>
                  </a:txBody>
                  <a:tcPr marL="3852" marR="3852" marT="3852" marB="0" anchor="ctr"/>
                </a:tc>
                <a:tc>
                  <a:txBody>
                    <a:bodyPr/>
                    <a:lstStyle/>
                    <a:p>
                      <a:pPr algn="l" fontAlgn="ctr"/>
                      <a:r>
                        <a:rPr lang="en-GB" sz="1000" u="none" strike="noStrike" noProof="0">
                          <a:effectLst/>
                        </a:rPr>
                        <a:t>Total non-Electricity Energy for Production</a:t>
                      </a:r>
                      <a:endParaRPr lang="en-GB" sz="1000" b="0" i="0" u="none" strike="noStrike" noProof="0" dirty="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rPr>
                        <a:t>kWh/m</a:t>
                      </a:r>
                      <a:r>
                        <a:rPr lang="en-GB" sz="1000" u="none" strike="noStrike" baseline="30000" noProof="0">
                          <a:effectLst/>
                        </a:rPr>
                        <a:t>3</a:t>
                      </a:r>
                      <a:endParaRPr lang="en-GB" sz="1000" b="0" i="0" u="none" strike="noStrike" baseline="30000" noProof="0" dirty="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b="0" i="0" u="none" strike="noStrike" noProof="0" dirty="0">
                          <a:solidFill>
                            <a:srgbClr val="000000"/>
                          </a:solidFill>
                          <a:effectLst/>
                          <a:latin typeface="Arial" panose="020B0604020202020204" pitchFamily="34" charset="0"/>
                          <a:cs typeface="Arial" panose="020B0604020202020204" pitchFamily="34" charset="0"/>
                        </a:rPr>
                        <a:t>8</a:t>
                      </a:r>
                    </a:p>
                  </a:txBody>
                  <a:tcPr marL="3852" marR="3852" marT="3852" marB="0" anchor="ctr"/>
                </a:tc>
                <a:tc>
                  <a:txBody>
                    <a:bodyPr/>
                    <a:lstStyle/>
                    <a:p>
                      <a:pPr marL="0" algn="ctr" defTabSz="914400" rtl="0" eaLnBrk="1" fontAlgn="ctr" latinLnBrk="0" hangingPunct="1"/>
                      <a:r>
                        <a:rPr lang="en-GB" sz="1000" u="none" strike="noStrike" kern="1200" noProof="0" dirty="0">
                          <a:solidFill>
                            <a:schemeClr val="dk1"/>
                          </a:solidFill>
                          <a:effectLst/>
                          <a:latin typeface="+mn-lt"/>
                          <a:ea typeface="+mn-ea"/>
                          <a:cs typeface="+mn-cs"/>
                        </a:rPr>
                        <a:t>1.5</a:t>
                      </a:r>
                    </a:p>
                  </a:txBody>
                  <a:tcPr marL="3852" marR="3852" marT="3852" marB="0" anchor="ctr"/>
                </a:tc>
                <a:tc>
                  <a:txBody>
                    <a:bodyPr/>
                    <a:lstStyle/>
                    <a:p>
                      <a:pPr algn="ctr" fontAlgn="ctr"/>
                      <a:r>
                        <a:rPr lang="en-GB" sz="1000" u="none" strike="noStrike" noProof="0" dirty="0">
                          <a:effectLst/>
                        </a:rPr>
                        <a:t>16.7</a:t>
                      </a:r>
                    </a:p>
                  </a:txBody>
                  <a:tcPr marL="3852" marR="3852" marT="3852" marB="0" anchor="ctr"/>
                </a:tc>
                <a:tc>
                  <a:txBody>
                    <a:bodyPr/>
                    <a:lstStyle/>
                    <a:p>
                      <a:pPr algn="ctr" fontAlgn="ctr"/>
                      <a:r>
                        <a:rPr lang="en-GB" sz="1000" u="none" strike="noStrike" noProof="0">
                          <a:effectLst/>
                        </a:rPr>
                        <a:t>0</a:t>
                      </a:r>
                      <a:endParaRPr lang="en-GB" sz="1000" b="1" i="0" u="none" strike="noStrike" noProof="0" dirty="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dirty="0">
                          <a:effectLst/>
                        </a:rPr>
                        <a:t>2</a:t>
                      </a:r>
                      <a:endParaRPr lang="en-GB" sz="1000" b="1" i="0" u="none" strike="noStrike" noProof="0" dirty="0">
                        <a:solidFill>
                          <a:srgbClr val="000000"/>
                        </a:solidFill>
                        <a:effectLst/>
                        <a:latin typeface="Calibri" panose="020F0502020204030204" pitchFamily="34" charset="0"/>
                      </a:endParaRPr>
                    </a:p>
                  </a:txBody>
                  <a:tcPr marL="3852" marR="3852" marT="3852" marB="0" anchor="ctr"/>
                </a:tc>
                <a:extLst>
                  <a:ext uri="{0D108BD9-81ED-4DB2-BD59-A6C34878D82A}">
                    <a16:rowId xmlns:a16="http://schemas.microsoft.com/office/drawing/2014/main" val="3346843025"/>
                  </a:ext>
                </a:extLst>
              </a:tr>
              <a:tr h="156797">
                <a:tc>
                  <a:txBody>
                    <a:bodyPr/>
                    <a:lstStyle/>
                    <a:p>
                      <a:pPr algn="ctr" fontAlgn="ctr"/>
                      <a:r>
                        <a:rPr lang="en-GB" sz="1000" u="none" strike="noStrike" noProof="0">
                          <a:effectLst/>
                        </a:rPr>
                        <a:t>4</a:t>
                      </a:r>
                      <a:endParaRPr lang="en-GB" sz="1000" b="0"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l" fontAlgn="ctr"/>
                      <a:r>
                        <a:rPr lang="en-GB" sz="1000" u="none" strike="noStrike" noProof="0" dirty="0">
                          <a:effectLst/>
                        </a:rPr>
                        <a:t>Total Energy for Production</a:t>
                      </a:r>
                      <a:endParaRPr lang="en-GB" sz="1000" b="0"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dirty="0">
                          <a:effectLst/>
                        </a:rPr>
                        <a:t>kWh/m</a:t>
                      </a:r>
                      <a:r>
                        <a:rPr lang="en-GB" sz="1000" u="none" strike="noStrike" baseline="30000" noProof="0" dirty="0">
                          <a:effectLst/>
                        </a:rPr>
                        <a:t>3</a:t>
                      </a:r>
                      <a:endParaRPr lang="en-GB" sz="1000" b="0" i="0" u="none" strike="noStrike" baseline="30000"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dirty="0">
                          <a:effectLst/>
                        </a:rPr>
                        <a:t>10</a:t>
                      </a:r>
                      <a:endParaRPr lang="en-GB" sz="1000" b="1"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dirty="0">
                          <a:effectLst/>
                        </a:rPr>
                        <a:t>4.4</a:t>
                      </a:r>
                      <a:endParaRPr lang="en-GB" sz="1000" b="1"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dirty="0">
                          <a:effectLst/>
                        </a:rPr>
                        <a:t>21.4</a:t>
                      </a:r>
                      <a:endParaRPr lang="en-GB" sz="1000" b="1"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dirty="0">
                          <a:effectLst/>
                        </a:rPr>
                        <a:t>3</a:t>
                      </a:r>
                      <a:endParaRPr lang="en-GB" sz="1000" b="1"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dirty="0">
                          <a:effectLst/>
                        </a:rPr>
                        <a:t>5</a:t>
                      </a:r>
                      <a:endParaRPr lang="en-GB" sz="1000" b="1"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extLst>
                  <a:ext uri="{0D108BD9-81ED-4DB2-BD59-A6C34878D82A}">
                    <a16:rowId xmlns:a16="http://schemas.microsoft.com/office/drawing/2014/main" val="640822220"/>
                  </a:ext>
                </a:extLst>
              </a:tr>
              <a:tr h="309730">
                <a:tc>
                  <a:txBody>
                    <a:bodyPr/>
                    <a:lstStyle/>
                    <a:p>
                      <a:pPr algn="ctr" fontAlgn="ctr"/>
                      <a:r>
                        <a:rPr lang="en-GB" sz="1000" b="1" u="none" strike="noStrike" noProof="0" dirty="0">
                          <a:solidFill>
                            <a:schemeClr val="bg1"/>
                          </a:solidFill>
                          <a:effectLst/>
                        </a:rPr>
                        <a:t>#</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KPI - Concrete Transport</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a:solidFill>
                            <a:schemeClr val="bg1"/>
                          </a:solidFill>
                          <a:effectLst/>
                        </a:rPr>
                        <a:t>Unit</a:t>
                      </a:r>
                      <a:endParaRPr lang="en-GB" sz="1000" b="1" i="0" u="none" strike="noStrike" noProof="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World - Average</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Europe - Average</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North America - Average</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South America - Average</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Asia, Oceania, Africa - Average</a:t>
                      </a:r>
                      <a:endParaRPr lang="en-GB" sz="1000" b="1" i="0" u="none" strike="noStrike" noProof="0" dirty="0">
                        <a:solidFill>
                          <a:schemeClr val="bg1"/>
                        </a:solidFill>
                        <a:effectLst/>
                        <a:latin typeface="Calibri" panose="020F0502020204030204" pitchFamily="34" charset="0"/>
                      </a:endParaRPr>
                    </a:p>
                  </a:txBody>
                  <a:tcPr marL="3852" marR="3852" marT="3852" marB="0" anchor="ctr">
                    <a:solidFill>
                      <a:schemeClr val="accent1"/>
                    </a:solidFill>
                  </a:tcPr>
                </a:tc>
                <a:extLst>
                  <a:ext uri="{0D108BD9-81ED-4DB2-BD59-A6C34878D82A}">
                    <a16:rowId xmlns:a16="http://schemas.microsoft.com/office/drawing/2014/main" val="2397415984"/>
                  </a:ext>
                </a:extLst>
              </a:tr>
              <a:tr h="156797">
                <a:tc>
                  <a:txBody>
                    <a:bodyPr/>
                    <a:lstStyle/>
                    <a:p>
                      <a:pPr algn="ctr" fontAlgn="ctr"/>
                      <a:r>
                        <a:rPr lang="en-GB" sz="1000" u="none" strike="noStrike" noProof="0" dirty="0">
                          <a:effectLst/>
                        </a:rPr>
                        <a:t>1</a:t>
                      </a:r>
                      <a:endParaRPr lang="en-GB" sz="1000" b="0" i="0" u="none" strike="noStrike" noProof="0" dirty="0">
                        <a:solidFill>
                          <a:srgbClr val="000000"/>
                        </a:solidFill>
                        <a:effectLst/>
                        <a:latin typeface="Calibri" panose="020F0502020204030204" pitchFamily="34" charset="0"/>
                      </a:endParaRPr>
                    </a:p>
                  </a:txBody>
                  <a:tcPr marL="3852" marR="3852" marT="3852" marB="0" anchor="ctr"/>
                </a:tc>
                <a:tc>
                  <a:txBody>
                    <a:bodyPr/>
                    <a:lstStyle/>
                    <a:p>
                      <a:pPr algn="l" fontAlgn="ctr"/>
                      <a:r>
                        <a:rPr lang="en-GB" sz="1000" u="none" strike="noStrike" noProof="0" dirty="0">
                          <a:effectLst/>
                        </a:rPr>
                        <a:t>Type of fuel </a:t>
                      </a:r>
                      <a:endParaRPr lang="en-GB" sz="1000" b="0" i="0" u="none" strike="noStrike" noProof="0" dirty="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rPr>
                        <a:t> </a:t>
                      </a:r>
                      <a:endParaRPr lang="en-GB" sz="1000" b="0" i="0" u="none" strike="noStrike" noProof="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rPr>
                        <a:t>Diesel</a:t>
                      </a:r>
                      <a:endParaRPr lang="en-GB" sz="1000" b="1" i="0" u="none" strike="noStrike" noProof="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rPr>
                        <a:t>Diesel</a:t>
                      </a:r>
                      <a:endParaRPr lang="en-GB" sz="1000" b="1" i="0" u="none" strike="noStrike" noProof="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rPr>
                        <a:t>Diesel</a:t>
                      </a:r>
                      <a:endParaRPr lang="en-GB" sz="1000" b="1" i="0" u="none" strike="noStrike" noProof="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rPr>
                        <a:t>Diesel</a:t>
                      </a:r>
                      <a:endParaRPr lang="en-GB" sz="1000" b="1" i="0" u="none" strike="noStrike" noProof="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rPr>
                        <a:t>Diesel</a:t>
                      </a:r>
                      <a:endParaRPr lang="en-GB" sz="1000" b="1" i="0" u="none" strike="noStrike" noProof="0">
                        <a:solidFill>
                          <a:srgbClr val="000000"/>
                        </a:solidFill>
                        <a:effectLst/>
                        <a:latin typeface="Calibri" panose="020F0502020204030204" pitchFamily="34" charset="0"/>
                      </a:endParaRPr>
                    </a:p>
                  </a:txBody>
                  <a:tcPr marL="3852" marR="3852" marT="3852" marB="0" anchor="ctr"/>
                </a:tc>
                <a:extLst>
                  <a:ext uri="{0D108BD9-81ED-4DB2-BD59-A6C34878D82A}">
                    <a16:rowId xmlns:a16="http://schemas.microsoft.com/office/drawing/2014/main" val="2233550347"/>
                  </a:ext>
                </a:extLst>
              </a:tr>
              <a:tr h="156797">
                <a:tc>
                  <a:txBody>
                    <a:bodyPr/>
                    <a:lstStyle/>
                    <a:p>
                      <a:pPr algn="ctr" fontAlgn="ctr"/>
                      <a:r>
                        <a:rPr lang="en-GB" sz="1000" u="none" strike="noStrike" noProof="0">
                          <a:effectLst/>
                        </a:rPr>
                        <a:t>2</a:t>
                      </a:r>
                      <a:endParaRPr lang="en-GB" sz="1000" b="0"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l" fontAlgn="ctr"/>
                      <a:r>
                        <a:rPr lang="en-GB" sz="1000" u="none" strike="noStrike" noProof="0">
                          <a:effectLst/>
                        </a:rPr>
                        <a:t>Average distribution distance </a:t>
                      </a:r>
                      <a:endParaRPr lang="en-GB" sz="1000" b="0"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dirty="0">
                          <a:effectLst/>
                        </a:rPr>
                        <a:t>km</a:t>
                      </a:r>
                      <a:endParaRPr lang="en-GB" sz="1000" b="0"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a:effectLst/>
                        </a:rPr>
                        <a:t>16</a:t>
                      </a:r>
                      <a:endParaRPr lang="en-GB" sz="1000" b="1"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a:effectLst/>
                        </a:rPr>
                        <a:t>12</a:t>
                      </a:r>
                      <a:endParaRPr lang="en-GB" sz="1000" b="1"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a:effectLst/>
                        </a:rPr>
                        <a:t>23</a:t>
                      </a:r>
                      <a:endParaRPr lang="en-GB" sz="1000" b="1"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a:effectLst/>
                        </a:rPr>
                        <a:t>20</a:t>
                      </a:r>
                      <a:endParaRPr lang="en-GB" sz="1000" b="1"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a:effectLst/>
                        </a:rPr>
                        <a:t>20</a:t>
                      </a:r>
                      <a:endParaRPr lang="en-GB" sz="1000" b="1"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extLst>
                  <a:ext uri="{0D108BD9-81ED-4DB2-BD59-A6C34878D82A}">
                    <a16:rowId xmlns:a16="http://schemas.microsoft.com/office/drawing/2014/main" val="3460076480"/>
                  </a:ext>
                </a:extLst>
              </a:tr>
              <a:tr h="309730">
                <a:tc>
                  <a:txBody>
                    <a:bodyPr/>
                    <a:lstStyle/>
                    <a:p>
                      <a:pPr algn="ctr" fontAlgn="ctr"/>
                      <a:r>
                        <a:rPr lang="en-GB" sz="1000" u="none" strike="noStrike" noProof="0">
                          <a:effectLst/>
                        </a:rPr>
                        <a:t>3</a:t>
                      </a:r>
                      <a:endParaRPr lang="en-GB" sz="1000" b="0" i="0" u="none" strike="noStrike" noProof="0">
                        <a:solidFill>
                          <a:srgbClr val="000000"/>
                        </a:solidFill>
                        <a:effectLst/>
                        <a:latin typeface="Calibri" panose="020F0502020204030204" pitchFamily="34" charset="0"/>
                      </a:endParaRPr>
                    </a:p>
                  </a:txBody>
                  <a:tcPr marL="3852" marR="3852" marT="3852" marB="0" anchor="ctr"/>
                </a:tc>
                <a:tc>
                  <a:txBody>
                    <a:bodyPr/>
                    <a:lstStyle/>
                    <a:p>
                      <a:pPr algn="l" fontAlgn="ctr"/>
                      <a:r>
                        <a:rPr lang="en-GB" sz="1000" u="none" strike="noStrike" noProof="0">
                          <a:effectLst/>
                        </a:rPr>
                        <a:t>Average concrete volume transported</a:t>
                      </a:r>
                      <a:endParaRPr lang="en-GB" sz="1000" b="0" i="0" u="none" strike="noStrike" noProof="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rPr>
                        <a:t>m</a:t>
                      </a:r>
                      <a:r>
                        <a:rPr lang="en-GB" sz="1000" u="none" strike="noStrike" baseline="30000" noProof="0">
                          <a:effectLst/>
                        </a:rPr>
                        <a:t>3</a:t>
                      </a:r>
                      <a:r>
                        <a:rPr lang="en-GB" sz="1000" u="none" strike="noStrike" noProof="0">
                          <a:effectLst/>
                        </a:rPr>
                        <a:t> / delivery</a:t>
                      </a:r>
                      <a:endParaRPr lang="en-GB" sz="1000" b="0" i="0" u="none" strike="noStrike" noProof="0">
                        <a:solidFill>
                          <a:srgbClr val="000000"/>
                        </a:solidFill>
                        <a:effectLst/>
                        <a:latin typeface="Calibri" panose="020F0502020204030204" pitchFamily="34" charset="0"/>
                      </a:endParaRPr>
                    </a:p>
                  </a:txBody>
                  <a:tcPr marL="3852" marR="3852" marT="3852" marB="0" anchor="ctr"/>
                </a:tc>
                <a:tc>
                  <a:txBody>
                    <a:bodyPr/>
                    <a:lstStyle/>
                    <a:p>
                      <a:pPr marL="0" algn="ctr" defTabSz="914400" rtl="0" eaLnBrk="1" fontAlgn="ctr" latinLnBrk="0" hangingPunct="1"/>
                      <a:r>
                        <a:rPr lang="en-GB" sz="1000" u="none" strike="noStrike" kern="1200" noProof="0" dirty="0">
                          <a:solidFill>
                            <a:schemeClr val="dk1"/>
                          </a:solidFill>
                          <a:effectLst/>
                          <a:latin typeface="+mn-lt"/>
                          <a:ea typeface="+mn-ea"/>
                          <a:cs typeface="+mn-cs"/>
                        </a:rPr>
                        <a:t>6.6</a:t>
                      </a:r>
                    </a:p>
                  </a:txBody>
                  <a:tcPr marL="3852" marR="3852" marT="3852" marB="0" anchor="ctr"/>
                </a:tc>
                <a:tc>
                  <a:txBody>
                    <a:bodyPr/>
                    <a:lstStyle/>
                    <a:p>
                      <a:pPr algn="ctr" fontAlgn="ctr"/>
                      <a:r>
                        <a:rPr lang="en-GB" sz="1000" u="none" strike="noStrike" noProof="0" dirty="0">
                          <a:effectLst/>
                        </a:rPr>
                        <a:t>7</a:t>
                      </a:r>
                      <a:endParaRPr lang="en-GB" sz="1000" b="1" i="0" u="none" strike="noStrike" noProof="0" dirty="0">
                        <a:solidFill>
                          <a:srgbClr val="000000"/>
                        </a:solidFill>
                        <a:effectLst/>
                        <a:latin typeface="Calibri" panose="020F0502020204030204" pitchFamily="34" charset="0"/>
                      </a:endParaRPr>
                    </a:p>
                  </a:txBody>
                  <a:tcPr marL="3852" marR="3852" marT="3852" marB="0" anchor="ctr"/>
                </a:tc>
                <a:tc>
                  <a:txBody>
                    <a:bodyPr/>
                    <a:lstStyle/>
                    <a:p>
                      <a:pPr marL="0" algn="ctr" defTabSz="914400" rtl="0" eaLnBrk="1" fontAlgn="ctr" latinLnBrk="0" hangingPunct="1"/>
                      <a:r>
                        <a:rPr lang="en-GB" sz="1000" u="none" strike="noStrike" kern="1200" noProof="0" dirty="0">
                          <a:solidFill>
                            <a:schemeClr val="dk1"/>
                          </a:solidFill>
                          <a:effectLst/>
                          <a:latin typeface="+mn-lt"/>
                          <a:ea typeface="+mn-ea"/>
                          <a:cs typeface="+mn-cs"/>
                        </a:rPr>
                        <a:t>6.4</a:t>
                      </a:r>
                    </a:p>
                  </a:txBody>
                  <a:tcPr marL="3852" marR="3852" marT="3852" marB="0" anchor="ctr"/>
                </a:tc>
                <a:tc>
                  <a:txBody>
                    <a:bodyPr/>
                    <a:lstStyle/>
                    <a:p>
                      <a:pPr algn="ctr" fontAlgn="ctr"/>
                      <a:r>
                        <a:rPr lang="en-GB" sz="1000" u="none" strike="noStrike" noProof="0">
                          <a:effectLst/>
                        </a:rPr>
                        <a:t>7</a:t>
                      </a:r>
                      <a:endParaRPr lang="en-GB" sz="1000" b="1" i="0" u="none" strike="noStrike" noProof="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rPr>
                        <a:t>6</a:t>
                      </a:r>
                      <a:endParaRPr lang="en-GB" sz="1000" b="1" i="0" u="none" strike="noStrike" noProof="0">
                        <a:solidFill>
                          <a:srgbClr val="000000"/>
                        </a:solidFill>
                        <a:effectLst/>
                        <a:latin typeface="Calibri" panose="020F0502020204030204" pitchFamily="34" charset="0"/>
                      </a:endParaRPr>
                    </a:p>
                  </a:txBody>
                  <a:tcPr marL="3852" marR="3852" marT="3852" marB="0" anchor="ctr"/>
                </a:tc>
                <a:extLst>
                  <a:ext uri="{0D108BD9-81ED-4DB2-BD59-A6C34878D82A}">
                    <a16:rowId xmlns:a16="http://schemas.microsoft.com/office/drawing/2014/main" val="1184012163"/>
                  </a:ext>
                </a:extLst>
              </a:tr>
              <a:tr h="298894">
                <a:tc>
                  <a:txBody>
                    <a:bodyPr/>
                    <a:lstStyle/>
                    <a:p>
                      <a:pPr algn="ctr" fontAlgn="ctr"/>
                      <a:r>
                        <a:rPr lang="en-GB" sz="1000" u="none" strike="noStrike" noProof="0" dirty="0">
                          <a:effectLst/>
                        </a:rPr>
                        <a:t>4</a:t>
                      </a:r>
                      <a:endParaRPr lang="en-GB" sz="1000" b="0"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l" fontAlgn="ctr"/>
                      <a:r>
                        <a:rPr lang="en-GB" sz="1000" u="none" strike="noStrike" noProof="0">
                          <a:effectLst/>
                        </a:rPr>
                        <a:t>Average fuel consumption </a:t>
                      </a:r>
                      <a:endParaRPr lang="en-GB" sz="1000" b="0"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a:effectLst/>
                        </a:rPr>
                        <a:t>km/l or 1000 m</a:t>
                      </a:r>
                      <a:r>
                        <a:rPr lang="en-GB" sz="1000" u="none" strike="noStrike" baseline="30000" noProof="0">
                          <a:effectLst/>
                        </a:rPr>
                        <a:t>3</a:t>
                      </a:r>
                      <a:endParaRPr lang="en-GB" sz="1000" b="0" i="0" u="none" strike="noStrike" baseline="30000"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dirty="0">
                          <a:effectLst/>
                        </a:rPr>
                        <a:t>1.15</a:t>
                      </a:r>
                      <a:endParaRPr lang="en-GB" sz="1000" b="1"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a:effectLst/>
                        </a:rPr>
                        <a:t>1.4</a:t>
                      </a:r>
                      <a:endParaRPr lang="en-GB" sz="1000" b="1"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marL="0" algn="ctr" defTabSz="914400" rtl="0" eaLnBrk="1" fontAlgn="ctr" latinLnBrk="0" hangingPunct="1"/>
                      <a:r>
                        <a:rPr lang="en-GB" sz="1000" u="none" strike="noStrike" kern="1200" noProof="0">
                          <a:solidFill>
                            <a:schemeClr val="dk1"/>
                          </a:solidFill>
                          <a:effectLst/>
                          <a:latin typeface="+mn-lt"/>
                          <a:ea typeface="+mn-ea"/>
                          <a:cs typeface="+mn-cs"/>
                        </a:rPr>
                        <a:t>0.8</a:t>
                      </a:r>
                    </a:p>
                  </a:txBody>
                  <a:tcPr marL="3852" marR="3852" marT="3852" marB="0" anchor="ctr">
                    <a:solidFill>
                      <a:srgbClr val="EED0CB"/>
                    </a:solidFill>
                  </a:tcPr>
                </a:tc>
                <a:tc>
                  <a:txBody>
                    <a:bodyPr/>
                    <a:lstStyle/>
                    <a:p>
                      <a:pPr algn="ctr" fontAlgn="ctr"/>
                      <a:r>
                        <a:rPr lang="en-GB" sz="1000" u="none" strike="noStrike" noProof="0">
                          <a:effectLst/>
                        </a:rPr>
                        <a:t>1</a:t>
                      </a:r>
                      <a:endParaRPr lang="en-GB" sz="1000" b="1"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a:effectLst/>
                        </a:rPr>
                        <a:t>2</a:t>
                      </a:r>
                      <a:endParaRPr lang="en-GB" sz="1000" b="1"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extLst>
                  <a:ext uri="{0D108BD9-81ED-4DB2-BD59-A6C34878D82A}">
                    <a16:rowId xmlns:a16="http://schemas.microsoft.com/office/drawing/2014/main" val="289648177"/>
                  </a:ext>
                </a:extLst>
              </a:tr>
              <a:tr h="156797">
                <a:tc>
                  <a:txBody>
                    <a:bodyPr/>
                    <a:lstStyle/>
                    <a:p>
                      <a:pPr algn="ctr" fontAlgn="ctr"/>
                      <a:r>
                        <a:rPr lang="en-GB" sz="1000" u="none" strike="noStrike" noProof="0">
                          <a:effectLst/>
                        </a:rPr>
                        <a:t>5</a:t>
                      </a:r>
                      <a:endParaRPr lang="en-GB" sz="1000" b="0" i="0" u="none" strike="noStrike" noProof="0">
                        <a:solidFill>
                          <a:srgbClr val="000000"/>
                        </a:solidFill>
                        <a:effectLst/>
                        <a:latin typeface="Calibri" panose="020F0502020204030204" pitchFamily="34" charset="0"/>
                      </a:endParaRPr>
                    </a:p>
                  </a:txBody>
                  <a:tcPr marL="3852" marR="3852" marT="3852" marB="0" anchor="ctr"/>
                </a:tc>
                <a:tc>
                  <a:txBody>
                    <a:bodyPr/>
                    <a:lstStyle/>
                    <a:p>
                      <a:pPr algn="l" fontAlgn="ctr"/>
                      <a:r>
                        <a:rPr lang="en-GB" sz="1000" u="none" strike="noStrike" noProof="0">
                          <a:effectLst/>
                        </a:rPr>
                        <a:t>Fuel consumption by km by m3</a:t>
                      </a:r>
                      <a:endParaRPr lang="en-GB" sz="1000" b="0" i="0" u="none" strike="noStrike" noProof="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rPr>
                        <a:t>l/km/m</a:t>
                      </a:r>
                      <a:r>
                        <a:rPr lang="en-GB" sz="1000" u="none" strike="noStrike" baseline="30000" noProof="0">
                          <a:effectLst/>
                        </a:rPr>
                        <a:t>3</a:t>
                      </a:r>
                      <a:endParaRPr lang="en-GB" sz="1000" b="0" i="0" u="none" strike="noStrike" baseline="30000" noProof="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dirty="0">
                          <a:effectLst/>
                        </a:rPr>
                        <a:t>4.8</a:t>
                      </a:r>
                      <a:endParaRPr lang="en-GB" sz="1000" b="1" i="0" u="none" strike="noStrike" noProof="0" dirty="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rPr>
                        <a:t>3.3</a:t>
                      </a:r>
                      <a:endParaRPr lang="en-GB" sz="1000" b="1" i="0" u="none" strike="noStrike" noProof="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rPr>
                        <a:t>7.5</a:t>
                      </a:r>
                      <a:endParaRPr lang="en-GB" sz="1000" b="1" i="0" u="none" strike="noStrike" noProof="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rPr>
                        <a:t>7</a:t>
                      </a:r>
                      <a:endParaRPr lang="en-GB" sz="1000" b="1" i="0" u="none" strike="noStrike" noProof="0">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rPr>
                        <a:t>3</a:t>
                      </a:r>
                      <a:endParaRPr lang="en-GB" sz="1000" b="1" i="0" u="none" strike="noStrike" noProof="0">
                        <a:solidFill>
                          <a:srgbClr val="000000"/>
                        </a:solidFill>
                        <a:effectLst/>
                        <a:latin typeface="Calibri" panose="020F0502020204030204" pitchFamily="34" charset="0"/>
                      </a:endParaRPr>
                    </a:p>
                  </a:txBody>
                  <a:tcPr marL="3852" marR="3852" marT="3852" marB="0" anchor="ctr"/>
                </a:tc>
                <a:extLst>
                  <a:ext uri="{0D108BD9-81ED-4DB2-BD59-A6C34878D82A}">
                    <a16:rowId xmlns:a16="http://schemas.microsoft.com/office/drawing/2014/main" val="2231969081"/>
                  </a:ext>
                </a:extLst>
              </a:tr>
              <a:tr h="298894">
                <a:tc>
                  <a:txBody>
                    <a:bodyPr/>
                    <a:lstStyle/>
                    <a:p>
                      <a:pPr algn="ctr" fontAlgn="ctr"/>
                      <a:r>
                        <a:rPr lang="en-GB" sz="1000" u="none" strike="noStrike" noProof="0">
                          <a:effectLst/>
                        </a:rPr>
                        <a:t>6</a:t>
                      </a:r>
                      <a:endParaRPr lang="en-GB" sz="1000" b="0"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l" fontAlgn="ctr"/>
                      <a:r>
                        <a:rPr lang="en-GB" sz="1000" u="none" strike="noStrike" noProof="0">
                          <a:effectLst/>
                        </a:rPr>
                        <a:t>CO2 from transport</a:t>
                      </a:r>
                      <a:endParaRPr lang="en-GB" sz="1000" b="0"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a:effectLst/>
                        </a:rPr>
                        <a:t>kg CO2 / m</a:t>
                      </a:r>
                      <a:r>
                        <a:rPr lang="en-GB" sz="1000" u="none" strike="noStrike" baseline="30000" noProof="0">
                          <a:effectLst/>
                        </a:rPr>
                        <a:t>3</a:t>
                      </a:r>
                      <a:endParaRPr lang="en-GB" sz="1000" b="0" i="0" u="none" strike="noStrike" baseline="30000"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dirty="0">
                          <a:effectLst/>
                        </a:rPr>
                        <a:t>11</a:t>
                      </a:r>
                      <a:endParaRPr lang="en-GB" sz="1000" b="1"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a:effectLst/>
                        </a:rPr>
                        <a:t>9</a:t>
                      </a:r>
                      <a:endParaRPr lang="en-GB" sz="1000" b="1"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a:effectLst/>
                        </a:rPr>
                        <a:t>13</a:t>
                      </a:r>
                      <a:endParaRPr lang="en-GB" sz="1000" b="1"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a:effectLst/>
                        </a:rPr>
                        <a:t>33</a:t>
                      </a:r>
                      <a:endParaRPr lang="en-GB" sz="1000" b="1" i="0" u="none" strike="noStrike" noProof="0">
                        <a:solidFill>
                          <a:srgbClr val="000000"/>
                        </a:solidFill>
                        <a:effectLst/>
                        <a:latin typeface="Calibri" panose="020F0502020204030204" pitchFamily="34" charset="0"/>
                      </a:endParaRPr>
                    </a:p>
                  </a:txBody>
                  <a:tcPr marL="3852" marR="3852" marT="3852" marB="0" anchor="ctr">
                    <a:solidFill>
                      <a:srgbClr val="EED0CB"/>
                    </a:solidFill>
                  </a:tcPr>
                </a:tc>
                <a:tc>
                  <a:txBody>
                    <a:bodyPr/>
                    <a:lstStyle/>
                    <a:p>
                      <a:pPr algn="ctr" fontAlgn="ctr"/>
                      <a:r>
                        <a:rPr lang="en-GB" sz="1000" u="none" strike="noStrike" noProof="0" dirty="0">
                          <a:effectLst/>
                        </a:rPr>
                        <a:t>8</a:t>
                      </a:r>
                      <a:endParaRPr lang="en-GB" sz="1000" b="1" i="0" u="none" strike="noStrike" noProof="0" dirty="0">
                        <a:solidFill>
                          <a:srgbClr val="000000"/>
                        </a:solidFill>
                        <a:effectLst/>
                        <a:latin typeface="Calibri" panose="020F0502020204030204" pitchFamily="34" charset="0"/>
                      </a:endParaRPr>
                    </a:p>
                  </a:txBody>
                  <a:tcPr marL="3852" marR="3852" marT="3852" marB="0" anchor="ctr">
                    <a:solidFill>
                      <a:srgbClr val="EED0CB"/>
                    </a:solidFill>
                  </a:tcPr>
                </a:tc>
                <a:extLst>
                  <a:ext uri="{0D108BD9-81ED-4DB2-BD59-A6C34878D82A}">
                    <a16:rowId xmlns:a16="http://schemas.microsoft.com/office/drawing/2014/main" val="270700699"/>
                  </a:ext>
                </a:extLst>
              </a:tr>
            </a:tbl>
          </a:graphicData>
        </a:graphic>
      </p:graphicFrame>
    </p:spTree>
    <p:extLst>
      <p:ext uri="{BB962C8B-B14F-4D97-AF65-F5344CB8AC3E}">
        <p14:creationId xmlns:p14="http://schemas.microsoft.com/office/powerpoint/2010/main" val="15585075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56FF19C5-AE43-4B15-95AF-C4A6A304F9C1}"/>
              </a:ext>
            </a:extLst>
          </p:cNvPr>
          <p:cNvGraphicFramePr>
            <a:graphicFrameLocks noChangeAspect="1"/>
          </p:cNvGraphicFramePr>
          <p:nvPr>
            <p:custDataLst>
              <p:tags r:id="rId1"/>
            </p:custDataLst>
            <p:extLst>
              <p:ext uri="{D42A27DB-BD31-4B8C-83A1-F6EECF244321}">
                <p14:modId xmlns:p14="http://schemas.microsoft.com/office/powerpoint/2010/main" val="15853403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5" imgW="592" imgH="595" progId="TCLayout.ActiveDocument.1">
                  <p:embed/>
                </p:oleObj>
              </mc:Choice>
              <mc:Fallback>
                <p:oleObj name="Diapositive think-cell" r:id="rId5" imgW="592" imgH="595" progId="TCLayout.ActiveDocument.1">
                  <p:embed/>
                  <p:pic>
                    <p:nvPicPr>
                      <p:cNvPr id="7" name="Objet 6" hidden="1">
                        <a:extLst>
                          <a:ext uri="{FF2B5EF4-FFF2-40B4-BE49-F238E27FC236}">
                            <a16:creationId xmlns:a16="http://schemas.microsoft.com/office/drawing/2014/main" id="{56FF19C5-AE43-4B15-95AF-C4A6A304F9C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E800EA18-43B5-47FF-83A4-5702E010371E}"/>
              </a:ext>
            </a:extLst>
          </p:cNvPr>
          <p:cNvSpPr/>
          <p:nvPr>
            <p:custDataLst>
              <p:tags r:id="rId2"/>
            </p:custDataLst>
          </p:nvPr>
        </p:nvSpPr>
        <p:spPr>
          <a:xfrm>
            <a:off x="0" y="0"/>
            <a:ext cx="158750" cy="158750"/>
          </a:xfrm>
          <a:prstGeom prst="rect">
            <a:avLst/>
          </a:prstGeom>
          <a:ln>
            <a:noFill/>
          </a:ln>
        </p:spPr>
        <p:style>
          <a:lnRef idx="0">
            <a:schemeClr val="accent1"/>
          </a:lnRef>
          <a:fillRef idx="1">
            <a:schemeClr val="accent1"/>
          </a:fillRef>
          <a:effectRef idx="0">
            <a:schemeClr val="dk1"/>
          </a:effectRef>
          <a:fontRef idx="minor">
            <a:schemeClr val="lt1"/>
          </a:fontRef>
        </p:style>
        <p:txBody>
          <a:bodyPr vert="horz" wrap="none" lIns="0" tIns="0" rIns="0" bIns="0" numCol="1" spcCol="0" rtlCol="0" anchor="ctr" anchorCtr="0">
            <a:noAutofit/>
          </a:bodyPr>
          <a:lstStyle/>
          <a:p>
            <a:pPr algn="ctr"/>
            <a:endParaRPr lang="en-GB" sz="3200" dirty="0">
              <a:latin typeface="Georgia" panose="02040502050405020303" pitchFamily="18" charset="0"/>
              <a:ea typeface="+mj-ea"/>
              <a:cs typeface="+mj-cs"/>
              <a:sym typeface="Georgia" panose="02040502050405020303" pitchFamily="18" charset="0"/>
            </a:endParaRPr>
          </a:p>
        </p:txBody>
      </p:sp>
      <p:sp>
        <p:nvSpPr>
          <p:cNvPr id="2" name="Titre 1">
            <a:extLst>
              <a:ext uri="{FF2B5EF4-FFF2-40B4-BE49-F238E27FC236}">
                <a16:creationId xmlns:a16="http://schemas.microsoft.com/office/drawing/2014/main" id="{1E9A6677-DFE1-4A41-A4F4-E673CFF8A74E}"/>
              </a:ext>
            </a:extLst>
          </p:cNvPr>
          <p:cNvSpPr>
            <a:spLocks noGrp="1"/>
          </p:cNvSpPr>
          <p:nvPr>
            <p:ph type="title"/>
          </p:nvPr>
        </p:nvSpPr>
        <p:spPr/>
        <p:txBody>
          <a:bodyPr/>
          <a:lstStyle/>
          <a:p>
            <a:r>
              <a:rPr lang="en-GB" dirty="0"/>
              <a:t>Synthesis table : Results by regions (2/2)</a:t>
            </a:r>
            <a:br>
              <a:rPr lang="en-GB" dirty="0"/>
            </a:br>
            <a:endParaRPr lang="en-GB" sz="2200" dirty="0"/>
          </a:p>
        </p:txBody>
      </p:sp>
      <p:sp>
        <p:nvSpPr>
          <p:cNvPr id="4" name="Espace réservé du pied de page 3">
            <a:extLst>
              <a:ext uri="{FF2B5EF4-FFF2-40B4-BE49-F238E27FC236}">
                <a16:creationId xmlns:a16="http://schemas.microsoft.com/office/drawing/2014/main" id="{B90E843F-01B6-40C2-A11E-1CC6DE47E42B}"/>
              </a:ext>
            </a:extLst>
          </p:cNvPr>
          <p:cNvSpPr>
            <a:spLocks noGrp="1"/>
          </p:cNvSpPr>
          <p:nvPr>
            <p:ph type="ftr" sz="quarter" idx="13"/>
          </p:nvPr>
        </p:nvSpPr>
        <p:spPr/>
        <p:txBody>
          <a:bodyPr/>
          <a:lstStyle/>
          <a:p>
            <a:pPr algn="l"/>
            <a:r>
              <a:rPr lang="en-US" dirty="0"/>
              <a:t>GCCA GNR Concrete Pilot Project</a:t>
            </a:r>
            <a:endParaRPr lang="fr-FR" dirty="0"/>
          </a:p>
        </p:txBody>
      </p:sp>
      <p:sp>
        <p:nvSpPr>
          <p:cNvPr id="5" name="Espace réservé de la date 4">
            <a:extLst>
              <a:ext uri="{FF2B5EF4-FFF2-40B4-BE49-F238E27FC236}">
                <a16:creationId xmlns:a16="http://schemas.microsoft.com/office/drawing/2014/main" id="{926BD09C-5784-4FBC-81F1-5C104CE80CAF}"/>
              </a:ext>
            </a:extLst>
          </p:cNvPr>
          <p:cNvSpPr>
            <a:spLocks noGrp="1"/>
          </p:cNvSpPr>
          <p:nvPr>
            <p:ph type="dt" sz="half" idx="12"/>
          </p:nvPr>
        </p:nvSpPr>
        <p:spPr/>
        <p:txBody>
          <a:bodyPr/>
          <a:lstStyle/>
          <a:p>
            <a:r>
              <a:rPr lang="fr-FR"/>
              <a:t>July 2020</a:t>
            </a:r>
            <a:endParaRPr lang="fr-FR" dirty="0"/>
          </a:p>
        </p:txBody>
      </p:sp>
      <p:sp>
        <p:nvSpPr>
          <p:cNvPr id="6" name="Espace réservé du numéro de diapositive 5">
            <a:extLst>
              <a:ext uri="{FF2B5EF4-FFF2-40B4-BE49-F238E27FC236}">
                <a16:creationId xmlns:a16="http://schemas.microsoft.com/office/drawing/2014/main" id="{ED4845B2-FE7A-42EB-B37D-741902D7C52F}"/>
              </a:ext>
            </a:extLst>
          </p:cNvPr>
          <p:cNvSpPr>
            <a:spLocks noGrp="1"/>
          </p:cNvSpPr>
          <p:nvPr>
            <p:ph type="sldNum" sz="quarter" idx="11"/>
          </p:nvPr>
        </p:nvSpPr>
        <p:spPr/>
        <p:txBody>
          <a:bodyPr/>
          <a:lstStyle/>
          <a:p>
            <a:fld id="{7870704B-CE94-48CC-AF30-84932A1262A7}" type="slidenum">
              <a:rPr lang="fr-FR" smtClean="0"/>
              <a:pPr/>
              <a:t>37</a:t>
            </a:fld>
            <a:endParaRPr lang="fr-FR" dirty="0"/>
          </a:p>
        </p:txBody>
      </p:sp>
      <p:graphicFrame>
        <p:nvGraphicFramePr>
          <p:cNvPr id="13" name="Tableau 12">
            <a:extLst>
              <a:ext uri="{FF2B5EF4-FFF2-40B4-BE49-F238E27FC236}">
                <a16:creationId xmlns:a16="http://schemas.microsoft.com/office/drawing/2014/main" id="{D7D601E4-1E31-41A2-9BA6-E664BC7DD7AC}"/>
              </a:ext>
            </a:extLst>
          </p:cNvPr>
          <p:cNvGraphicFramePr>
            <a:graphicFrameLocks noGrp="1"/>
          </p:cNvGraphicFramePr>
          <p:nvPr>
            <p:extLst>
              <p:ext uri="{D42A27DB-BD31-4B8C-83A1-F6EECF244321}">
                <p14:modId xmlns:p14="http://schemas.microsoft.com/office/powerpoint/2010/main" val="3776057092"/>
              </p:ext>
            </p:extLst>
          </p:nvPr>
        </p:nvGraphicFramePr>
        <p:xfrm>
          <a:off x="442913" y="858202"/>
          <a:ext cx="11306174" cy="5508000"/>
        </p:xfrm>
        <a:graphic>
          <a:graphicData uri="http://schemas.openxmlformats.org/drawingml/2006/table">
            <a:tbl>
              <a:tblPr>
                <a:tableStyleId>{5C22544A-7EE6-4342-B048-85BDC9FD1C3A}</a:tableStyleId>
              </a:tblPr>
              <a:tblGrid>
                <a:gridCol w="387198">
                  <a:extLst>
                    <a:ext uri="{9D8B030D-6E8A-4147-A177-3AD203B41FA5}">
                      <a16:colId xmlns:a16="http://schemas.microsoft.com/office/drawing/2014/main" val="1043717336"/>
                    </a:ext>
                  </a:extLst>
                </a:gridCol>
                <a:gridCol w="1903945">
                  <a:extLst>
                    <a:ext uri="{9D8B030D-6E8A-4147-A177-3AD203B41FA5}">
                      <a16:colId xmlns:a16="http://schemas.microsoft.com/office/drawing/2014/main" val="4150490848"/>
                    </a:ext>
                  </a:extLst>
                </a:gridCol>
                <a:gridCol w="109728">
                  <a:extLst>
                    <a:ext uri="{9D8B030D-6E8A-4147-A177-3AD203B41FA5}">
                      <a16:colId xmlns:a16="http://schemas.microsoft.com/office/drawing/2014/main" val="2550158016"/>
                    </a:ext>
                  </a:extLst>
                </a:gridCol>
                <a:gridCol w="841248">
                  <a:extLst>
                    <a:ext uri="{9D8B030D-6E8A-4147-A177-3AD203B41FA5}">
                      <a16:colId xmlns:a16="http://schemas.microsoft.com/office/drawing/2014/main" val="3338901189"/>
                    </a:ext>
                  </a:extLst>
                </a:gridCol>
                <a:gridCol w="1499616">
                  <a:extLst>
                    <a:ext uri="{9D8B030D-6E8A-4147-A177-3AD203B41FA5}">
                      <a16:colId xmlns:a16="http://schemas.microsoft.com/office/drawing/2014/main" val="85655322"/>
                    </a:ext>
                  </a:extLst>
                </a:gridCol>
                <a:gridCol w="1581912">
                  <a:extLst>
                    <a:ext uri="{9D8B030D-6E8A-4147-A177-3AD203B41FA5}">
                      <a16:colId xmlns:a16="http://schemas.microsoft.com/office/drawing/2014/main" val="667077595"/>
                    </a:ext>
                  </a:extLst>
                </a:gridCol>
                <a:gridCol w="1856232">
                  <a:extLst>
                    <a:ext uri="{9D8B030D-6E8A-4147-A177-3AD203B41FA5}">
                      <a16:colId xmlns:a16="http://schemas.microsoft.com/office/drawing/2014/main" val="1283630568"/>
                    </a:ext>
                  </a:extLst>
                </a:gridCol>
                <a:gridCol w="1784010">
                  <a:extLst>
                    <a:ext uri="{9D8B030D-6E8A-4147-A177-3AD203B41FA5}">
                      <a16:colId xmlns:a16="http://schemas.microsoft.com/office/drawing/2014/main" val="4144829747"/>
                    </a:ext>
                  </a:extLst>
                </a:gridCol>
                <a:gridCol w="1342285">
                  <a:extLst>
                    <a:ext uri="{9D8B030D-6E8A-4147-A177-3AD203B41FA5}">
                      <a16:colId xmlns:a16="http://schemas.microsoft.com/office/drawing/2014/main" val="3725648364"/>
                    </a:ext>
                  </a:extLst>
                </a:gridCol>
              </a:tblGrid>
              <a:tr h="211829">
                <a:tc gridSpan="2">
                  <a:txBody>
                    <a:bodyPr/>
                    <a:lstStyle/>
                    <a:p>
                      <a:pPr marL="0" algn="ctr" defTabSz="914400" rtl="0" eaLnBrk="1" fontAlgn="ctr" latinLnBrk="0" hangingPunct="1"/>
                      <a:r>
                        <a:rPr lang="en-GB" sz="1000" b="1" u="none" strike="noStrike" kern="1200" noProof="0">
                          <a:solidFill>
                            <a:schemeClr val="bg1"/>
                          </a:solidFill>
                          <a:effectLst/>
                          <a:latin typeface="Arial" panose="020B0604020202020204" pitchFamily="34" charset="0"/>
                          <a:ea typeface="+mn-ea"/>
                          <a:cs typeface="Arial" panose="020B0604020202020204" pitchFamily="34" charset="0"/>
                        </a:rPr>
                        <a:t>KPIs at Country level </a:t>
                      </a:r>
                    </a:p>
                  </a:txBody>
                  <a:tcPr marL="3852" marR="3852" marT="3852" marB="0" anchor="ctr">
                    <a:solidFill>
                      <a:schemeClr val="accent1">
                        <a:lumMod val="50000"/>
                      </a:schemeClr>
                    </a:solidFill>
                  </a:tcPr>
                </a:tc>
                <a:tc hMerge="1">
                  <a:txBody>
                    <a:bodyPr/>
                    <a:lstStyle/>
                    <a:p>
                      <a:endParaRPr lang="fr-FR"/>
                    </a:p>
                  </a:txBody>
                  <a:tcPr/>
                </a:tc>
                <a:tc gridSpan="2">
                  <a:txBody>
                    <a:bodyPr/>
                    <a:lstStyle/>
                    <a:p>
                      <a:pPr algn="l"/>
                      <a:r>
                        <a:rPr lang="en-GB" sz="1000" u="none" strike="noStrike" noProof="0">
                          <a:effectLst/>
                          <a:latin typeface="Arial" panose="020B0604020202020204" pitchFamily="34" charset="0"/>
                          <a:cs typeface="Arial" panose="020B0604020202020204" pitchFamily="34" charset="0"/>
                        </a:rPr>
                        <a:t> </a:t>
                      </a:r>
                      <a:endParaRPr lang="en-GB" sz="1000" noProof="0">
                        <a:latin typeface="Arial" panose="020B0604020202020204" pitchFamily="34" charset="0"/>
                        <a:cs typeface="Arial" panose="020B0604020202020204" pitchFamily="34" charset="0"/>
                      </a:endParaRPr>
                    </a:p>
                  </a:txBody>
                  <a:tcPr marL="3852" marR="3852" marT="3852" marB="0" anchor="ctr">
                    <a:solidFill>
                      <a:schemeClr val="accent1">
                        <a:lumMod val="50000"/>
                      </a:schemeClr>
                    </a:solidFill>
                  </a:tcPr>
                </a:tc>
                <a:tc hMerge="1">
                  <a:txBody>
                    <a:bodyPr/>
                    <a:lstStyle/>
                    <a:p>
                      <a:pPr algn="l" fontAlgn="ctr"/>
                      <a:endParaRPr lang="fr-FR" sz="400" b="1" i="0" u="none" strike="noStrike">
                        <a:solidFill>
                          <a:srgbClr val="FFFFFF"/>
                        </a:solidFill>
                        <a:effectLst/>
                        <a:latin typeface="Calibri" panose="020F0502020204030204" pitchFamily="34" charset="0"/>
                      </a:endParaRPr>
                    </a:p>
                  </a:txBody>
                  <a:tcPr marL="3852" marR="3852" marT="3852" marB="0" anchor="ctr"/>
                </a:tc>
                <a:tc>
                  <a:txBody>
                    <a:bodyPr/>
                    <a:lstStyle/>
                    <a:p>
                      <a:pPr algn="l" fontAlgn="ctr"/>
                      <a:r>
                        <a:rPr lang="en-GB" sz="1000" u="none" strike="noStrike" noProof="0">
                          <a:effectLst/>
                          <a:latin typeface="Arial" panose="020B0604020202020204" pitchFamily="34" charset="0"/>
                          <a:cs typeface="Arial" panose="020B0604020202020204" pitchFamily="34" charset="0"/>
                        </a:rPr>
                        <a:t> </a:t>
                      </a:r>
                      <a:endParaRPr lang="en-GB" sz="1000" b="1" i="0" u="none" strike="noStrike" noProof="0">
                        <a:solidFill>
                          <a:srgbClr val="FFFFFF"/>
                        </a:solidFill>
                        <a:effectLst/>
                        <a:latin typeface="Arial" panose="020B0604020202020204" pitchFamily="34" charset="0"/>
                        <a:cs typeface="Arial" panose="020B0604020202020204" pitchFamily="34" charset="0"/>
                      </a:endParaRPr>
                    </a:p>
                  </a:txBody>
                  <a:tcPr marL="3852" marR="3852" marT="3852" marB="0" anchor="ctr">
                    <a:solidFill>
                      <a:schemeClr val="accent1">
                        <a:lumMod val="50000"/>
                      </a:schemeClr>
                    </a:solidFill>
                  </a:tcPr>
                </a:tc>
                <a:tc>
                  <a:txBody>
                    <a:bodyPr/>
                    <a:lstStyle/>
                    <a:p>
                      <a:pPr algn="l" fontAlgn="ctr"/>
                      <a:r>
                        <a:rPr lang="en-GB" sz="1000" u="none" strike="noStrike" noProof="0">
                          <a:effectLst/>
                          <a:latin typeface="Arial" panose="020B0604020202020204" pitchFamily="34" charset="0"/>
                          <a:cs typeface="Arial" panose="020B0604020202020204" pitchFamily="34" charset="0"/>
                        </a:rPr>
                        <a:t> </a:t>
                      </a:r>
                      <a:endParaRPr lang="en-GB" sz="1000" b="1" i="0" u="none" strike="noStrike" noProof="0">
                        <a:solidFill>
                          <a:srgbClr val="FFFFFF"/>
                        </a:solidFill>
                        <a:effectLst/>
                        <a:latin typeface="Arial" panose="020B0604020202020204" pitchFamily="34" charset="0"/>
                        <a:cs typeface="Arial" panose="020B0604020202020204" pitchFamily="34" charset="0"/>
                      </a:endParaRPr>
                    </a:p>
                  </a:txBody>
                  <a:tcPr marL="3852" marR="3852" marT="3852" marB="0" anchor="ctr">
                    <a:solidFill>
                      <a:schemeClr val="accent1">
                        <a:lumMod val="50000"/>
                      </a:schemeClr>
                    </a:solidFill>
                  </a:tcPr>
                </a:tc>
                <a:tc>
                  <a:txBody>
                    <a:bodyPr/>
                    <a:lstStyle/>
                    <a:p>
                      <a:pPr algn="l" fontAlgn="ctr"/>
                      <a:r>
                        <a:rPr lang="en-GB" sz="1000" u="none" strike="noStrike" noProof="0">
                          <a:effectLst/>
                          <a:latin typeface="Arial" panose="020B0604020202020204" pitchFamily="34" charset="0"/>
                          <a:cs typeface="Arial" panose="020B0604020202020204" pitchFamily="34" charset="0"/>
                        </a:rPr>
                        <a:t> </a:t>
                      </a:r>
                      <a:endParaRPr lang="en-GB" sz="1000" b="1" i="0" u="none" strike="noStrike" noProof="0">
                        <a:solidFill>
                          <a:srgbClr val="FFFFFF"/>
                        </a:solidFill>
                        <a:effectLst/>
                        <a:latin typeface="Arial" panose="020B0604020202020204" pitchFamily="34" charset="0"/>
                        <a:cs typeface="Arial" panose="020B0604020202020204" pitchFamily="34" charset="0"/>
                      </a:endParaRPr>
                    </a:p>
                  </a:txBody>
                  <a:tcPr marL="3852" marR="3852" marT="3852" marB="0" anchor="ctr">
                    <a:solidFill>
                      <a:schemeClr val="accent1">
                        <a:lumMod val="50000"/>
                      </a:schemeClr>
                    </a:solidFill>
                  </a:tcPr>
                </a:tc>
                <a:tc>
                  <a:txBody>
                    <a:bodyPr/>
                    <a:lstStyle/>
                    <a:p>
                      <a:pPr algn="l" fontAlgn="ctr"/>
                      <a:r>
                        <a:rPr lang="en-GB" sz="1000" u="none" strike="noStrike" noProof="0">
                          <a:effectLst/>
                          <a:latin typeface="Arial" panose="020B0604020202020204" pitchFamily="34" charset="0"/>
                          <a:cs typeface="Arial" panose="020B0604020202020204" pitchFamily="34" charset="0"/>
                        </a:rPr>
                        <a:t> </a:t>
                      </a:r>
                      <a:endParaRPr lang="en-GB" sz="1000" b="1" i="0" u="none" strike="noStrike" noProof="0">
                        <a:solidFill>
                          <a:srgbClr val="FFFFFF"/>
                        </a:solidFill>
                        <a:effectLst/>
                        <a:latin typeface="Arial" panose="020B0604020202020204" pitchFamily="34" charset="0"/>
                        <a:cs typeface="Arial" panose="020B0604020202020204" pitchFamily="34" charset="0"/>
                      </a:endParaRPr>
                    </a:p>
                  </a:txBody>
                  <a:tcPr marL="3852" marR="3852" marT="3852" marB="0" anchor="ctr">
                    <a:solidFill>
                      <a:schemeClr val="accent1">
                        <a:lumMod val="50000"/>
                      </a:schemeClr>
                    </a:solidFill>
                  </a:tcPr>
                </a:tc>
                <a:tc>
                  <a:txBody>
                    <a:bodyPr/>
                    <a:lstStyle/>
                    <a:p>
                      <a:pPr algn="l" fontAlgn="ctr"/>
                      <a:r>
                        <a:rPr lang="en-GB" sz="1000" u="none" strike="noStrike" noProof="0">
                          <a:effectLst/>
                          <a:latin typeface="Arial" panose="020B0604020202020204" pitchFamily="34" charset="0"/>
                          <a:cs typeface="Arial" panose="020B0604020202020204" pitchFamily="34" charset="0"/>
                        </a:rPr>
                        <a:t> </a:t>
                      </a:r>
                      <a:endParaRPr lang="en-GB" sz="1000" b="1" i="0" u="none" strike="noStrike" noProof="0">
                        <a:solidFill>
                          <a:srgbClr val="FFFFFF"/>
                        </a:solidFill>
                        <a:effectLst/>
                        <a:latin typeface="Arial" panose="020B0604020202020204" pitchFamily="34" charset="0"/>
                        <a:cs typeface="Arial" panose="020B0604020202020204" pitchFamily="34" charset="0"/>
                      </a:endParaRPr>
                    </a:p>
                  </a:txBody>
                  <a:tcPr marL="3852" marR="3852" marT="3852" marB="0" anchor="ctr">
                    <a:solidFill>
                      <a:schemeClr val="accent1">
                        <a:lumMod val="50000"/>
                      </a:schemeClr>
                    </a:solidFill>
                  </a:tcPr>
                </a:tc>
                <a:extLst>
                  <a:ext uri="{0D108BD9-81ED-4DB2-BD59-A6C34878D82A}">
                    <a16:rowId xmlns:a16="http://schemas.microsoft.com/office/drawing/2014/main" val="2214650420"/>
                  </a:ext>
                </a:extLst>
              </a:tr>
              <a:tr h="204535">
                <a:tc gridSpan="4">
                  <a:txBody>
                    <a:bodyPr/>
                    <a:lstStyle/>
                    <a:p>
                      <a:pPr algn="ctr" fontAlgn="ctr"/>
                      <a:r>
                        <a:rPr lang="en-GB" sz="1000" b="1" u="none" strike="noStrike" noProof="0">
                          <a:solidFill>
                            <a:schemeClr val="bg1"/>
                          </a:solidFill>
                          <a:effectLst/>
                          <a:latin typeface="Arial" panose="020B0604020202020204" pitchFamily="34" charset="0"/>
                          <a:cs typeface="Arial" panose="020B0604020202020204" pitchFamily="34" charset="0"/>
                        </a:rPr>
                        <a:t>Local environment factors (water, dust and noise)</a:t>
                      </a:r>
                      <a:endParaRPr lang="en-GB" sz="1000" b="1" i="0" u="none" strike="noStrike" noProof="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lumMod val="75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 </a:t>
                      </a:r>
                      <a:endParaRPr lang="en-GB" sz="1000" b="1" i="0" u="none" strike="noStrike" noProof="0">
                        <a:solidFill>
                          <a:srgbClr val="FFFFFF"/>
                        </a:solidFill>
                        <a:effectLst/>
                        <a:latin typeface="Arial" panose="020B0604020202020204" pitchFamily="34" charset="0"/>
                        <a:cs typeface="Arial" panose="020B0604020202020204" pitchFamily="34" charset="0"/>
                      </a:endParaRPr>
                    </a:p>
                  </a:txBody>
                  <a:tcPr marL="3852" marR="3852" marT="3852" marB="0" anchor="ctr">
                    <a:solidFill>
                      <a:schemeClr val="accent1">
                        <a:lumMod val="75000"/>
                      </a:schemeClr>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 </a:t>
                      </a:r>
                      <a:endParaRPr lang="en-GB" sz="1000" b="1" i="0" u="none" strike="noStrike" noProof="0">
                        <a:solidFill>
                          <a:srgbClr val="FFFFFF"/>
                        </a:solidFill>
                        <a:effectLst/>
                        <a:latin typeface="Arial" panose="020B0604020202020204" pitchFamily="34" charset="0"/>
                        <a:cs typeface="Arial" panose="020B0604020202020204" pitchFamily="34" charset="0"/>
                      </a:endParaRPr>
                    </a:p>
                  </a:txBody>
                  <a:tcPr marL="3852" marR="3852" marT="3852" marB="0" anchor="ctr">
                    <a:solidFill>
                      <a:schemeClr val="accent1">
                        <a:lumMod val="75000"/>
                      </a:schemeClr>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 </a:t>
                      </a:r>
                      <a:endParaRPr lang="en-GB" sz="1000" b="1" i="0" u="none" strike="noStrike" noProof="0">
                        <a:solidFill>
                          <a:srgbClr val="FFFFFF"/>
                        </a:solidFill>
                        <a:effectLst/>
                        <a:latin typeface="Arial" panose="020B0604020202020204" pitchFamily="34" charset="0"/>
                        <a:cs typeface="Arial" panose="020B0604020202020204" pitchFamily="34" charset="0"/>
                      </a:endParaRPr>
                    </a:p>
                  </a:txBody>
                  <a:tcPr marL="3852" marR="3852" marT="3852" marB="0" anchor="ctr">
                    <a:solidFill>
                      <a:schemeClr val="accent1">
                        <a:lumMod val="75000"/>
                      </a:schemeClr>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 </a:t>
                      </a:r>
                      <a:endParaRPr lang="en-GB" sz="1000" b="1" i="0" u="none" strike="noStrike" noProof="0">
                        <a:solidFill>
                          <a:srgbClr val="FFFFFF"/>
                        </a:solidFill>
                        <a:effectLst/>
                        <a:latin typeface="Arial" panose="020B0604020202020204" pitchFamily="34" charset="0"/>
                        <a:cs typeface="Arial" panose="020B0604020202020204" pitchFamily="34" charset="0"/>
                      </a:endParaRPr>
                    </a:p>
                  </a:txBody>
                  <a:tcPr marL="3852" marR="3852" marT="3852" marB="0" anchor="ctr">
                    <a:solidFill>
                      <a:schemeClr val="accent1">
                        <a:lumMod val="75000"/>
                      </a:schemeClr>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 </a:t>
                      </a:r>
                      <a:endParaRPr lang="en-GB" sz="1000" b="1" i="0" u="none" strike="noStrike" noProof="0">
                        <a:solidFill>
                          <a:srgbClr val="FFFFFF"/>
                        </a:solidFill>
                        <a:effectLst/>
                        <a:latin typeface="Arial" panose="020B0604020202020204" pitchFamily="34" charset="0"/>
                        <a:cs typeface="Arial" panose="020B0604020202020204" pitchFamily="34" charset="0"/>
                      </a:endParaRPr>
                    </a:p>
                  </a:txBody>
                  <a:tcPr marL="3852" marR="3852" marT="3852" marB="0" anchor="ctr">
                    <a:solidFill>
                      <a:schemeClr val="accent1">
                        <a:lumMod val="75000"/>
                      </a:schemeClr>
                    </a:solidFill>
                  </a:tcPr>
                </a:tc>
                <a:extLst>
                  <a:ext uri="{0D108BD9-81ED-4DB2-BD59-A6C34878D82A}">
                    <a16:rowId xmlns:a16="http://schemas.microsoft.com/office/drawing/2014/main" val="3007446967"/>
                  </a:ext>
                </a:extLst>
              </a:tr>
              <a:tr h="403482">
                <a:tc>
                  <a:txBody>
                    <a:bodyPr/>
                    <a:lstStyle/>
                    <a:p>
                      <a:pPr algn="ctr" fontAlgn="ctr"/>
                      <a:r>
                        <a:rPr lang="en-GB" sz="1000" b="1" u="none" strike="noStrike">
                          <a:solidFill>
                            <a:schemeClr val="bg1"/>
                          </a:solidFill>
                          <a:effectLst/>
                          <a:latin typeface="Arial" panose="020B0604020202020204" pitchFamily="34" charset="0"/>
                          <a:cs typeface="Arial" panose="020B0604020202020204" pitchFamily="34" charset="0"/>
                        </a:rPr>
                        <a:t>#</a:t>
                      </a:r>
                      <a:endParaRPr lang="en-GB" sz="1000" b="1" i="0" u="none" strike="noStrike"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gridSpan="2">
                  <a:txBody>
                    <a:bodyPr/>
                    <a:lstStyle/>
                    <a:p>
                      <a:pPr algn="ctr" fontAlgn="ctr"/>
                      <a:r>
                        <a:rPr lang="en-GB" sz="1000" b="1" u="none" strike="noStrike" noProof="0">
                          <a:solidFill>
                            <a:schemeClr val="bg1"/>
                          </a:solidFill>
                          <a:effectLst/>
                          <a:latin typeface="Arial" panose="020B0604020202020204" pitchFamily="34" charset="0"/>
                          <a:cs typeface="Arial" panose="020B0604020202020204" pitchFamily="34" charset="0"/>
                        </a:rPr>
                        <a:t>Water KPIs</a:t>
                      </a:r>
                      <a:endParaRPr lang="en-GB" sz="1000" b="1" i="0" u="none" strike="noStrike" noProof="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hMerge="1">
                  <a:txBody>
                    <a:bodyPr/>
                    <a:lstStyle/>
                    <a:p>
                      <a:pPr algn="ctr" fontAlgn="ctr"/>
                      <a:endParaRPr lang="fr-FR" sz="400" b="1" i="0" u="none" strike="noStrike">
                        <a:solidFill>
                          <a:srgbClr val="FFFFFF"/>
                        </a:solidFill>
                        <a:effectLst/>
                        <a:latin typeface="Calibri" panose="020F0502020204030204" pitchFamily="34" charset="0"/>
                      </a:endParaRPr>
                    </a:p>
                  </a:txBody>
                  <a:tcPr marL="3852" marR="3852" marT="3852" marB="0" anchor="ctr"/>
                </a:tc>
                <a:tc>
                  <a:txBody>
                    <a:bodyPr/>
                    <a:lstStyle/>
                    <a:p>
                      <a:pPr algn="ctr" fontAlgn="ctr"/>
                      <a:r>
                        <a:rPr lang="en-GB" sz="1000" b="1" u="none" strike="noStrike" noProof="0">
                          <a:solidFill>
                            <a:schemeClr val="bg1"/>
                          </a:solidFill>
                          <a:effectLst/>
                          <a:latin typeface="Arial" panose="020B0604020202020204" pitchFamily="34" charset="0"/>
                          <a:cs typeface="Arial" panose="020B0604020202020204" pitchFamily="34" charset="0"/>
                        </a:rPr>
                        <a:t>Unit</a:t>
                      </a:r>
                      <a:endParaRPr lang="en-GB" sz="1000" b="1" i="0" u="none" strike="noStrike" noProof="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World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Europe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North America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South America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Asia, Oceania, Africa </a:t>
                      </a:r>
                      <a:r>
                        <a:rPr lang="en-GB" sz="1000" b="1" u="none" strike="noStrike" noProof="0" dirty="0">
                          <a:solidFill>
                            <a:schemeClr val="bg1"/>
                          </a:solidFill>
                          <a:effectLst/>
                          <a:latin typeface="Arial" panose="020B0604020202020204" pitchFamily="34" charset="0"/>
                          <a:cs typeface="Arial" panose="020B0604020202020204" pitchFamily="34" charset="0"/>
                        </a:rPr>
                        <a:t>-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extLst>
                  <a:ext uri="{0D108BD9-81ED-4DB2-BD59-A6C34878D82A}">
                    <a16:rowId xmlns:a16="http://schemas.microsoft.com/office/drawing/2014/main" val="492130691"/>
                  </a:ext>
                </a:extLst>
              </a:tr>
              <a:tr h="308862">
                <a:tc>
                  <a:txBody>
                    <a:bodyPr/>
                    <a:lstStyle/>
                    <a:p>
                      <a:pPr algn="ctr" fontAlgn="ctr"/>
                      <a:r>
                        <a:rPr lang="en-GB" sz="1000" u="none" strike="noStrike">
                          <a:effectLst/>
                          <a:latin typeface="Arial" panose="020B0604020202020204" pitchFamily="34" charset="0"/>
                          <a:cs typeface="Arial" panose="020B0604020202020204" pitchFamily="34" charset="0"/>
                        </a:rPr>
                        <a:t>1</a:t>
                      </a:r>
                      <a:endParaRPr lang="en-GB" sz="1000" b="0" i="0" u="none" strike="noStrike" dirty="0">
                        <a:solidFill>
                          <a:srgbClr val="000000"/>
                        </a:solidFill>
                        <a:effectLst/>
                        <a:latin typeface="Arial" panose="020B0604020202020204" pitchFamily="34" charset="0"/>
                        <a:cs typeface="Arial" panose="020B0604020202020204" pitchFamily="34" charset="0"/>
                      </a:endParaRPr>
                    </a:p>
                  </a:txBody>
                  <a:tcPr marL="3852" marR="3852" marT="3852" marB="0" anchor="ctr"/>
                </a:tc>
                <a:tc gridSpan="2">
                  <a:txBody>
                    <a:bodyPr/>
                    <a:lstStyle/>
                    <a:p>
                      <a:pPr algn="l" fontAlgn="ctr"/>
                      <a:r>
                        <a:rPr lang="en-GB" sz="1000" u="none" strike="noStrike" noProof="0">
                          <a:effectLst/>
                          <a:latin typeface="Arial" panose="020B0604020202020204" pitchFamily="34" charset="0"/>
                          <a:cs typeface="Arial" panose="020B0604020202020204" pitchFamily="34" charset="0"/>
                        </a:rPr>
                        <a:t>Process Water Collected and Re-used</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hMerge="1">
                  <a:txBody>
                    <a:bodyPr/>
                    <a:lstStyle/>
                    <a:p>
                      <a:pPr algn="l" fontAlgn="ctr"/>
                      <a:endParaRPr lang="en-US" sz="400" b="0" i="0" u="none" strike="noStrike">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Y/N</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90%</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dirty="0">
                          <a:effectLst/>
                          <a:latin typeface="Arial" panose="020B0604020202020204" pitchFamily="34" charset="0"/>
                          <a:cs typeface="Arial" panose="020B0604020202020204" pitchFamily="34" charset="0"/>
                        </a:rPr>
                        <a:t>96%</a:t>
                      </a:r>
                      <a:endParaRPr lang="en-GB" sz="1000" b="1" i="0" u="none" strike="noStrike" noProof="0" dirty="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77%</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100%</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100%</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extLst>
                  <a:ext uri="{0D108BD9-81ED-4DB2-BD59-A6C34878D82A}">
                    <a16:rowId xmlns:a16="http://schemas.microsoft.com/office/drawing/2014/main" val="3223076559"/>
                  </a:ext>
                </a:extLst>
              </a:tr>
              <a:tr h="204535">
                <a:tc>
                  <a:txBody>
                    <a:bodyPr/>
                    <a:lstStyle/>
                    <a:p>
                      <a:pPr algn="ctr" fontAlgn="ctr"/>
                      <a:r>
                        <a:rPr lang="en-GB" sz="1000" u="none" strike="noStrike">
                          <a:effectLst/>
                          <a:latin typeface="Arial" panose="020B0604020202020204" pitchFamily="34" charset="0"/>
                          <a:cs typeface="Arial" panose="020B0604020202020204" pitchFamily="34" charset="0"/>
                        </a:rPr>
                        <a:t>2</a:t>
                      </a:r>
                      <a:endParaRPr lang="en-GB" sz="1000" b="0" i="0" u="none" strike="noStrike" dirty="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gridSpan="2">
                  <a:txBody>
                    <a:bodyPr/>
                    <a:lstStyle/>
                    <a:p>
                      <a:pPr algn="l" fontAlgn="ctr"/>
                      <a:r>
                        <a:rPr lang="en-GB" sz="1000" u="none" strike="noStrike" noProof="0">
                          <a:effectLst/>
                          <a:latin typeface="Arial" panose="020B0604020202020204" pitchFamily="34" charset="0"/>
                          <a:cs typeface="Arial" panose="020B0604020202020204" pitchFamily="34" charset="0"/>
                        </a:rPr>
                        <a:t>Stormwater Collection</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hMerge="1">
                  <a:txBody>
                    <a:bodyPr/>
                    <a:lstStyle/>
                    <a:p>
                      <a:pPr algn="l" fontAlgn="ctr"/>
                      <a:endParaRPr lang="fr-FR" sz="400" b="0" i="0" u="none" strike="noStrike">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Y/N</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55%</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60%</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42%</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95%</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53%</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extLst>
                  <a:ext uri="{0D108BD9-81ED-4DB2-BD59-A6C34878D82A}">
                    <a16:rowId xmlns:a16="http://schemas.microsoft.com/office/drawing/2014/main" val="3635640148"/>
                  </a:ext>
                </a:extLst>
              </a:tr>
              <a:tr h="316532">
                <a:tc>
                  <a:txBody>
                    <a:bodyPr/>
                    <a:lstStyle/>
                    <a:p>
                      <a:pPr algn="ctr" fontAlgn="ctr"/>
                      <a:r>
                        <a:rPr lang="en-GB" sz="1000" u="none" strike="noStrike">
                          <a:effectLst/>
                          <a:latin typeface="Arial" panose="020B0604020202020204" pitchFamily="34" charset="0"/>
                          <a:cs typeface="Arial" panose="020B0604020202020204" pitchFamily="34" charset="0"/>
                        </a:rPr>
                        <a:t>3</a:t>
                      </a:r>
                      <a:endParaRPr lang="en-GB" sz="1000" b="0" i="0" u="none" strike="noStrike" dirty="0">
                        <a:solidFill>
                          <a:srgbClr val="000000"/>
                        </a:solidFill>
                        <a:effectLst/>
                        <a:latin typeface="Arial" panose="020B0604020202020204" pitchFamily="34" charset="0"/>
                        <a:cs typeface="Arial" panose="020B0604020202020204" pitchFamily="34" charset="0"/>
                      </a:endParaRPr>
                    </a:p>
                  </a:txBody>
                  <a:tcPr marL="3852" marR="3852" marT="3852" marB="0" anchor="ctr"/>
                </a:tc>
                <a:tc gridSpan="2">
                  <a:txBody>
                    <a:bodyPr/>
                    <a:lstStyle/>
                    <a:p>
                      <a:pPr algn="l" fontAlgn="ctr"/>
                      <a:r>
                        <a:rPr lang="en-GB" sz="1000" u="none" strike="noStrike" noProof="0">
                          <a:effectLst/>
                          <a:latin typeface="Arial" panose="020B0604020202020204" pitchFamily="34" charset="0"/>
                          <a:cs typeface="Arial" panose="020B0604020202020204" pitchFamily="34" charset="0"/>
                        </a:rPr>
                        <a:t>Water Withdrawal</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hMerge="1">
                  <a:txBody>
                    <a:bodyPr/>
                    <a:lstStyle/>
                    <a:p>
                      <a:pPr algn="l" fontAlgn="ctr"/>
                      <a:endParaRPr lang="fr-FR" sz="400" b="0" i="0" u="none" strike="noStrike">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 Litres </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  904 270 950   </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l" fontAlgn="ctr"/>
                      <a:r>
                        <a:rPr lang="en-GB" sz="1000" u="none" strike="noStrike" noProof="0">
                          <a:effectLst/>
                          <a:latin typeface="Arial" panose="020B0604020202020204" pitchFamily="34" charset="0"/>
                          <a:cs typeface="Arial" panose="020B0604020202020204" pitchFamily="34" charset="0"/>
                        </a:rPr>
                        <a:t>                507 973 361   </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     1 535 197 664   </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    179 995 470   </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         1 065 180 773   </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extLst>
                  <a:ext uri="{0D108BD9-81ED-4DB2-BD59-A6C34878D82A}">
                    <a16:rowId xmlns:a16="http://schemas.microsoft.com/office/drawing/2014/main" val="848201917"/>
                  </a:ext>
                </a:extLst>
              </a:tr>
              <a:tr h="403482">
                <a:tc>
                  <a:txBody>
                    <a:bodyPr/>
                    <a:lstStyle/>
                    <a:p>
                      <a:pPr algn="ctr" fontAlgn="ctr"/>
                      <a:r>
                        <a:rPr lang="en-GB" sz="1000" u="none" strike="noStrike">
                          <a:effectLst/>
                          <a:latin typeface="Arial" panose="020B0604020202020204" pitchFamily="34" charset="0"/>
                          <a:cs typeface="Arial" panose="020B0604020202020204" pitchFamily="34" charset="0"/>
                        </a:rPr>
                        <a:t>4</a:t>
                      </a:r>
                      <a:endParaRPr lang="en-GB" sz="1000" b="0" i="0" u="none" strike="noStrike" dirty="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gridSpan="2">
                  <a:txBody>
                    <a:bodyPr/>
                    <a:lstStyle/>
                    <a:p>
                      <a:pPr algn="l" fontAlgn="ctr"/>
                      <a:r>
                        <a:rPr lang="en-GB" sz="1000" u="none" strike="noStrike" noProof="0">
                          <a:effectLst/>
                          <a:latin typeface="Arial" panose="020B0604020202020204" pitchFamily="34" charset="0"/>
                          <a:cs typeface="Arial" panose="020B0604020202020204" pitchFamily="34" charset="0"/>
                        </a:rPr>
                        <a:t>Water Withdrawal Per Unit </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hMerge="1">
                  <a:txBody>
                    <a:bodyPr/>
                    <a:lstStyle/>
                    <a:p>
                      <a:pPr algn="l" fontAlgn="ctr"/>
                      <a:endParaRPr lang="fr-FR" sz="400" b="0" i="0" u="none" strike="noStrike">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Litres/m</a:t>
                      </a:r>
                      <a:r>
                        <a:rPr lang="en-GB" sz="1000" u="none" strike="noStrike" baseline="30000" noProof="0">
                          <a:effectLst/>
                          <a:latin typeface="Arial" panose="020B0604020202020204" pitchFamily="34" charset="0"/>
                          <a:cs typeface="Arial" panose="020B0604020202020204" pitchFamily="34" charset="0"/>
                        </a:rPr>
                        <a:t>3</a:t>
                      </a:r>
                      <a:r>
                        <a:rPr lang="en-GB" sz="1000" u="none" strike="noStrike" noProof="0">
                          <a:effectLst/>
                          <a:latin typeface="Arial" panose="020B0604020202020204" pitchFamily="34" charset="0"/>
                          <a:cs typeface="Arial" panose="020B0604020202020204" pitchFamily="34" charset="0"/>
                        </a:rPr>
                        <a:t> concrete</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l" fontAlgn="ctr"/>
                      <a:r>
                        <a:rPr lang="en-GB" sz="1000" u="none" strike="noStrike" noProof="0">
                          <a:effectLst/>
                          <a:latin typeface="Arial" panose="020B0604020202020204" pitchFamily="34" charset="0"/>
                          <a:cs typeface="Arial" panose="020B0604020202020204" pitchFamily="34" charset="0"/>
                        </a:rPr>
                        <a:t>                         220   </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l" fontAlgn="ctr"/>
                      <a:r>
                        <a:rPr lang="en-GB" sz="1000" u="none" strike="noStrike" noProof="0">
                          <a:effectLst/>
                          <a:latin typeface="Arial" panose="020B0604020202020204" pitchFamily="34" charset="0"/>
                          <a:cs typeface="Arial" panose="020B0604020202020204" pitchFamily="34" charset="0"/>
                        </a:rPr>
                        <a:t>                     180   </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l" fontAlgn="ctr"/>
                      <a:r>
                        <a:rPr lang="en-GB" sz="1000" u="none" strike="noStrike" noProof="0">
                          <a:effectLst/>
                          <a:latin typeface="Arial" panose="020B0604020202020204" pitchFamily="34" charset="0"/>
                          <a:cs typeface="Arial" panose="020B0604020202020204" pitchFamily="34" charset="0"/>
                        </a:rPr>
                        <a:t>                            250   </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253</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l" fontAlgn="ctr"/>
                      <a:r>
                        <a:rPr lang="en-GB" sz="1000" u="none" strike="noStrike" noProof="0">
                          <a:effectLst/>
                          <a:latin typeface="Arial" panose="020B0604020202020204" pitchFamily="34" charset="0"/>
                          <a:cs typeface="Arial" panose="020B0604020202020204" pitchFamily="34" charset="0"/>
                        </a:rPr>
                        <a:t>                 292   </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extLst>
                  <a:ext uri="{0D108BD9-81ED-4DB2-BD59-A6C34878D82A}">
                    <a16:rowId xmlns:a16="http://schemas.microsoft.com/office/drawing/2014/main" val="471556398"/>
                  </a:ext>
                </a:extLst>
              </a:tr>
              <a:tr h="204535">
                <a:tc>
                  <a:txBody>
                    <a:bodyPr/>
                    <a:lstStyle/>
                    <a:p>
                      <a:pPr algn="ctr" fontAlgn="ctr"/>
                      <a:r>
                        <a:rPr lang="en-GB" sz="1000" u="none" strike="noStrike">
                          <a:effectLst/>
                          <a:latin typeface="Arial" panose="020B0604020202020204" pitchFamily="34" charset="0"/>
                          <a:cs typeface="Arial" panose="020B0604020202020204" pitchFamily="34" charset="0"/>
                        </a:rPr>
                        <a:t>5</a:t>
                      </a:r>
                      <a:endParaRPr lang="en-GB" sz="1000" b="0" i="0" u="none" strike="noStrike" dirty="0">
                        <a:solidFill>
                          <a:srgbClr val="000000"/>
                        </a:solidFill>
                        <a:effectLst/>
                        <a:latin typeface="Arial" panose="020B0604020202020204" pitchFamily="34" charset="0"/>
                        <a:cs typeface="Arial" panose="020B0604020202020204" pitchFamily="34" charset="0"/>
                      </a:endParaRPr>
                    </a:p>
                  </a:txBody>
                  <a:tcPr marL="3852" marR="3852" marT="3852" marB="0" anchor="ctr"/>
                </a:tc>
                <a:tc gridSpan="2">
                  <a:txBody>
                    <a:bodyPr/>
                    <a:lstStyle/>
                    <a:p>
                      <a:pPr algn="l" fontAlgn="ctr"/>
                      <a:r>
                        <a:rPr lang="en-GB" sz="1000" u="none" strike="noStrike" noProof="0">
                          <a:effectLst/>
                          <a:latin typeface="Arial" panose="020B0604020202020204" pitchFamily="34" charset="0"/>
                          <a:cs typeface="Arial" panose="020B0604020202020204" pitchFamily="34" charset="0"/>
                        </a:rPr>
                        <a:t>Treatment of Discharged Water</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hMerge="1">
                  <a:txBody>
                    <a:bodyPr/>
                    <a:lstStyle/>
                    <a:p>
                      <a:pPr algn="l" fontAlgn="ctr"/>
                      <a:endParaRPr lang="fr-FR" sz="400" b="0" i="0" u="none" strike="noStrike">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Y/N</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96%</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dirty="0">
                          <a:effectLst/>
                          <a:latin typeface="Arial" panose="020B0604020202020204" pitchFamily="34" charset="0"/>
                          <a:cs typeface="Arial" panose="020B0604020202020204" pitchFamily="34" charset="0"/>
                        </a:rPr>
                        <a:t>95%</a:t>
                      </a:r>
                      <a:endParaRPr lang="en-GB" sz="1000" b="1" i="0" u="none" strike="noStrike" noProof="0" dirty="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97%</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97%</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94%</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extLst>
                  <a:ext uri="{0D108BD9-81ED-4DB2-BD59-A6C34878D82A}">
                    <a16:rowId xmlns:a16="http://schemas.microsoft.com/office/drawing/2014/main" val="2985667653"/>
                  </a:ext>
                </a:extLst>
              </a:tr>
              <a:tr h="403482">
                <a:tc>
                  <a:txBody>
                    <a:bodyPr/>
                    <a:lstStyle/>
                    <a:p>
                      <a:pPr algn="ctr" fontAlgn="ctr"/>
                      <a:r>
                        <a:rPr lang="en-GB" sz="1000" b="1" u="none" strike="noStrike">
                          <a:solidFill>
                            <a:schemeClr val="bg1"/>
                          </a:solidFill>
                          <a:effectLst/>
                          <a:latin typeface="Arial" panose="020B0604020202020204" pitchFamily="34" charset="0"/>
                          <a:cs typeface="Arial" panose="020B0604020202020204" pitchFamily="34" charset="0"/>
                        </a:rPr>
                        <a:t>#</a:t>
                      </a:r>
                      <a:endParaRPr lang="en-GB" sz="1000" b="1" i="0" u="none" strike="noStrike"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gridSpan="2">
                  <a:txBody>
                    <a:bodyPr/>
                    <a:lstStyle/>
                    <a:p>
                      <a:pPr algn="ctr" fontAlgn="ctr"/>
                      <a:r>
                        <a:rPr lang="en-GB" sz="1000" b="1" u="none" strike="noStrike" noProof="0">
                          <a:solidFill>
                            <a:schemeClr val="bg1"/>
                          </a:solidFill>
                          <a:effectLst/>
                          <a:latin typeface="Arial" panose="020B0604020202020204" pitchFamily="34" charset="0"/>
                          <a:cs typeface="Arial" panose="020B0604020202020204" pitchFamily="34" charset="0"/>
                        </a:rPr>
                        <a:t>Dust KPI</a:t>
                      </a:r>
                      <a:endParaRPr lang="en-GB" sz="1000" b="1" i="0" u="none" strike="noStrike" noProof="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hMerge="1">
                  <a:txBody>
                    <a:bodyPr/>
                    <a:lstStyle/>
                    <a:p>
                      <a:pPr algn="ctr" fontAlgn="ctr"/>
                      <a:endParaRPr lang="fr-FR" sz="400" b="1" i="0" u="none" strike="noStrike">
                        <a:solidFill>
                          <a:srgbClr val="FFFFFF"/>
                        </a:solidFill>
                        <a:effectLst/>
                        <a:latin typeface="Calibri" panose="020F0502020204030204" pitchFamily="34" charset="0"/>
                      </a:endParaRPr>
                    </a:p>
                  </a:txBody>
                  <a:tcPr marL="3852" marR="3852" marT="3852" marB="0" anchor="ctr"/>
                </a:tc>
                <a:tc>
                  <a:txBody>
                    <a:bodyPr/>
                    <a:lstStyle/>
                    <a:p>
                      <a:pPr algn="ctr" fontAlgn="ctr"/>
                      <a:r>
                        <a:rPr lang="en-GB" sz="1000" b="1" u="none" strike="noStrike" noProof="0">
                          <a:solidFill>
                            <a:schemeClr val="bg1"/>
                          </a:solidFill>
                          <a:effectLst/>
                          <a:latin typeface="Arial" panose="020B0604020202020204" pitchFamily="34" charset="0"/>
                          <a:cs typeface="Arial" panose="020B0604020202020204" pitchFamily="34" charset="0"/>
                        </a:rPr>
                        <a:t>Unit</a:t>
                      </a:r>
                      <a:endParaRPr lang="en-GB" sz="1000" b="1" i="0" u="none" strike="noStrike" noProof="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World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Europe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North America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South America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Asia, Oceania, Africa </a:t>
                      </a:r>
                      <a:r>
                        <a:rPr lang="en-GB" sz="1000" b="1" u="none" strike="noStrike" noProof="0" dirty="0">
                          <a:solidFill>
                            <a:schemeClr val="bg1"/>
                          </a:solidFill>
                          <a:effectLst/>
                          <a:latin typeface="Arial" panose="020B0604020202020204" pitchFamily="34" charset="0"/>
                          <a:cs typeface="Arial" panose="020B0604020202020204" pitchFamily="34" charset="0"/>
                        </a:rPr>
                        <a:t>-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extLst>
                  <a:ext uri="{0D108BD9-81ED-4DB2-BD59-A6C34878D82A}">
                    <a16:rowId xmlns:a16="http://schemas.microsoft.com/office/drawing/2014/main" val="4201999636"/>
                  </a:ext>
                </a:extLst>
              </a:tr>
              <a:tr h="204535">
                <a:tc>
                  <a:txBody>
                    <a:bodyPr/>
                    <a:lstStyle/>
                    <a:p>
                      <a:pPr algn="ctr" fontAlgn="ctr"/>
                      <a:r>
                        <a:rPr lang="en-GB" sz="1000" u="none" strike="noStrike">
                          <a:effectLst/>
                          <a:latin typeface="Arial" panose="020B0604020202020204" pitchFamily="34" charset="0"/>
                          <a:cs typeface="Arial" panose="020B0604020202020204" pitchFamily="34" charset="0"/>
                        </a:rPr>
                        <a:t>1</a:t>
                      </a:r>
                      <a:endParaRPr lang="en-GB" sz="1000" b="0" i="0" u="none" strike="noStrike" dirty="0">
                        <a:solidFill>
                          <a:srgbClr val="000000"/>
                        </a:solidFill>
                        <a:effectLst/>
                        <a:latin typeface="Arial" panose="020B0604020202020204" pitchFamily="34" charset="0"/>
                        <a:cs typeface="Arial" panose="020B0604020202020204" pitchFamily="34" charset="0"/>
                      </a:endParaRPr>
                    </a:p>
                  </a:txBody>
                  <a:tcPr marL="3852" marR="3852" marT="3852" marB="0" anchor="ctr"/>
                </a:tc>
                <a:tc gridSpan="2">
                  <a:txBody>
                    <a:bodyPr/>
                    <a:lstStyle/>
                    <a:p>
                      <a:pPr algn="l" fontAlgn="ctr"/>
                      <a:r>
                        <a:rPr lang="en-GB" sz="1000" u="none" strike="noStrike" noProof="0">
                          <a:effectLst/>
                          <a:latin typeface="Arial" panose="020B0604020202020204" pitchFamily="34" charset="0"/>
                          <a:cs typeface="Arial" panose="020B0604020202020204" pitchFamily="34" charset="0"/>
                        </a:rPr>
                        <a:t>Dust Collection: Silo</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hMerge="1">
                  <a:txBody>
                    <a:bodyPr/>
                    <a:lstStyle/>
                    <a:p>
                      <a:pPr algn="l" fontAlgn="ctr"/>
                      <a:endParaRPr lang="fr-FR" sz="400" b="0" i="0" u="none" strike="noStrike">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Y/N</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99.89%</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100%</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99.87%</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98%</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100%</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extLst>
                  <a:ext uri="{0D108BD9-81ED-4DB2-BD59-A6C34878D82A}">
                    <a16:rowId xmlns:a16="http://schemas.microsoft.com/office/drawing/2014/main" val="1857306774"/>
                  </a:ext>
                </a:extLst>
              </a:tr>
              <a:tr h="204535">
                <a:tc>
                  <a:txBody>
                    <a:bodyPr/>
                    <a:lstStyle/>
                    <a:p>
                      <a:pPr algn="ctr" fontAlgn="ctr"/>
                      <a:r>
                        <a:rPr lang="en-GB" sz="1000" u="none" strike="noStrike">
                          <a:effectLst/>
                          <a:latin typeface="Arial" panose="020B0604020202020204" pitchFamily="34" charset="0"/>
                          <a:cs typeface="Arial" panose="020B0604020202020204" pitchFamily="34" charset="0"/>
                        </a:rPr>
                        <a:t>2</a:t>
                      </a:r>
                      <a:endParaRPr lang="en-GB" sz="1000" b="0" i="0" u="none" strike="noStrike" dirty="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gridSpan="2">
                  <a:txBody>
                    <a:bodyPr/>
                    <a:lstStyle/>
                    <a:p>
                      <a:pPr algn="l" fontAlgn="ctr"/>
                      <a:r>
                        <a:rPr lang="en-GB" sz="1000" u="none" strike="noStrike" noProof="0">
                          <a:effectLst/>
                          <a:latin typeface="Arial" panose="020B0604020202020204" pitchFamily="34" charset="0"/>
                          <a:cs typeface="Arial" panose="020B0604020202020204" pitchFamily="34" charset="0"/>
                        </a:rPr>
                        <a:t>Dust Collection: Loadpoint</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hMerge="1">
                  <a:txBody>
                    <a:bodyPr/>
                    <a:lstStyle/>
                    <a:p>
                      <a:pPr algn="l" fontAlgn="ctr"/>
                      <a:endParaRPr lang="fr-FR" sz="400" b="0" i="0" u="none" strike="noStrike">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Y/N</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87%</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96%</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80%</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61%</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90%</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extLst>
                  <a:ext uri="{0D108BD9-81ED-4DB2-BD59-A6C34878D82A}">
                    <a16:rowId xmlns:a16="http://schemas.microsoft.com/office/drawing/2014/main" val="2373373923"/>
                  </a:ext>
                </a:extLst>
              </a:tr>
              <a:tr h="204535">
                <a:tc>
                  <a:txBody>
                    <a:bodyPr/>
                    <a:lstStyle/>
                    <a:p>
                      <a:pPr algn="ctr" fontAlgn="ctr"/>
                      <a:r>
                        <a:rPr lang="en-GB" sz="1000" u="none" strike="noStrike">
                          <a:effectLst/>
                          <a:latin typeface="Arial" panose="020B0604020202020204" pitchFamily="34" charset="0"/>
                          <a:cs typeface="Arial" panose="020B0604020202020204" pitchFamily="34" charset="0"/>
                        </a:rPr>
                        <a:t>3</a:t>
                      </a:r>
                      <a:endParaRPr lang="en-GB" sz="1000" b="0" i="0" u="none" strike="noStrike" dirty="0">
                        <a:solidFill>
                          <a:srgbClr val="000000"/>
                        </a:solidFill>
                        <a:effectLst/>
                        <a:latin typeface="Arial" panose="020B0604020202020204" pitchFamily="34" charset="0"/>
                        <a:cs typeface="Arial" panose="020B0604020202020204" pitchFamily="34" charset="0"/>
                      </a:endParaRPr>
                    </a:p>
                  </a:txBody>
                  <a:tcPr marL="3852" marR="3852" marT="3852" marB="0" anchor="ctr"/>
                </a:tc>
                <a:tc gridSpan="2">
                  <a:txBody>
                    <a:bodyPr/>
                    <a:lstStyle/>
                    <a:p>
                      <a:pPr algn="l" fontAlgn="ctr"/>
                      <a:r>
                        <a:rPr lang="en-GB" sz="1000" u="none" strike="noStrike" noProof="0" dirty="0">
                          <a:effectLst/>
                          <a:latin typeface="Arial" panose="020B0604020202020204" pitchFamily="34" charset="0"/>
                          <a:cs typeface="Arial" panose="020B0604020202020204" pitchFamily="34" charset="0"/>
                        </a:rPr>
                        <a:t>Fugitive Dust Management Plan</a:t>
                      </a:r>
                      <a:endParaRPr lang="en-GB" sz="1000" b="0" i="0" u="none" strike="noStrike" noProof="0" dirty="0">
                        <a:solidFill>
                          <a:srgbClr val="000000"/>
                        </a:solidFill>
                        <a:effectLst/>
                        <a:latin typeface="Arial" panose="020B0604020202020204" pitchFamily="34" charset="0"/>
                        <a:cs typeface="Arial" panose="020B0604020202020204" pitchFamily="34" charset="0"/>
                      </a:endParaRPr>
                    </a:p>
                  </a:txBody>
                  <a:tcPr marL="3852" marR="3852" marT="3852" marB="0" anchor="ctr"/>
                </a:tc>
                <a:tc hMerge="1">
                  <a:txBody>
                    <a:bodyPr/>
                    <a:lstStyle/>
                    <a:p>
                      <a:pPr algn="l" fontAlgn="ctr"/>
                      <a:endParaRPr lang="fr-FR" sz="400" b="0" i="0" u="none" strike="noStrike">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Y/N</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64%</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52%</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72%</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68%</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94%</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extLst>
                  <a:ext uri="{0D108BD9-81ED-4DB2-BD59-A6C34878D82A}">
                    <a16:rowId xmlns:a16="http://schemas.microsoft.com/office/drawing/2014/main" val="3998832334"/>
                  </a:ext>
                </a:extLst>
              </a:tr>
              <a:tr h="403482">
                <a:tc>
                  <a:txBody>
                    <a:bodyPr/>
                    <a:lstStyle/>
                    <a:p>
                      <a:pPr algn="ctr" fontAlgn="ctr"/>
                      <a:r>
                        <a:rPr lang="en-GB" sz="1000" b="1" u="none" strike="noStrike">
                          <a:solidFill>
                            <a:schemeClr val="bg1"/>
                          </a:solidFill>
                          <a:effectLst/>
                          <a:latin typeface="Arial" panose="020B0604020202020204" pitchFamily="34" charset="0"/>
                          <a:cs typeface="Arial" panose="020B0604020202020204" pitchFamily="34" charset="0"/>
                        </a:rPr>
                        <a:t>#</a:t>
                      </a:r>
                      <a:endParaRPr lang="en-GB" sz="1000" b="1" i="0" u="none" strike="noStrike"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gridSpan="2">
                  <a:txBody>
                    <a:bodyPr/>
                    <a:lstStyle/>
                    <a:p>
                      <a:pPr algn="ctr" fontAlgn="ctr"/>
                      <a:r>
                        <a:rPr lang="en-GB" sz="1000" b="1" u="none" strike="noStrike" noProof="0">
                          <a:solidFill>
                            <a:schemeClr val="bg1"/>
                          </a:solidFill>
                          <a:effectLst/>
                          <a:latin typeface="Arial" panose="020B0604020202020204" pitchFamily="34" charset="0"/>
                          <a:cs typeface="Arial" panose="020B0604020202020204" pitchFamily="34" charset="0"/>
                        </a:rPr>
                        <a:t>Noise KPI</a:t>
                      </a:r>
                      <a:endParaRPr lang="en-GB" sz="1000" b="1" i="0" u="none" strike="noStrike" noProof="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hMerge="1">
                  <a:txBody>
                    <a:bodyPr/>
                    <a:lstStyle/>
                    <a:p>
                      <a:pPr algn="ctr" fontAlgn="ctr"/>
                      <a:endParaRPr lang="fr-FR" sz="400" b="1" i="0" u="none" strike="noStrike">
                        <a:solidFill>
                          <a:srgbClr val="FFFFFF"/>
                        </a:solidFill>
                        <a:effectLst/>
                        <a:latin typeface="Calibri" panose="020F0502020204030204" pitchFamily="34" charset="0"/>
                      </a:endParaRPr>
                    </a:p>
                  </a:txBody>
                  <a:tcPr marL="3852" marR="3852" marT="3852" marB="0" anchor="ctr"/>
                </a:tc>
                <a:tc>
                  <a:txBody>
                    <a:bodyPr/>
                    <a:lstStyle/>
                    <a:p>
                      <a:pPr algn="ctr" fontAlgn="ctr"/>
                      <a:r>
                        <a:rPr lang="en-GB" sz="1000" b="1" u="none" strike="noStrike" noProof="0">
                          <a:solidFill>
                            <a:schemeClr val="bg1"/>
                          </a:solidFill>
                          <a:effectLst/>
                          <a:latin typeface="Arial" panose="020B0604020202020204" pitchFamily="34" charset="0"/>
                          <a:cs typeface="Arial" panose="020B0604020202020204" pitchFamily="34" charset="0"/>
                        </a:rPr>
                        <a:t>Unit</a:t>
                      </a:r>
                      <a:endParaRPr lang="en-GB" sz="1000" b="1" i="0" u="none" strike="noStrike" noProof="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World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Europe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North America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South America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Asia, Oceania, Africa </a:t>
                      </a:r>
                      <a:r>
                        <a:rPr lang="en-GB" sz="1000" b="1" u="none" strike="noStrike" noProof="0" dirty="0">
                          <a:solidFill>
                            <a:schemeClr val="bg1"/>
                          </a:solidFill>
                          <a:effectLst/>
                          <a:latin typeface="Arial" panose="020B0604020202020204" pitchFamily="34" charset="0"/>
                          <a:cs typeface="Arial" panose="020B0604020202020204" pitchFamily="34" charset="0"/>
                        </a:rPr>
                        <a:t>-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extLst>
                  <a:ext uri="{0D108BD9-81ED-4DB2-BD59-A6C34878D82A}">
                    <a16:rowId xmlns:a16="http://schemas.microsoft.com/office/drawing/2014/main" val="1461344950"/>
                  </a:ext>
                </a:extLst>
              </a:tr>
              <a:tr h="204535">
                <a:tc>
                  <a:txBody>
                    <a:bodyPr/>
                    <a:lstStyle/>
                    <a:p>
                      <a:pPr algn="ctr" fontAlgn="ctr"/>
                      <a:r>
                        <a:rPr lang="en-GB" sz="1000" u="none" strike="noStrike">
                          <a:effectLst/>
                          <a:latin typeface="Arial" panose="020B0604020202020204" pitchFamily="34" charset="0"/>
                          <a:cs typeface="Arial" panose="020B0604020202020204" pitchFamily="34" charset="0"/>
                        </a:rPr>
                        <a:t>1</a:t>
                      </a:r>
                      <a:endParaRPr lang="en-GB" sz="1000" b="0" i="0" u="none" strike="noStrike" dirty="0">
                        <a:solidFill>
                          <a:srgbClr val="000000"/>
                        </a:solidFill>
                        <a:effectLst/>
                        <a:latin typeface="Arial" panose="020B0604020202020204" pitchFamily="34" charset="0"/>
                        <a:cs typeface="Arial" panose="020B0604020202020204" pitchFamily="34" charset="0"/>
                      </a:endParaRPr>
                    </a:p>
                  </a:txBody>
                  <a:tcPr marL="3852" marR="3852" marT="3852" marB="0" anchor="ctr"/>
                </a:tc>
                <a:tc gridSpan="2">
                  <a:txBody>
                    <a:bodyPr/>
                    <a:lstStyle/>
                    <a:p>
                      <a:pPr algn="l" fontAlgn="ctr"/>
                      <a:r>
                        <a:rPr lang="en-GB" sz="1000" u="none" strike="noStrike" noProof="0">
                          <a:effectLst/>
                          <a:latin typeface="Arial" panose="020B0604020202020204" pitchFamily="34" charset="0"/>
                          <a:cs typeface="Arial" panose="020B0604020202020204" pitchFamily="34" charset="0"/>
                        </a:rPr>
                        <a:t>Noise Management Plan</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hMerge="1">
                  <a:txBody>
                    <a:bodyPr/>
                    <a:lstStyle/>
                    <a:p>
                      <a:pPr algn="l" fontAlgn="ctr"/>
                      <a:endParaRPr lang="fr-FR" sz="400" b="0" i="0" u="none" strike="noStrike">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Y/N</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79%</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83%</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69%</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88%</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90%</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extLst>
                  <a:ext uri="{0D108BD9-81ED-4DB2-BD59-A6C34878D82A}">
                    <a16:rowId xmlns:a16="http://schemas.microsoft.com/office/drawing/2014/main" val="574166954"/>
                  </a:ext>
                </a:extLst>
              </a:tr>
              <a:tr h="204535">
                <a:tc gridSpan="3">
                  <a:txBody>
                    <a:bodyPr/>
                    <a:lstStyle/>
                    <a:p>
                      <a:pPr algn="ctr" fontAlgn="ctr"/>
                      <a:r>
                        <a:rPr lang="en-GB" sz="1000" b="1" u="none" strike="noStrike" noProof="0">
                          <a:solidFill>
                            <a:schemeClr val="bg1"/>
                          </a:solidFill>
                          <a:effectLst/>
                          <a:latin typeface="Arial" panose="020B0604020202020204" pitchFamily="34" charset="0"/>
                          <a:cs typeface="Arial" panose="020B0604020202020204" pitchFamily="34" charset="0"/>
                        </a:rPr>
                        <a:t>Circular Economy</a:t>
                      </a:r>
                      <a:endParaRPr lang="en-GB" sz="1000" b="1" i="0" u="none" strike="noStrike" noProof="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lumMod val="75000"/>
                      </a:schemeClr>
                    </a:solidFill>
                  </a:tcPr>
                </a:tc>
                <a:tc hMerge="1">
                  <a:txBody>
                    <a:bodyPr/>
                    <a:lstStyle/>
                    <a:p>
                      <a:endParaRPr lang="fr-FR"/>
                    </a:p>
                  </a:txBody>
                  <a:tcPr/>
                </a:tc>
                <a:tc hMerge="1">
                  <a:txBody>
                    <a:bodyPr/>
                    <a:lstStyle/>
                    <a:p>
                      <a:pPr algn="l" fontAlgn="ctr"/>
                      <a:endParaRPr lang="fr-FR" sz="400" b="1" i="0" u="none" strike="noStrike">
                        <a:solidFill>
                          <a:srgbClr val="FFFFFF"/>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solidFill>
                            <a:schemeClr val="bg1"/>
                          </a:solidFill>
                          <a:effectLst/>
                          <a:latin typeface="Arial" panose="020B0604020202020204" pitchFamily="34" charset="0"/>
                          <a:cs typeface="Arial" panose="020B0604020202020204" pitchFamily="34" charset="0"/>
                        </a:rPr>
                        <a:t> </a:t>
                      </a:r>
                      <a:endParaRPr lang="en-GB" sz="1000" b="1" i="0" u="none" strike="noStrike" noProof="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lumMod val="75000"/>
                      </a:schemeClr>
                    </a:solidFill>
                  </a:tcPr>
                </a:tc>
                <a:tc>
                  <a:txBody>
                    <a:bodyPr/>
                    <a:lstStyle/>
                    <a:p>
                      <a:pPr algn="ctr" fontAlgn="ctr"/>
                      <a:r>
                        <a:rPr lang="en-GB" sz="1000" u="none" strike="noStrike" noProof="0">
                          <a:solidFill>
                            <a:schemeClr val="bg1"/>
                          </a:solidFill>
                          <a:effectLst/>
                          <a:latin typeface="Arial" panose="020B0604020202020204" pitchFamily="34" charset="0"/>
                          <a:cs typeface="Arial" panose="020B0604020202020204" pitchFamily="34" charset="0"/>
                        </a:rPr>
                        <a:t> </a:t>
                      </a:r>
                      <a:endParaRPr lang="en-GB" sz="1000" b="1" i="0" u="none" strike="noStrike" noProof="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lumMod val="75000"/>
                      </a:schemeClr>
                    </a:solidFill>
                  </a:tcPr>
                </a:tc>
                <a:tc>
                  <a:txBody>
                    <a:bodyPr/>
                    <a:lstStyle/>
                    <a:p>
                      <a:pPr algn="ctr" fontAlgn="ctr"/>
                      <a:r>
                        <a:rPr lang="en-GB" sz="1000" u="none" strike="noStrike" noProof="0">
                          <a:solidFill>
                            <a:schemeClr val="bg1"/>
                          </a:solidFill>
                          <a:effectLst/>
                          <a:latin typeface="Arial" panose="020B0604020202020204" pitchFamily="34" charset="0"/>
                          <a:cs typeface="Arial" panose="020B0604020202020204" pitchFamily="34" charset="0"/>
                        </a:rPr>
                        <a:t> </a:t>
                      </a:r>
                      <a:endParaRPr lang="en-GB" sz="1000" b="1" i="0" u="none" strike="noStrike" noProof="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lumMod val="75000"/>
                      </a:schemeClr>
                    </a:solidFill>
                  </a:tcPr>
                </a:tc>
                <a:tc>
                  <a:txBody>
                    <a:bodyPr/>
                    <a:lstStyle/>
                    <a:p>
                      <a:pPr algn="ctr" fontAlgn="ctr"/>
                      <a:r>
                        <a:rPr lang="en-GB" sz="1000" u="none" strike="noStrike" noProof="0">
                          <a:solidFill>
                            <a:schemeClr val="bg1"/>
                          </a:solidFill>
                          <a:effectLst/>
                          <a:latin typeface="Arial" panose="020B0604020202020204" pitchFamily="34" charset="0"/>
                          <a:cs typeface="Arial" panose="020B0604020202020204" pitchFamily="34" charset="0"/>
                        </a:rPr>
                        <a:t> </a:t>
                      </a:r>
                      <a:endParaRPr lang="en-GB" sz="1000" b="1" i="0" u="none" strike="noStrike" noProof="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lumMod val="75000"/>
                      </a:schemeClr>
                    </a:solidFill>
                  </a:tcPr>
                </a:tc>
                <a:tc>
                  <a:txBody>
                    <a:bodyPr/>
                    <a:lstStyle/>
                    <a:p>
                      <a:pPr algn="ctr" fontAlgn="ctr"/>
                      <a:r>
                        <a:rPr lang="en-GB" sz="1000" u="none" strike="noStrike" noProof="0">
                          <a:solidFill>
                            <a:schemeClr val="bg1"/>
                          </a:solidFill>
                          <a:effectLst/>
                          <a:latin typeface="Arial" panose="020B0604020202020204" pitchFamily="34" charset="0"/>
                          <a:cs typeface="Arial" panose="020B0604020202020204" pitchFamily="34" charset="0"/>
                        </a:rPr>
                        <a:t> </a:t>
                      </a:r>
                      <a:endParaRPr lang="en-GB" sz="1000" b="1" i="0" u="none" strike="noStrike" noProof="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lumMod val="75000"/>
                      </a:schemeClr>
                    </a:solidFill>
                  </a:tcPr>
                </a:tc>
                <a:tc>
                  <a:txBody>
                    <a:bodyPr/>
                    <a:lstStyle/>
                    <a:p>
                      <a:pPr algn="ctr" fontAlgn="ctr"/>
                      <a:r>
                        <a:rPr lang="en-GB" sz="1000" u="none" strike="noStrike" noProof="0">
                          <a:solidFill>
                            <a:schemeClr val="bg1"/>
                          </a:solidFill>
                          <a:effectLst/>
                          <a:latin typeface="Arial" panose="020B0604020202020204" pitchFamily="34" charset="0"/>
                          <a:cs typeface="Arial" panose="020B0604020202020204" pitchFamily="34" charset="0"/>
                        </a:rPr>
                        <a:t> </a:t>
                      </a:r>
                      <a:endParaRPr lang="en-GB" sz="1000" b="1" i="0" u="none" strike="noStrike" noProof="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lumMod val="75000"/>
                      </a:schemeClr>
                    </a:solidFill>
                  </a:tcPr>
                </a:tc>
                <a:extLst>
                  <a:ext uri="{0D108BD9-81ED-4DB2-BD59-A6C34878D82A}">
                    <a16:rowId xmlns:a16="http://schemas.microsoft.com/office/drawing/2014/main" val="1438668624"/>
                  </a:ext>
                </a:extLst>
              </a:tr>
              <a:tr h="403482">
                <a:tc>
                  <a:txBody>
                    <a:bodyPr/>
                    <a:lstStyle/>
                    <a:p>
                      <a:pPr algn="ctr" fontAlgn="ctr"/>
                      <a:r>
                        <a:rPr lang="en-GB" sz="1000" b="1" u="none" strike="noStrike">
                          <a:solidFill>
                            <a:schemeClr val="bg1"/>
                          </a:solidFill>
                          <a:effectLst/>
                          <a:latin typeface="Arial" panose="020B0604020202020204" pitchFamily="34" charset="0"/>
                          <a:cs typeface="Arial" panose="020B0604020202020204" pitchFamily="34" charset="0"/>
                        </a:rPr>
                        <a:t>#</a:t>
                      </a:r>
                      <a:endParaRPr lang="en-GB" sz="1000" b="1" i="0" u="none" strike="noStrike"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gridSpan="2">
                  <a:txBody>
                    <a:bodyPr/>
                    <a:lstStyle/>
                    <a:p>
                      <a:pPr algn="ctr" fontAlgn="ctr"/>
                      <a:r>
                        <a:rPr lang="en-GB" sz="1000" b="1" u="none" strike="noStrike" noProof="0">
                          <a:solidFill>
                            <a:schemeClr val="bg1"/>
                          </a:solidFill>
                          <a:effectLst/>
                          <a:latin typeface="Arial" panose="020B0604020202020204" pitchFamily="34" charset="0"/>
                          <a:cs typeface="Arial" panose="020B0604020202020204" pitchFamily="34" charset="0"/>
                        </a:rPr>
                        <a:t> KPI</a:t>
                      </a:r>
                      <a:endParaRPr lang="en-GB" sz="1000" b="1" i="0" u="none" strike="noStrike" noProof="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hMerge="1">
                  <a:txBody>
                    <a:bodyPr/>
                    <a:lstStyle/>
                    <a:p>
                      <a:pPr algn="ctr" fontAlgn="ctr"/>
                      <a:endParaRPr lang="fr-FR" sz="400" b="1" i="0" u="none" strike="noStrike">
                        <a:solidFill>
                          <a:srgbClr val="FFFFFF"/>
                        </a:solidFill>
                        <a:effectLst/>
                        <a:latin typeface="Calibri" panose="020F0502020204030204" pitchFamily="34" charset="0"/>
                      </a:endParaRPr>
                    </a:p>
                  </a:txBody>
                  <a:tcPr marL="3852" marR="3852" marT="3852" marB="0" anchor="ctr"/>
                </a:tc>
                <a:tc>
                  <a:txBody>
                    <a:bodyPr/>
                    <a:lstStyle/>
                    <a:p>
                      <a:pPr algn="ctr" fontAlgn="ctr"/>
                      <a:r>
                        <a:rPr lang="en-GB" sz="1000" b="1" u="none" strike="noStrike" noProof="0">
                          <a:solidFill>
                            <a:schemeClr val="bg1"/>
                          </a:solidFill>
                          <a:effectLst/>
                          <a:latin typeface="Arial" panose="020B0604020202020204" pitchFamily="34" charset="0"/>
                          <a:cs typeface="Arial" panose="020B0604020202020204" pitchFamily="34" charset="0"/>
                        </a:rPr>
                        <a:t>Unit</a:t>
                      </a:r>
                      <a:endParaRPr lang="en-GB" sz="1000" b="1" i="0" u="none" strike="noStrike" noProof="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World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Europe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North America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latin typeface="Arial" panose="020B0604020202020204" pitchFamily="34" charset="0"/>
                          <a:cs typeface="Arial" panose="020B0604020202020204" pitchFamily="34" charset="0"/>
                        </a:rPr>
                        <a:t>South America -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tc>
                  <a:txBody>
                    <a:bodyPr/>
                    <a:lstStyle/>
                    <a:p>
                      <a:pPr algn="ctr" fontAlgn="ctr"/>
                      <a:r>
                        <a:rPr lang="en-GB" sz="1000" b="1" u="none" strike="noStrike" noProof="0" dirty="0">
                          <a:solidFill>
                            <a:schemeClr val="bg1"/>
                          </a:solidFill>
                          <a:effectLst/>
                        </a:rPr>
                        <a:t>Asia, Oceania, Africa </a:t>
                      </a:r>
                      <a:r>
                        <a:rPr lang="en-GB" sz="1000" b="1" u="none" strike="noStrike" noProof="0" dirty="0">
                          <a:solidFill>
                            <a:schemeClr val="bg1"/>
                          </a:solidFill>
                          <a:effectLst/>
                          <a:latin typeface="Arial" panose="020B0604020202020204" pitchFamily="34" charset="0"/>
                          <a:cs typeface="Arial" panose="020B0604020202020204" pitchFamily="34" charset="0"/>
                        </a:rPr>
                        <a:t>- Average</a:t>
                      </a:r>
                      <a:endParaRPr lang="en-GB" sz="1000" b="1" i="0" u="none" strike="noStrike" noProof="0" dirty="0">
                        <a:solidFill>
                          <a:schemeClr val="bg1"/>
                        </a:solidFill>
                        <a:effectLst/>
                        <a:latin typeface="Arial" panose="020B0604020202020204" pitchFamily="34" charset="0"/>
                        <a:cs typeface="Arial" panose="020B0604020202020204" pitchFamily="34" charset="0"/>
                      </a:endParaRPr>
                    </a:p>
                  </a:txBody>
                  <a:tcPr marL="3852" marR="3852" marT="3852" marB="0" anchor="ctr">
                    <a:solidFill>
                      <a:schemeClr val="accent1"/>
                    </a:solidFill>
                  </a:tcPr>
                </a:tc>
                <a:extLst>
                  <a:ext uri="{0D108BD9-81ED-4DB2-BD59-A6C34878D82A}">
                    <a16:rowId xmlns:a16="http://schemas.microsoft.com/office/drawing/2014/main" val="2250201040"/>
                  </a:ext>
                </a:extLst>
              </a:tr>
              <a:tr h="403482">
                <a:tc>
                  <a:txBody>
                    <a:bodyPr/>
                    <a:lstStyle/>
                    <a:p>
                      <a:pPr algn="ctr" fontAlgn="ctr"/>
                      <a:r>
                        <a:rPr lang="en-GB" sz="1000" u="none" strike="noStrike">
                          <a:effectLst/>
                          <a:latin typeface="Arial" panose="020B0604020202020204" pitchFamily="34" charset="0"/>
                          <a:cs typeface="Arial" panose="020B0604020202020204" pitchFamily="34" charset="0"/>
                        </a:rPr>
                        <a:t>1</a:t>
                      </a:r>
                      <a:endParaRPr lang="en-GB" sz="1000" b="0" i="0" u="none" strike="noStrike" dirty="0">
                        <a:solidFill>
                          <a:srgbClr val="000000"/>
                        </a:solidFill>
                        <a:effectLst/>
                        <a:latin typeface="Arial" panose="020B0604020202020204" pitchFamily="34" charset="0"/>
                        <a:cs typeface="Arial" panose="020B0604020202020204" pitchFamily="34" charset="0"/>
                      </a:endParaRPr>
                    </a:p>
                  </a:txBody>
                  <a:tcPr marL="3852" marR="3852" marT="3852" marB="0" anchor="ctr"/>
                </a:tc>
                <a:tc gridSpan="2">
                  <a:txBody>
                    <a:bodyPr/>
                    <a:lstStyle/>
                    <a:p>
                      <a:pPr algn="l" fontAlgn="ctr"/>
                      <a:r>
                        <a:rPr lang="en-GB" sz="1000" u="none" strike="noStrike" noProof="0">
                          <a:effectLst/>
                          <a:latin typeface="Arial" panose="020B0604020202020204" pitchFamily="34" charset="0"/>
                          <a:cs typeface="Arial" panose="020B0604020202020204" pitchFamily="34" charset="0"/>
                        </a:rPr>
                        <a:t>Procedures for Returned and Scrap Concrete</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hMerge="1">
                  <a:txBody>
                    <a:bodyPr/>
                    <a:lstStyle/>
                    <a:p>
                      <a:pPr algn="l" fontAlgn="ctr"/>
                      <a:endParaRPr lang="en-US" sz="400" b="0" i="0" u="none" strike="noStrike">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Y/N</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70%</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69%</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63%</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52%</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94%</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extLst>
                  <a:ext uri="{0D108BD9-81ED-4DB2-BD59-A6C34878D82A}">
                    <a16:rowId xmlns:a16="http://schemas.microsoft.com/office/drawing/2014/main" val="4293392549"/>
                  </a:ext>
                </a:extLst>
              </a:tr>
              <a:tr h="204535">
                <a:tc>
                  <a:txBody>
                    <a:bodyPr/>
                    <a:lstStyle/>
                    <a:p>
                      <a:pPr algn="ctr" fontAlgn="ctr"/>
                      <a:r>
                        <a:rPr lang="en-GB" sz="1000" u="none" strike="noStrike">
                          <a:effectLst/>
                          <a:latin typeface="Arial" panose="020B0604020202020204" pitchFamily="34" charset="0"/>
                          <a:cs typeface="Arial" panose="020B0604020202020204" pitchFamily="34" charset="0"/>
                        </a:rPr>
                        <a:t>2</a:t>
                      </a:r>
                      <a:endParaRPr lang="en-GB" sz="1000" b="0" i="0" u="none" strike="noStrike" dirty="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gridSpan="2">
                  <a:txBody>
                    <a:bodyPr/>
                    <a:lstStyle/>
                    <a:p>
                      <a:pPr algn="l" fontAlgn="ctr"/>
                      <a:r>
                        <a:rPr lang="en-GB" sz="1000" u="none" strike="noStrike" noProof="0">
                          <a:effectLst/>
                          <a:latin typeface="Arial" panose="020B0604020202020204" pitchFamily="34" charset="0"/>
                          <a:cs typeface="Arial" panose="020B0604020202020204" pitchFamily="34" charset="0"/>
                        </a:rPr>
                        <a:t>Returned Concrete Recovered</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hMerge="1">
                  <a:txBody>
                    <a:bodyPr/>
                    <a:lstStyle/>
                    <a:p>
                      <a:pPr algn="l" fontAlgn="ctr"/>
                      <a:endParaRPr lang="fr-FR" sz="400" b="0" i="0" u="none" strike="noStrike">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53%</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63%</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18%</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26%</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80%</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extLst>
                  <a:ext uri="{0D108BD9-81ED-4DB2-BD59-A6C34878D82A}">
                    <a16:rowId xmlns:a16="http://schemas.microsoft.com/office/drawing/2014/main" val="2699514144"/>
                  </a:ext>
                </a:extLst>
              </a:tr>
              <a:tr h="204535">
                <a:tc>
                  <a:txBody>
                    <a:bodyPr/>
                    <a:lstStyle/>
                    <a:p>
                      <a:pPr algn="ctr" fontAlgn="ctr"/>
                      <a:r>
                        <a:rPr lang="en-GB" sz="1000" u="none" strike="noStrike">
                          <a:effectLst/>
                          <a:latin typeface="Arial" panose="020B0604020202020204" pitchFamily="34" charset="0"/>
                          <a:cs typeface="Arial" panose="020B0604020202020204" pitchFamily="34" charset="0"/>
                        </a:rPr>
                        <a:t>3</a:t>
                      </a:r>
                      <a:endParaRPr lang="en-GB" sz="1000" b="0" i="0" u="none" strike="noStrike" dirty="0">
                        <a:solidFill>
                          <a:srgbClr val="000000"/>
                        </a:solidFill>
                        <a:effectLst/>
                        <a:latin typeface="Arial" panose="020B0604020202020204" pitchFamily="34" charset="0"/>
                        <a:cs typeface="Arial" panose="020B0604020202020204" pitchFamily="34" charset="0"/>
                      </a:endParaRPr>
                    </a:p>
                  </a:txBody>
                  <a:tcPr marL="3852" marR="3852" marT="3852" marB="0" anchor="ctr"/>
                </a:tc>
                <a:tc gridSpan="2">
                  <a:txBody>
                    <a:bodyPr/>
                    <a:lstStyle/>
                    <a:p>
                      <a:pPr algn="l" fontAlgn="ctr"/>
                      <a:r>
                        <a:rPr lang="en-GB" sz="1000" u="none" strike="noStrike" noProof="0">
                          <a:effectLst/>
                          <a:latin typeface="Arial" panose="020B0604020202020204" pitchFamily="34" charset="0"/>
                          <a:cs typeface="Arial" panose="020B0604020202020204" pitchFamily="34" charset="0"/>
                        </a:rPr>
                        <a:t>Wasted Concrete</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hMerge="1">
                  <a:txBody>
                    <a:bodyPr/>
                    <a:lstStyle/>
                    <a:p>
                      <a:pPr algn="l" fontAlgn="ctr"/>
                      <a:endParaRPr lang="fr-FR" sz="400" b="0" i="0" u="none" strike="noStrike">
                        <a:solidFill>
                          <a:srgbClr val="000000"/>
                        </a:solidFill>
                        <a:effectLst/>
                        <a:latin typeface="Calibri" panose="020F050202020403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dirty="0">
                          <a:effectLst/>
                          <a:latin typeface="Arial" panose="020B0604020202020204" pitchFamily="34" charset="0"/>
                          <a:cs typeface="Arial" panose="020B0604020202020204" pitchFamily="34" charset="0"/>
                        </a:rPr>
                        <a:t>0.5%</a:t>
                      </a:r>
                      <a:endParaRPr lang="en-GB" sz="1000" b="1" i="0" u="none" strike="noStrike" noProof="0" dirty="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dirty="0">
                          <a:effectLst/>
                          <a:latin typeface="Arial" panose="020B0604020202020204" pitchFamily="34" charset="0"/>
                          <a:cs typeface="Arial" panose="020B0604020202020204" pitchFamily="34" charset="0"/>
                        </a:rPr>
                        <a:t>0.27%</a:t>
                      </a:r>
                      <a:endParaRPr lang="en-GB" sz="1000" b="1" i="0" u="none" strike="noStrike" noProof="0" dirty="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dirty="0">
                          <a:effectLst/>
                          <a:latin typeface="Arial" panose="020B0604020202020204" pitchFamily="34" charset="0"/>
                          <a:cs typeface="Arial" panose="020B0604020202020204" pitchFamily="34" charset="0"/>
                        </a:rPr>
                        <a:t>1.08%</a:t>
                      </a:r>
                      <a:endParaRPr lang="en-GB" sz="1000" b="1" i="0" u="none" strike="noStrike" noProof="0" dirty="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1%</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tc>
                  <a:txBody>
                    <a:bodyPr/>
                    <a:lstStyle/>
                    <a:p>
                      <a:pPr algn="ctr" fontAlgn="ctr"/>
                      <a:r>
                        <a:rPr lang="en-GB" sz="1000" u="none" strike="noStrike" noProof="0">
                          <a:effectLst/>
                          <a:latin typeface="Arial" panose="020B0604020202020204" pitchFamily="34" charset="0"/>
                          <a:cs typeface="Arial" panose="020B0604020202020204" pitchFamily="34" charset="0"/>
                        </a:rPr>
                        <a:t>0.22%</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tc>
                <a:extLst>
                  <a:ext uri="{0D108BD9-81ED-4DB2-BD59-A6C34878D82A}">
                    <a16:rowId xmlns:a16="http://schemas.microsoft.com/office/drawing/2014/main" val="1406790414"/>
                  </a:ext>
                </a:extLst>
              </a:tr>
              <a:tr h="204535">
                <a:tc>
                  <a:txBody>
                    <a:bodyPr/>
                    <a:lstStyle/>
                    <a:p>
                      <a:pPr algn="ctr" fontAlgn="ctr"/>
                      <a:r>
                        <a:rPr lang="en-GB" sz="1000" u="none" strike="noStrike">
                          <a:effectLst/>
                          <a:latin typeface="Arial" panose="020B0604020202020204" pitchFamily="34" charset="0"/>
                          <a:cs typeface="Arial" panose="020B0604020202020204" pitchFamily="34" charset="0"/>
                        </a:rPr>
                        <a:t>4</a:t>
                      </a:r>
                      <a:endParaRPr lang="en-GB" sz="1000" b="0" i="0" u="none" strike="noStrike" dirty="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gridSpan="2">
                  <a:txBody>
                    <a:bodyPr/>
                    <a:lstStyle/>
                    <a:p>
                      <a:pPr algn="l" fontAlgn="t"/>
                      <a:r>
                        <a:rPr lang="en-GB" sz="1000" u="none" strike="noStrike" noProof="0">
                          <a:effectLst/>
                          <a:latin typeface="Arial" panose="020B0604020202020204" pitchFamily="34" charset="0"/>
                          <a:cs typeface="Arial" panose="020B0604020202020204" pitchFamily="34" charset="0"/>
                        </a:rPr>
                        <a:t>Alternative aggregates used (test)</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solidFill>
                      <a:srgbClr val="EED0CB"/>
                    </a:solidFill>
                  </a:tcPr>
                </a:tc>
                <a:tc hMerge="1">
                  <a:txBody>
                    <a:bodyPr/>
                    <a:lstStyle/>
                    <a:p>
                      <a:pPr algn="l" fontAlgn="t"/>
                      <a:endParaRPr lang="fr-FR" sz="400" b="0" i="0" u="none" strike="noStrike">
                        <a:solidFill>
                          <a:srgbClr val="000000"/>
                        </a:solidFill>
                        <a:effectLst/>
                        <a:latin typeface="Calibri" panose="020F0502020204030204" pitchFamily="34" charset="0"/>
                      </a:endParaRPr>
                    </a:p>
                  </a:txBody>
                  <a:tcPr marL="3852" marR="3852" marT="3852" marB="0"/>
                </a:tc>
                <a:tc>
                  <a:txBody>
                    <a:bodyPr/>
                    <a:lstStyle/>
                    <a:p>
                      <a:pPr algn="ctr" fontAlgn="t"/>
                      <a:r>
                        <a:rPr lang="en-GB" sz="1000" u="none" strike="noStrike" noProof="0">
                          <a:effectLst/>
                          <a:latin typeface="Arial" panose="020B0604020202020204" pitchFamily="34" charset="0"/>
                          <a:cs typeface="Arial" panose="020B0604020202020204" pitchFamily="34" charset="0"/>
                        </a:rPr>
                        <a:t>ton</a:t>
                      </a:r>
                      <a:endParaRPr lang="en-GB" sz="1000" b="0"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300</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N/A</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N/A</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a:effectLst/>
                          <a:latin typeface="Arial" panose="020B0604020202020204" pitchFamily="34" charset="0"/>
                          <a:cs typeface="Arial" panose="020B0604020202020204" pitchFamily="34" charset="0"/>
                        </a:rPr>
                        <a:t>N/A</a:t>
                      </a:r>
                      <a:endParaRPr lang="en-GB" sz="1000" b="1" i="0" u="none" strike="noStrike" noProof="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tc>
                  <a:txBody>
                    <a:bodyPr/>
                    <a:lstStyle/>
                    <a:p>
                      <a:pPr algn="ctr" fontAlgn="ctr"/>
                      <a:r>
                        <a:rPr lang="en-GB" sz="1000" u="none" strike="noStrike" noProof="0" dirty="0">
                          <a:effectLst/>
                          <a:latin typeface="Arial" panose="020B0604020202020204" pitchFamily="34" charset="0"/>
                          <a:cs typeface="Arial" panose="020B0604020202020204" pitchFamily="34" charset="0"/>
                        </a:rPr>
                        <a:t> 300</a:t>
                      </a:r>
                      <a:endParaRPr lang="en-GB" sz="1000" b="0" i="0" u="none" strike="noStrike" noProof="0" dirty="0">
                        <a:solidFill>
                          <a:srgbClr val="000000"/>
                        </a:solidFill>
                        <a:effectLst/>
                        <a:latin typeface="Arial" panose="020B0604020202020204" pitchFamily="34" charset="0"/>
                        <a:cs typeface="Arial" panose="020B0604020202020204" pitchFamily="34" charset="0"/>
                      </a:endParaRPr>
                    </a:p>
                  </a:txBody>
                  <a:tcPr marL="3852" marR="3852" marT="3852" marB="0" anchor="ctr">
                    <a:solidFill>
                      <a:srgbClr val="EED0CB"/>
                    </a:solidFill>
                  </a:tcPr>
                </a:tc>
                <a:extLst>
                  <a:ext uri="{0D108BD9-81ED-4DB2-BD59-A6C34878D82A}">
                    <a16:rowId xmlns:a16="http://schemas.microsoft.com/office/drawing/2014/main" val="4279397157"/>
                  </a:ext>
                </a:extLst>
              </a:tr>
            </a:tbl>
          </a:graphicData>
        </a:graphic>
      </p:graphicFrame>
    </p:spTree>
    <p:extLst>
      <p:ext uri="{BB962C8B-B14F-4D97-AF65-F5344CB8AC3E}">
        <p14:creationId xmlns:p14="http://schemas.microsoft.com/office/powerpoint/2010/main" val="1005125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LASTSLIDEVIEWED" val="349,27,Wasted and returned concrete are not consistently monitoredProcedures for returned and scrap concrete are in place in 70% of cases. "/>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K5QB.bX5OaukMAfEnRCH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FhCPKSjZAwgMbbh61gU7I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_HTpPkFmUFC421BlCqXA7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EKca3lJpSylVoVPv012Fg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g8myOcKvYNdunQVX9JLQ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g8myOcKvYNdunQVX9JLQ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g8myOcKvYNdunQVX9JLQ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Zm4esPeTp.Qd4Uwns82E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Zm4esPeTp.Qd4Uwns82E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Zm4esPeTp.Qd4Uwns82E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OZWPdgMH11eT0rLBQrvwK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dzVlM2p0kU8g0CDmXtLwS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dzVlM2p0kU8g0CDmXtLwS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dzVlM2p0kU8g0CDmXtLwS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r5uXkiXIb_75GrGdCY.5p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r5uXkiXIb_75GrGdCY.5p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r5uXkiXIb_75GrGdCY.5p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jiYxnxDjc6ke7dbZcDuPD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jiYxnxDjc6ke7dbZcDuPDg"/>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jiYxnxDjc6ke7dbZcDuPD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mL8dcDvaux26dgs.QiON3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mL8dcDvaux26dgs.QiON3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mL8dcDvaux26dgs.QiON3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y4hJGxp6CUYER8uEiuVAZ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XtOc7qpv9pabVjYiZzbiz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XtOc7qpv9pabVjYiZzbiz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XtOc7qpv9pabVjYiZzbizA"/>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oMG6qEVrs2xX48hb__2Fnw"/>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cQlmvFl6OTrVWYtkfOGH5g"/>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cQlmvFl6OTrVWYtkfOGH5g"/>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cQlmvFl6OTrVWYtkfOGH5g"/>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dfTRD4lPQRFKnQTYiyGDd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bSVtn1Sw5Ss.uPtVVnqlUw"/>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ixXslV0GNS6Os17gNSDJRQ"/>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ixXslV0GNS6Os17gNSDJRQ"/>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ixXslV0GNS6Os17gNSDJRQ"/>
</p:tagLst>
</file>

<file path=ppt/theme/theme1.xml><?xml version="1.0" encoding="utf-8"?>
<a:theme xmlns:a="http://schemas.openxmlformats.org/drawingml/2006/main" name="PwC">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B536A"/>
      </a:accent5>
      <a:accent6>
        <a:srgbClr val="464646"/>
      </a:accent6>
      <a:hlink>
        <a:srgbClr val="D04A02"/>
      </a:hlink>
      <a:folHlink>
        <a:srgbClr val="DB536A"/>
      </a:folHlink>
    </a:clrScheme>
    <a:fontScheme name="PwC Fonts">
      <a:majorFont>
        <a:latin typeface="Georgia"/>
        <a:ea typeface=""/>
        <a:cs typeface=""/>
      </a:majorFont>
      <a:minorFont>
        <a:latin typeface="Arial"/>
        <a:ea typeface=""/>
        <a:cs typeface=""/>
      </a:minorFont>
    </a:fontScheme>
    <a:fmtScheme name="PwC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600"/>
        </a:defPPr>
      </a:lstStyle>
      <a:style>
        <a:lnRef idx="0">
          <a:schemeClr val="accent1"/>
        </a:lnRef>
        <a:fillRef idx="1">
          <a:schemeClr val="accent1"/>
        </a:fillRef>
        <a:effectRef idx="0">
          <a:schemeClr val="dk1"/>
        </a:effectRef>
        <a:fontRef idx="minor">
          <a:schemeClr val="lt1"/>
        </a:fontRef>
      </a:style>
    </a:spDef>
    <a:lnDef>
      <a:spPr>
        <a:ln w="12700" cap="sq"/>
      </a:spPr>
      <a:bodyPr/>
      <a:lstStyle/>
      <a:style>
        <a:lnRef idx="1">
          <a:schemeClr val="accent1"/>
        </a:lnRef>
        <a:fillRef idx="0">
          <a:schemeClr val="accent1"/>
        </a:fillRef>
        <a:effectRef idx="0">
          <a:schemeClr val="dk1"/>
        </a:effectRef>
        <a:fontRef idx="minor">
          <a:schemeClr val="lt1"/>
        </a:fontRef>
      </a:style>
    </a:lnDef>
    <a:txDef>
      <a:spPr>
        <a:noFill/>
      </a:spPr>
      <a:bodyPr wrap="square" lIns="0" tIns="0" rIns="0" bIns="0" rtlCol="0">
        <a:spAutoFit/>
      </a:bodyPr>
      <a:lstStyle>
        <a:defPPr>
          <a:lnSpc>
            <a:spcPct val="100000"/>
          </a:lnSpc>
          <a:spcAft>
            <a:spcPts val="600"/>
          </a:spcAft>
          <a:buSzPct val="100000"/>
          <a:defRPr sz="1600" dirty="0" err="1" smtClean="0"/>
        </a:defPPr>
      </a:lstStyle>
    </a:txDef>
  </a:objectDefaults>
  <a:extraClrSchemeLst/>
  <a:custClrLst>
    <a:custClr name="Dark Orange 2">
      <a:srgbClr val="571F01"/>
    </a:custClr>
    <a:custClr name="Dark Orange 1">
      <a:srgbClr val="933401"/>
    </a:custClr>
    <a:custClr name="Primary Orange">
      <a:srgbClr val="D04A02"/>
    </a:custClr>
    <a:custClr name="Light Orange 1">
      <a:srgbClr val="FD6412"/>
    </a:custClr>
    <a:custClr name="Light Orange 2">
      <a:srgbClr val="FEB791"/>
    </a:custClr>
    <a:custClr name="Dark Tangerine 2">
      <a:srgbClr val="714300"/>
    </a:custClr>
    <a:custClr name="Dark Tangerine 1">
      <a:srgbClr val="AE6800"/>
    </a:custClr>
    <a:custClr name="Primary Tangerine">
      <a:srgbClr val="EB8C00"/>
    </a:custClr>
    <a:custClr name="Light Tangerine 1">
      <a:srgbClr val="FFA929"/>
    </a:custClr>
    <a:custClr name="Light Tangerine 2">
      <a:srgbClr val="FFDCA9"/>
    </a:custClr>
    <a:custClr name="Dark Yellow 2">
      <a:srgbClr val="855F00"/>
    </a:custClr>
    <a:custClr name="Dark Yellow 1">
      <a:srgbClr val="C28A00"/>
    </a:custClr>
    <a:custClr name="Primary Yellow">
      <a:srgbClr val="FFB600"/>
    </a:custClr>
    <a:custClr name="Light Yellow 1">
      <a:srgbClr val="FFC83D"/>
    </a:custClr>
    <a:custClr name="Light Yellow 2">
      <a:srgbClr val="FFECBD"/>
    </a:custClr>
    <a:custClr name="Dark Rose 2">
      <a:srgbClr val="6E2A35"/>
    </a:custClr>
    <a:custClr name="Dark Rose 1">
      <a:srgbClr val="A43E50"/>
    </a:custClr>
    <a:custClr name="Primary Rose">
      <a:srgbClr val="DB536A"/>
    </a:custClr>
    <a:custClr name="Light Rose 1">
      <a:srgbClr val="E27588"/>
    </a:custClr>
    <a:custClr name="Light Rose 2">
      <a:srgbClr val="F1BAC3"/>
    </a:custClr>
    <a:custClr name="Dark Red 2">
      <a:srgbClr val="741910"/>
    </a:custClr>
    <a:custClr name="Dark Red 1">
      <a:srgbClr val="AA2417"/>
    </a:custClr>
    <a:custClr name="Primary Red">
      <a:srgbClr val="E0301E"/>
    </a:custClr>
    <a:custClr name="Light Red 1">
      <a:srgbClr val="E86153"/>
    </a:custClr>
    <a:custClr name="Light Red 2">
      <a:srgbClr val="F7C8C4"/>
    </a:custClr>
    <a:custClr name="Black">
      <a:srgbClr val="000000"/>
    </a:custClr>
    <a:custClr name="Dark Grey">
      <a:srgbClr val="2D2D2D"/>
    </a:custClr>
    <a:custClr name="Medium Grey">
      <a:srgbClr val="464646"/>
    </a:custClr>
    <a:custClr name="Grey">
      <a:srgbClr val="7D7D7D"/>
    </a:custClr>
    <a:custClr name="Light Grey">
      <a:srgbClr val="DEDEDE"/>
    </a:custClr>
    <a:custClr name="Dark Purple 2">
      <a:srgbClr val="4B06B2"/>
    </a:custClr>
    <a:custClr name="Dark Purple 1">
      <a:srgbClr val="6A1CE2"/>
    </a:custClr>
    <a:custClr name="Secondary Purple">
      <a:srgbClr val="9013FE"/>
    </a:custClr>
    <a:custClr name="Light Purple 1">
      <a:srgbClr val="B15AFE"/>
    </a:custClr>
    <a:custClr name="Light Purple 2">
      <a:srgbClr val="DEB8FF"/>
    </a:custClr>
    <a:custClr name="Dark Blue 2">
      <a:srgbClr val="003DAB"/>
    </a:custClr>
    <a:custClr name="Dark Blue 1">
      <a:srgbClr val="0060D7"/>
    </a:custClr>
    <a:custClr name="Secondary Blue">
      <a:srgbClr val="0089EB"/>
    </a:custClr>
    <a:custClr name="Light Blue 1">
      <a:srgbClr val="4DACF1"/>
    </a:custClr>
    <a:custClr name="Light Blue 2">
      <a:srgbClr val="B3DCF9"/>
    </a:custClr>
    <a:custClr name="Dark Green 2">
      <a:srgbClr val="175C2C"/>
    </a:custClr>
    <a:custClr name="Dark Green 1">
      <a:srgbClr val="2C8646"/>
    </a:custClr>
    <a:custClr name="Secondary Green">
      <a:srgbClr val="4EB523"/>
    </a:custClr>
    <a:custClr name="Light Green 1">
      <a:srgbClr val="86DB4F"/>
    </a:custClr>
    <a:custClr name="Light Green 2">
      <a:srgbClr val="C4FC9F"/>
    </a:custClr>
    <a:custClr name="Status Red">
      <a:srgbClr val="E0301E"/>
    </a:custClr>
    <a:custClr name="Status Yellow">
      <a:srgbClr val="FFB600"/>
    </a:custClr>
    <a:custClr name="Status Green">
      <a:srgbClr val="175C2C"/>
    </a:custClr>
  </a:custClrLst>
  <a:extLst>
    <a:ext uri="{05A4C25C-085E-4340-85A3-A5531E510DB2}">
      <thm15:themeFamily xmlns:thm15="http://schemas.microsoft.com/office/thememl/2012/main" name="PwC 16x9 PowerPoint.potx" id="{D4DCA9A9-A671-44E4-915A-C83629F99A90}" vid="{6074E35A-D868-441C-8EFF-8DE4FA24430B}"/>
    </a:ext>
  </a:extLst>
</a:theme>
</file>

<file path=ppt/theme/theme2.xml><?xml version="1.0" encoding="utf-8"?>
<a:theme xmlns:a="http://schemas.openxmlformats.org/drawingml/2006/main" name="PwC">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B536A"/>
      </a:accent5>
      <a:accent6>
        <a:srgbClr val="464646"/>
      </a:accent6>
      <a:hlink>
        <a:srgbClr val="D04A02"/>
      </a:hlink>
      <a:folHlink>
        <a:srgbClr val="DB536A"/>
      </a:folHlink>
    </a:clrScheme>
    <a:fontScheme name="PwC Fonts">
      <a:majorFont>
        <a:latin typeface="Georgia"/>
        <a:ea typeface=""/>
        <a:cs typeface=""/>
      </a:majorFont>
      <a:minorFont>
        <a:latin typeface="Arial"/>
        <a:ea typeface=""/>
        <a:cs typeface=""/>
      </a:minorFont>
    </a:fontScheme>
    <a:fmtScheme name="PwC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600"/>
        </a:defPPr>
      </a:lstStyle>
      <a:style>
        <a:lnRef idx="0">
          <a:schemeClr val="accent1"/>
        </a:lnRef>
        <a:fillRef idx="1">
          <a:schemeClr val="accent1"/>
        </a:fillRef>
        <a:effectRef idx="0">
          <a:schemeClr val="dk1"/>
        </a:effectRef>
        <a:fontRef idx="minor">
          <a:schemeClr val="lt1"/>
        </a:fontRef>
      </a:style>
    </a:spDef>
    <a:lnDef>
      <a:spPr>
        <a:ln w="12700" cap="sq"/>
      </a:spPr>
      <a:bodyPr/>
      <a:lstStyle/>
      <a:style>
        <a:lnRef idx="1">
          <a:schemeClr val="accent1"/>
        </a:lnRef>
        <a:fillRef idx="0">
          <a:schemeClr val="accent1"/>
        </a:fillRef>
        <a:effectRef idx="0">
          <a:schemeClr val="dk1"/>
        </a:effectRef>
        <a:fontRef idx="minor">
          <a:schemeClr val="lt1"/>
        </a:fontRef>
      </a:style>
    </a:lnDef>
    <a:txDef>
      <a:spPr>
        <a:noFill/>
      </a:spPr>
      <a:bodyPr wrap="square" lIns="0" tIns="0" rIns="0" bIns="0" rtlCol="0"/>
      <a:lstStyle>
        <a:defPPr marL="182880" indent="-182880">
          <a:lnSpc>
            <a:spcPct val="100000"/>
          </a:lnSpc>
          <a:spcAft>
            <a:spcPts val="600"/>
          </a:spcAft>
          <a:buSzPct val="100000"/>
          <a:buFont typeface="Arial"/>
          <a:buChar char="•"/>
          <a:defRPr sz="1600"/>
        </a:defPPr>
      </a:lstStyle>
    </a:txDef>
  </a:objectDefaults>
  <a:extraClrSchemeLst/>
  <a:custClrLst>
    <a:custClr name="Dark Orange 2">
      <a:srgbClr val="571F01"/>
    </a:custClr>
    <a:custClr name="Dark Orange 1">
      <a:srgbClr val="933401"/>
    </a:custClr>
    <a:custClr name="Primary Orange">
      <a:srgbClr val="D04A02"/>
    </a:custClr>
    <a:custClr name="Light Orange 1">
      <a:srgbClr val="FD6412"/>
    </a:custClr>
    <a:custClr name="Light Orange 2">
      <a:srgbClr val="FEB791"/>
    </a:custClr>
    <a:custClr name="Dark Tangerine 2">
      <a:srgbClr val="714300"/>
    </a:custClr>
    <a:custClr name="Dark Tangerine 1">
      <a:srgbClr val="AE6800"/>
    </a:custClr>
    <a:custClr name="Primary Tangerine">
      <a:srgbClr val="EB8C00"/>
    </a:custClr>
    <a:custClr name="Light Tangerine 1">
      <a:srgbClr val="FFA929"/>
    </a:custClr>
    <a:custClr name="Light Tangerine 2">
      <a:srgbClr val="FFDCA9"/>
    </a:custClr>
    <a:custClr name="Dark Yellow 2">
      <a:srgbClr val="855F00"/>
    </a:custClr>
    <a:custClr name="Dark Yellow 1">
      <a:srgbClr val="C28A00"/>
    </a:custClr>
    <a:custClr name="Primary Yellow">
      <a:srgbClr val="FFB600"/>
    </a:custClr>
    <a:custClr name="Light Yellow 1">
      <a:srgbClr val="FFC83D"/>
    </a:custClr>
    <a:custClr name="Light Yellow 2">
      <a:srgbClr val="FFECBD"/>
    </a:custClr>
    <a:custClr name="Dark Rose 2">
      <a:srgbClr val="6E2A35"/>
    </a:custClr>
    <a:custClr name="Dark Rose 1">
      <a:srgbClr val="A43E50"/>
    </a:custClr>
    <a:custClr name="Primary Rose">
      <a:srgbClr val="DB536A"/>
    </a:custClr>
    <a:custClr name="Light Rose 1">
      <a:srgbClr val="E27588"/>
    </a:custClr>
    <a:custClr name="Light Rose 2">
      <a:srgbClr val="F1BAC3"/>
    </a:custClr>
    <a:custClr name="Dark Red 2">
      <a:srgbClr val="741910"/>
    </a:custClr>
    <a:custClr name="Dark Red 1">
      <a:srgbClr val="AA2417"/>
    </a:custClr>
    <a:custClr name="Primary Red">
      <a:srgbClr val="E0301E"/>
    </a:custClr>
    <a:custClr name="Light Red 1">
      <a:srgbClr val="E86153"/>
    </a:custClr>
    <a:custClr name="Light Red 2">
      <a:srgbClr val="F7C8C4"/>
    </a:custClr>
    <a:custClr name="Black">
      <a:srgbClr val="000000"/>
    </a:custClr>
    <a:custClr name="Dark Grey">
      <a:srgbClr val="2D2D2D"/>
    </a:custClr>
    <a:custClr name="Medium Grey">
      <a:srgbClr val="464646"/>
    </a:custClr>
    <a:custClr name="Grey">
      <a:srgbClr val="7D7D7D"/>
    </a:custClr>
    <a:custClr name="Light Grey">
      <a:srgbClr val="DEDEDE"/>
    </a:custClr>
    <a:custClr name="Dark Purple 2">
      <a:srgbClr val="4B06B2"/>
    </a:custClr>
    <a:custClr name="Dark Purple 1">
      <a:srgbClr val="6A1CE2"/>
    </a:custClr>
    <a:custClr name="Secondary Purple">
      <a:srgbClr val="9013FE"/>
    </a:custClr>
    <a:custClr name="Light Purple 1">
      <a:srgbClr val="B15AFE"/>
    </a:custClr>
    <a:custClr name="Light Purple 2">
      <a:srgbClr val="DEB8FF"/>
    </a:custClr>
    <a:custClr name="Dark Blue 2">
      <a:srgbClr val="003DAB"/>
    </a:custClr>
    <a:custClr name="Dark Blue 1">
      <a:srgbClr val="0060D7"/>
    </a:custClr>
    <a:custClr name="Secondary Blue">
      <a:srgbClr val="0089EB"/>
    </a:custClr>
    <a:custClr name="Light Blue 1">
      <a:srgbClr val="4DACF1"/>
    </a:custClr>
    <a:custClr name="Light Blue 2">
      <a:srgbClr val="B3DCF9"/>
    </a:custClr>
    <a:custClr name="Dark Green 2">
      <a:srgbClr val="175C2C"/>
    </a:custClr>
    <a:custClr name="Dark Green 1">
      <a:srgbClr val="2C8646"/>
    </a:custClr>
    <a:custClr name="Secondary Green">
      <a:srgbClr val="4EB523"/>
    </a:custClr>
    <a:custClr name="Light Green 1">
      <a:srgbClr val="86DB4F"/>
    </a:custClr>
    <a:custClr name="Light Green 2">
      <a:srgbClr val="C4FC9F"/>
    </a:custClr>
    <a:custClr name="Status Red">
      <a:srgbClr val="E0301E"/>
    </a:custClr>
    <a:custClr name="Status Yellow">
      <a:srgbClr val="FFB600"/>
    </a:custClr>
    <a:custClr name="Status Green">
      <a:srgbClr val="175C2C"/>
    </a:custClr>
  </a:custClrLst>
</a:theme>
</file>

<file path=ppt/theme/theme3.xml><?xml version="1.0" encoding="utf-8"?>
<a:theme xmlns:a="http://schemas.openxmlformats.org/drawingml/2006/main" name="PwC">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B536A"/>
      </a:accent5>
      <a:accent6>
        <a:srgbClr val="464646"/>
      </a:accent6>
      <a:hlink>
        <a:srgbClr val="D04A02"/>
      </a:hlink>
      <a:folHlink>
        <a:srgbClr val="DB536A"/>
      </a:folHlink>
    </a:clrScheme>
    <a:fontScheme name="PwC Fonts">
      <a:majorFont>
        <a:latin typeface="Georgia"/>
        <a:ea typeface=""/>
        <a:cs typeface=""/>
      </a:majorFont>
      <a:minorFont>
        <a:latin typeface="Arial"/>
        <a:ea typeface=""/>
        <a:cs typeface=""/>
      </a:minorFont>
    </a:fontScheme>
    <a:fmtScheme name="PwC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600"/>
        </a:defPPr>
      </a:lstStyle>
      <a:style>
        <a:lnRef idx="0">
          <a:schemeClr val="accent1"/>
        </a:lnRef>
        <a:fillRef idx="1">
          <a:schemeClr val="accent1"/>
        </a:fillRef>
        <a:effectRef idx="0">
          <a:schemeClr val="dk1"/>
        </a:effectRef>
        <a:fontRef idx="minor">
          <a:schemeClr val="lt1"/>
        </a:fontRef>
      </a:style>
    </a:spDef>
    <a:lnDef>
      <a:spPr>
        <a:ln w="12700" cap="sq"/>
      </a:spPr>
      <a:bodyPr/>
      <a:lstStyle/>
      <a:style>
        <a:lnRef idx="1">
          <a:schemeClr val="accent1"/>
        </a:lnRef>
        <a:fillRef idx="0">
          <a:schemeClr val="accent1"/>
        </a:fillRef>
        <a:effectRef idx="0">
          <a:schemeClr val="dk1"/>
        </a:effectRef>
        <a:fontRef idx="minor">
          <a:schemeClr val="lt1"/>
        </a:fontRef>
      </a:style>
    </a:lnDef>
    <a:txDef>
      <a:spPr>
        <a:noFill/>
      </a:spPr>
      <a:bodyPr wrap="square" lIns="0" tIns="0" rIns="0" bIns="0" rtlCol="0"/>
      <a:lstStyle>
        <a:defPPr marL="182880" indent="-182880">
          <a:lnSpc>
            <a:spcPct val="100000"/>
          </a:lnSpc>
          <a:spcAft>
            <a:spcPts val="600"/>
          </a:spcAft>
          <a:buSzPct val="100000"/>
          <a:buFont typeface="Arial"/>
          <a:buChar char="•"/>
          <a:defRPr sz="1600"/>
        </a:defPPr>
      </a:lstStyle>
    </a:txDef>
  </a:objectDefaults>
  <a:extraClrSchemeLst/>
  <a:custClrLst>
    <a:custClr name="Dark Orange 2">
      <a:srgbClr val="571F01"/>
    </a:custClr>
    <a:custClr name="Dark Orange 1">
      <a:srgbClr val="933401"/>
    </a:custClr>
    <a:custClr name="Primary Orange">
      <a:srgbClr val="D04A02"/>
    </a:custClr>
    <a:custClr name="Light Orange 1">
      <a:srgbClr val="FD6412"/>
    </a:custClr>
    <a:custClr name="Light Orange 2">
      <a:srgbClr val="FEB791"/>
    </a:custClr>
    <a:custClr name="Dark Tangerine 2">
      <a:srgbClr val="714300"/>
    </a:custClr>
    <a:custClr name="Dark Tangerine 1">
      <a:srgbClr val="AE6800"/>
    </a:custClr>
    <a:custClr name="Primary Tangerine">
      <a:srgbClr val="EB8C00"/>
    </a:custClr>
    <a:custClr name="Light Tangerine 1">
      <a:srgbClr val="FFA929"/>
    </a:custClr>
    <a:custClr name="Light Tangerine 2">
      <a:srgbClr val="FFDCA9"/>
    </a:custClr>
    <a:custClr name="Dark Yellow 2">
      <a:srgbClr val="855F00"/>
    </a:custClr>
    <a:custClr name="Dark Yellow 1">
      <a:srgbClr val="C28A00"/>
    </a:custClr>
    <a:custClr name="Primary Yellow">
      <a:srgbClr val="FFB600"/>
    </a:custClr>
    <a:custClr name="Light Yellow 1">
      <a:srgbClr val="FFC83D"/>
    </a:custClr>
    <a:custClr name="Light Yellow 2">
      <a:srgbClr val="FFECBD"/>
    </a:custClr>
    <a:custClr name="Dark Rose 2">
      <a:srgbClr val="6E2A35"/>
    </a:custClr>
    <a:custClr name="Dark Rose 1">
      <a:srgbClr val="A43E50"/>
    </a:custClr>
    <a:custClr name="Primary Rose">
      <a:srgbClr val="DB536A"/>
    </a:custClr>
    <a:custClr name="Light Rose 1">
      <a:srgbClr val="E27588"/>
    </a:custClr>
    <a:custClr name="Light Rose 2">
      <a:srgbClr val="F1BAC3"/>
    </a:custClr>
    <a:custClr name="Dark Red 2">
      <a:srgbClr val="741910"/>
    </a:custClr>
    <a:custClr name="Dark Red 1">
      <a:srgbClr val="AA2417"/>
    </a:custClr>
    <a:custClr name="Primary Red">
      <a:srgbClr val="E0301E"/>
    </a:custClr>
    <a:custClr name="Light Red 1">
      <a:srgbClr val="E86153"/>
    </a:custClr>
    <a:custClr name="Light Red 2">
      <a:srgbClr val="F7C8C4"/>
    </a:custClr>
    <a:custClr name="Black">
      <a:srgbClr val="000000"/>
    </a:custClr>
    <a:custClr name="Dark Grey">
      <a:srgbClr val="2D2D2D"/>
    </a:custClr>
    <a:custClr name="Medium Grey">
      <a:srgbClr val="464646"/>
    </a:custClr>
    <a:custClr name="Grey">
      <a:srgbClr val="7D7D7D"/>
    </a:custClr>
    <a:custClr name="Light Grey">
      <a:srgbClr val="DEDEDE"/>
    </a:custClr>
    <a:custClr name="Dark Purple 2">
      <a:srgbClr val="4B06B2"/>
    </a:custClr>
    <a:custClr name="Dark Purple 1">
      <a:srgbClr val="6A1CE2"/>
    </a:custClr>
    <a:custClr name="Secondary Purple">
      <a:srgbClr val="9013FE"/>
    </a:custClr>
    <a:custClr name="Light Purple 1">
      <a:srgbClr val="B15AFE"/>
    </a:custClr>
    <a:custClr name="Light Purple 2">
      <a:srgbClr val="DEB8FF"/>
    </a:custClr>
    <a:custClr name="Dark Blue 2">
      <a:srgbClr val="003DAB"/>
    </a:custClr>
    <a:custClr name="Dark Blue 1">
      <a:srgbClr val="0060D7"/>
    </a:custClr>
    <a:custClr name="Secondary Blue">
      <a:srgbClr val="0089EB"/>
    </a:custClr>
    <a:custClr name="Light Blue 1">
      <a:srgbClr val="4DACF1"/>
    </a:custClr>
    <a:custClr name="Light Blue 2">
      <a:srgbClr val="B3DCF9"/>
    </a:custClr>
    <a:custClr name="Dark Green 2">
      <a:srgbClr val="175C2C"/>
    </a:custClr>
    <a:custClr name="Dark Green 1">
      <a:srgbClr val="2C8646"/>
    </a:custClr>
    <a:custClr name="Secondary Green">
      <a:srgbClr val="4EB523"/>
    </a:custClr>
    <a:custClr name="Light Green 1">
      <a:srgbClr val="86DB4F"/>
    </a:custClr>
    <a:custClr name="Light Green 2">
      <a:srgbClr val="C4FC9F"/>
    </a:custClr>
    <a:custClr name="Status Red">
      <a:srgbClr val="E0301E"/>
    </a:custClr>
    <a:custClr name="Status Yellow">
      <a:srgbClr val="FFB600"/>
    </a:custClr>
    <a:custClr name="Status Green">
      <a:srgbClr val="175C2C"/>
    </a:custClr>
  </a:custClrLst>
</a:theme>
</file>

<file path=docProps/app.xml><?xml version="1.0" encoding="utf-8"?>
<Properties xmlns="http://schemas.openxmlformats.org/officeDocument/2006/extended-properties" xmlns:vt="http://schemas.openxmlformats.org/officeDocument/2006/docPropsVTypes">
  <Template>PwC 16x9 PowerPoint FR</Template>
  <TotalTime>5163</TotalTime>
  <Words>6691</Words>
  <Application>Microsoft Macintosh PowerPoint</Application>
  <PresentationFormat>Panorámica</PresentationFormat>
  <Paragraphs>1327</Paragraphs>
  <Slides>37</Slides>
  <Notes>19</Notes>
  <HiddenSlides>0</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1</vt:i4>
      </vt:variant>
      <vt:variant>
        <vt:lpstr>Títulos de diapositiva</vt:lpstr>
      </vt:variant>
      <vt:variant>
        <vt:i4>37</vt:i4>
      </vt:variant>
    </vt:vector>
  </HeadingPairs>
  <TitlesOfParts>
    <vt:vector size="44" baseType="lpstr">
      <vt:lpstr>Arial</vt:lpstr>
      <vt:lpstr>Calibri</vt:lpstr>
      <vt:lpstr>Courier New</vt:lpstr>
      <vt:lpstr>Georgia</vt:lpstr>
      <vt:lpstr>Symbol</vt:lpstr>
      <vt:lpstr>PwC</vt:lpstr>
      <vt:lpstr>Diapositive think-cell</vt:lpstr>
      <vt:lpstr>GCCA GNR Concrete Pilot Project - Report on KPIs</vt:lpstr>
      <vt:lpstr>Overview </vt:lpstr>
      <vt:lpstr>Concrete pilot project was in the context of extending GNR Data collection generated results at global and regional levels</vt:lpstr>
      <vt:lpstr>Process Energy</vt:lpstr>
      <vt:lpstr>Total energy for production is steady in reporting countries The Northern American region with the highest concrete production increases the average</vt:lpstr>
      <vt:lpstr>Total energy for production is steady in reporting countries One country in Northern Europe with an average concrete production increases the average</vt:lpstr>
      <vt:lpstr>Total energy for production is steady in reporting countries Canada is the country with the highest consumption of energy for production</vt:lpstr>
      <vt:lpstr>The use of electricity and other types of energy is scattered Costs of operating in cold-weathered regions may explain the large gap between the maximum value and the rest of the set of values </vt:lpstr>
      <vt:lpstr>The use of electricity and other types of energy is scattered Not all companies held the data split between electricity and non-electricity energy for production   </vt:lpstr>
      <vt:lpstr>The use of energy is high in Northern America, especially in Canada One company did not hold the information on the energy consumption of the auxiliary diesel plants   </vt:lpstr>
      <vt:lpstr>Concrete Transport</vt:lpstr>
      <vt:lpstr>The average distribution distance is patchily deployed The distribution distance varies according to GNR pilot participants </vt:lpstr>
      <vt:lpstr>The average distribution distance is patchily deployed The distribution distance varies according to GNR pilot participants </vt:lpstr>
      <vt:lpstr>The average distribution distance is homogeneous in America The distribution distance varies according to GNR pilot participants </vt:lpstr>
      <vt:lpstr>The average concrete volume transported is balanced The data correspond to the average shipping volume of a concrete truck</vt:lpstr>
      <vt:lpstr>The average concrete volume transported is balanced The data correspond to the average shipping volume of a concrete truck</vt:lpstr>
      <vt:lpstr>The average concrete volume transported is balanced The data correspond to the average shipping volume of a concrete truck</vt:lpstr>
      <vt:lpstr>Fuel consumption patterns can be observed at a country scale The reported type of fuel of all GNR pilot participants is diesel. </vt:lpstr>
      <vt:lpstr>Fuel consumption patterns can be observed at a country scale The reported type of fuel of all GNR pilot participants is diesel. </vt:lpstr>
      <vt:lpstr>Fuel consumption patterns can be observed at a country scale The reported type of fuel of all GNR pilot participants is diesel. </vt:lpstr>
      <vt:lpstr>CO2 emissions from transport vary according to regions The reported data broadly come from company-owned trucks.</vt:lpstr>
      <vt:lpstr>CO2 emissions from transport vary according to countries The reported data broadly come from company-owned trucks.</vt:lpstr>
      <vt:lpstr>CO2 emissions from transport vary according to countries The reported data broadly come from company-owned trucks.</vt:lpstr>
      <vt:lpstr>Circular Economy</vt:lpstr>
      <vt:lpstr>Wasted and returned concrete are not consistently monitored Procedures for returned and scrap concrete are in place in 70% of cases. </vt:lpstr>
      <vt:lpstr>Wasted and returned concrete are not consistently monitored Procedures for returned and scrap concrete are in place in 70% of cases. </vt:lpstr>
      <vt:lpstr>Wasted and returned concrete are not consistently monitored Procedures for returned and scrap concrete are in place in 70% of cases. </vt:lpstr>
      <vt:lpstr>Local Environment Factors </vt:lpstr>
      <vt:lpstr>Water withdrawal per unit of concrete varies across regions  Water KPIs find heterogeneity, as reported data is scattered around the mean</vt:lpstr>
      <vt:lpstr>Water withdrawal per unit of concrete varies across regions  Water KPIs find heterogeneity, as reported data is scattered around the mean</vt:lpstr>
      <vt:lpstr>Water withdrawal per unit of concrete varies across regions  Water KPIs find heterogeneity, as reported data is scattered around the mean</vt:lpstr>
      <vt:lpstr>Dust and Noise KPIs find similarities in most reporting sites Dust collection system and Noise Management Plan are dependent on regulatory obligations</vt:lpstr>
      <vt:lpstr>Outcomes of the concrete pilot project</vt:lpstr>
      <vt:lpstr>The outcomes of the data collection are positive  The concrete pilot project highlights the possibility to extend the GNR platform</vt:lpstr>
      <vt:lpstr>Annexes</vt:lpstr>
      <vt:lpstr>Synthesis table : Results by regions (1/2) </vt:lpstr>
      <vt:lpstr>Synthesis table : Results by regions (2/2) </vt:lpstr>
    </vt:vector>
  </TitlesOfParts>
  <Manager/>
  <Company>PwC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Benjamine Laurin</dc:creator>
  <cp:keywords/>
  <dc:description/>
  <cp:lastModifiedBy>Ricardo Pareja</cp:lastModifiedBy>
  <cp:revision>372</cp:revision>
  <dcterms:created xsi:type="dcterms:W3CDTF">2020-05-06T11:23:49Z</dcterms:created>
  <dcterms:modified xsi:type="dcterms:W3CDTF">2023-04-24T13:51:36Z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B template type">
    <vt:lpwstr>PwC16x9</vt:lpwstr>
  </property>
  <property fmtid="{D5CDD505-2E9C-101B-9397-08002B2CF9AE}" pid="3" name="TB template version">
    <vt:lpwstr>6</vt:lpwstr>
  </property>
  <property fmtid="{D5CDD505-2E9C-101B-9397-08002B2CF9AE}" pid="4" name="TB template release">
    <vt:lpwstr>4</vt:lpwstr>
  </property>
</Properties>
</file>